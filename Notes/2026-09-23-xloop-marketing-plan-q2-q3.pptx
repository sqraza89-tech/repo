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quarters: Q2 = Oct–Dec 2026, Q3 = Jan–Mar 2027. Order: numbers, assets to approve, challenges, targets, timeline, team, resource gap,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GA4 (xLoop property, company account) and Search Console (www.xloopdigital.com), pulled 23 Sep 2026. 99% brand: of ~1,902 clicks, all but ~15 came from searches for xloop, x loop, xloop digital, xcelerate or x vision. GA4 recorded almost no traffic from about Jul 28 to Aug 23, so 90-day totals understate traffic; the 28-day figures are clean. Singapore shows 488 users in 28 days, close to Pakistan's 509. Likely bot traffic, worth filtering. 82 blog articles are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MAF and Kayali are internal-only for now, so these slides are for sales use under NDA until the client naming decision (last slide). Homepage Figma still shows the v1 layout: AI Security featured, 9 industries, placeholder blog cards. It gets updated to v2 before dev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&amp; AI Readiness tool ships with the homepage in October because it's the homepage's featured section. Videos take about a week each. AI search visibility covers fixing duplicate titles, making the old domain redirect permanent (it's temporary today), structured data, updating the profile AI engines read (llms.txt) to match current services, and answer-first page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Sana's hours: 2–3 a day, about 45–65 a month, averaged at 50. AI tools let one person cover content, SEO and AI search. What's left is execution and being on call for same-day work, which needs a person in the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05D"/>
        </a:solidFill>
      </p:bgPr>
    </p:bg>
    <p:spTree>
      <p:nvGrpSpPr>
        <p:cNvPr id="1" name=""/>
        <p:cNvGrpSpPr/>
        <p:nvPr/>
      </p:nvGrpSpPr>
      <p:grpSpPr>
        <a:xfrm>
          <a:off x="0" y="0"/>
          <a:ext cx="0" cy="0"/>
          <a:chOff x="0" y="0"/>
          <a:chExt cx="0" cy="0"/>
        </a:xfrm>
      </p:grpSpPr>
      <p:sp>
        <p:nvSpPr>
          <p:cNvPr id="2" name="Text 0"/>
          <p:cNvSpPr txBox="1"/>
          <p:nvPr/>
        </p:nvSpPr>
        <p:spPr>
          <a:xfrm>
            <a:off x="548640" y="1463040"/>
            <a:ext cx="7315200" cy="365760"/>
          </a:xfrm>
          <a:prstGeom prst="rect">
            <a:avLst/>
          </a:prstGeom>
          <a:noFill/>
          <a:ln/>
        </p:spPr>
        <p:txBody>
          <a:bodyPr wrap="square" lIns="0" tIns="0" rIns="0" bIns="0" rtlCol="0" anchor="ctr"/>
          <a:lstStyle/>
          <a:p>
            <a:pPr indent="0" marL="0">
              <a:buNone/>
            </a:pPr>
            <a:r>
              <a:rPr lang="en-US" sz="1300" b="1" spc="300" kern="0" dirty="0">
                <a:solidFill>
                  <a:srgbClr val="50BFE6"/>
                </a:solidFill>
                <a:latin typeface="Arial" pitchFamily="34" charset="0"/>
                <a:ea typeface="Arial" pitchFamily="34" charset="-122"/>
                <a:cs typeface="Arial" pitchFamily="34" charset="-120"/>
              </a:rPr>
              <a:t>MARKETING SCRUM · 25 SEP 2026</a:t>
            </a:r>
            <a:endParaRPr lang="en-US" sz="1300" dirty="0"/>
          </a:p>
        </p:txBody>
      </p:sp>
      <p:sp>
        <p:nvSpPr>
          <p:cNvPr id="3" name="Text 1"/>
          <p:cNvSpPr txBox="1"/>
          <p:nvPr/>
        </p:nvSpPr>
        <p:spPr>
          <a:xfrm>
            <a:off x="548640" y="1920240"/>
            <a:ext cx="10058400" cy="100584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Marketing Plan: Q2–Q3</a:t>
            </a:r>
            <a:endParaRPr lang="en-US" sz="4800" dirty="0"/>
          </a:p>
        </p:txBody>
      </p:sp>
      <p:sp>
        <p:nvSpPr>
          <p:cNvPr id="4" name="Text 2"/>
          <p:cNvSpPr txBox="1"/>
          <p:nvPr/>
        </p:nvSpPr>
        <p:spPr>
          <a:xfrm>
            <a:off x="548640" y="2971800"/>
            <a:ext cx="10058400" cy="548640"/>
          </a:xfrm>
          <a:prstGeom prst="rect">
            <a:avLst/>
          </a:prstGeom>
          <a:noFill/>
          <a:ln/>
        </p:spPr>
        <p:txBody>
          <a:bodyPr wrap="square" lIns="0" tIns="0" rIns="0" bIns="0" rtlCol="0" anchor="ctr"/>
          <a:lstStyle/>
          <a:p>
            <a:pPr indent="0" marL="0">
              <a:buNone/>
            </a:pPr>
            <a:r>
              <a:rPr lang="en-US" sz="2200" dirty="0">
                <a:solidFill>
                  <a:srgbClr val="FFFFFF"/>
                </a:solidFill>
                <a:latin typeface="Arial" pitchFamily="34" charset="0"/>
                <a:ea typeface="Arial" pitchFamily="34" charset="-122"/>
                <a:cs typeface="Arial" pitchFamily="34" charset="-120"/>
              </a:rPr>
              <a:t>Where we are · Where we need to be · How we get there</a:t>
            </a:r>
            <a:endParaRPr lang="en-US" sz="2200" dirty="0"/>
          </a:p>
        </p:txBody>
      </p:sp>
      <p:sp>
        <p:nvSpPr>
          <p:cNvPr id="5" name="Text 3"/>
          <p:cNvSpPr txBox="1"/>
          <p:nvPr/>
        </p:nvSpPr>
        <p:spPr>
          <a:xfrm>
            <a:off x="548640" y="3840480"/>
            <a:ext cx="7315200" cy="457200"/>
          </a:xfrm>
          <a:prstGeom prst="rect">
            <a:avLst/>
          </a:prstGeom>
          <a:noFill/>
          <a:ln/>
        </p:spPr>
        <p:txBody>
          <a:bodyPr wrap="square" lIns="0" tIns="0" rIns="0" bIns="0" rtlCol="0" anchor="ctr"/>
          <a:lstStyle/>
          <a:p>
            <a:pPr indent="0" marL="0">
              <a:buNone/>
            </a:pPr>
            <a:r>
              <a:rPr lang="en-US" sz="1600" dirty="0">
                <a:solidFill>
                  <a:srgbClr val="5CC3AE"/>
                </a:solidFill>
                <a:latin typeface="Arial" pitchFamily="34" charset="0"/>
                <a:ea typeface="Arial" pitchFamily="34" charset="-122"/>
                <a:cs typeface="Arial" pitchFamily="34" charset="-120"/>
              </a:rPr>
              <a:t>October 2026 – March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indent="0" marL="0">
              <a:buNone/>
            </a:pPr>
            <a:r>
              <a:rPr lang="en-US" sz="3000" b="1" dirty="0">
                <a:solidFill>
                  <a:srgbClr val="22205D"/>
                </a:solidFill>
                <a:latin typeface="Arial" pitchFamily="34" charset="0"/>
                <a:ea typeface="Arial" pitchFamily="34" charset="-122"/>
                <a:cs typeface="Arial" pitchFamily="34" charset="-120"/>
              </a:rPr>
              <a:t>Where we are: the numbers</a:t>
            </a:r>
            <a:endParaRPr lang="en-US" sz="3000" dirty="0"/>
          </a:p>
        </p:txBody>
      </p:sp>
      <p:sp>
        <p:nvSpPr>
          <p:cNvPr id="3" name="Text 1"/>
          <p:cNvSpPr txBox="1"/>
          <p:nvPr/>
        </p:nvSpPr>
        <p:spPr>
          <a:xfrm>
            <a:off x="548640" y="987552"/>
            <a:ext cx="11091672" cy="365760"/>
          </a:xfrm>
          <a:prstGeom prst="rect">
            <a:avLst/>
          </a:prstGeom>
          <a:noFill/>
          <a:ln/>
        </p:spPr>
        <p:txBody>
          <a:bodyPr wrap="square" lIns="0" tIns="0" rIns="0" bIns="0" rtlCol="0" anchor="ctr"/>
          <a:lstStyle/>
          <a:p>
            <a:pPr indent="0" marL="0">
              <a:buNone/>
            </a:pPr>
            <a:r>
              <a:rPr lang="en-US" sz="1400" dirty="0">
                <a:solidFill>
                  <a:srgbClr val="5A5A7A"/>
                </a:solidFill>
                <a:latin typeface="Arial" pitchFamily="34" charset="0"/>
                <a:ea typeface="Arial" pitchFamily="34" charset="-122"/>
                <a:cs typeface="Arial" pitchFamily="34" charset="-120"/>
              </a:rPr>
              <a:t>Google Analytics: last 28 days (Aug 26–Sep 22) · Search Console: last 3 months</a:t>
            </a:r>
            <a:endParaRPr lang="en-US" sz="1400" dirty="0"/>
          </a:p>
        </p:txBody>
      </p:sp>
      <p:sp>
        <p:nvSpPr>
          <p:cNvPr id="4" name="Shape 2"/>
          <p:cNvSpPr/>
          <p:nvPr/>
        </p:nvSpPr>
        <p:spPr>
          <a:xfrm>
            <a:off x="548640" y="1600200"/>
            <a:ext cx="2567178" cy="1828800"/>
          </a:xfrm>
          <a:prstGeom prst="roundRect">
            <a:avLst>
              <a:gd name="adj" fmla="val 4000"/>
            </a:avLst>
          </a:prstGeom>
          <a:solidFill>
            <a:srgbClr val="FFFFFF"/>
          </a:solidFill>
          <a:ln w="9525">
            <a:solidFill>
              <a:srgbClr val="E6E6E6"/>
            </a:solidFill>
            <a:prstDash val="solid"/>
          </a:ln>
        </p:spPr>
      </p:sp>
      <p:sp>
        <p:nvSpPr>
          <p:cNvPr id="5" name="Text 3"/>
          <p:cNvSpPr txBox="1"/>
          <p:nvPr/>
        </p:nvSpPr>
        <p:spPr>
          <a:xfrm>
            <a:off x="777240" y="1783080"/>
            <a:ext cx="2109978" cy="777240"/>
          </a:xfrm>
          <a:prstGeom prst="rect">
            <a:avLst/>
          </a:prstGeom>
          <a:noFill/>
          <a:ln/>
        </p:spPr>
        <p:txBody>
          <a:bodyPr wrap="square" lIns="0" tIns="0" rIns="0" bIns="0" rtlCol="0" anchor="ctr"/>
          <a:lstStyle/>
          <a:p>
            <a:pPr indent="0" marL="0">
              <a:buNone/>
            </a:pPr>
            <a:r>
              <a:rPr lang="en-US" sz="3400" b="1" dirty="0">
                <a:solidFill>
                  <a:srgbClr val="0061F6"/>
                </a:solidFill>
                <a:latin typeface="Arial" pitchFamily="34" charset="0"/>
                <a:ea typeface="Arial" pitchFamily="34" charset="-122"/>
                <a:cs typeface="Arial" pitchFamily="34" charset="-120"/>
              </a:rPr>
              <a:t>1.4K</a:t>
            </a:r>
            <a:endParaRPr lang="en-US" sz="3400" dirty="0"/>
          </a:p>
        </p:txBody>
      </p:sp>
      <p:sp>
        <p:nvSpPr>
          <p:cNvPr id="6" name="Text 4"/>
          <p:cNvSpPr txBox="1"/>
          <p:nvPr/>
        </p:nvSpPr>
        <p:spPr>
          <a:xfrm>
            <a:off x="777240" y="2560320"/>
            <a:ext cx="2109978" cy="731520"/>
          </a:xfrm>
          <a:prstGeom prst="rect">
            <a:avLst/>
          </a:prstGeom>
          <a:noFill/>
          <a:ln/>
        </p:spPr>
        <p:txBody>
          <a:bodyPr wrap="square" lIns="0" tIns="0" rIns="0" bIns="0" rtlCol="0" anchor="t"/>
          <a:lstStyle/>
          <a:p>
            <a:pPr indent="0" marL="0">
              <a:buNone/>
            </a:pPr>
            <a:r>
              <a:rPr lang="en-US" sz="1300" dirty="0">
                <a:solidFill>
                  <a:srgbClr val="22205D"/>
                </a:solidFill>
                <a:latin typeface="Arial" pitchFamily="34" charset="0"/>
                <a:ea typeface="Arial" pitchFamily="34" charset="-122"/>
                <a:cs typeface="Arial" pitchFamily="34" charset="-120"/>
              </a:rPr>
              <a:t>Website users in the last 28 days (1.9K sessions)</a:t>
            </a:r>
            <a:endParaRPr lang="en-US" sz="1300" dirty="0"/>
          </a:p>
        </p:txBody>
      </p:sp>
      <p:sp>
        <p:nvSpPr>
          <p:cNvPr id="7" name="Shape 5"/>
          <p:cNvSpPr/>
          <p:nvPr/>
        </p:nvSpPr>
        <p:spPr>
          <a:xfrm>
            <a:off x="3390138" y="1600200"/>
            <a:ext cx="2567178" cy="1828800"/>
          </a:xfrm>
          <a:prstGeom prst="roundRect">
            <a:avLst>
              <a:gd name="adj" fmla="val 4000"/>
            </a:avLst>
          </a:prstGeom>
          <a:solidFill>
            <a:srgbClr val="FFFFFF"/>
          </a:solidFill>
          <a:ln w="9525">
            <a:solidFill>
              <a:srgbClr val="E6E6E6"/>
            </a:solidFill>
            <a:prstDash val="solid"/>
          </a:ln>
        </p:spPr>
      </p:sp>
      <p:sp>
        <p:nvSpPr>
          <p:cNvPr id="8" name="Text 6"/>
          <p:cNvSpPr txBox="1"/>
          <p:nvPr/>
        </p:nvSpPr>
        <p:spPr>
          <a:xfrm>
            <a:off x="3618738" y="1783080"/>
            <a:ext cx="2109978" cy="777240"/>
          </a:xfrm>
          <a:prstGeom prst="rect">
            <a:avLst/>
          </a:prstGeom>
          <a:noFill/>
          <a:ln/>
        </p:spPr>
        <p:txBody>
          <a:bodyPr wrap="square" lIns="0" tIns="0" rIns="0" bIns="0" rtlCol="0" anchor="ctr"/>
          <a:lstStyle/>
          <a:p>
            <a:pPr indent="0" marL="0">
              <a:buNone/>
            </a:pPr>
            <a:r>
              <a:rPr lang="en-US" sz="3400" b="1" dirty="0">
                <a:solidFill>
                  <a:srgbClr val="0061F6"/>
                </a:solidFill>
                <a:latin typeface="Arial" pitchFamily="34" charset="0"/>
                <a:ea typeface="Arial" pitchFamily="34" charset="-122"/>
                <a:cs typeface="Arial" pitchFamily="34" charset="-120"/>
              </a:rPr>
              <a:t>99%</a:t>
            </a:r>
            <a:endParaRPr lang="en-US" sz="3400" dirty="0"/>
          </a:p>
        </p:txBody>
      </p:sp>
      <p:sp>
        <p:nvSpPr>
          <p:cNvPr id="9" name="Text 7"/>
          <p:cNvSpPr txBox="1"/>
          <p:nvPr/>
        </p:nvSpPr>
        <p:spPr>
          <a:xfrm>
            <a:off x="3618738" y="2560320"/>
            <a:ext cx="2109978" cy="731520"/>
          </a:xfrm>
          <a:prstGeom prst="rect">
            <a:avLst/>
          </a:prstGeom>
          <a:noFill/>
          <a:ln/>
        </p:spPr>
        <p:txBody>
          <a:bodyPr wrap="square" lIns="0" tIns="0" rIns="0" bIns="0" rtlCol="0" anchor="t"/>
          <a:lstStyle/>
          <a:p>
            <a:pPr indent="0" marL="0">
              <a:buNone/>
            </a:pPr>
            <a:r>
              <a:rPr lang="en-US" sz="1300" dirty="0">
                <a:solidFill>
                  <a:srgbClr val="22205D"/>
                </a:solidFill>
                <a:latin typeface="Arial" pitchFamily="34" charset="0"/>
                <a:ea typeface="Arial" pitchFamily="34" charset="-122"/>
                <a:cs typeface="Arial" pitchFamily="34" charset="-120"/>
              </a:rPr>
              <a:t>Share of 1.9K Google clicks that came from people searching our name</a:t>
            </a:r>
            <a:endParaRPr lang="en-US" sz="1300" dirty="0"/>
          </a:p>
        </p:txBody>
      </p:sp>
      <p:sp>
        <p:nvSpPr>
          <p:cNvPr id="10" name="Shape 8"/>
          <p:cNvSpPr/>
          <p:nvPr/>
        </p:nvSpPr>
        <p:spPr>
          <a:xfrm>
            <a:off x="6231636" y="1600200"/>
            <a:ext cx="2567178" cy="1828800"/>
          </a:xfrm>
          <a:prstGeom prst="roundRect">
            <a:avLst>
              <a:gd name="adj" fmla="val 4000"/>
            </a:avLst>
          </a:prstGeom>
          <a:solidFill>
            <a:srgbClr val="FFFFFF"/>
          </a:solidFill>
          <a:ln w="9525">
            <a:solidFill>
              <a:srgbClr val="E6E6E6"/>
            </a:solidFill>
            <a:prstDash val="solid"/>
          </a:ln>
        </p:spPr>
      </p:sp>
      <p:sp>
        <p:nvSpPr>
          <p:cNvPr id="11" name="Text 9"/>
          <p:cNvSpPr txBox="1"/>
          <p:nvPr/>
        </p:nvSpPr>
        <p:spPr>
          <a:xfrm>
            <a:off x="6460236" y="1783080"/>
            <a:ext cx="2109978" cy="777240"/>
          </a:xfrm>
          <a:prstGeom prst="rect">
            <a:avLst/>
          </a:prstGeom>
          <a:noFill/>
          <a:ln/>
        </p:spPr>
        <p:txBody>
          <a:bodyPr wrap="square" lIns="0" tIns="0" rIns="0" bIns="0" rtlCol="0" anchor="ctr"/>
          <a:lstStyle/>
          <a:p>
            <a:pPr indent="0" marL="0">
              <a:buNone/>
            </a:pPr>
            <a:r>
              <a:rPr lang="en-US" sz="3400" b="1" dirty="0">
                <a:solidFill>
                  <a:srgbClr val="0098D8"/>
                </a:solidFill>
                <a:latin typeface="Arial" pitchFamily="34" charset="0"/>
                <a:ea typeface="Arial" pitchFamily="34" charset="-122"/>
                <a:cs typeface="Arial" pitchFamily="34" charset="-120"/>
              </a:rPr>
              <a:t>~15</a:t>
            </a:r>
            <a:endParaRPr lang="en-US" sz="3400" dirty="0"/>
          </a:p>
        </p:txBody>
      </p:sp>
      <p:sp>
        <p:nvSpPr>
          <p:cNvPr id="12" name="Text 10"/>
          <p:cNvSpPr txBox="1"/>
          <p:nvPr/>
        </p:nvSpPr>
        <p:spPr>
          <a:xfrm>
            <a:off x="6460236" y="2560320"/>
            <a:ext cx="2109978" cy="731520"/>
          </a:xfrm>
          <a:prstGeom prst="rect">
            <a:avLst/>
          </a:prstGeom>
          <a:noFill/>
          <a:ln/>
        </p:spPr>
        <p:txBody>
          <a:bodyPr wrap="square" lIns="0" tIns="0" rIns="0" bIns="0" rtlCol="0" anchor="t"/>
          <a:lstStyle/>
          <a:p>
            <a:pPr indent="0" marL="0">
              <a:buNone/>
            </a:pPr>
            <a:r>
              <a:rPr lang="en-US" sz="1300" dirty="0">
                <a:solidFill>
                  <a:srgbClr val="22205D"/>
                </a:solidFill>
                <a:latin typeface="Arial" pitchFamily="34" charset="0"/>
                <a:ea typeface="Arial" pitchFamily="34" charset="-122"/>
                <a:cs typeface="Arial" pitchFamily="34" charset="-120"/>
              </a:rPr>
              <a:t>Google clicks in 3 months from people who didn't search our name</a:t>
            </a:r>
            <a:endParaRPr lang="en-US" sz="1300" dirty="0"/>
          </a:p>
        </p:txBody>
      </p:sp>
      <p:sp>
        <p:nvSpPr>
          <p:cNvPr id="13" name="Shape 11"/>
          <p:cNvSpPr/>
          <p:nvPr/>
        </p:nvSpPr>
        <p:spPr>
          <a:xfrm>
            <a:off x="9073134" y="1600200"/>
            <a:ext cx="2567178" cy="1828800"/>
          </a:xfrm>
          <a:prstGeom prst="roundRect">
            <a:avLst>
              <a:gd name="adj" fmla="val 4000"/>
            </a:avLst>
          </a:prstGeom>
          <a:solidFill>
            <a:srgbClr val="FFFFFF"/>
          </a:solidFill>
          <a:ln w="9525">
            <a:solidFill>
              <a:srgbClr val="E6E6E6"/>
            </a:solidFill>
            <a:prstDash val="solid"/>
          </a:ln>
        </p:spPr>
      </p:sp>
      <p:sp>
        <p:nvSpPr>
          <p:cNvPr id="14" name="Text 12"/>
          <p:cNvSpPr txBox="1"/>
          <p:nvPr/>
        </p:nvSpPr>
        <p:spPr>
          <a:xfrm>
            <a:off x="9301734" y="1783080"/>
            <a:ext cx="2109978" cy="777240"/>
          </a:xfrm>
          <a:prstGeom prst="rect">
            <a:avLst/>
          </a:prstGeom>
          <a:noFill/>
          <a:ln/>
        </p:spPr>
        <p:txBody>
          <a:bodyPr wrap="square" lIns="0" tIns="0" rIns="0" bIns="0" rtlCol="0" anchor="ctr"/>
          <a:lstStyle/>
          <a:p>
            <a:pPr indent="0" marL="0">
              <a:buNone/>
            </a:pPr>
            <a:r>
              <a:rPr lang="en-US" sz="3400" b="1" dirty="0">
                <a:solidFill>
                  <a:srgbClr val="0098D8"/>
                </a:solidFill>
                <a:latin typeface="Arial" pitchFamily="34" charset="0"/>
                <a:ea typeface="Arial" pitchFamily="34" charset="-122"/>
                <a:cs typeface="Arial" pitchFamily="34" charset="-120"/>
              </a:rPr>
              <a:t>Page 4</a:t>
            </a:r>
            <a:endParaRPr lang="en-US" sz="3400" dirty="0"/>
          </a:p>
        </p:txBody>
      </p:sp>
      <p:sp>
        <p:nvSpPr>
          <p:cNvPr id="15" name="Text 13"/>
          <p:cNvSpPr txBox="1"/>
          <p:nvPr/>
        </p:nvSpPr>
        <p:spPr>
          <a:xfrm>
            <a:off x="9301734" y="2560320"/>
            <a:ext cx="2109978" cy="731520"/>
          </a:xfrm>
          <a:prstGeom prst="rect">
            <a:avLst/>
          </a:prstGeom>
          <a:noFill/>
          <a:ln/>
        </p:spPr>
        <p:txBody>
          <a:bodyPr wrap="square" lIns="0" tIns="0" rIns="0" bIns="0" rtlCol="0" anchor="t"/>
          <a:lstStyle/>
          <a:p>
            <a:pPr indent="0" marL="0">
              <a:buNone/>
            </a:pPr>
            <a:r>
              <a:rPr lang="en-US" sz="1300" dirty="0">
                <a:solidFill>
                  <a:srgbClr val="22205D"/>
                </a:solidFill>
                <a:latin typeface="Arial" pitchFamily="34" charset="0"/>
                <a:ea typeface="Arial" pitchFamily="34" charset="-122"/>
                <a:cs typeface="Arial" pitchFamily="34" charset="-120"/>
              </a:rPr>
              <a:t>Average position for everything except our name (position 38)</a:t>
            </a:r>
            <a:endParaRPr lang="en-US" sz="1300" dirty="0"/>
          </a:p>
        </p:txBody>
      </p:sp>
      <p:sp>
        <p:nvSpPr>
          <p:cNvPr id="16" name="Shape 14"/>
          <p:cNvSpPr/>
          <p:nvPr/>
        </p:nvSpPr>
        <p:spPr>
          <a:xfrm>
            <a:off x="548640" y="3703320"/>
            <a:ext cx="2567178" cy="1828800"/>
          </a:xfrm>
          <a:prstGeom prst="roundRect">
            <a:avLst>
              <a:gd name="adj" fmla="val 4000"/>
            </a:avLst>
          </a:prstGeom>
          <a:solidFill>
            <a:srgbClr val="FFFFFF"/>
          </a:solidFill>
          <a:ln w="9525">
            <a:solidFill>
              <a:srgbClr val="E6E6E6"/>
            </a:solidFill>
            <a:prstDash val="solid"/>
          </a:ln>
        </p:spPr>
      </p:sp>
      <p:sp>
        <p:nvSpPr>
          <p:cNvPr id="17" name="Text 15"/>
          <p:cNvSpPr txBox="1"/>
          <p:nvPr/>
        </p:nvSpPr>
        <p:spPr>
          <a:xfrm>
            <a:off x="777240" y="3886200"/>
            <a:ext cx="2109978" cy="777240"/>
          </a:xfrm>
          <a:prstGeom prst="rect">
            <a:avLst/>
          </a:prstGeom>
          <a:noFill/>
          <a:ln/>
        </p:spPr>
        <p:txBody>
          <a:bodyPr wrap="square" lIns="0" tIns="0" rIns="0" bIns="0" rtlCol="0" anchor="ctr"/>
          <a:lstStyle/>
          <a:p>
            <a:pPr indent="0" marL="0">
              <a:buNone/>
            </a:pPr>
            <a:r>
              <a:rPr lang="en-US" sz="3400" b="1" dirty="0">
                <a:solidFill>
                  <a:srgbClr val="0061F6"/>
                </a:solidFill>
                <a:latin typeface="Arial" pitchFamily="34" charset="0"/>
                <a:ea typeface="Arial" pitchFamily="34" charset="-122"/>
                <a:cs typeface="Arial" pitchFamily="34" charset="-120"/>
              </a:rPr>
              <a:t>26</a:t>
            </a:r>
            <a:endParaRPr lang="en-US" sz="3400" dirty="0"/>
          </a:p>
        </p:txBody>
      </p:sp>
      <p:sp>
        <p:nvSpPr>
          <p:cNvPr id="18" name="Text 16"/>
          <p:cNvSpPr txBox="1"/>
          <p:nvPr/>
        </p:nvSpPr>
        <p:spPr>
          <a:xfrm>
            <a:off x="777240" y="4663440"/>
            <a:ext cx="2109978" cy="731520"/>
          </a:xfrm>
          <a:prstGeom prst="rect">
            <a:avLst/>
          </a:prstGeom>
          <a:noFill/>
          <a:ln/>
        </p:spPr>
        <p:txBody>
          <a:bodyPr wrap="square" lIns="0" tIns="0" rIns="0" bIns="0" rtlCol="0" anchor="t"/>
          <a:lstStyle/>
          <a:p>
            <a:pPr indent="0" marL="0">
              <a:buNone/>
            </a:pPr>
            <a:r>
              <a:rPr lang="en-US" sz="1300" dirty="0">
                <a:solidFill>
                  <a:srgbClr val="22205D"/>
                </a:solidFill>
                <a:latin typeface="Arial" pitchFamily="34" charset="0"/>
                <a:ea typeface="Arial" pitchFamily="34" charset="-122"/>
                <a:cs typeface="Arial" pitchFamily="34" charset="-120"/>
              </a:rPr>
              <a:t>Form submissions in 28 days. Client enquiries, jobs and training mixed together</a:t>
            </a:r>
            <a:endParaRPr lang="en-US" sz="1300" dirty="0"/>
          </a:p>
        </p:txBody>
      </p:sp>
      <p:sp>
        <p:nvSpPr>
          <p:cNvPr id="19" name="Shape 17"/>
          <p:cNvSpPr/>
          <p:nvPr/>
        </p:nvSpPr>
        <p:spPr>
          <a:xfrm>
            <a:off x="3390138" y="3703320"/>
            <a:ext cx="2567178" cy="1828800"/>
          </a:xfrm>
          <a:prstGeom prst="roundRect">
            <a:avLst>
              <a:gd name="adj" fmla="val 4000"/>
            </a:avLst>
          </a:prstGeom>
          <a:solidFill>
            <a:srgbClr val="FFFFFF"/>
          </a:solidFill>
          <a:ln w="9525">
            <a:solidFill>
              <a:srgbClr val="E6E6E6"/>
            </a:solidFill>
            <a:prstDash val="solid"/>
          </a:ln>
        </p:spPr>
      </p:sp>
      <p:sp>
        <p:nvSpPr>
          <p:cNvPr id="20" name="Text 18"/>
          <p:cNvSpPr txBox="1"/>
          <p:nvPr/>
        </p:nvSpPr>
        <p:spPr>
          <a:xfrm>
            <a:off x="3618738" y="3886200"/>
            <a:ext cx="2109978" cy="777240"/>
          </a:xfrm>
          <a:prstGeom prst="rect">
            <a:avLst/>
          </a:prstGeom>
          <a:noFill/>
          <a:ln/>
        </p:spPr>
        <p:txBody>
          <a:bodyPr wrap="square" lIns="0" tIns="0" rIns="0" bIns="0" rtlCol="0" anchor="ctr"/>
          <a:lstStyle/>
          <a:p>
            <a:pPr indent="0" marL="0">
              <a:buNone/>
            </a:pPr>
            <a:r>
              <a:rPr lang="en-US" sz="3400" b="1" dirty="0">
                <a:solidFill>
                  <a:srgbClr val="0061F6"/>
                </a:solidFill>
                <a:latin typeface="Arial" pitchFamily="34" charset="0"/>
                <a:ea typeface="Arial" pitchFamily="34" charset="-122"/>
                <a:cs typeface="Arial" pitchFamily="34" charset="-120"/>
              </a:rPr>
              <a:t>23</a:t>
            </a:r>
            <a:endParaRPr lang="en-US" sz="3400" dirty="0"/>
          </a:p>
        </p:txBody>
      </p:sp>
      <p:sp>
        <p:nvSpPr>
          <p:cNvPr id="21" name="Text 19"/>
          <p:cNvSpPr txBox="1"/>
          <p:nvPr/>
        </p:nvSpPr>
        <p:spPr>
          <a:xfrm>
            <a:off x="3618738" y="4663440"/>
            <a:ext cx="2109978" cy="731520"/>
          </a:xfrm>
          <a:prstGeom prst="rect">
            <a:avLst/>
          </a:prstGeom>
          <a:noFill/>
          <a:ln/>
        </p:spPr>
        <p:txBody>
          <a:bodyPr wrap="square" lIns="0" tIns="0" rIns="0" bIns="0" rtlCol="0" anchor="t"/>
          <a:lstStyle/>
          <a:p>
            <a:pPr indent="0" marL="0">
              <a:buNone/>
            </a:pPr>
            <a:r>
              <a:rPr lang="en-US" sz="1300" dirty="0">
                <a:solidFill>
                  <a:srgbClr val="22205D"/>
                </a:solidFill>
                <a:latin typeface="Arial" pitchFamily="34" charset="0"/>
                <a:ea typeface="Arial" pitchFamily="34" charset="-122"/>
                <a:cs typeface="Arial" pitchFamily="34" charset="-120"/>
              </a:rPr>
              <a:t>Visits from AI assistants (ChatGPT and others) in 30 days</a:t>
            </a:r>
            <a:endParaRPr lang="en-US" sz="1300" dirty="0"/>
          </a:p>
        </p:txBody>
      </p:sp>
      <p:sp>
        <p:nvSpPr>
          <p:cNvPr id="22" name="Shape 20"/>
          <p:cNvSpPr/>
          <p:nvPr/>
        </p:nvSpPr>
        <p:spPr>
          <a:xfrm>
            <a:off x="6231636" y="3703320"/>
            <a:ext cx="2567178" cy="1828800"/>
          </a:xfrm>
          <a:prstGeom prst="roundRect">
            <a:avLst>
              <a:gd name="adj" fmla="val 4000"/>
            </a:avLst>
          </a:prstGeom>
          <a:solidFill>
            <a:srgbClr val="FFFFFF"/>
          </a:solidFill>
          <a:ln w="9525">
            <a:solidFill>
              <a:srgbClr val="E6E6E6"/>
            </a:solidFill>
            <a:prstDash val="solid"/>
          </a:ln>
        </p:spPr>
      </p:sp>
      <p:sp>
        <p:nvSpPr>
          <p:cNvPr id="23" name="Text 21"/>
          <p:cNvSpPr txBox="1"/>
          <p:nvPr/>
        </p:nvSpPr>
        <p:spPr>
          <a:xfrm>
            <a:off x="6460236" y="3886200"/>
            <a:ext cx="2109978" cy="777240"/>
          </a:xfrm>
          <a:prstGeom prst="rect">
            <a:avLst/>
          </a:prstGeom>
          <a:noFill/>
          <a:ln/>
        </p:spPr>
        <p:txBody>
          <a:bodyPr wrap="square" lIns="0" tIns="0" rIns="0" bIns="0" rtlCol="0" anchor="ctr"/>
          <a:lstStyle/>
          <a:p>
            <a:pPr indent="0" marL="0">
              <a:buNone/>
            </a:pPr>
            <a:r>
              <a:rPr lang="en-US" sz="3400" b="1" dirty="0">
                <a:solidFill>
                  <a:srgbClr val="5A5A7A"/>
                </a:solidFill>
                <a:latin typeface="Arial" pitchFamily="34" charset="0"/>
                <a:ea typeface="Arial" pitchFamily="34" charset="-122"/>
                <a:cs typeface="Arial" pitchFamily="34" charset="-120"/>
              </a:rPr>
              <a:t>123</a:t>
            </a:r>
            <a:endParaRPr lang="en-US" sz="3400" dirty="0"/>
          </a:p>
        </p:txBody>
      </p:sp>
      <p:sp>
        <p:nvSpPr>
          <p:cNvPr id="24" name="Text 22"/>
          <p:cNvSpPr txBox="1"/>
          <p:nvPr/>
        </p:nvSpPr>
        <p:spPr>
          <a:xfrm>
            <a:off x="6460236" y="4663440"/>
            <a:ext cx="2109978" cy="731520"/>
          </a:xfrm>
          <a:prstGeom prst="rect">
            <a:avLst/>
          </a:prstGeom>
          <a:noFill/>
          <a:ln/>
        </p:spPr>
        <p:txBody>
          <a:bodyPr wrap="square" lIns="0" tIns="0" rIns="0" bIns="0" rtlCol="0" anchor="t"/>
          <a:lstStyle/>
          <a:p>
            <a:pPr indent="0" marL="0">
              <a:buNone/>
            </a:pPr>
            <a:r>
              <a:rPr lang="en-US" sz="1300" dirty="0">
                <a:solidFill>
                  <a:srgbClr val="22205D"/>
                </a:solidFill>
                <a:latin typeface="Arial" pitchFamily="34" charset="0"/>
                <a:ea typeface="Arial" pitchFamily="34" charset="-122"/>
                <a:cs typeface="Arial" pitchFamily="34" charset="-120"/>
              </a:rPr>
              <a:t>Visits to "Page not found" in 30 days</a:t>
            </a:r>
            <a:endParaRPr lang="en-US" sz="1300" dirty="0"/>
          </a:p>
        </p:txBody>
      </p:sp>
      <p:sp>
        <p:nvSpPr>
          <p:cNvPr id="25" name="Shape 23"/>
          <p:cNvSpPr/>
          <p:nvPr/>
        </p:nvSpPr>
        <p:spPr>
          <a:xfrm>
            <a:off x="9073134" y="3703320"/>
            <a:ext cx="2567178" cy="1828800"/>
          </a:xfrm>
          <a:prstGeom prst="roundRect">
            <a:avLst>
              <a:gd name="adj" fmla="val 4000"/>
            </a:avLst>
          </a:prstGeom>
          <a:solidFill>
            <a:srgbClr val="FFFFFF"/>
          </a:solidFill>
          <a:ln w="9525">
            <a:solidFill>
              <a:srgbClr val="E6E6E6"/>
            </a:solidFill>
            <a:prstDash val="solid"/>
          </a:ln>
        </p:spPr>
      </p:sp>
      <p:sp>
        <p:nvSpPr>
          <p:cNvPr id="26" name="Text 24"/>
          <p:cNvSpPr txBox="1"/>
          <p:nvPr/>
        </p:nvSpPr>
        <p:spPr>
          <a:xfrm>
            <a:off x="9301734" y="3886200"/>
            <a:ext cx="2109978" cy="777240"/>
          </a:xfrm>
          <a:prstGeom prst="rect">
            <a:avLst/>
          </a:prstGeom>
          <a:noFill/>
          <a:ln/>
        </p:spPr>
        <p:txBody>
          <a:bodyPr wrap="square" lIns="0" tIns="0" rIns="0" bIns="0" rtlCol="0" anchor="ctr"/>
          <a:lstStyle/>
          <a:p>
            <a:pPr indent="0" marL="0">
              <a:buNone/>
            </a:pPr>
            <a:r>
              <a:rPr lang="en-US" sz="3400" b="1" dirty="0">
                <a:solidFill>
                  <a:srgbClr val="5CC3AE"/>
                </a:solidFill>
                <a:latin typeface="Arial" pitchFamily="34" charset="0"/>
                <a:ea typeface="Arial" pitchFamily="34" charset="-122"/>
                <a:cs typeface="Arial" pitchFamily="34" charset="-120"/>
              </a:rPr>
              <a:t>1,500</a:t>
            </a:r>
            <a:endParaRPr lang="en-US" sz="3400" dirty="0"/>
          </a:p>
        </p:txBody>
      </p:sp>
      <p:sp>
        <p:nvSpPr>
          <p:cNvPr id="27" name="Text 25"/>
          <p:cNvSpPr txBox="1"/>
          <p:nvPr/>
        </p:nvSpPr>
        <p:spPr>
          <a:xfrm>
            <a:off x="9301734" y="4663440"/>
            <a:ext cx="2109978" cy="731520"/>
          </a:xfrm>
          <a:prstGeom prst="rect">
            <a:avLst/>
          </a:prstGeom>
          <a:noFill/>
          <a:ln/>
        </p:spPr>
        <p:txBody>
          <a:bodyPr wrap="square" lIns="0" tIns="0" rIns="0" bIns="0" rtlCol="0" anchor="t"/>
          <a:lstStyle/>
          <a:p>
            <a:pPr indent="0" marL="0">
              <a:buNone/>
            </a:pPr>
            <a:r>
              <a:rPr lang="en-US" sz="1300" dirty="0">
                <a:solidFill>
                  <a:srgbClr val="22205D"/>
                </a:solidFill>
                <a:latin typeface="Arial" pitchFamily="34" charset="0"/>
                <a:ea typeface="Arial" pitchFamily="34" charset="-122"/>
                <a:cs typeface="Arial" pitchFamily="34" charset="-120"/>
              </a:rPr>
              <a:t>Mari applications vs a 1,000 target. Our only paid campaign</a:t>
            </a:r>
            <a:endParaRPr lang="en-US" sz="1300" dirty="0"/>
          </a:p>
        </p:txBody>
      </p:sp>
      <p:sp>
        <p:nvSpPr>
          <p:cNvPr id="28" name="Text 26"/>
          <p:cNvSpPr txBox="1"/>
          <p:nvPr/>
        </p:nvSpPr>
        <p:spPr>
          <a:xfrm>
            <a:off x="548640" y="5943600"/>
            <a:ext cx="11091672" cy="457200"/>
          </a:xfrm>
          <a:prstGeom prst="rect">
            <a:avLst/>
          </a:prstGeom>
          <a:noFill/>
          <a:ln/>
        </p:spPr>
        <p:txBody>
          <a:bodyPr wrap="square" lIns="0" tIns="0" rIns="0" bIns="0" rtlCol="0" anchor="ctr"/>
          <a:lstStyle/>
          <a:p>
            <a:pPr indent="0" marL="0">
              <a:buNone/>
            </a:pPr>
            <a:r>
              <a:rPr lang="en-US" sz="1600" b="1" dirty="0">
                <a:solidFill>
                  <a:srgbClr val="22205D"/>
                </a:solidFill>
                <a:latin typeface="Arial" pitchFamily="34" charset="0"/>
                <a:ea typeface="Arial" pitchFamily="34" charset="-122"/>
                <a:cs typeface="Arial" pitchFamily="34" charset="-120"/>
              </a:rPr>
              <a:t>People who already know us find us. Buyers who don't, can't yet. Q2–Q3 closes that gap.</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indent="0" marL="0">
              <a:buNone/>
            </a:pPr>
            <a:r>
              <a:rPr lang="en-US" sz="3000" b="1" dirty="0">
                <a:solidFill>
                  <a:srgbClr val="22205D"/>
                </a:solidFill>
                <a:latin typeface="Arial" pitchFamily="34" charset="0"/>
                <a:ea typeface="Arial" pitchFamily="34" charset="-122"/>
                <a:cs typeface="Arial" pitchFamily="34" charset="-120"/>
              </a:rPr>
              <a:t>What's ready: show and approve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914400"/>
        </p:xfrm>
        <a:graphic>
          <a:graphicData uri="http://schemas.openxmlformats.org/drawingml/2006/table">
            <a:tbl>
              <a:tblPr/>
              <a:tblGrid>
                <a:gridCol w="3657600"/>
                <a:gridCol w="1280160"/>
                <a:gridCol w="4846320"/>
                <a:gridCol w="1307592"/>
              </a:tblGrid>
              <a:tr h="475488">
                <a:tc>
                  <a:txBody>
                    <a:bodyPr/>
                    <a:lstStyle/>
                    <a:p>
                      <a:pPr indent="0" marL="0">
                        <a:buNone/>
                      </a:pPr>
                      <a:r>
                        <a:rPr lang="en-US" sz="1200" b="1" dirty="0">
                          <a:solidFill>
                            <a:srgbClr val="FFFFFF"/>
                          </a:solidFill>
                          <a:latin typeface="Arial" pitchFamily="34" charset="0"/>
                          <a:ea typeface="Arial" pitchFamily="34" charset="-122"/>
                          <a:cs typeface="Arial" pitchFamily="34" charset="-120"/>
                        </a:rPr>
                        <a:t>Asset</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22205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Status</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22205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Next step</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22205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Target</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22205D"/>
                    </a:solidFill>
                  </a:tcPr>
                </a:tc>
              </a:tr>
              <a:tr h="475488">
                <a:tc>
                  <a:txBody>
                    <a:bodyPr/>
                    <a:lstStyle/>
                    <a:p>
                      <a:pPr indent="0" marL="0">
                        <a:buNone/>
                      </a:pPr>
                      <a:r>
                        <a:rPr lang="en-US" sz="1200" b="1" dirty="0">
                          <a:solidFill>
                            <a:srgbClr val="22205D"/>
                          </a:solidFill>
                          <a:latin typeface="Arial" pitchFamily="34" charset="0"/>
                          <a:ea typeface="Arial" pitchFamily="34" charset="-122"/>
                          <a:cs typeface="Arial" pitchFamily="34" charset="-120"/>
                        </a:rPr>
                        <a:t>Corporate deck + case studies: HBL AM, MAF, Wefi</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algn="ctr" indent="0" marL="0">
                        <a:buNone/>
                      </a:pPr>
                      <a:r>
                        <a:rPr lang="en-US" sz="1200" b="1" dirty="0">
                          <a:solidFill>
                            <a:srgbClr val="22205D"/>
                          </a:solidFill>
                          <a:latin typeface="Arial" pitchFamily="34" charset="0"/>
                          <a:ea typeface="Arial" pitchFamily="34" charset="-122"/>
                          <a:cs typeface="Arial" pitchFamily="34" charset="-120"/>
                        </a:rPr>
                        <a:t>Done</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5CC3AE"/>
                    </a:solidFill>
                  </a:tcPr>
                </a:tc>
                <a:tc>
                  <a:txBody>
                    <a:bodyPr/>
                    <a:lstStyle/>
                    <a:p>
                      <a:pPr indent="0" marL="0">
                        <a:buNone/>
                      </a:pPr>
                      <a:r>
                        <a:rPr lang="en-US" sz="1200" dirty="0">
                          <a:solidFill>
                            <a:srgbClr val="22205D"/>
                          </a:solidFill>
                          <a:latin typeface="Arial" pitchFamily="34" charset="0"/>
                          <a:ea typeface="Arial" pitchFamily="34" charset="-122"/>
                          <a:cs typeface="Arial" pitchFamily="34" charset="-120"/>
                        </a:rPr>
                        <a:t>Approve as the sales master deck</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algn="ctr" indent="0" marL="0">
                        <a:buNone/>
                      </a:pPr>
                      <a:r>
                        <a:rPr lang="en-US" sz="1200" b="1" dirty="0">
                          <a:solidFill>
                            <a:srgbClr val="22205D"/>
                          </a:solidFill>
                          <a:latin typeface="Arial" pitchFamily="34" charset="0"/>
                          <a:ea typeface="Arial" pitchFamily="34" charset="-122"/>
                          <a:cs typeface="Arial" pitchFamily="34" charset="-120"/>
                        </a:rPr>
                        <a:t>Today</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475488">
                <a:tc>
                  <a:txBody>
                    <a:bodyPr/>
                    <a:lstStyle/>
                    <a:p>
                      <a:pPr indent="0" marL="0">
                        <a:buNone/>
                      </a:pPr>
                      <a:r>
                        <a:rPr lang="en-US" sz="1200" b="1" dirty="0">
                          <a:solidFill>
                            <a:srgbClr val="22205D"/>
                          </a:solidFill>
                          <a:latin typeface="Arial" pitchFamily="34" charset="0"/>
                          <a:ea typeface="Arial" pitchFamily="34" charset="-122"/>
                          <a:cs typeface="Arial" pitchFamily="34" charset="-120"/>
                        </a:rPr>
                        <a:t>HR brand video</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Ready</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0061F6"/>
                    </a:solidFill>
                  </a:tcPr>
                </a:tc>
                <a:tc>
                  <a:txBody>
                    <a:bodyPr/>
                    <a:lstStyle/>
                    <a:p>
                      <a:pPr indent="0" marL="0">
                        <a:buNone/>
                      </a:pPr>
                      <a:r>
                        <a:rPr lang="en-US" sz="1200" dirty="0">
                          <a:solidFill>
                            <a:srgbClr val="22205D"/>
                          </a:solidFill>
                          <a:latin typeface="Arial" pitchFamily="34" charset="0"/>
                          <a:ea typeface="Arial" pitchFamily="34" charset="-122"/>
                          <a:cs typeface="Arial" pitchFamily="34" charset="-120"/>
                        </a:rPr>
                        <a:t>CEO approval, then HR, website, LinkedIn</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algn="ctr" indent="0" marL="0">
                        <a:buNone/>
                      </a:pPr>
                      <a:r>
                        <a:rPr lang="en-US" sz="1200" b="1" dirty="0">
                          <a:solidFill>
                            <a:srgbClr val="22205D"/>
                          </a:solidFill>
                          <a:latin typeface="Arial" pitchFamily="34" charset="0"/>
                          <a:ea typeface="Arial" pitchFamily="34" charset="-122"/>
                          <a:cs typeface="Arial" pitchFamily="34" charset="-120"/>
                        </a:rPr>
                        <a:t>Today</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475488">
                <a:tc>
                  <a:txBody>
                    <a:bodyPr/>
                    <a:lstStyle/>
                    <a:p>
                      <a:pPr indent="0" marL="0">
                        <a:buNone/>
                      </a:pPr>
                      <a:r>
                        <a:rPr lang="en-US" sz="1200" b="1" dirty="0">
                          <a:solidFill>
                            <a:srgbClr val="22205D"/>
                          </a:solidFill>
                          <a:latin typeface="Arial" pitchFamily="34" charset="0"/>
                          <a:ea typeface="Arial" pitchFamily="34" charset="-122"/>
                          <a:cs typeface="Arial" pitchFamily="34" charset="-120"/>
                        </a:rPr>
                        <a:t>Homepage v2</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algn="ctr" indent="0" marL="0">
                        <a:buNone/>
                      </a:pPr>
                      <a:r>
                        <a:rPr lang="en-US" sz="1200" b="1" dirty="0">
                          <a:solidFill>
                            <a:srgbClr val="22205D"/>
                          </a:solidFill>
                          <a:latin typeface="Arial" pitchFamily="34" charset="0"/>
                          <a:ea typeface="Arial" pitchFamily="34" charset="-122"/>
                          <a:cs typeface="Arial" pitchFamily="34" charset="-120"/>
                        </a:rPr>
                        <a:t>Done</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5CC3AE"/>
                    </a:solidFill>
                  </a:tcPr>
                </a:tc>
                <a:tc>
                  <a:txBody>
                    <a:bodyPr/>
                    <a:lstStyle/>
                    <a:p>
                      <a:pPr indent="0" marL="0">
                        <a:buNone/>
                      </a:pPr>
                      <a:r>
                        <a:rPr lang="en-US" sz="1200" dirty="0">
                          <a:solidFill>
                            <a:srgbClr val="22205D"/>
                          </a:solidFill>
                          <a:latin typeface="Arial" pitchFamily="34" charset="0"/>
                          <a:ea typeface="Arial" pitchFamily="34" charset="-122"/>
                          <a:cs typeface="Arial" pitchFamily="34" charset="-120"/>
                        </a:rPr>
                        <a:t>Content approved by sales + CTO. Update Figma, hand to devs</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algn="ctr" indent="0" marL="0">
                        <a:buNone/>
                      </a:pPr>
                      <a:r>
                        <a:rPr lang="en-US" sz="1200" b="1" dirty="0">
                          <a:solidFill>
                            <a:srgbClr val="22205D"/>
                          </a:solidFill>
                          <a:latin typeface="Arial" pitchFamily="34" charset="0"/>
                          <a:ea typeface="Arial" pitchFamily="34" charset="-122"/>
                          <a:cs typeface="Arial" pitchFamily="34" charset="-120"/>
                        </a:rPr>
                        <a:t>Oct 2</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475488">
                <a:tc>
                  <a:txBody>
                    <a:bodyPr/>
                    <a:lstStyle/>
                    <a:p>
                      <a:pPr indent="0" marL="0">
                        <a:buNone/>
                      </a:pPr>
                      <a:r>
                        <a:rPr lang="en-US" sz="1200" b="1" dirty="0">
                          <a:solidFill>
                            <a:srgbClr val="22205D"/>
                          </a:solidFill>
                          <a:latin typeface="Arial" pitchFamily="34" charset="0"/>
                          <a:ea typeface="Arial" pitchFamily="34" charset="-122"/>
                          <a:cs typeface="Arial" pitchFamily="34" charset="-120"/>
                        </a:rPr>
                        <a:t>Data &amp; AI Readiness Assessment</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In review</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0098D8"/>
                    </a:solidFill>
                  </a:tcPr>
                </a:tc>
                <a:tc>
                  <a:txBody>
                    <a:bodyPr/>
                    <a:lstStyle/>
                    <a:p>
                      <a:pPr indent="0" marL="0">
                        <a:buNone/>
                      </a:pPr>
                      <a:r>
                        <a:rPr lang="en-US" sz="1200" dirty="0">
                          <a:solidFill>
                            <a:srgbClr val="22205D"/>
                          </a:solidFill>
                          <a:latin typeface="Arial" pitchFamily="34" charset="0"/>
                          <a:ea typeface="Arial" pitchFamily="34" charset="-122"/>
                          <a:cs typeface="Arial" pitchFamily="34" charset="-120"/>
                        </a:rPr>
                        <a:t>With Farrukh. Add data section, build with homepage</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algn="ctr" indent="0" marL="0">
                        <a:buNone/>
                      </a:pPr>
                      <a:r>
                        <a:rPr lang="en-US" sz="1200" b="1" dirty="0">
                          <a:solidFill>
                            <a:srgbClr val="22205D"/>
                          </a:solidFill>
                          <a:latin typeface="Arial" pitchFamily="34" charset="0"/>
                          <a:ea typeface="Arial" pitchFamily="34" charset="-122"/>
                          <a:cs typeface="Arial" pitchFamily="34" charset="-120"/>
                        </a:rPr>
                        <a:t>Oct 31</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475488">
                <a:tc>
                  <a:txBody>
                    <a:bodyPr/>
                    <a:lstStyle/>
                    <a:p>
                      <a:pPr indent="0" marL="0">
                        <a:buNone/>
                      </a:pPr>
                      <a:r>
                        <a:rPr lang="en-US" sz="1200" b="1" dirty="0">
                          <a:solidFill>
                            <a:srgbClr val="22205D"/>
                          </a:solidFill>
                          <a:latin typeface="Arial" pitchFamily="34" charset="0"/>
                          <a:ea typeface="Arial" pitchFamily="34" charset="-122"/>
                          <a:cs typeface="Arial" pitchFamily="34" charset="-120"/>
                        </a:rPr>
                        <a:t>AI Security Assessment</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algn="ctr" indent="0" marL="0">
                        <a:buNone/>
                      </a:pPr>
                      <a:r>
                        <a:rPr lang="en-US" sz="1200" b="1" dirty="0">
                          <a:solidFill>
                            <a:srgbClr val="22205D"/>
                          </a:solidFill>
                          <a:latin typeface="Arial" pitchFamily="34" charset="0"/>
                          <a:ea typeface="Arial" pitchFamily="34" charset="-122"/>
                          <a:cs typeface="Arial" pitchFamily="34" charset="-120"/>
                        </a:rPr>
                        <a:t>Done</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5CC3AE"/>
                    </a:solidFill>
                  </a:tcPr>
                </a:tc>
                <a:tc>
                  <a:txBody>
                    <a:bodyPr/>
                    <a:lstStyle/>
                    <a:p>
                      <a:pPr indent="0" marL="0">
                        <a:buNone/>
                      </a:pPr>
                      <a:r>
                        <a:rPr lang="en-US" sz="1200" dirty="0">
                          <a:solidFill>
                            <a:srgbClr val="22205D"/>
                          </a:solidFill>
                          <a:latin typeface="Arial" pitchFamily="34" charset="0"/>
                          <a:ea typeface="Arial" pitchFamily="34" charset="-122"/>
                          <a:cs typeface="Arial" pitchFamily="34" charset="-120"/>
                        </a:rPr>
                        <a:t>Designed. Build on the security pages</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algn="ctr" indent="0" marL="0">
                        <a:buNone/>
                      </a:pPr>
                      <a:r>
                        <a:rPr lang="en-US" sz="1200" b="1" dirty="0">
                          <a:solidFill>
                            <a:srgbClr val="22205D"/>
                          </a:solidFill>
                          <a:latin typeface="Arial" pitchFamily="34" charset="0"/>
                          <a:ea typeface="Arial" pitchFamily="34" charset="-122"/>
                          <a:cs typeface="Arial" pitchFamily="34" charset="-120"/>
                        </a:rPr>
                        <a:t>Oct 31</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475488">
                <a:tc>
                  <a:txBody>
                    <a:bodyPr/>
                    <a:lstStyle/>
                    <a:p>
                      <a:pPr indent="0" marL="0">
                        <a:buNone/>
                      </a:pPr>
                      <a:r>
                        <a:rPr lang="en-US" sz="1200" b="1" dirty="0">
                          <a:solidFill>
                            <a:srgbClr val="22205D"/>
                          </a:solidFill>
                          <a:latin typeface="Arial" pitchFamily="34" charset="0"/>
                          <a:ea typeface="Arial" pitchFamily="34" charset="-122"/>
                          <a:cs typeface="Arial" pitchFamily="34" charset="-120"/>
                        </a:rPr>
                        <a:t>Life at xLoop video</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algn="ctr" indent="0" marL="0">
                        <a:buNone/>
                      </a:pPr>
                      <a:r>
                        <a:rPr lang="en-US" sz="1200" b="1" dirty="0">
                          <a:solidFill>
                            <a:srgbClr val="22205D"/>
                          </a:solidFill>
                          <a:latin typeface="Arial" pitchFamily="34" charset="0"/>
                          <a:ea typeface="Arial" pitchFamily="34" charset="-122"/>
                          <a:cs typeface="Arial" pitchFamily="34" charset="-120"/>
                        </a:rPr>
                        <a:t>Next</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6E6E6"/>
                    </a:solidFill>
                  </a:tcPr>
                </a:tc>
                <a:tc>
                  <a:txBody>
                    <a:bodyPr/>
                    <a:lstStyle/>
                    <a:p>
                      <a:pPr indent="0" marL="0">
                        <a:buNone/>
                      </a:pPr>
                      <a:r>
                        <a:rPr lang="en-US" sz="1200" dirty="0">
                          <a:solidFill>
                            <a:srgbClr val="22205D"/>
                          </a:solidFill>
                          <a:latin typeface="Arial" pitchFamily="34" charset="0"/>
                          <a:ea typeface="Arial" pitchFamily="34" charset="-122"/>
                          <a:cs typeface="Arial" pitchFamily="34" charset="-120"/>
                        </a:rPr>
                        <a:t>Script, shoot, edit in one week</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algn="ctr" indent="0" marL="0">
                        <a:buNone/>
                      </a:pPr>
                      <a:r>
                        <a:rPr lang="en-US" sz="1200" b="1" dirty="0">
                          <a:solidFill>
                            <a:srgbClr val="22205D"/>
                          </a:solidFill>
                          <a:latin typeface="Arial" pitchFamily="34" charset="0"/>
                          <a:ea typeface="Arial" pitchFamily="34" charset="-122"/>
                          <a:cs typeface="Arial" pitchFamily="34" charset="-120"/>
                        </a:rPr>
                        <a:t>Oct 23</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475488">
                <a:tc>
                  <a:txBody>
                    <a:bodyPr/>
                    <a:lstStyle/>
                    <a:p>
                      <a:pPr indent="0" marL="0">
                        <a:buNone/>
                      </a:pPr>
                      <a:r>
                        <a:rPr lang="en-US" sz="1200" b="1" dirty="0">
                          <a:solidFill>
                            <a:srgbClr val="22205D"/>
                          </a:solidFill>
                          <a:latin typeface="Arial" pitchFamily="34" charset="0"/>
                          <a:ea typeface="Arial" pitchFamily="34" charset="-122"/>
                          <a:cs typeface="Arial" pitchFamily="34" charset="-120"/>
                        </a:rPr>
                        <a:t>Case study: Kayali / Huda Beauty</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algn="ctr" indent="0" marL="0">
                        <a:buNone/>
                      </a:pPr>
                      <a:r>
                        <a:rPr lang="en-US" sz="1200" b="1" dirty="0">
                          <a:solidFill>
                            <a:srgbClr val="22205D"/>
                          </a:solidFill>
                          <a:latin typeface="Arial" pitchFamily="34" charset="0"/>
                          <a:ea typeface="Arial" pitchFamily="34" charset="-122"/>
                          <a:cs typeface="Arial" pitchFamily="34" charset="-120"/>
                        </a:rPr>
                        <a:t>Waiting</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6E6E6"/>
                    </a:solidFill>
                  </a:tcPr>
                </a:tc>
                <a:tc>
                  <a:txBody>
                    <a:bodyPr/>
                    <a:lstStyle/>
                    <a:p>
                      <a:pPr indent="0" marL="0">
                        <a:buNone/>
                      </a:pPr>
                      <a:r>
                        <a:rPr lang="en-US" sz="1200" dirty="0">
                          <a:solidFill>
                            <a:srgbClr val="22205D"/>
                          </a:solidFill>
                          <a:latin typeface="Arial" pitchFamily="34" charset="0"/>
                          <a:ea typeface="Arial" pitchFamily="34" charset="-122"/>
                          <a:cs typeface="Arial" pitchFamily="34" charset="-120"/>
                        </a:rPr>
                        <a:t>Content from the account team</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algn="ctr" indent="0" marL="0">
                        <a:buNone/>
                      </a:pPr>
                      <a:r>
                        <a:rPr lang="en-US" sz="1200" b="1" dirty="0">
                          <a:solidFill>
                            <a:srgbClr val="22205D"/>
                          </a:solidFill>
                          <a:latin typeface="Arial" pitchFamily="34" charset="0"/>
                          <a:ea typeface="Arial" pitchFamily="34" charset="-122"/>
                          <a:cs typeface="Arial" pitchFamily="34" charset="-120"/>
                        </a:rPr>
                        <a:t>Oct 9</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475488">
                <a:tc>
                  <a:txBody>
                    <a:bodyPr/>
                    <a:lstStyle/>
                    <a:p>
                      <a:pPr indent="0" marL="0">
                        <a:buNone/>
                      </a:pPr>
                      <a:r>
                        <a:rPr lang="en-US" sz="1200" b="1" dirty="0">
                          <a:solidFill>
                            <a:srgbClr val="22205D"/>
                          </a:solidFill>
                          <a:latin typeface="Arial" pitchFamily="34" charset="0"/>
                          <a:ea typeface="Arial" pitchFamily="34" charset="-122"/>
                          <a:cs typeface="Arial" pitchFamily="34" charset="-120"/>
                        </a:rPr>
                        <a:t>4 service cluster pages</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algn="ctr" indent="0" marL="0">
                        <a:buNone/>
                      </a:pPr>
                      <a:r>
                        <a:rPr lang="en-US" sz="1200" b="1" dirty="0">
                          <a:solidFill>
                            <a:srgbClr val="22205D"/>
                          </a:solidFill>
                          <a:latin typeface="Arial" pitchFamily="34" charset="0"/>
                          <a:ea typeface="Arial" pitchFamily="34" charset="-122"/>
                          <a:cs typeface="Arial" pitchFamily="34" charset="-120"/>
                        </a:rPr>
                        <a:t>In progress</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50BFE6"/>
                    </a:solidFill>
                  </a:tcPr>
                </a:tc>
                <a:tc>
                  <a:txBody>
                    <a:bodyPr/>
                    <a:lstStyle/>
                    <a:p>
                      <a:pPr indent="0" marL="0">
                        <a:buNone/>
                      </a:pPr>
                      <a:r>
                        <a:rPr lang="en-US" sz="1200" dirty="0">
                          <a:solidFill>
                            <a:srgbClr val="22205D"/>
                          </a:solidFill>
                          <a:latin typeface="Arial" pitchFamily="34" charset="0"/>
                          <a:ea typeface="Arial" pitchFamily="34" charset="-122"/>
                          <a:cs typeface="Arial" pitchFamily="34" charset="-120"/>
                        </a:rPr>
                        <a:t>Content specs done. Design + build</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algn="ctr" indent="0" marL="0">
                        <a:buNone/>
                      </a:pPr>
                      <a:r>
                        <a:rPr lang="en-US" sz="1200" b="1" dirty="0">
                          <a:solidFill>
                            <a:srgbClr val="22205D"/>
                          </a:solidFill>
                          <a:latin typeface="Arial" pitchFamily="34" charset="0"/>
                          <a:ea typeface="Arial" pitchFamily="34" charset="-122"/>
                          <a:cs typeface="Arial" pitchFamily="34" charset="-120"/>
                        </a:rPr>
                        <a:t>Nov 30</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475488">
                <a:tc>
                  <a:txBody>
                    <a:bodyPr/>
                    <a:lstStyle/>
                    <a:p>
                      <a:pPr indent="0" marL="0">
                        <a:buNone/>
                      </a:pPr>
                      <a:r>
                        <a:rPr lang="en-US" sz="1200" b="1" dirty="0">
                          <a:solidFill>
                            <a:srgbClr val="22205D"/>
                          </a:solidFill>
                          <a:latin typeface="Arial" pitchFamily="34" charset="0"/>
                          <a:ea typeface="Arial" pitchFamily="34" charset="-122"/>
                          <a:cs typeface="Arial" pitchFamily="34" charset="-120"/>
                        </a:rPr>
                        <a:t>Mining industry page</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algn="ctr" indent="0" marL="0">
                        <a:buNone/>
                      </a:pPr>
                      <a:r>
                        <a:rPr lang="en-US" sz="1200" b="1" dirty="0">
                          <a:solidFill>
                            <a:srgbClr val="22205D"/>
                          </a:solidFill>
                          <a:latin typeface="Arial" pitchFamily="34" charset="0"/>
                          <a:ea typeface="Arial" pitchFamily="34" charset="-122"/>
                          <a:cs typeface="Arial" pitchFamily="34" charset="-120"/>
                        </a:rPr>
                        <a:t>In progress</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50BFE6"/>
                    </a:solidFill>
                  </a:tcPr>
                </a:tc>
                <a:tc>
                  <a:txBody>
                    <a:bodyPr/>
                    <a:lstStyle/>
                    <a:p>
                      <a:pPr indent="0" marL="0">
                        <a:buNone/>
                      </a:pPr>
                      <a:r>
                        <a:rPr lang="en-US" sz="1200" dirty="0">
                          <a:solidFill>
                            <a:srgbClr val="22205D"/>
                          </a:solidFill>
                          <a:latin typeface="Arial" pitchFamily="34" charset="0"/>
                          <a:ea typeface="Arial" pitchFamily="34" charset="-122"/>
                          <a:cs typeface="Arial" pitchFamily="34" charset="-120"/>
                        </a:rPr>
                        <a:t>Content, design, build</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algn="ctr" indent="0" marL="0">
                        <a:buNone/>
                      </a:pPr>
                      <a:r>
                        <a:rPr lang="en-US" sz="1200" b="1" dirty="0">
                          <a:solidFill>
                            <a:srgbClr val="22205D"/>
                          </a:solidFill>
                          <a:latin typeface="Arial" pitchFamily="34" charset="0"/>
                          <a:ea typeface="Arial" pitchFamily="34" charset="-122"/>
                          <a:cs typeface="Arial" pitchFamily="34" charset="-120"/>
                        </a:rPr>
                        <a:t>Nov 30</a:t>
                      </a:r>
                      <a:endParaRPr lang="en-US" sz="1200" dirty="0">
                        <a:latin typeface="Arial" charset="0"/>
                        <a:ea typeface="Arial" charset="0"/>
                        <a:cs typeface="Arial" charset="0"/>
                      </a:endParaRPr>
                    </a:p>
                  </a:txBody>
                  <a:tcPr marL="91440" marR="91440" marT="0" marB="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indent="0" marL="0">
              <a:buNone/>
            </a:pPr>
            <a:r>
              <a:rPr lang="en-US" sz="3000" b="1" dirty="0">
                <a:solidFill>
                  <a:srgbClr val="22205D"/>
                </a:solidFill>
                <a:latin typeface="Arial" pitchFamily="34" charset="0"/>
                <a:ea typeface="Arial" pitchFamily="34" charset="-122"/>
                <a:cs typeface="Arial" pitchFamily="34" charset="-120"/>
              </a:rPr>
              <a:t>What's holding us back</a:t>
            </a:r>
            <a:endParaRPr lang="en-US" sz="3000" dirty="0"/>
          </a:p>
        </p:txBody>
      </p:sp>
      <p:sp>
        <p:nvSpPr>
          <p:cNvPr id="3" name="Shape 1"/>
          <p:cNvSpPr/>
          <p:nvPr/>
        </p:nvSpPr>
        <p:spPr>
          <a:xfrm>
            <a:off x="548640" y="1325880"/>
            <a:ext cx="11091672" cy="841248"/>
          </a:xfrm>
          <a:prstGeom prst="roundRect">
            <a:avLst>
              <a:gd name="adj" fmla="val 8696"/>
            </a:avLst>
          </a:prstGeom>
          <a:solidFill>
            <a:srgbClr val="FFFFFF"/>
          </a:solidFill>
          <a:ln w="9525">
            <a:solidFill>
              <a:srgbClr val="E6E6E6"/>
            </a:solidFill>
            <a:prstDash val="solid"/>
          </a:ln>
        </p:spPr>
      </p:sp>
      <p:sp>
        <p:nvSpPr>
          <p:cNvPr id="4" name="Shape 2"/>
          <p:cNvSpPr/>
          <p:nvPr/>
        </p:nvSpPr>
        <p:spPr>
          <a:xfrm>
            <a:off x="777240" y="1554480"/>
            <a:ext cx="384048" cy="384048"/>
          </a:xfrm>
          <a:prstGeom prst="ellipse">
            <a:avLst/>
          </a:prstGeom>
          <a:solidFill>
            <a:srgbClr val="22205D"/>
          </a:solidFill>
          <a:ln w="12700">
            <a:solidFill>
              <a:srgbClr val="22205D"/>
            </a:solidFill>
            <a:prstDash val="solid"/>
          </a:ln>
        </p:spPr>
      </p:sp>
      <p:sp>
        <p:nvSpPr>
          <p:cNvPr id="5" name="Text 3"/>
          <p:cNvSpPr txBox="1"/>
          <p:nvPr/>
        </p:nvSpPr>
        <p:spPr>
          <a:xfrm>
            <a:off x="777240" y="1554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371600" y="1417320"/>
            <a:ext cx="3017520" cy="658368"/>
          </a:xfrm>
          <a:prstGeom prst="rect">
            <a:avLst/>
          </a:prstGeom>
          <a:noFill/>
          <a:ln/>
        </p:spPr>
        <p:txBody>
          <a:bodyPr wrap="square" lIns="0" tIns="0" rIns="0" bIns="0" rtlCol="0" anchor="ctr"/>
          <a:lstStyle/>
          <a:p>
            <a:pPr indent="0" marL="0">
              <a:buNone/>
            </a:pPr>
            <a:r>
              <a:rPr lang="en-US" sz="1600" b="1" dirty="0">
                <a:solidFill>
                  <a:srgbClr val="22205D"/>
                </a:solidFill>
                <a:latin typeface="Arial" pitchFamily="34" charset="0"/>
                <a:ea typeface="Arial" pitchFamily="34" charset="-122"/>
                <a:cs typeface="Arial" pitchFamily="34" charset="-120"/>
              </a:rPr>
              <a:t>Capacity</a:t>
            </a:r>
            <a:endParaRPr lang="en-US" sz="1600" dirty="0"/>
          </a:p>
        </p:txBody>
      </p:sp>
      <p:sp>
        <p:nvSpPr>
          <p:cNvPr id="7" name="Text 5"/>
          <p:cNvSpPr txBox="1"/>
          <p:nvPr/>
        </p:nvSpPr>
        <p:spPr>
          <a:xfrm>
            <a:off x="4480560" y="1399032"/>
            <a:ext cx="6931152" cy="694944"/>
          </a:xfrm>
          <a:prstGeom prst="rect">
            <a:avLst/>
          </a:prstGeom>
          <a:noFill/>
          <a:ln/>
        </p:spPr>
        <p:txBody>
          <a:bodyPr wrap="square" lIns="0" tIns="0" rIns="0" bIns="0" rtlCol="0" anchor="ctr"/>
          <a:lstStyle/>
          <a:p>
            <a:pPr indent="0" marL="0">
              <a:buNone/>
            </a:pPr>
            <a:r>
              <a:rPr lang="en-US" sz="1300" dirty="0">
                <a:solidFill>
                  <a:srgbClr val="22205D"/>
                </a:solidFill>
                <a:latin typeface="Arial" pitchFamily="34" charset="0"/>
                <a:ea typeface="Arial" pitchFamily="34" charset="-122"/>
                <a:cs typeface="Arial" pitchFamily="34" charset="-120"/>
              </a:rPr>
              <a:t>1 marketer (moving to part-time), 1 designer, 1 UI/UX designer shared with client work. Nobody owns day-to-day execution or urgent requests.</a:t>
            </a:r>
            <a:endParaRPr lang="en-US" sz="1300" dirty="0"/>
          </a:p>
        </p:txBody>
      </p:sp>
      <p:sp>
        <p:nvSpPr>
          <p:cNvPr id="8" name="Shape 6"/>
          <p:cNvSpPr/>
          <p:nvPr/>
        </p:nvSpPr>
        <p:spPr>
          <a:xfrm>
            <a:off x="548640" y="2313432"/>
            <a:ext cx="11091672" cy="841248"/>
          </a:xfrm>
          <a:prstGeom prst="roundRect">
            <a:avLst>
              <a:gd name="adj" fmla="val 8696"/>
            </a:avLst>
          </a:prstGeom>
          <a:solidFill>
            <a:srgbClr val="FFFFFF"/>
          </a:solidFill>
          <a:ln w="9525">
            <a:solidFill>
              <a:srgbClr val="E6E6E6"/>
            </a:solidFill>
            <a:prstDash val="solid"/>
          </a:ln>
        </p:spPr>
      </p:sp>
      <p:sp>
        <p:nvSpPr>
          <p:cNvPr id="9" name="Shape 7"/>
          <p:cNvSpPr/>
          <p:nvPr/>
        </p:nvSpPr>
        <p:spPr>
          <a:xfrm>
            <a:off x="777240" y="2542032"/>
            <a:ext cx="384048" cy="384048"/>
          </a:xfrm>
          <a:prstGeom prst="ellipse">
            <a:avLst/>
          </a:prstGeom>
          <a:solidFill>
            <a:srgbClr val="22205D"/>
          </a:solidFill>
          <a:ln w="12700">
            <a:solidFill>
              <a:srgbClr val="22205D"/>
            </a:solidFill>
            <a:prstDash val="solid"/>
          </a:ln>
        </p:spPr>
      </p:sp>
      <p:sp>
        <p:nvSpPr>
          <p:cNvPr id="10" name="Text 8"/>
          <p:cNvSpPr txBox="1"/>
          <p:nvPr/>
        </p:nvSpPr>
        <p:spPr>
          <a:xfrm>
            <a:off x="777240" y="25420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1371600" y="2404872"/>
            <a:ext cx="3017520" cy="658368"/>
          </a:xfrm>
          <a:prstGeom prst="rect">
            <a:avLst/>
          </a:prstGeom>
          <a:noFill/>
          <a:ln/>
        </p:spPr>
        <p:txBody>
          <a:bodyPr wrap="square" lIns="0" tIns="0" rIns="0" bIns="0" rtlCol="0" anchor="ctr"/>
          <a:lstStyle/>
          <a:p>
            <a:pPr indent="0" marL="0">
              <a:buNone/>
            </a:pPr>
            <a:r>
              <a:rPr lang="en-US" sz="1600" b="1" dirty="0">
                <a:solidFill>
                  <a:srgbClr val="22205D"/>
                </a:solidFill>
                <a:latin typeface="Arial" pitchFamily="34" charset="0"/>
                <a:ea typeface="Arial" pitchFamily="34" charset="-122"/>
                <a:cs typeface="Arial" pitchFamily="34" charset="-120"/>
              </a:rPr>
              <a:t>Website depends on production</a:t>
            </a:r>
            <a:endParaRPr lang="en-US" sz="1600" dirty="0"/>
          </a:p>
        </p:txBody>
      </p:sp>
      <p:sp>
        <p:nvSpPr>
          <p:cNvPr id="12" name="Text 10"/>
          <p:cNvSpPr txBox="1"/>
          <p:nvPr/>
        </p:nvSpPr>
        <p:spPr>
          <a:xfrm>
            <a:off x="4480560" y="2386584"/>
            <a:ext cx="6931152" cy="694944"/>
          </a:xfrm>
          <a:prstGeom prst="rect">
            <a:avLst/>
          </a:prstGeom>
          <a:noFill/>
          <a:ln/>
        </p:spPr>
        <p:txBody>
          <a:bodyPr wrap="square" lIns="0" tIns="0" rIns="0" bIns="0" rtlCol="0" anchor="ctr"/>
          <a:lstStyle/>
          <a:p>
            <a:pPr indent="0" marL="0">
              <a:buNone/>
            </a:pPr>
            <a:r>
              <a:rPr lang="en-US" sz="1300" dirty="0">
                <a:solidFill>
                  <a:srgbClr val="22205D"/>
                </a:solidFill>
                <a:latin typeface="Arial" pitchFamily="34" charset="0"/>
                <a:ea typeface="Arial" pitchFamily="34" charset="-122"/>
                <a:cs typeface="Arial" pitchFamily="34" charset="-120"/>
              </a:rPr>
              <a:t>2 developers shared with production. Finished content and designs wait in the queue.</a:t>
            </a:r>
            <a:endParaRPr lang="en-US" sz="1300" dirty="0"/>
          </a:p>
        </p:txBody>
      </p:sp>
      <p:sp>
        <p:nvSpPr>
          <p:cNvPr id="13" name="Shape 11"/>
          <p:cNvSpPr/>
          <p:nvPr/>
        </p:nvSpPr>
        <p:spPr>
          <a:xfrm>
            <a:off x="548640" y="3300984"/>
            <a:ext cx="11091672" cy="841248"/>
          </a:xfrm>
          <a:prstGeom prst="roundRect">
            <a:avLst>
              <a:gd name="adj" fmla="val 8696"/>
            </a:avLst>
          </a:prstGeom>
          <a:solidFill>
            <a:srgbClr val="FFFFFF"/>
          </a:solidFill>
          <a:ln w="9525">
            <a:solidFill>
              <a:srgbClr val="E6E6E6"/>
            </a:solidFill>
            <a:prstDash val="solid"/>
          </a:ln>
        </p:spPr>
      </p:sp>
      <p:sp>
        <p:nvSpPr>
          <p:cNvPr id="14" name="Shape 12"/>
          <p:cNvSpPr/>
          <p:nvPr/>
        </p:nvSpPr>
        <p:spPr>
          <a:xfrm>
            <a:off x="777240" y="3529584"/>
            <a:ext cx="384048" cy="384048"/>
          </a:xfrm>
          <a:prstGeom prst="ellipse">
            <a:avLst/>
          </a:prstGeom>
          <a:solidFill>
            <a:srgbClr val="22205D"/>
          </a:solidFill>
          <a:ln w="12700">
            <a:solidFill>
              <a:srgbClr val="22205D"/>
            </a:solidFill>
            <a:prstDash val="solid"/>
          </a:ln>
        </p:spPr>
      </p:sp>
      <p:sp>
        <p:nvSpPr>
          <p:cNvPr id="15" name="Text 13"/>
          <p:cNvSpPr txBox="1"/>
          <p:nvPr/>
        </p:nvSpPr>
        <p:spPr>
          <a:xfrm>
            <a:off x="777240" y="3529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Text 14"/>
          <p:cNvSpPr txBox="1"/>
          <p:nvPr/>
        </p:nvSpPr>
        <p:spPr>
          <a:xfrm>
            <a:off x="1371600" y="3392424"/>
            <a:ext cx="3017520" cy="658368"/>
          </a:xfrm>
          <a:prstGeom prst="rect">
            <a:avLst/>
          </a:prstGeom>
          <a:noFill/>
          <a:ln/>
        </p:spPr>
        <p:txBody>
          <a:bodyPr wrap="square" lIns="0" tIns="0" rIns="0" bIns="0" rtlCol="0" anchor="ctr"/>
          <a:lstStyle/>
          <a:p>
            <a:pPr indent="0" marL="0">
              <a:buNone/>
            </a:pPr>
            <a:r>
              <a:rPr lang="en-US" sz="1600" b="1" dirty="0">
                <a:solidFill>
                  <a:srgbClr val="22205D"/>
                </a:solidFill>
                <a:latin typeface="Arial" pitchFamily="34" charset="0"/>
                <a:ea typeface="Arial" pitchFamily="34" charset="-122"/>
                <a:cs typeface="Arial" pitchFamily="34" charset="-120"/>
              </a:rPr>
              <a:t>Search and AI visibility</a:t>
            </a:r>
            <a:endParaRPr lang="en-US" sz="1600" dirty="0"/>
          </a:p>
        </p:txBody>
      </p:sp>
      <p:sp>
        <p:nvSpPr>
          <p:cNvPr id="17" name="Text 15"/>
          <p:cNvSpPr txBox="1"/>
          <p:nvPr/>
        </p:nvSpPr>
        <p:spPr>
          <a:xfrm>
            <a:off x="4480560" y="3374136"/>
            <a:ext cx="6931152" cy="694944"/>
          </a:xfrm>
          <a:prstGeom prst="rect">
            <a:avLst/>
          </a:prstGeom>
          <a:noFill/>
          <a:ln/>
        </p:spPr>
        <p:txBody>
          <a:bodyPr wrap="square" lIns="0" tIns="0" rIns="0" bIns="0" rtlCol="0" anchor="ctr"/>
          <a:lstStyle/>
          <a:p>
            <a:pPr indent="0" marL="0">
              <a:buNone/>
            </a:pPr>
            <a:r>
              <a:rPr lang="en-US" sz="1300" dirty="0">
                <a:solidFill>
                  <a:srgbClr val="22205D"/>
                </a:solidFill>
                <a:latin typeface="Arial" pitchFamily="34" charset="0"/>
                <a:ea typeface="Arial" pitchFamily="34" charset="-122"/>
                <a:cs typeface="Arial" pitchFamily="34" charset="-120"/>
              </a:rPr>
              <a:t>99% of Google clicks come from people searching our name. For everything else we sit on page 4, despite 82 articles. 123 visits a month land on "Page not found".</a:t>
            </a:r>
            <a:endParaRPr lang="en-US" sz="1300" dirty="0"/>
          </a:p>
        </p:txBody>
      </p:sp>
      <p:sp>
        <p:nvSpPr>
          <p:cNvPr id="18" name="Shape 16"/>
          <p:cNvSpPr/>
          <p:nvPr/>
        </p:nvSpPr>
        <p:spPr>
          <a:xfrm>
            <a:off x="548640" y="4288536"/>
            <a:ext cx="11091672" cy="841248"/>
          </a:xfrm>
          <a:prstGeom prst="roundRect">
            <a:avLst>
              <a:gd name="adj" fmla="val 8696"/>
            </a:avLst>
          </a:prstGeom>
          <a:solidFill>
            <a:srgbClr val="FFFFFF"/>
          </a:solidFill>
          <a:ln w="9525">
            <a:solidFill>
              <a:srgbClr val="E6E6E6"/>
            </a:solidFill>
            <a:prstDash val="solid"/>
          </a:ln>
        </p:spPr>
      </p:sp>
      <p:sp>
        <p:nvSpPr>
          <p:cNvPr id="19" name="Shape 17"/>
          <p:cNvSpPr/>
          <p:nvPr/>
        </p:nvSpPr>
        <p:spPr>
          <a:xfrm>
            <a:off x="777240" y="4517136"/>
            <a:ext cx="384048" cy="384048"/>
          </a:xfrm>
          <a:prstGeom prst="ellipse">
            <a:avLst/>
          </a:prstGeom>
          <a:solidFill>
            <a:srgbClr val="22205D"/>
          </a:solidFill>
          <a:ln w="12700">
            <a:solidFill>
              <a:srgbClr val="22205D"/>
            </a:solidFill>
            <a:prstDash val="solid"/>
          </a:ln>
        </p:spPr>
      </p:sp>
      <p:sp>
        <p:nvSpPr>
          <p:cNvPr id="20" name="Text 18"/>
          <p:cNvSpPr txBox="1"/>
          <p:nvPr/>
        </p:nvSpPr>
        <p:spPr>
          <a:xfrm>
            <a:off x="777240" y="45171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1" name="Text 19"/>
          <p:cNvSpPr txBox="1"/>
          <p:nvPr/>
        </p:nvSpPr>
        <p:spPr>
          <a:xfrm>
            <a:off x="1371600" y="4379976"/>
            <a:ext cx="3017520" cy="658368"/>
          </a:xfrm>
          <a:prstGeom prst="rect">
            <a:avLst/>
          </a:prstGeom>
          <a:noFill/>
          <a:ln/>
        </p:spPr>
        <p:txBody>
          <a:bodyPr wrap="square" lIns="0" tIns="0" rIns="0" bIns="0" rtlCol="0" anchor="ctr"/>
          <a:lstStyle/>
          <a:p>
            <a:pPr indent="0" marL="0">
              <a:buNone/>
            </a:pPr>
            <a:r>
              <a:rPr lang="en-US" sz="1600" b="1" dirty="0">
                <a:solidFill>
                  <a:srgbClr val="22205D"/>
                </a:solidFill>
                <a:latin typeface="Arial" pitchFamily="34" charset="0"/>
                <a:ea typeface="Arial" pitchFamily="34" charset="-122"/>
                <a:cs typeface="Arial" pitchFamily="34" charset="-120"/>
              </a:rPr>
              <a:t>Proof we can't publish</a:t>
            </a:r>
            <a:endParaRPr lang="en-US" sz="1600" dirty="0"/>
          </a:p>
        </p:txBody>
      </p:sp>
      <p:sp>
        <p:nvSpPr>
          <p:cNvPr id="22" name="Text 20"/>
          <p:cNvSpPr txBox="1"/>
          <p:nvPr/>
        </p:nvSpPr>
        <p:spPr>
          <a:xfrm>
            <a:off x="4480560" y="4361688"/>
            <a:ext cx="6931152" cy="694944"/>
          </a:xfrm>
          <a:prstGeom prst="rect">
            <a:avLst/>
          </a:prstGeom>
          <a:noFill/>
          <a:ln/>
        </p:spPr>
        <p:txBody>
          <a:bodyPr wrap="square" lIns="0" tIns="0" rIns="0" bIns="0" rtlCol="0" anchor="ctr"/>
          <a:lstStyle/>
          <a:p>
            <a:pPr indent="0" marL="0">
              <a:buNone/>
            </a:pPr>
            <a:r>
              <a:rPr lang="en-US" sz="1300" dirty="0">
                <a:solidFill>
                  <a:srgbClr val="22205D"/>
                </a:solidFill>
                <a:latin typeface="Arial" pitchFamily="34" charset="0"/>
                <a:ea typeface="Arial" pitchFamily="34" charset="-122"/>
                <a:cs typeface="Arial" pitchFamily="34" charset="-120"/>
              </a:rPr>
              <a:t>Our strongest clients (MAF, Kayali) aren't cleared for naming, so public case studies stay anonymous.</a:t>
            </a:r>
            <a:endParaRPr lang="en-US" sz="1300" dirty="0"/>
          </a:p>
        </p:txBody>
      </p:sp>
      <p:sp>
        <p:nvSpPr>
          <p:cNvPr id="23" name="Shape 21"/>
          <p:cNvSpPr/>
          <p:nvPr/>
        </p:nvSpPr>
        <p:spPr>
          <a:xfrm>
            <a:off x="548640" y="5276088"/>
            <a:ext cx="11091672" cy="841248"/>
          </a:xfrm>
          <a:prstGeom prst="roundRect">
            <a:avLst>
              <a:gd name="adj" fmla="val 8696"/>
            </a:avLst>
          </a:prstGeom>
          <a:solidFill>
            <a:srgbClr val="FFFFFF"/>
          </a:solidFill>
          <a:ln w="9525">
            <a:solidFill>
              <a:srgbClr val="E6E6E6"/>
            </a:solidFill>
            <a:prstDash val="solid"/>
          </a:ln>
        </p:spPr>
      </p:sp>
      <p:sp>
        <p:nvSpPr>
          <p:cNvPr id="24" name="Shape 22"/>
          <p:cNvSpPr/>
          <p:nvPr/>
        </p:nvSpPr>
        <p:spPr>
          <a:xfrm>
            <a:off x="777240" y="5504688"/>
            <a:ext cx="384048" cy="384048"/>
          </a:xfrm>
          <a:prstGeom prst="ellipse">
            <a:avLst/>
          </a:prstGeom>
          <a:solidFill>
            <a:srgbClr val="22205D"/>
          </a:solidFill>
          <a:ln w="12700">
            <a:solidFill>
              <a:srgbClr val="22205D"/>
            </a:solidFill>
            <a:prstDash val="solid"/>
          </a:ln>
        </p:spPr>
      </p:sp>
      <p:sp>
        <p:nvSpPr>
          <p:cNvPr id="25" name="Text 23"/>
          <p:cNvSpPr txBox="1"/>
          <p:nvPr/>
        </p:nvSpPr>
        <p:spPr>
          <a:xfrm>
            <a:off x="777240" y="55046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371600" y="5367528"/>
            <a:ext cx="3017520" cy="658368"/>
          </a:xfrm>
          <a:prstGeom prst="rect">
            <a:avLst/>
          </a:prstGeom>
          <a:noFill/>
          <a:ln/>
        </p:spPr>
        <p:txBody>
          <a:bodyPr wrap="square" lIns="0" tIns="0" rIns="0" bIns="0" rtlCol="0" anchor="ctr"/>
          <a:lstStyle/>
          <a:p>
            <a:pPr indent="0" marL="0">
              <a:buNone/>
            </a:pPr>
            <a:r>
              <a:rPr lang="en-US" sz="1600" b="1" dirty="0">
                <a:solidFill>
                  <a:srgbClr val="22205D"/>
                </a:solidFill>
                <a:latin typeface="Arial" pitchFamily="34" charset="0"/>
                <a:ea typeface="Arial" pitchFamily="34" charset="-122"/>
                <a:cs typeface="Arial" pitchFamily="34" charset="-120"/>
              </a:rPr>
              <a:t>No lead measurement</a:t>
            </a:r>
            <a:endParaRPr lang="en-US" sz="1600" dirty="0"/>
          </a:p>
        </p:txBody>
      </p:sp>
      <p:sp>
        <p:nvSpPr>
          <p:cNvPr id="27" name="Text 25"/>
          <p:cNvSpPr txBox="1"/>
          <p:nvPr/>
        </p:nvSpPr>
        <p:spPr>
          <a:xfrm>
            <a:off x="4480560" y="5349240"/>
            <a:ext cx="6931152" cy="694944"/>
          </a:xfrm>
          <a:prstGeom prst="rect">
            <a:avLst/>
          </a:prstGeom>
          <a:noFill/>
          <a:ln/>
        </p:spPr>
        <p:txBody>
          <a:bodyPr wrap="square" lIns="0" tIns="0" rIns="0" bIns="0" rtlCol="0" anchor="ctr"/>
          <a:lstStyle/>
          <a:p>
            <a:pPr indent="0" marL="0">
              <a:buNone/>
            </a:pPr>
            <a:r>
              <a:rPr lang="en-US" sz="1300" dirty="0">
                <a:solidFill>
                  <a:srgbClr val="22205D"/>
                </a:solidFill>
                <a:latin typeface="Arial" pitchFamily="34" charset="0"/>
                <a:ea typeface="Arial" pitchFamily="34" charset="-122"/>
                <a:cs typeface="Arial" pitchFamily="34" charset="-120"/>
              </a:rPr>
              <a:t>86 form submissions in 90 days, with client enquiries, jobs and training mixed together. No record of which became deals. Analytics also missed about 4 weeks in Jul–Aug.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indent="0" marL="0">
              <a:buNone/>
            </a:pPr>
            <a:r>
              <a:rPr lang="en-US" sz="3000" b="1" dirty="0">
                <a:solidFill>
                  <a:srgbClr val="22205D"/>
                </a:solidFill>
                <a:latin typeface="Arial" pitchFamily="34" charset="0"/>
                <a:ea typeface="Arial" pitchFamily="34" charset="-122"/>
                <a:cs typeface="Arial" pitchFamily="34" charset="-120"/>
              </a:rPr>
              <a:t>Where we need to be by March 2027</a:t>
            </a:r>
            <a:endParaRPr lang="en-US" sz="3000" dirty="0"/>
          </a:p>
        </p:txBody>
      </p:sp>
      <p:sp>
        <p:nvSpPr>
          <p:cNvPr id="3" name="Shape 1"/>
          <p:cNvSpPr/>
          <p:nvPr/>
        </p:nvSpPr>
        <p:spPr>
          <a:xfrm>
            <a:off x="548640" y="1280160"/>
            <a:ext cx="5362956" cy="4480560"/>
          </a:xfrm>
          <a:prstGeom prst="roundRect">
            <a:avLst>
              <a:gd name="adj" fmla="val 1633"/>
            </a:avLst>
          </a:prstGeom>
          <a:solidFill>
            <a:srgbClr val="F4F6FB"/>
          </a:solidFill>
          <a:ln w="9525">
            <a:solidFill>
              <a:srgbClr val="E6E6E6"/>
            </a:solidFill>
            <a:prstDash val="solid"/>
          </a:ln>
        </p:spPr>
      </p:sp>
      <p:sp>
        <p:nvSpPr>
          <p:cNvPr id="4" name="Text 2"/>
          <p:cNvSpPr txBox="1"/>
          <p:nvPr/>
        </p:nvSpPr>
        <p:spPr>
          <a:xfrm>
            <a:off x="822960" y="1417320"/>
            <a:ext cx="4814316" cy="457200"/>
          </a:xfrm>
          <a:prstGeom prst="rect">
            <a:avLst/>
          </a:prstGeom>
          <a:noFill/>
          <a:ln/>
        </p:spPr>
        <p:txBody>
          <a:bodyPr wrap="square" lIns="0" tIns="0" rIns="0" bIns="0" rtlCol="0" anchor="ctr"/>
          <a:lstStyle/>
          <a:p>
            <a:pPr indent="0" marL="0">
              <a:buNone/>
            </a:pPr>
            <a:r>
              <a:rPr lang="en-US" sz="2000" b="1" dirty="0">
                <a:solidFill>
                  <a:srgbClr val="0061F6"/>
                </a:solidFill>
                <a:latin typeface="Arial" pitchFamily="34" charset="0"/>
                <a:ea typeface="Arial" pitchFamily="34" charset="-122"/>
                <a:cs typeface="Arial" pitchFamily="34" charset="-120"/>
              </a:rPr>
              <a:t>What ships</a:t>
            </a:r>
            <a:endParaRPr lang="en-US" sz="2000" dirty="0"/>
          </a:p>
        </p:txBody>
      </p:sp>
      <p:sp>
        <p:nvSpPr>
          <p:cNvPr id="5" name="Text 3"/>
          <p:cNvSpPr txBox="1"/>
          <p:nvPr/>
        </p:nvSpPr>
        <p:spPr>
          <a:xfrm>
            <a:off x="822960" y="1965960"/>
            <a:ext cx="960120" cy="502920"/>
          </a:xfrm>
          <a:prstGeom prst="rect">
            <a:avLst/>
          </a:prstGeom>
          <a:noFill/>
          <a:ln/>
        </p:spPr>
        <p:txBody>
          <a:bodyPr wrap="square" lIns="0" tIns="0" rIns="0" bIns="0" rtlCol="0" anchor="ctr"/>
          <a:lstStyle/>
          <a:p>
            <a:pPr indent="0" marL="0">
              <a:buNone/>
            </a:pPr>
            <a:r>
              <a:rPr lang="en-US" sz="1200" b="1" dirty="0">
                <a:solidFill>
                  <a:srgbClr val="0098D8"/>
                </a:solidFill>
                <a:latin typeface="Arial" pitchFamily="34" charset="0"/>
                <a:ea typeface="Arial" pitchFamily="34" charset="-122"/>
                <a:cs typeface="Arial" pitchFamily="34" charset="-120"/>
              </a:rPr>
              <a:t>Oct</a:t>
            </a:r>
            <a:endParaRPr lang="en-US" sz="1200" dirty="0"/>
          </a:p>
        </p:txBody>
      </p:sp>
      <p:sp>
        <p:nvSpPr>
          <p:cNvPr id="6" name="Text 4"/>
          <p:cNvSpPr txBox="1"/>
          <p:nvPr/>
        </p:nvSpPr>
        <p:spPr>
          <a:xfrm>
            <a:off x="1828800" y="1965960"/>
            <a:ext cx="3808476" cy="502920"/>
          </a:xfrm>
          <a:prstGeom prst="rect">
            <a:avLst/>
          </a:prstGeom>
          <a:noFill/>
          <a:ln/>
        </p:spPr>
        <p:txBody>
          <a:bodyPr wrap="square" lIns="0" tIns="0" rIns="0" bIns="0" rtlCol="0" anchor="ctr"/>
          <a:lstStyle/>
          <a:p>
            <a:pPr indent="0" marL="0">
              <a:buNone/>
            </a:pPr>
            <a:r>
              <a:rPr lang="en-US" sz="1300" dirty="0">
                <a:solidFill>
                  <a:srgbClr val="22205D"/>
                </a:solidFill>
                <a:latin typeface="Arial" pitchFamily="34" charset="0"/>
                <a:ea typeface="Arial" pitchFamily="34" charset="-122"/>
                <a:cs typeface="Arial" pitchFamily="34" charset="-120"/>
              </a:rPr>
              <a:t>New homepage + Data &amp; AI Readiness tool live</a:t>
            </a:r>
            <a:endParaRPr lang="en-US" sz="1300" dirty="0"/>
          </a:p>
        </p:txBody>
      </p:sp>
      <p:sp>
        <p:nvSpPr>
          <p:cNvPr id="7" name="Text 5"/>
          <p:cNvSpPr txBox="1"/>
          <p:nvPr/>
        </p:nvSpPr>
        <p:spPr>
          <a:xfrm>
            <a:off x="822960" y="2569464"/>
            <a:ext cx="960120" cy="502920"/>
          </a:xfrm>
          <a:prstGeom prst="rect">
            <a:avLst/>
          </a:prstGeom>
          <a:noFill/>
          <a:ln/>
        </p:spPr>
        <p:txBody>
          <a:bodyPr wrap="square" lIns="0" tIns="0" rIns="0" bIns="0" rtlCol="0" anchor="ctr"/>
          <a:lstStyle/>
          <a:p>
            <a:pPr indent="0" marL="0">
              <a:buNone/>
            </a:pPr>
            <a:r>
              <a:rPr lang="en-US" sz="1200" b="1" dirty="0">
                <a:solidFill>
                  <a:srgbClr val="0098D8"/>
                </a:solidFill>
                <a:latin typeface="Arial" pitchFamily="34" charset="0"/>
                <a:ea typeface="Arial" pitchFamily="34" charset="-122"/>
                <a:cs typeface="Arial" pitchFamily="34" charset="-120"/>
              </a:rPr>
              <a:t>Oct</a:t>
            </a:r>
            <a:endParaRPr lang="en-US" sz="1200" dirty="0"/>
          </a:p>
        </p:txBody>
      </p:sp>
      <p:sp>
        <p:nvSpPr>
          <p:cNvPr id="8" name="Text 6"/>
          <p:cNvSpPr txBox="1"/>
          <p:nvPr/>
        </p:nvSpPr>
        <p:spPr>
          <a:xfrm>
            <a:off x="1828800" y="2569464"/>
            <a:ext cx="3808476" cy="502920"/>
          </a:xfrm>
          <a:prstGeom prst="rect">
            <a:avLst/>
          </a:prstGeom>
          <a:noFill/>
          <a:ln/>
        </p:spPr>
        <p:txBody>
          <a:bodyPr wrap="square" lIns="0" tIns="0" rIns="0" bIns="0" rtlCol="0" anchor="ctr"/>
          <a:lstStyle/>
          <a:p>
            <a:pPr indent="0" marL="0">
              <a:buNone/>
            </a:pPr>
            <a:r>
              <a:rPr lang="en-US" sz="1300" dirty="0">
                <a:solidFill>
                  <a:srgbClr val="22205D"/>
                </a:solidFill>
                <a:latin typeface="Arial" pitchFamily="34" charset="0"/>
                <a:ea typeface="Arial" pitchFamily="34" charset="-122"/>
                <a:cs typeface="Arial" pitchFamily="34" charset="-120"/>
              </a:rPr>
              <a:t>AI Security tool live on the security pages</a:t>
            </a:r>
            <a:endParaRPr lang="en-US" sz="1300" dirty="0"/>
          </a:p>
        </p:txBody>
      </p:sp>
      <p:sp>
        <p:nvSpPr>
          <p:cNvPr id="9" name="Text 7"/>
          <p:cNvSpPr txBox="1"/>
          <p:nvPr/>
        </p:nvSpPr>
        <p:spPr>
          <a:xfrm>
            <a:off x="822960" y="3172968"/>
            <a:ext cx="960120" cy="502920"/>
          </a:xfrm>
          <a:prstGeom prst="rect">
            <a:avLst/>
          </a:prstGeom>
          <a:noFill/>
          <a:ln/>
        </p:spPr>
        <p:txBody>
          <a:bodyPr wrap="square" lIns="0" tIns="0" rIns="0" bIns="0" rtlCol="0" anchor="ctr"/>
          <a:lstStyle/>
          <a:p>
            <a:pPr indent="0" marL="0">
              <a:buNone/>
            </a:pPr>
            <a:r>
              <a:rPr lang="en-US" sz="1200" b="1" dirty="0">
                <a:solidFill>
                  <a:srgbClr val="0098D8"/>
                </a:solidFill>
                <a:latin typeface="Arial" pitchFamily="34" charset="0"/>
                <a:ea typeface="Arial" pitchFamily="34" charset="-122"/>
                <a:cs typeface="Arial" pitchFamily="34" charset="-120"/>
              </a:rPr>
              <a:t>Oct</a:t>
            </a:r>
            <a:endParaRPr lang="en-US" sz="1200" dirty="0"/>
          </a:p>
        </p:txBody>
      </p:sp>
      <p:sp>
        <p:nvSpPr>
          <p:cNvPr id="10" name="Text 8"/>
          <p:cNvSpPr txBox="1"/>
          <p:nvPr/>
        </p:nvSpPr>
        <p:spPr>
          <a:xfrm>
            <a:off x="1828800" y="3172968"/>
            <a:ext cx="3808476" cy="502920"/>
          </a:xfrm>
          <a:prstGeom prst="rect">
            <a:avLst/>
          </a:prstGeom>
          <a:noFill/>
          <a:ln/>
        </p:spPr>
        <p:txBody>
          <a:bodyPr wrap="square" lIns="0" tIns="0" rIns="0" bIns="0" rtlCol="0" anchor="ctr"/>
          <a:lstStyle/>
          <a:p>
            <a:pPr indent="0" marL="0">
              <a:buNone/>
            </a:pPr>
            <a:r>
              <a:rPr lang="en-US" sz="1300" dirty="0">
                <a:solidFill>
                  <a:srgbClr val="22205D"/>
                </a:solidFill>
                <a:latin typeface="Arial" pitchFamily="34" charset="0"/>
                <a:ea typeface="Arial" pitchFamily="34" charset="-122"/>
                <a:cs typeface="Arial" pitchFamily="34" charset="-120"/>
              </a:rPr>
              <a:t>2 videos: HR brand + Life at xLoop</a:t>
            </a:r>
            <a:endParaRPr lang="en-US" sz="1300" dirty="0"/>
          </a:p>
        </p:txBody>
      </p:sp>
      <p:sp>
        <p:nvSpPr>
          <p:cNvPr id="11" name="Text 9"/>
          <p:cNvSpPr txBox="1"/>
          <p:nvPr/>
        </p:nvSpPr>
        <p:spPr>
          <a:xfrm>
            <a:off x="822960" y="3776472"/>
            <a:ext cx="960120" cy="502920"/>
          </a:xfrm>
          <a:prstGeom prst="rect">
            <a:avLst/>
          </a:prstGeom>
          <a:noFill/>
          <a:ln/>
        </p:spPr>
        <p:txBody>
          <a:bodyPr wrap="square" lIns="0" tIns="0" rIns="0" bIns="0" rtlCol="0" anchor="ctr"/>
          <a:lstStyle/>
          <a:p>
            <a:pPr indent="0" marL="0">
              <a:buNone/>
            </a:pPr>
            <a:r>
              <a:rPr lang="en-US" sz="1200" b="1" dirty="0">
                <a:solidFill>
                  <a:srgbClr val="0098D8"/>
                </a:solidFill>
                <a:latin typeface="Arial" pitchFamily="34" charset="0"/>
                <a:ea typeface="Arial" pitchFamily="34" charset="-122"/>
                <a:cs typeface="Arial" pitchFamily="34" charset="-120"/>
              </a:rPr>
              <a:t>Nov</a:t>
            </a:r>
            <a:endParaRPr lang="en-US" sz="1200" dirty="0"/>
          </a:p>
        </p:txBody>
      </p:sp>
      <p:sp>
        <p:nvSpPr>
          <p:cNvPr id="12" name="Text 10"/>
          <p:cNvSpPr txBox="1"/>
          <p:nvPr/>
        </p:nvSpPr>
        <p:spPr>
          <a:xfrm>
            <a:off x="1828800" y="3776472"/>
            <a:ext cx="3808476" cy="502920"/>
          </a:xfrm>
          <a:prstGeom prst="rect">
            <a:avLst/>
          </a:prstGeom>
          <a:noFill/>
          <a:ln/>
        </p:spPr>
        <p:txBody>
          <a:bodyPr wrap="square" lIns="0" tIns="0" rIns="0" bIns="0" rtlCol="0" anchor="ctr"/>
          <a:lstStyle/>
          <a:p>
            <a:pPr indent="0" marL="0">
              <a:buNone/>
            </a:pPr>
            <a:r>
              <a:rPr lang="en-US" sz="1300" dirty="0">
                <a:solidFill>
                  <a:srgbClr val="22205D"/>
                </a:solidFill>
                <a:latin typeface="Arial" pitchFamily="34" charset="0"/>
                <a:ea typeface="Arial" pitchFamily="34" charset="-122"/>
                <a:cs typeface="Arial" pitchFamily="34" charset="-120"/>
              </a:rPr>
              <a:t>4 service cluster pages + Mining page live</a:t>
            </a:r>
            <a:endParaRPr lang="en-US" sz="1300" dirty="0"/>
          </a:p>
        </p:txBody>
      </p:sp>
      <p:sp>
        <p:nvSpPr>
          <p:cNvPr id="13" name="Text 11"/>
          <p:cNvSpPr txBox="1"/>
          <p:nvPr/>
        </p:nvSpPr>
        <p:spPr>
          <a:xfrm>
            <a:off x="822960" y="4379976"/>
            <a:ext cx="960120" cy="502920"/>
          </a:xfrm>
          <a:prstGeom prst="rect">
            <a:avLst/>
          </a:prstGeom>
          <a:noFill/>
          <a:ln/>
        </p:spPr>
        <p:txBody>
          <a:bodyPr wrap="square" lIns="0" tIns="0" rIns="0" bIns="0" rtlCol="0" anchor="ctr"/>
          <a:lstStyle/>
          <a:p>
            <a:pPr indent="0" marL="0">
              <a:buNone/>
            </a:pPr>
            <a:r>
              <a:rPr lang="en-US" sz="1200" b="1" dirty="0">
                <a:solidFill>
                  <a:srgbClr val="0098D8"/>
                </a:solidFill>
                <a:latin typeface="Arial" pitchFamily="34" charset="0"/>
                <a:ea typeface="Arial" pitchFamily="34" charset="-122"/>
                <a:cs typeface="Arial" pitchFamily="34" charset="-120"/>
              </a:rPr>
              <a:t>Nov</a:t>
            </a:r>
            <a:endParaRPr lang="en-US" sz="1200" dirty="0"/>
          </a:p>
        </p:txBody>
      </p:sp>
      <p:sp>
        <p:nvSpPr>
          <p:cNvPr id="14" name="Text 12"/>
          <p:cNvSpPr txBox="1"/>
          <p:nvPr/>
        </p:nvSpPr>
        <p:spPr>
          <a:xfrm>
            <a:off x="1828800" y="4379976"/>
            <a:ext cx="3808476" cy="502920"/>
          </a:xfrm>
          <a:prstGeom prst="rect">
            <a:avLst/>
          </a:prstGeom>
          <a:noFill/>
          <a:ln/>
        </p:spPr>
        <p:txBody>
          <a:bodyPr wrap="square" lIns="0" tIns="0" rIns="0" bIns="0" rtlCol="0" anchor="ctr"/>
          <a:lstStyle/>
          <a:p>
            <a:pPr indent="0" marL="0">
              <a:buNone/>
            </a:pPr>
            <a:r>
              <a:rPr lang="en-US" sz="1300" dirty="0">
                <a:solidFill>
                  <a:srgbClr val="22205D"/>
                </a:solidFill>
                <a:latin typeface="Arial" pitchFamily="34" charset="0"/>
                <a:ea typeface="Arial" pitchFamily="34" charset="-122"/>
                <a:cs typeface="Arial" pitchFamily="34" charset="-120"/>
              </a:rPr>
              <a:t>Sales kit: master deck, case studies, 1 one-pager per cluster</a:t>
            </a:r>
            <a:endParaRPr lang="en-US" sz="1300" dirty="0"/>
          </a:p>
        </p:txBody>
      </p:sp>
      <p:sp>
        <p:nvSpPr>
          <p:cNvPr id="15" name="Text 13"/>
          <p:cNvSpPr txBox="1"/>
          <p:nvPr/>
        </p:nvSpPr>
        <p:spPr>
          <a:xfrm>
            <a:off x="822960" y="4983480"/>
            <a:ext cx="960120" cy="502920"/>
          </a:xfrm>
          <a:prstGeom prst="rect">
            <a:avLst/>
          </a:prstGeom>
          <a:noFill/>
          <a:ln/>
        </p:spPr>
        <p:txBody>
          <a:bodyPr wrap="square" lIns="0" tIns="0" rIns="0" bIns="0" rtlCol="0" anchor="ctr"/>
          <a:lstStyle/>
          <a:p>
            <a:pPr indent="0" marL="0">
              <a:buNone/>
            </a:pPr>
            <a:r>
              <a:rPr lang="en-US" sz="1200" b="1" dirty="0">
                <a:solidFill>
                  <a:srgbClr val="0098D8"/>
                </a:solidFill>
                <a:latin typeface="Arial" pitchFamily="34" charset="0"/>
                <a:ea typeface="Arial" pitchFamily="34" charset="-122"/>
                <a:cs typeface="Arial" pitchFamily="34" charset="-120"/>
              </a:rPr>
              <a:t>Oct–Mar</a:t>
            </a:r>
            <a:endParaRPr lang="en-US" sz="1200" dirty="0"/>
          </a:p>
        </p:txBody>
      </p:sp>
      <p:sp>
        <p:nvSpPr>
          <p:cNvPr id="16" name="Text 14"/>
          <p:cNvSpPr txBox="1"/>
          <p:nvPr/>
        </p:nvSpPr>
        <p:spPr>
          <a:xfrm>
            <a:off x="1828800" y="4983480"/>
            <a:ext cx="3808476" cy="502920"/>
          </a:xfrm>
          <a:prstGeom prst="rect">
            <a:avLst/>
          </a:prstGeom>
          <a:noFill/>
          <a:ln/>
        </p:spPr>
        <p:txBody>
          <a:bodyPr wrap="square" lIns="0" tIns="0" rIns="0" bIns="0" rtlCol="0" anchor="ctr"/>
          <a:lstStyle/>
          <a:p>
            <a:pPr indent="0" marL="0">
              <a:buNone/>
            </a:pPr>
            <a:r>
              <a:rPr lang="en-US" sz="1300" dirty="0">
                <a:solidFill>
                  <a:srgbClr val="22205D"/>
                </a:solidFill>
                <a:latin typeface="Arial" pitchFamily="34" charset="0"/>
                <a:ea typeface="Arial" pitchFamily="34" charset="-122"/>
                <a:cs typeface="Arial" pitchFamily="34" charset="-120"/>
              </a:rPr>
              <a:t>24 new or refreshed articles, written to be quoted by AI answers</a:t>
            </a:r>
            <a:endParaRPr lang="en-US" sz="1300" dirty="0"/>
          </a:p>
        </p:txBody>
      </p:sp>
      <p:sp>
        <p:nvSpPr>
          <p:cNvPr id="17" name="Shape 15"/>
          <p:cNvSpPr/>
          <p:nvPr/>
        </p:nvSpPr>
        <p:spPr>
          <a:xfrm>
            <a:off x="6277356" y="1280160"/>
            <a:ext cx="5362956" cy="4480560"/>
          </a:xfrm>
          <a:prstGeom prst="roundRect">
            <a:avLst>
              <a:gd name="adj" fmla="val 1633"/>
            </a:avLst>
          </a:prstGeom>
          <a:solidFill>
            <a:srgbClr val="F4F6FB"/>
          </a:solidFill>
          <a:ln w="9525">
            <a:solidFill>
              <a:srgbClr val="E6E6E6"/>
            </a:solidFill>
            <a:prstDash val="solid"/>
          </a:ln>
        </p:spPr>
      </p:sp>
      <p:sp>
        <p:nvSpPr>
          <p:cNvPr id="18" name="Text 16"/>
          <p:cNvSpPr txBox="1"/>
          <p:nvPr/>
        </p:nvSpPr>
        <p:spPr>
          <a:xfrm>
            <a:off x="6551676" y="1417320"/>
            <a:ext cx="4814316" cy="457200"/>
          </a:xfrm>
          <a:prstGeom prst="rect">
            <a:avLst/>
          </a:prstGeom>
          <a:noFill/>
          <a:ln/>
        </p:spPr>
        <p:txBody>
          <a:bodyPr wrap="square" lIns="0" tIns="0" rIns="0" bIns="0" rtlCol="0" anchor="ctr"/>
          <a:lstStyle/>
          <a:p>
            <a:pPr indent="0" marL="0">
              <a:buNone/>
            </a:pPr>
            <a:r>
              <a:rPr lang="en-US" sz="2000" b="1" dirty="0">
                <a:solidFill>
                  <a:srgbClr val="0061F6"/>
                </a:solidFill>
                <a:latin typeface="Arial" pitchFamily="34" charset="0"/>
                <a:ea typeface="Arial" pitchFamily="34" charset="-122"/>
                <a:cs typeface="Arial" pitchFamily="34" charset="-120"/>
              </a:rPr>
              <a:t>What we report every month</a:t>
            </a:r>
            <a:endParaRPr lang="en-US" sz="2000" dirty="0"/>
          </a:p>
        </p:txBody>
      </p:sp>
      <p:sp>
        <p:nvSpPr>
          <p:cNvPr id="19" name="Shape 17"/>
          <p:cNvSpPr/>
          <p:nvPr/>
        </p:nvSpPr>
        <p:spPr>
          <a:xfrm>
            <a:off x="6551676" y="2066544"/>
            <a:ext cx="384048" cy="384048"/>
          </a:xfrm>
          <a:prstGeom prst="ellipse">
            <a:avLst/>
          </a:prstGeom>
          <a:solidFill>
            <a:srgbClr val="5CC3AE"/>
          </a:solidFill>
          <a:ln w="12700">
            <a:solidFill>
              <a:srgbClr val="5CC3AE"/>
            </a:solidFill>
            <a:prstDash val="solid"/>
          </a:ln>
        </p:spPr>
      </p:sp>
      <p:sp>
        <p:nvSpPr>
          <p:cNvPr id="20" name="Text 18"/>
          <p:cNvSpPr txBox="1"/>
          <p:nvPr/>
        </p:nvSpPr>
        <p:spPr>
          <a:xfrm>
            <a:off x="6551676" y="2066544"/>
            <a:ext cx="384048" cy="384048"/>
          </a:xfrm>
          <a:prstGeom prst="rect">
            <a:avLst/>
          </a:prstGeom>
          <a:noFill/>
          <a:ln/>
        </p:spPr>
        <p:txBody>
          <a:bodyPr wrap="square" lIns="0" tIns="0" rIns="0" bIns="0" rtlCol="0" anchor="ctr"/>
          <a:lstStyle/>
          <a:p>
            <a:pPr algn="ctr" indent="0" marL="0">
              <a:buNone/>
            </a:pPr>
            <a:r>
              <a:rPr lang="en-US" sz="1400" b="1" dirty="0">
                <a:solidFill>
                  <a:srgbClr val="22205D"/>
                </a:solidFill>
                <a:latin typeface="Arial" pitchFamily="34" charset="0"/>
                <a:ea typeface="Arial" pitchFamily="34" charset="-122"/>
                <a:cs typeface="Arial" pitchFamily="34" charset="-120"/>
              </a:rPr>
              <a:t>1</a:t>
            </a:r>
            <a:endParaRPr lang="en-US" sz="1400" dirty="0"/>
          </a:p>
        </p:txBody>
      </p:sp>
      <p:sp>
        <p:nvSpPr>
          <p:cNvPr id="21" name="Text 19"/>
          <p:cNvSpPr txBox="1"/>
          <p:nvPr/>
        </p:nvSpPr>
        <p:spPr>
          <a:xfrm>
            <a:off x="7100316" y="2011680"/>
            <a:ext cx="4265676" cy="292608"/>
          </a:xfrm>
          <a:prstGeom prst="rect">
            <a:avLst/>
          </a:prstGeom>
          <a:noFill/>
          <a:ln/>
        </p:spPr>
        <p:txBody>
          <a:bodyPr wrap="square" lIns="0" tIns="0" rIns="0" bIns="0" rtlCol="0" anchor="ctr"/>
          <a:lstStyle/>
          <a:p>
            <a:pPr indent="0" marL="0">
              <a:buNone/>
            </a:pPr>
            <a:r>
              <a:rPr lang="en-US" sz="1400" b="1" dirty="0">
                <a:solidFill>
                  <a:srgbClr val="22205D"/>
                </a:solidFill>
                <a:latin typeface="Arial" pitchFamily="34" charset="0"/>
                <a:ea typeface="Arial" pitchFamily="34" charset="-122"/>
                <a:cs typeface="Arial" pitchFamily="34" charset="-120"/>
              </a:rPr>
              <a:t>Qualified leads by source</a:t>
            </a:r>
            <a:endParaRPr lang="en-US" sz="1400" dirty="0"/>
          </a:p>
        </p:txBody>
      </p:sp>
      <p:sp>
        <p:nvSpPr>
          <p:cNvPr id="22" name="Text 20"/>
          <p:cNvSpPr txBox="1"/>
          <p:nvPr/>
        </p:nvSpPr>
        <p:spPr>
          <a:xfrm>
            <a:off x="7100316" y="2304288"/>
            <a:ext cx="4265676" cy="256032"/>
          </a:xfrm>
          <a:prstGeom prst="rect">
            <a:avLst/>
          </a:prstGeom>
          <a:noFill/>
          <a:ln/>
        </p:spPr>
        <p:txBody>
          <a:bodyPr wrap="square" lIns="0" tIns="0" rIns="0" bIns="0" rtlCol="0" anchor="ctr"/>
          <a:lstStyle/>
          <a:p>
            <a:pPr indent="0" marL="0">
              <a:buNone/>
            </a:pPr>
            <a:r>
              <a:rPr lang="en-US" sz="1200" dirty="0">
                <a:solidFill>
                  <a:srgbClr val="5A5A7A"/>
                </a:solidFill>
                <a:latin typeface="Arial" pitchFamily="34" charset="0"/>
                <a:ea typeface="Arial" pitchFamily="34" charset="-122"/>
                <a:cs typeface="Arial" pitchFamily="34" charset="-120"/>
              </a:rPr>
              <a:t>confirmed by sales</a:t>
            </a:r>
            <a:endParaRPr lang="en-US" sz="1200" dirty="0"/>
          </a:p>
        </p:txBody>
      </p:sp>
      <p:sp>
        <p:nvSpPr>
          <p:cNvPr id="23" name="Shape 21"/>
          <p:cNvSpPr/>
          <p:nvPr/>
        </p:nvSpPr>
        <p:spPr>
          <a:xfrm>
            <a:off x="6551676" y="2779776"/>
            <a:ext cx="384048" cy="384048"/>
          </a:xfrm>
          <a:prstGeom prst="ellipse">
            <a:avLst/>
          </a:prstGeom>
          <a:solidFill>
            <a:srgbClr val="5CC3AE"/>
          </a:solidFill>
          <a:ln w="12700">
            <a:solidFill>
              <a:srgbClr val="5CC3AE"/>
            </a:solidFill>
            <a:prstDash val="solid"/>
          </a:ln>
        </p:spPr>
      </p:sp>
      <p:sp>
        <p:nvSpPr>
          <p:cNvPr id="24" name="Text 22"/>
          <p:cNvSpPr txBox="1"/>
          <p:nvPr/>
        </p:nvSpPr>
        <p:spPr>
          <a:xfrm>
            <a:off x="6551676" y="2779776"/>
            <a:ext cx="384048" cy="384048"/>
          </a:xfrm>
          <a:prstGeom prst="rect">
            <a:avLst/>
          </a:prstGeom>
          <a:noFill/>
          <a:ln/>
        </p:spPr>
        <p:txBody>
          <a:bodyPr wrap="square" lIns="0" tIns="0" rIns="0" bIns="0" rtlCol="0" anchor="ctr"/>
          <a:lstStyle/>
          <a:p>
            <a:pPr algn="ctr" indent="0" marL="0">
              <a:buNone/>
            </a:pPr>
            <a:r>
              <a:rPr lang="en-US" sz="1400" b="1" dirty="0">
                <a:solidFill>
                  <a:srgbClr val="22205D"/>
                </a:solidFill>
                <a:latin typeface="Arial" pitchFamily="34" charset="0"/>
                <a:ea typeface="Arial" pitchFamily="34" charset="-122"/>
                <a:cs typeface="Arial" pitchFamily="34" charset="-120"/>
              </a:rPr>
              <a:t>2</a:t>
            </a:r>
            <a:endParaRPr lang="en-US" sz="1400" dirty="0"/>
          </a:p>
        </p:txBody>
      </p:sp>
      <p:sp>
        <p:nvSpPr>
          <p:cNvPr id="25" name="Text 23"/>
          <p:cNvSpPr txBox="1"/>
          <p:nvPr/>
        </p:nvSpPr>
        <p:spPr>
          <a:xfrm>
            <a:off x="7100316" y="2724912"/>
            <a:ext cx="4265676" cy="292608"/>
          </a:xfrm>
          <a:prstGeom prst="rect">
            <a:avLst/>
          </a:prstGeom>
          <a:noFill/>
          <a:ln/>
        </p:spPr>
        <p:txBody>
          <a:bodyPr wrap="square" lIns="0" tIns="0" rIns="0" bIns="0" rtlCol="0" anchor="ctr"/>
          <a:lstStyle/>
          <a:p>
            <a:pPr indent="0" marL="0">
              <a:buNone/>
            </a:pPr>
            <a:r>
              <a:rPr lang="en-US" sz="1400" b="1" dirty="0">
                <a:solidFill>
                  <a:srgbClr val="22205D"/>
                </a:solidFill>
                <a:latin typeface="Arial" pitchFamily="34" charset="0"/>
                <a:ea typeface="Arial" pitchFamily="34" charset="-122"/>
                <a:cs typeface="Arial" pitchFamily="34" charset="-120"/>
              </a:rPr>
              <a:t>Diagnostic tool completions</a:t>
            </a:r>
            <a:endParaRPr lang="en-US" sz="1400" dirty="0"/>
          </a:p>
        </p:txBody>
      </p:sp>
      <p:sp>
        <p:nvSpPr>
          <p:cNvPr id="26" name="Text 24"/>
          <p:cNvSpPr txBox="1"/>
          <p:nvPr/>
        </p:nvSpPr>
        <p:spPr>
          <a:xfrm>
            <a:off x="7100316" y="3017520"/>
            <a:ext cx="4265676" cy="256032"/>
          </a:xfrm>
          <a:prstGeom prst="rect">
            <a:avLst/>
          </a:prstGeom>
          <a:noFill/>
          <a:ln/>
        </p:spPr>
        <p:txBody>
          <a:bodyPr wrap="square" lIns="0" tIns="0" rIns="0" bIns="0" rtlCol="0" anchor="ctr"/>
          <a:lstStyle/>
          <a:p>
            <a:pPr indent="0" marL="0">
              <a:buNone/>
            </a:pPr>
            <a:r>
              <a:rPr lang="en-US" sz="1200" dirty="0">
                <a:solidFill>
                  <a:srgbClr val="5A5A7A"/>
                </a:solidFill>
                <a:latin typeface="Arial" pitchFamily="34" charset="0"/>
                <a:ea typeface="Arial" pitchFamily="34" charset="-122"/>
                <a:cs typeface="Arial" pitchFamily="34" charset="-120"/>
              </a:rPr>
              <a:t>new, from Oct</a:t>
            </a:r>
            <a:endParaRPr lang="en-US" sz="1200" dirty="0"/>
          </a:p>
        </p:txBody>
      </p:sp>
      <p:sp>
        <p:nvSpPr>
          <p:cNvPr id="27" name="Shape 25"/>
          <p:cNvSpPr/>
          <p:nvPr/>
        </p:nvSpPr>
        <p:spPr>
          <a:xfrm>
            <a:off x="6551676" y="3493008"/>
            <a:ext cx="384048" cy="384048"/>
          </a:xfrm>
          <a:prstGeom prst="ellipse">
            <a:avLst/>
          </a:prstGeom>
          <a:solidFill>
            <a:srgbClr val="5CC3AE"/>
          </a:solidFill>
          <a:ln w="12700">
            <a:solidFill>
              <a:srgbClr val="5CC3AE"/>
            </a:solidFill>
            <a:prstDash val="solid"/>
          </a:ln>
        </p:spPr>
      </p:sp>
      <p:sp>
        <p:nvSpPr>
          <p:cNvPr id="28" name="Text 26"/>
          <p:cNvSpPr txBox="1"/>
          <p:nvPr/>
        </p:nvSpPr>
        <p:spPr>
          <a:xfrm>
            <a:off x="6551676" y="3493008"/>
            <a:ext cx="384048" cy="384048"/>
          </a:xfrm>
          <a:prstGeom prst="rect">
            <a:avLst/>
          </a:prstGeom>
          <a:noFill/>
          <a:ln/>
        </p:spPr>
        <p:txBody>
          <a:bodyPr wrap="square" lIns="0" tIns="0" rIns="0" bIns="0" rtlCol="0" anchor="ctr"/>
          <a:lstStyle/>
          <a:p>
            <a:pPr algn="ctr" indent="0" marL="0">
              <a:buNone/>
            </a:pPr>
            <a:r>
              <a:rPr lang="en-US" sz="1400" b="1" dirty="0">
                <a:solidFill>
                  <a:srgbClr val="22205D"/>
                </a:solidFill>
                <a:latin typeface="Arial" pitchFamily="34" charset="0"/>
                <a:ea typeface="Arial" pitchFamily="34" charset="-122"/>
                <a:cs typeface="Arial" pitchFamily="34" charset="-120"/>
              </a:rPr>
              <a:t>3</a:t>
            </a:r>
            <a:endParaRPr lang="en-US" sz="1400" dirty="0"/>
          </a:p>
        </p:txBody>
      </p:sp>
      <p:sp>
        <p:nvSpPr>
          <p:cNvPr id="29" name="Text 27"/>
          <p:cNvSpPr txBox="1"/>
          <p:nvPr/>
        </p:nvSpPr>
        <p:spPr>
          <a:xfrm>
            <a:off x="7100316" y="3438144"/>
            <a:ext cx="4265676" cy="292608"/>
          </a:xfrm>
          <a:prstGeom prst="rect">
            <a:avLst/>
          </a:prstGeom>
          <a:noFill/>
          <a:ln/>
        </p:spPr>
        <p:txBody>
          <a:bodyPr wrap="square" lIns="0" tIns="0" rIns="0" bIns="0" rtlCol="0" anchor="ctr"/>
          <a:lstStyle/>
          <a:p>
            <a:pPr indent="0" marL="0">
              <a:buNone/>
            </a:pPr>
            <a:r>
              <a:rPr lang="en-US" sz="1400" b="1" dirty="0">
                <a:solidFill>
                  <a:srgbClr val="22205D"/>
                </a:solidFill>
                <a:latin typeface="Arial" pitchFamily="34" charset="0"/>
                <a:ea typeface="Arial" pitchFamily="34" charset="-122"/>
                <a:cs typeface="Arial" pitchFamily="34" charset="-120"/>
              </a:rPr>
              <a:t>Google clicks not from our name</a:t>
            </a:r>
            <a:endParaRPr lang="en-US" sz="1400" dirty="0"/>
          </a:p>
        </p:txBody>
      </p:sp>
      <p:sp>
        <p:nvSpPr>
          <p:cNvPr id="30" name="Text 28"/>
          <p:cNvSpPr txBox="1"/>
          <p:nvPr/>
        </p:nvSpPr>
        <p:spPr>
          <a:xfrm>
            <a:off x="7100316" y="3730752"/>
            <a:ext cx="4265676" cy="256032"/>
          </a:xfrm>
          <a:prstGeom prst="rect">
            <a:avLst/>
          </a:prstGeom>
          <a:noFill/>
          <a:ln/>
        </p:spPr>
        <p:txBody>
          <a:bodyPr wrap="square" lIns="0" tIns="0" rIns="0" bIns="0" rtlCol="0" anchor="ctr"/>
          <a:lstStyle/>
          <a:p>
            <a:pPr indent="0" marL="0">
              <a:buNone/>
            </a:pPr>
            <a:r>
              <a:rPr lang="en-US" sz="1200" dirty="0">
                <a:solidFill>
                  <a:srgbClr val="5A5A7A"/>
                </a:solidFill>
                <a:latin typeface="Arial" pitchFamily="34" charset="0"/>
                <a:ea typeface="Arial" pitchFamily="34" charset="-122"/>
                <a:cs typeface="Arial" pitchFamily="34" charset="-120"/>
              </a:rPr>
              <a:t>baseline ~15 a quarter</a:t>
            </a:r>
            <a:endParaRPr lang="en-US" sz="1200" dirty="0"/>
          </a:p>
        </p:txBody>
      </p:sp>
      <p:sp>
        <p:nvSpPr>
          <p:cNvPr id="31" name="Shape 29"/>
          <p:cNvSpPr/>
          <p:nvPr/>
        </p:nvSpPr>
        <p:spPr>
          <a:xfrm>
            <a:off x="6551676" y="4206240"/>
            <a:ext cx="384048" cy="384048"/>
          </a:xfrm>
          <a:prstGeom prst="ellipse">
            <a:avLst/>
          </a:prstGeom>
          <a:solidFill>
            <a:srgbClr val="5CC3AE"/>
          </a:solidFill>
          <a:ln w="12700">
            <a:solidFill>
              <a:srgbClr val="5CC3AE"/>
            </a:solidFill>
            <a:prstDash val="solid"/>
          </a:ln>
        </p:spPr>
      </p:sp>
      <p:sp>
        <p:nvSpPr>
          <p:cNvPr id="32" name="Text 30"/>
          <p:cNvSpPr txBox="1"/>
          <p:nvPr/>
        </p:nvSpPr>
        <p:spPr>
          <a:xfrm>
            <a:off x="6551676" y="4206240"/>
            <a:ext cx="384048" cy="384048"/>
          </a:xfrm>
          <a:prstGeom prst="rect">
            <a:avLst/>
          </a:prstGeom>
          <a:noFill/>
          <a:ln/>
        </p:spPr>
        <p:txBody>
          <a:bodyPr wrap="square" lIns="0" tIns="0" rIns="0" bIns="0" rtlCol="0" anchor="ctr"/>
          <a:lstStyle/>
          <a:p>
            <a:pPr algn="ctr" indent="0" marL="0">
              <a:buNone/>
            </a:pPr>
            <a:r>
              <a:rPr lang="en-US" sz="1400" b="1" dirty="0">
                <a:solidFill>
                  <a:srgbClr val="22205D"/>
                </a:solidFill>
                <a:latin typeface="Arial" pitchFamily="34" charset="0"/>
                <a:ea typeface="Arial" pitchFamily="34" charset="-122"/>
                <a:cs typeface="Arial" pitchFamily="34" charset="-120"/>
              </a:rPr>
              <a:t>4</a:t>
            </a:r>
            <a:endParaRPr lang="en-US" sz="1400" dirty="0"/>
          </a:p>
        </p:txBody>
      </p:sp>
      <p:sp>
        <p:nvSpPr>
          <p:cNvPr id="33" name="Text 31"/>
          <p:cNvSpPr txBox="1"/>
          <p:nvPr/>
        </p:nvSpPr>
        <p:spPr>
          <a:xfrm>
            <a:off x="7100316" y="4151376"/>
            <a:ext cx="4265676" cy="292608"/>
          </a:xfrm>
          <a:prstGeom prst="rect">
            <a:avLst/>
          </a:prstGeom>
          <a:noFill/>
          <a:ln/>
        </p:spPr>
        <p:txBody>
          <a:bodyPr wrap="square" lIns="0" tIns="0" rIns="0" bIns="0" rtlCol="0" anchor="ctr"/>
          <a:lstStyle/>
          <a:p>
            <a:pPr indent="0" marL="0">
              <a:buNone/>
            </a:pPr>
            <a:r>
              <a:rPr lang="en-US" sz="1400" b="1" dirty="0">
                <a:solidFill>
                  <a:srgbClr val="22205D"/>
                </a:solidFill>
                <a:latin typeface="Arial" pitchFamily="34" charset="0"/>
                <a:ea typeface="Arial" pitchFamily="34" charset="-122"/>
                <a:cs typeface="Arial" pitchFamily="34" charset="-120"/>
              </a:rPr>
              <a:t>Visits from AI assistants</a:t>
            </a:r>
            <a:endParaRPr lang="en-US" sz="1400" dirty="0"/>
          </a:p>
        </p:txBody>
      </p:sp>
      <p:sp>
        <p:nvSpPr>
          <p:cNvPr id="34" name="Text 32"/>
          <p:cNvSpPr txBox="1"/>
          <p:nvPr/>
        </p:nvSpPr>
        <p:spPr>
          <a:xfrm>
            <a:off x="7100316" y="4443984"/>
            <a:ext cx="4265676" cy="256032"/>
          </a:xfrm>
          <a:prstGeom prst="rect">
            <a:avLst/>
          </a:prstGeom>
          <a:noFill/>
          <a:ln/>
        </p:spPr>
        <p:txBody>
          <a:bodyPr wrap="square" lIns="0" tIns="0" rIns="0" bIns="0" rtlCol="0" anchor="ctr"/>
          <a:lstStyle/>
          <a:p>
            <a:pPr indent="0" marL="0">
              <a:buNone/>
            </a:pPr>
            <a:r>
              <a:rPr lang="en-US" sz="1200" dirty="0">
                <a:solidFill>
                  <a:srgbClr val="5A5A7A"/>
                </a:solidFill>
                <a:latin typeface="Arial" pitchFamily="34" charset="0"/>
                <a:ea typeface="Arial" pitchFamily="34" charset="-122"/>
                <a:cs typeface="Arial" pitchFamily="34" charset="-120"/>
              </a:rPr>
              <a:t>baseline 23 a month</a:t>
            </a:r>
            <a:endParaRPr lang="en-US" sz="1200" dirty="0"/>
          </a:p>
        </p:txBody>
      </p:sp>
      <p:sp>
        <p:nvSpPr>
          <p:cNvPr id="35" name="Shape 33"/>
          <p:cNvSpPr/>
          <p:nvPr/>
        </p:nvSpPr>
        <p:spPr>
          <a:xfrm>
            <a:off x="6551676" y="4919472"/>
            <a:ext cx="384048" cy="384048"/>
          </a:xfrm>
          <a:prstGeom prst="ellipse">
            <a:avLst/>
          </a:prstGeom>
          <a:solidFill>
            <a:srgbClr val="5CC3AE"/>
          </a:solidFill>
          <a:ln w="12700">
            <a:solidFill>
              <a:srgbClr val="5CC3AE"/>
            </a:solidFill>
            <a:prstDash val="solid"/>
          </a:ln>
        </p:spPr>
      </p:sp>
      <p:sp>
        <p:nvSpPr>
          <p:cNvPr id="36" name="Text 34"/>
          <p:cNvSpPr txBox="1"/>
          <p:nvPr/>
        </p:nvSpPr>
        <p:spPr>
          <a:xfrm>
            <a:off x="6551676" y="4919472"/>
            <a:ext cx="384048" cy="384048"/>
          </a:xfrm>
          <a:prstGeom prst="rect">
            <a:avLst/>
          </a:prstGeom>
          <a:noFill/>
          <a:ln/>
        </p:spPr>
        <p:txBody>
          <a:bodyPr wrap="square" lIns="0" tIns="0" rIns="0" bIns="0" rtlCol="0" anchor="ctr"/>
          <a:lstStyle/>
          <a:p>
            <a:pPr algn="ctr" indent="0" marL="0">
              <a:buNone/>
            </a:pPr>
            <a:r>
              <a:rPr lang="en-US" sz="1400" b="1" dirty="0">
                <a:solidFill>
                  <a:srgbClr val="22205D"/>
                </a:solidFill>
                <a:latin typeface="Arial" pitchFamily="34" charset="0"/>
                <a:ea typeface="Arial" pitchFamily="34" charset="-122"/>
                <a:cs typeface="Arial" pitchFamily="34" charset="-120"/>
              </a:rPr>
              <a:t>5</a:t>
            </a:r>
            <a:endParaRPr lang="en-US" sz="1400" dirty="0"/>
          </a:p>
        </p:txBody>
      </p:sp>
      <p:sp>
        <p:nvSpPr>
          <p:cNvPr id="37" name="Text 35"/>
          <p:cNvSpPr txBox="1"/>
          <p:nvPr/>
        </p:nvSpPr>
        <p:spPr>
          <a:xfrm>
            <a:off x="7100316" y="4864608"/>
            <a:ext cx="4265676" cy="292608"/>
          </a:xfrm>
          <a:prstGeom prst="rect">
            <a:avLst/>
          </a:prstGeom>
          <a:noFill/>
          <a:ln/>
        </p:spPr>
        <p:txBody>
          <a:bodyPr wrap="square" lIns="0" tIns="0" rIns="0" bIns="0" rtlCol="0" anchor="ctr"/>
          <a:lstStyle/>
          <a:p>
            <a:pPr indent="0" marL="0">
              <a:buNone/>
            </a:pPr>
            <a:r>
              <a:rPr lang="en-US" sz="1400" b="1" dirty="0">
                <a:solidFill>
                  <a:srgbClr val="22205D"/>
                </a:solidFill>
                <a:latin typeface="Arial" pitchFamily="34" charset="0"/>
                <a:ea typeface="Arial" pitchFamily="34" charset="-122"/>
                <a:cs typeface="Arial" pitchFamily="34" charset="-120"/>
              </a:rPr>
              <a:t>Average position outside our name</a:t>
            </a:r>
            <a:endParaRPr lang="en-US" sz="1400" dirty="0"/>
          </a:p>
        </p:txBody>
      </p:sp>
      <p:sp>
        <p:nvSpPr>
          <p:cNvPr id="38" name="Text 36"/>
          <p:cNvSpPr txBox="1"/>
          <p:nvPr/>
        </p:nvSpPr>
        <p:spPr>
          <a:xfrm>
            <a:off x="7100316" y="5157216"/>
            <a:ext cx="4265676" cy="256032"/>
          </a:xfrm>
          <a:prstGeom prst="rect">
            <a:avLst/>
          </a:prstGeom>
          <a:noFill/>
          <a:ln/>
        </p:spPr>
        <p:txBody>
          <a:bodyPr wrap="square" lIns="0" tIns="0" rIns="0" bIns="0" rtlCol="0" anchor="ctr"/>
          <a:lstStyle/>
          <a:p>
            <a:pPr indent="0" marL="0">
              <a:buNone/>
            </a:pPr>
            <a:r>
              <a:rPr lang="en-US" sz="1200" dirty="0">
                <a:solidFill>
                  <a:srgbClr val="5A5A7A"/>
                </a:solidFill>
                <a:latin typeface="Arial" pitchFamily="34" charset="0"/>
                <a:ea typeface="Arial" pitchFamily="34" charset="-122"/>
                <a:cs typeface="Arial" pitchFamily="34" charset="-120"/>
              </a:rPr>
              <a:t>baseline 38 (page 4)</a:t>
            </a:r>
            <a:endParaRPr lang="en-US" sz="1200" dirty="0"/>
          </a:p>
        </p:txBody>
      </p:sp>
      <p:sp>
        <p:nvSpPr>
          <p:cNvPr id="39" name="Text 37"/>
          <p:cNvSpPr txBox="1"/>
          <p:nvPr/>
        </p:nvSpPr>
        <p:spPr>
          <a:xfrm>
            <a:off x="548640" y="5989320"/>
            <a:ext cx="11091672" cy="411480"/>
          </a:xfrm>
          <a:prstGeom prst="rect">
            <a:avLst/>
          </a:prstGeom>
          <a:noFill/>
          <a:ln/>
        </p:spPr>
        <p:txBody>
          <a:bodyPr wrap="square" lIns="0" tIns="0" rIns="0" bIns="0" rtlCol="0" anchor="ctr"/>
          <a:lstStyle/>
          <a:p>
            <a:pPr indent="0" marL="0">
              <a:buNone/>
            </a:pPr>
            <a:r>
              <a:rPr lang="en-US" sz="1500" b="1" dirty="0">
                <a:solidFill>
                  <a:srgbClr val="22205D"/>
                </a:solidFill>
                <a:latin typeface="Arial" pitchFamily="34" charset="0"/>
                <a:ea typeface="Arial" pitchFamily="34" charset="-122"/>
                <a:cs typeface="Arial" pitchFamily="34" charset="-120"/>
              </a:rPr>
              <a:t>Baselines are today's numbers. Targets set in January, after a full quarter on the new site.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indent="0" marL="0">
              <a:buNone/>
            </a:pPr>
            <a:r>
              <a:rPr lang="en-US" sz="3000" b="1" dirty="0">
                <a:solidFill>
                  <a:srgbClr val="22205D"/>
                </a:solidFill>
                <a:latin typeface="Arial" pitchFamily="34" charset="0"/>
                <a:ea typeface="Arial" pitchFamily="34" charset="-122"/>
                <a:cs typeface="Arial" pitchFamily="34" charset="-120"/>
              </a:rPr>
              <a:t>Q2 (Oct–Dec): launch and measure</a:t>
            </a:r>
            <a:endParaRPr lang="en-US" sz="3000" dirty="0"/>
          </a:p>
        </p:txBody>
      </p:sp>
      <p:sp>
        <p:nvSpPr>
          <p:cNvPr id="3" name="Shape 1"/>
          <p:cNvSpPr/>
          <p:nvPr/>
        </p:nvSpPr>
        <p:spPr>
          <a:xfrm>
            <a:off x="4114800" y="1234440"/>
            <a:ext cx="1254252" cy="365760"/>
          </a:xfrm>
          <a:prstGeom prst="rect">
            <a:avLst/>
          </a:prstGeom>
          <a:solidFill>
            <a:srgbClr val="22205D"/>
          </a:solidFill>
          <a:ln w="12700">
            <a:solidFill>
              <a:srgbClr val="FFFFFF"/>
            </a:solidFill>
            <a:prstDash val="solid"/>
          </a:ln>
        </p:spPr>
      </p:sp>
      <p:sp>
        <p:nvSpPr>
          <p:cNvPr id="4" name="Text 2"/>
          <p:cNvSpPr txBox="1"/>
          <p:nvPr/>
        </p:nvSpPr>
        <p:spPr>
          <a:xfrm>
            <a:off x="4114800" y="1234440"/>
            <a:ext cx="1254252"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Oct 1–15</a:t>
            </a:r>
            <a:endParaRPr lang="en-US" sz="1100" dirty="0"/>
          </a:p>
        </p:txBody>
      </p:sp>
      <p:sp>
        <p:nvSpPr>
          <p:cNvPr id="5" name="Shape 3"/>
          <p:cNvSpPr/>
          <p:nvPr/>
        </p:nvSpPr>
        <p:spPr>
          <a:xfrm>
            <a:off x="5369052" y="1234440"/>
            <a:ext cx="1254252" cy="365760"/>
          </a:xfrm>
          <a:prstGeom prst="rect">
            <a:avLst/>
          </a:prstGeom>
          <a:solidFill>
            <a:srgbClr val="22205D"/>
          </a:solidFill>
          <a:ln w="12700">
            <a:solidFill>
              <a:srgbClr val="FFFFFF"/>
            </a:solidFill>
            <a:prstDash val="solid"/>
          </a:ln>
        </p:spPr>
      </p:sp>
      <p:sp>
        <p:nvSpPr>
          <p:cNvPr id="6" name="Text 4"/>
          <p:cNvSpPr txBox="1"/>
          <p:nvPr/>
        </p:nvSpPr>
        <p:spPr>
          <a:xfrm>
            <a:off x="5369052" y="1234440"/>
            <a:ext cx="1254252"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Oct 16–31</a:t>
            </a:r>
            <a:endParaRPr lang="en-US" sz="1100" dirty="0"/>
          </a:p>
        </p:txBody>
      </p:sp>
      <p:sp>
        <p:nvSpPr>
          <p:cNvPr id="7" name="Shape 5"/>
          <p:cNvSpPr/>
          <p:nvPr/>
        </p:nvSpPr>
        <p:spPr>
          <a:xfrm>
            <a:off x="6623304" y="1234440"/>
            <a:ext cx="1254252" cy="365760"/>
          </a:xfrm>
          <a:prstGeom prst="rect">
            <a:avLst/>
          </a:prstGeom>
          <a:solidFill>
            <a:srgbClr val="0061F6"/>
          </a:solidFill>
          <a:ln w="12700">
            <a:solidFill>
              <a:srgbClr val="FFFFFF"/>
            </a:solidFill>
            <a:prstDash val="solid"/>
          </a:ln>
        </p:spPr>
      </p:sp>
      <p:sp>
        <p:nvSpPr>
          <p:cNvPr id="8" name="Text 6"/>
          <p:cNvSpPr txBox="1"/>
          <p:nvPr/>
        </p:nvSpPr>
        <p:spPr>
          <a:xfrm>
            <a:off x="6623304" y="1234440"/>
            <a:ext cx="1254252"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Nov 1–15</a:t>
            </a:r>
            <a:endParaRPr lang="en-US" sz="1100" dirty="0"/>
          </a:p>
        </p:txBody>
      </p:sp>
      <p:sp>
        <p:nvSpPr>
          <p:cNvPr id="9" name="Shape 7"/>
          <p:cNvSpPr/>
          <p:nvPr/>
        </p:nvSpPr>
        <p:spPr>
          <a:xfrm>
            <a:off x="7877556" y="1234440"/>
            <a:ext cx="1254252" cy="365760"/>
          </a:xfrm>
          <a:prstGeom prst="rect">
            <a:avLst/>
          </a:prstGeom>
          <a:solidFill>
            <a:srgbClr val="0061F6"/>
          </a:solidFill>
          <a:ln w="12700">
            <a:solidFill>
              <a:srgbClr val="FFFFFF"/>
            </a:solidFill>
            <a:prstDash val="solid"/>
          </a:ln>
        </p:spPr>
      </p:sp>
      <p:sp>
        <p:nvSpPr>
          <p:cNvPr id="10" name="Text 8"/>
          <p:cNvSpPr txBox="1"/>
          <p:nvPr/>
        </p:nvSpPr>
        <p:spPr>
          <a:xfrm>
            <a:off x="7877556" y="1234440"/>
            <a:ext cx="1254252"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Nov 16–30</a:t>
            </a:r>
            <a:endParaRPr lang="en-US" sz="1100" dirty="0"/>
          </a:p>
        </p:txBody>
      </p:sp>
      <p:sp>
        <p:nvSpPr>
          <p:cNvPr id="11" name="Shape 9"/>
          <p:cNvSpPr/>
          <p:nvPr/>
        </p:nvSpPr>
        <p:spPr>
          <a:xfrm>
            <a:off x="9131808" y="1234440"/>
            <a:ext cx="1254252" cy="365760"/>
          </a:xfrm>
          <a:prstGeom prst="rect">
            <a:avLst/>
          </a:prstGeom>
          <a:solidFill>
            <a:srgbClr val="0098D8"/>
          </a:solidFill>
          <a:ln w="12700">
            <a:solidFill>
              <a:srgbClr val="FFFFFF"/>
            </a:solidFill>
            <a:prstDash val="solid"/>
          </a:ln>
        </p:spPr>
      </p:sp>
      <p:sp>
        <p:nvSpPr>
          <p:cNvPr id="12" name="Text 10"/>
          <p:cNvSpPr txBox="1"/>
          <p:nvPr/>
        </p:nvSpPr>
        <p:spPr>
          <a:xfrm>
            <a:off x="9131808" y="1234440"/>
            <a:ext cx="1254252"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Dec 1–15</a:t>
            </a:r>
            <a:endParaRPr lang="en-US" sz="1100" dirty="0"/>
          </a:p>
        </p:txBody>
      </p:sp>
      <p:sp>
        <p:nvSpPr>
          <p:cNvPr id="13" name="Shape 11"/>
          <p:cNvSpPr/>
          <p:nvPr/>
        </p:nvSpPr>
        <p:spPr>
          <a:xfrm>
            <a:off x="10386060" y="1234440"/>
            <a:ext cx="1254252" cy="365760"/>
          </a:xfrm>
          <a:prstGeom prst="rect">
            <a:avLst/>
          </a:prstGeom>
          <a:solidFill>
            <a:srgbClr val="0098D8"/>
          </a:solidFill>
          <a:ln w="12700">
            <a:solidFill>
              <a:srgbClr val="FFFFFF"/>
            </a:solidFill>
            <a:prstDash val="solid"/>
          </a:ln>
        </p:spPr>
      </p:sp>
      <p:sp>
        <p:nvSpPr>
          <p:cNvPr id="14" name="Text 12"/>
          <p:cNvSpPr txBox="1"/>
          <p:nvPr/>
        </p:nvSpPr>
        <p:spPr>
          <a:xfrm>
            <a:off x="10386060" y="1234440"/>
            <a:ext cx="1254252"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Dec 16–31</a:t>
            </a:r>
            <a:endParaRPr lang="en-US" sz="1100" dirty="0"/>
          </a:p>
        </p:txBody>
      </p:sp>
      <p:sp>
        <p:nvSpPr>
          <p:cNvPr id="15" name="Shape 13"/>
          <p:cNvSpPr/>
          <p:nvPr/>
        </p:nvSpPr>
        <p:spPr>
          <a:xfrm>
            <a:off x="548640" y="1691640"/>
            <a:ext cx="11091672" cy="484632"/>
          </a:xfrm>
          <a:prstGeom prst="rect">
            <a:avLst/>
          </a:prstGeom>
          <a:solidFill>
            <a:srgbClr val="F4F6FB"/>
          </a:solidFill>
          <a:ln w="12700">
            <a:solidFill>
              <a:srgbClr val="F4F6FB"/>
            </a:solidFill>
            <a:prstDash val="solid"/>
          </a:ln>
        </p:spPr>
      </p:sp>
      <p:sp>
        <p:nvSpPr>
          <p:cNvPr id="16" name="Text 14"/>
          <p:cNvSpPr txBox="1"/>
          <p:nvPr/>
        </p:nvSpPr>
        <p:spPr>
          <a:xfrm>
            <a:off x="640080" y="1691640"/>
            <a:ext cx="3383280" cy="484632"/>
          </a:xfrm>
          <a:prstGeom prst="rect">
            <a:avLst/>
          </a:prstGeom>
          <a:noFill/>
          <a:ln/>
        </p:spPr>
        <p:txBody>
          <a:bodyPr wrap="square" lIns="0" tIns="0" rIns="0" bIns="0" rtlCol="0" anchor="ctr"/>
          <a:lstStyle/>
          <a:p>
            <a:pPr indent="0" marL="0">
              <a:buNone/>
            </a:pPr>
            <a:r>
              <a:rPr lang="en-US" sz="1100" b="1" dirty="0">
                <a:solidFill>
                  <a:srgbClr val="22205D"/>
                </a:solidFill>
                <a:latin typeface="Arial" pitchFamily="34" charset="0"/>
                <a:ea typeface="Arial" pitchFamily="34" charset="-122"/>
                <a:cs typeface="Arial" pitchFamily="34" charset="-120"/>
              </a:rPr>
              <a:t>Lead tracker + separate client forms from job forms</a:t>
            </a:r>
            <a:endParaRPr lang="en-US" sz="1100" dirty="0"/>
          </a:p>
        </p:txBody>
      </p:sp>
      <p:sp>
        <p:nvSpPr>
          <p:cNvPr id="17" name="Shape 15"/>
          <p:cNvSpPr/>
          <p:nvPr/>
        </p:nvSpPr>
        <p:spPr>
          <a:xfrm>
            <a:off x="4160520" y="1773936"/>
            <a:ext cx="1162812" cy="320040"/>
          </a:xfrm>
          <a:prstGeom prst="roundRect">
            <a:avLst>
              <a:gd name="adj" fmla="val 17143"/>
            </a:avLst>
          </a:prstGeom>
          <a:solidFill>
            <a:srgbClr val="0098D8"/>
          </a:solidFill>
          <a:ln w="12700">
            <a:solidFill>
              <a:srgbClr val="0098D8"/>
            </a:solidFill>
            <a:prstDash val="solid"/>
          </a:ln>
        </p:spPr>
      </p:sp>
      <p:sp>
        <p:nvSpPr>
          <p:cNvPr id="18" name="Text 16"/>
          <p:cNvSpPr txBox="1"/>
          <p:nvPr/>
        </p:nvSpPr>
        <p:spPr>
          <a:xfrm>
            <a:off x="4233672" y="1773936"/>
            <a:ext cx="1016508" cy="32004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Devs · Sana</a:t>
            </a:r>
            <a:endParaRPr lang="en-US" sz="1000" dirty="0"/>
          </a:p>
        </p:txBody>
      </p:sp>
      <p:sp>
        <p:nvSpPr>
          <p:cNvPr id="19" name="Text 17"/>
          <p:cNvSpPr txBox="1"/>
          <p:nvPr/>
        </p:nvSpPr>
        <p:spPr>
          <a:xfrm>
            <a:off x="640080" y="2176272"/>
            <a:ext cx="3383280" cy="484632"/>
          </a:xfrm>
          <a:prstGeom prst="rect">
            <a:avLst/>
          </a:prstGeom>
          <a:noFill/>
          <a:ln/>
        </p:spPr>
        <p:txBody>
          <a:bodyPr wrap="square" lIns="0" tIns="0" rIns="0" bIns="0" rtlCol="0" anchor="ctr"/>
          <a:lstStyle/>
          <a:p>
            <a:pPr indent="0" marL="0">
              <a:buNone/>
            </a:pPr>
            <a:r>
              <a:rPr lang="en-US" sz="1100" b="1" dirty="0">
                <a:solidFill>
                  <a:srgbClr val="22205D"/>
                </a:solidFill>
                <a:latin typeface="Arial" pitchFamily="34" charset="0"/>
                <a:ea typeface="Arial" pitchFamily="34" charset="-122"/>
                <a:cs typeface="Arial" pitchFamily="34" charset="-120"/>
              </a:rPr>
              <a:t>Release 1: homepage v2, Data &amp; AI tool, AI Security tool, title fixes</a:t>
            </a:r>
            <a:endParaRPr lang="en-US" sz="1100" dirty="0"/>
          </a:p>
        </p:txBody>
      </p:sp>
      <p:sp>
        <p:nvSpPr>
          <p:cNvPr id="20" name="Shape 18"/>
          <p:cNvSpPr/>
          <p:nvPr/>
        </p:nvSpPr>
        <p:spPr>
          <a:xfrm>
            <a:off x="4160520" y="2258568"/>
            <a:ext cx="2417064" cy="320040"/>
          </a:xfrm>
          <a:prstGeom prst="roundRect">
            <a:avLst>
              <a:gd name="adj" fmla="val 17143"/>
            </a:avLst>
          </a:prstGeom>
          <a:solidFill>
            <a:srgbClr val="0061F6"/>
          </a:solidFill>
          <a:ln w="12700">
            <a:solidFill>
              <a:srgbClr val="0061F6"/>
            </a:solidFill>
            <a:prstDash val="solid"/>
          </a:ln>
        </p:spPr>
      </p:sp>
      <p:sp>
        <p:nvSpPr>
          <p:cNvPr id="21" name="Text 19"/>
          <p:cNvSpPr txBox="1"/>
          <p:nvPr/>
        </p:nvSpPr>
        <p:spPr>
          <a:xfrm>
            <a:off x="4233672" y="2258568"/>
            <a:ext cx="2270760" cy="32004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Rafay · Devs · live Oct 31</a:t>
            </a:r>
            <a:endParaRPr lang="en-US" sz="1000" dirty="0"/>
          </a:p>
        </p:txBody>
      </p:sp>
      <p:sp>
        <p:nvSpPr>
          <p:cNvPr id="22" name="Shape 20"/>
          <p:cNvSpPr/>
          <p:nvPr/>
        </p:nvSpPr>
        <p:spPr>
          <a:xfrm>
            <a:off x="548640" y="2660904"/>
            <a:ext cx="11091672" cy="484632"/>
          </a:xfrm>
          <a:prstGeom prst="rect">
            <a:avLst/>
          </a:prstGeom>
          <a:solidFill>
            <a:srgbClr val="F4F6FB"/>
          </a:solidFill>
          <a:ln w="12700">
            <a:solidFill>
              <a:srgbClr val="F4F6FB"/>
            </a:solidFill>
            <a:prstDash val="solid"/>
          </a:ln>
        </p:spPr>
      </p:sp>
      <p:sp>
        <p:nvSpPr>
          <p:cNvPr id="23" name="Text 21"/>
          <p:cNvSpPr txBox="1"/>
          <p:nvPr/>
        </p:nvSpPr>
        <p:spPr>
          <a:xfrm>
            <a:off x="640080" y="2660904"/>
            <a:ext cx="3383280" cy="484632"/>
          </a:xfrm>
          <a:prstGeom prst="rect">
            <a:avLst/>
          </a:prstGeom>
          <a:noFill/>
          <a:ln/>
        </p:spPr>
        <p:txBody>
          <a:bodyPr wrap="square" lIns="0" tIns="0" rIns="0" bIns="0" rtlCol="0" anchor="ctr"/>
          <a:lstStyle/>
          <a:p>
            <a:pPr indent="0" marL="0">
              <a:buNone/>
            </a:pPr>
            <a:r>
              <a:rPr lang="en-US" sz="1100" b="1" dirty="0">
                <a:solidFill>
                  <a:srgbClr val="22205D"/>
                </a:solidFill>
                <a:latin typeface="Arial" pitchFamily="34" charset="0"/>
                <a:ea typeface="Arial" pitchFamily="34" charset="-122"/>
                <a:cs typeface="Arial" pitchFamily="34" charset="-120"/>
              </a:rPr>
              <a:t>Release 2: 4 cluster pages, Mining, case study pages</a:t>
            </a:r>
            <a:endParaRPr lang="en-US" sz="1100" dirty="0"/>
          </a:p>
        </p:txBody>
      </p:sp>
      <p:sp>
        <p:nvSpPr>
          <p:cNvPr id="24" name="Shape 22"/>
          <p:cNvSpPr/>
          <p:nvPr/>
        </p:nvSpPr>
        <p:spPr>
          <a:xfrm>
            <a:off x="5414772" y="2743200"/>
            <a:ext cx="3671316" cy="320040"/>
          </a:xfrm>
          <a:prstGeom prst="roundRect">
            <a:avLst>
              <a:gd name="adj" fmla="val 17143"/>
            </a:avLst>
          </a:prstGeom>
          <a:solidFill>
            <a:srgbClr val="0061F6"/>
          </a:solidFill>
          <a:ln w="12700">
            <a:solidFill>
              <a:srgbClr val="0061F6"/>
            </a:solidFill>
            <a:prstDash val="solid"/>
          </a:ln>
        </p:spPr>
      </p:sp>
      <p:sp>
        <p:nvSpPr>
          <p:cNvPr id="25" name="Text 23"/>
          <p:cNvSpPr txBox="1"/>
          <p:nvPr/>
        </p:nvSpPr>
        <p:spPr>
          <a:xfrm>
            <a:off x="5487924" y="2743200"/>
            <a:ext cx="3525012" cy="32004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Rafay · Devs · live Nov 30</a:t>
            </a:r>
            <a:endParaRPr lang="en-US" sz="1000" dirty="0"/>
          </a:p>
        </p:txBody>
      </p:sp>
      <p:sp>
        <p:nvSpPr>
          <p:cNvPr id="26" name="Text 24"/>
          <p:cNvSpPr txBox="1"/>
          <p:nvPr/>
        </p:nvSpPr>
        <p:spPr>
          <a:xfrm>
            <a:off x="640080" y="3145536"/>
            <a:ext cx="3383280" cy="484632"/>
          </a:xfrm>
          <a:prstGeom prst="rect">
            <a:avLst/>
          </a:prstGeom>
          <a:noFill/>
          <a:ln/>
        </p:spPr>
        <p:txBody>
          <a:bodyPr wrap="square" lIns="0" tIns="0" rIns="0" bIns="0" rtlCol="0" anchor="ctr"/>
          <a:lstStyle/>
          <a:p>
            <a:pPr indent="0" marL="0">
              <a:buNone/>
            </a:pPr>
            <a:r>
              <a:rPr lang="en-US" sz="1100" b="1" dirty="0">
                <a:solidFill>
                  <a:srgbClr val="22205D"/>
                </a:solidFill>
                <a:latin typeface="Arial" pitchFamily="34" charset="0"/>
                <a:ea typeface="Arial" pitchFamily="34" charset="-122"/>
                <a:cs typeface="Arial" pitchFamily="34" charset="-120"/>
              </a:rPr>
              <a:t>AI search visibility: structured data, AI profile, answer-first pages</a:t>
            </a:r>
            <a:endParaRPr lang="en-US" sz="1100" dirty="0"/>
          </a:p>
        </p:txBody>
      </p:sp>
      <p:sp>
        <p:nvSpPr>
          <p:cNvPr id="27" name="Shape 25"/>
          <p:cNvSpPr/>
          <p:nvPr/>
        </p:nvSpPr>
        <p:spPr>
          <a:xfrm>
            <a:off x="4160520" y="3227832"/>
            <a:ext cx="4925568" cy="320040"/>
          </a:xfrm>
          <a:prstGeom prst="roundRect">
            <a:avLst>
              <a:gd name="adj" fmla="val 17143"/>
            </a:avLst>
          </a:prstGeom>
          <a:solidFill>
            <a:srgbClr val="0098D8"/>
          </a:solidFill>
          <a:ln w="12700">
            <a:solidFill>
              <a:srgbClr val="0098D8"/>
            </a:solidFill>
            <a:prstDash val="solid"/>
          </a:ln>
        </p:spPr>
      </p:sp>
      <p:sp>
        <p:nvSpPr>
          <p:cNvPr id="28" name="Text 26"/>
          <p:cNvSpPr txBox="1"/>
          <p:nvPr/>
        </p:nvSpPr>
        <p:spPr>
          <a:xfrm>
            <a:off x="4233672" y="3227832"/>
            <a:ext cx="4779264" cy="32004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Sana · Devs</a:t>
            </a:r>
            <a:endParaRPr lang="en-US" sz="1000" dirty="0"/>
          </a:p>
        </p:txBody>
      </p:sp>
      <p:sp>
        <p:nvSpPr>
          <p:cNvPr id="29" name="Shape 27"/>
          <p:cNvSpPr/>
          <p:nvPr/>
        </p:nvSpPr>
        <p:spPr>
          <a:xfrm>
            <a:off x="548640" y="3630168"/>
            <a:ext cx="11091672" cy="484632"/>
          </a:xfrm>
          <a:prstGeom prst="rect">
            <a:avLst/>
          </a:prstGeom>
          <a:solidFill>
            <a:srgbClr val="F4F6FB"/>
          </a:solidFill>
          <a:ln w="12700">
            <a:solidFill>
              <a:srgbClr val="F4F6FB"/>
            </a:solidFill>
            <a:prstDash val="solid"/>
          </a:ln>
        </p:spPr>
      </p:sp>
      <p:sp>
        <p:nvSpPr>
          <p:cNvPr id="30" name="Text 28"/>
          <p:cNvSpPr txBox="1"/>
          <p:nvPr/>
        </p:nvSpPr>
        <p:spPr>
          <a:xfrm>
            <a:off x="640080" y="3630168"/>
            <a:ext cx="3383280" cy="484632"/>
          </a:xfrm>
          <a:prstGeom prst="rect">
            <a:avLst/>
          </a:prstGeom>
          <a:noFill/>
          <a:ln/>
        </p:spPr>
        <p:txBody>
          <a:bodyPr wrap="square" lIns="0" tIns="0" rIns="0" bIns="0" rtlCol="0" anchor="ctr"/>
          <a:lstStyle/>
          <a:p>
            <a:pPr indent="0" marL="0">
              <a:buNone/>
            </a:pPr>
            <a:r>
              <a:rPr lang="en-US" sz="1100" b="1" dirty="0">
                <a:solidFill>
                  <a:srgbClr val="22205D"/>
                </a:solidFill>
                <a:latin typeface="Arial" pitchFamily="34" charset="0"/>
                <a:ea typeface="Arial" pitchFamily="34" charset="-122"/>
                <a:cs typeface="Arial" pitchFamily="34" charset="-120"/>
              </a:rPr>
              <a:t>1 article a week + LinkedIn 2–3 a week</a:t>
            </a:r>
            <a:endParaRPr lang="en-US" sz="1100" dirty="0"/>
          </a:p>
        </p:txBody>
      </p:sp>
      <p:sp>
        <p:nvSpPr>
          <p:cNvPr id="31" name="Shape 29"/>
          <p:cNvSpPr/>
          <p:nvPr/>
        </p:nvSpPr>
        <p:spPr>
          <a:xfrm>
            <a:off x="4160520" y="3712464"/>
            <a:ext cx="7434072" cy="320040"/>
          </a:xfrm>
          <a:prstGeom prst="roundRect">
            <a:avLst>
              <a:gd name="adj" fmla="val 17143"/>
            </a:avLst>
          </a:prstGeom>
          <a:solidFill>
            <a:srgbClr val="5CC3AE"/>
          </a:solidFill>
          <a:ln w="12700">
            <a:solidFill>
              <a:srgbClr val="5CC3AE"/>
            </a:solidFill>
            <a:prstDash val="solid"/>
          </a:ln>
        </p:spPr>
      </p:sp>
      <p:sp>
        <p:nvSpPr>
          <p:cNvPr id="32" name="Text 30"/>
          <p:cNvSpPr txBox="1"/>
          <p:nvPr/>
        </p:nvSpPr>
        <p:spPr>
          <a:xfrm>
            <a:off x="4233672" y="3712464"/>
            <a:ext cx="7287768" cy="320040"/>
          </a:xfrm>
          <a:prstGeom prst="rect">
            <a:avLst/>
          </a:prstGeom>
          <a:noFill/>
          <a:ln/>
        </p:spPr>
        <p:txBody>
          <a:bodyPr wrap="square" lIns="0" tIns="0" rIns="0" bIns="0" rtlCol="0" anchor="ctr"/>
          <a:lstStyle/>
          <a:p>
            <a:pPr indent="0" marL="0">
              <a:buNone/>
            </a:pPr>
            <a:r>
              <a:rPr lang="en-US" sz="1000" b="1" dirty="0">
                <a:solidFill>
                  <a:srgbClr val="22205D"/>
                </a:solidFill>
                <a:latin typeface="Arial" pitchFamily="34" charset="0"/>
                <a:ea typeface="Arial" pitchFamily="34" charset="-122"/>
                <a:cs typeface="Arial" pitchFamily="34" charset="-120"/>
              </a:rPr>
              <a:t>Sana · Omais</a:t>
            </a:r>
            <a:endParaRPr lang="en-US" sz="1000" dirty="0"/>
          </a:p>
        </p:txBody>
      </p:sp>
      <p:sp>
        <p:nvSpPr>
          <p:cNvPr id="33" name="Text 31"/>
          <p:cNvSpPr txBox="1"/>
          <p:nvPr/>
        </p:nvSpPr>
        <p:spPr>
          <a:xfrm>
            <a:off x="640080" y="4114800"/>
            <a:ext cx="3383280" cy="484632"/>
          </a:xfrm>
          <a:prstGeom prst="rect">
            <a:avLst/>
          </a:prstGeom>
          <a:noFill/>
          <a:ln/>
        </p:spPr>
        <p:txBody>
          <a:bodyPr wrap="square" lIns="0" tIns="0" rIns="0" bIns="0" rtlCol="0" anchor="ctr"/>
          <a:lstStyle/>
          <a:p>
            <a:pPr indent="0" marL="0">
              <a:buNone/>
            </a:pPr>
            <a:r>
              <a:rPr lang="en-US" sz="1100" b="1" dirty="0">
                <a:solidFill>
                  <a:srgbClr val="22205D"/>
                </a:solidFill>
                <a:latin typeface="Arial" pitchFamily="34" charset="0"/>
                <a:ea typeface="Arial" pitchFamily="34" charset="-122"/>
                <a:cs typeface="Arial" pitchFamily="34" charset="-120"/>
              </a:rPr>
              <a:t>Sales kit: final deck, Kayali case study, one-pagers</a:t>
            </a:r>
            <a:endParaRPr lang="en-US" sz="1100" dirty="0"/>
          </a:p>
        </p:txBody>
      </p:sp>
      <p:sp>
        <p:nvSpPr>
          <p:cNvPr id="34" name="Shape 32"/>
          <p:cNvSpPr/>
          <p:nvPr/>
        </p:nvSpPr>
        <p:spPr>
          <a:xfrm>
            <a:off x="4160520" y="4197096"/>
            <a:ext cx="3671316" cy="320040"/>
          </a:xfrm>
          <a:prstGeom prst="roundRect">
            <a:avLst>
              <a:gd name="adj" fmla="val 17143"/>
            </a:avLst>
          </a:prstGeom>
          <a:solidFill>
            <a:srgbClr val="5CC3AE"/>
          </a:solidFill>
          <a:ln w="12700">
            <a:solidFill>
              <a:srgbClr val="5CC3AE"/>
            </a:solidFill>
            <a:prstDash val="solid"/>
          </a:ln>
        </p:spPr>
      </p:sp>
      <p:sp>
        <p:nvSpPr>
          <p:cNvPr id="35" name="Text 33"/>
          <p:cNvSpPr txBox="1"/>
          <p:nvPr/>
        </p:nvSpPr>
        <p:spPr>
          <a:xfrm>
            <a:off x="4233672" y="4197096"/>
            <a:ext cx="3525012" cy="320040"/>
          </a:xfrm>
          <a:prstGeom prst="rect">
            <a:avLst/>
          </a:prstGeom>
          <a:noFill/>
          <a:ln/>
        </p:spPr>
        <p:txBody>
          <a:bodyPr wrap="square" lIns="0" tIns="0" rIns="0" bIns="0" rtlCol="0" anchor="ctr"/>
          <a:lstStyle/>
          <a:p>
            <a:pPr indent="0" marL="0">
              <a:buNone/>
            </a:pPr>
            <a:r>
              <a:rPr lang="en-US" sz="1000" b="1" dirty="0">
                <a:solidFill>
                  <a:srgbClr val="22205D"/>
                </a:solidFill>
                <a:latin typeface="Arial" pitchFamily="34" charset="0"/>
                <a:ea typeface="Arial" pitchFamily="34" charset="-122"/>
                <a:cs typeface="Arial" pitchFamily="34" charset="-120"/>
              </a:rPr>
              <a:t>Sana · Omais</a:t>
            </a:r>
            <a:endParaRPr lang="en-US" sz="1000" dirty="0"/>
          </a:p>
        </p:txBody>
      </p:sp>
      <p:sp>
        <p:nvSpPr>
          <p:cNvPr id="36" name="Shape 34"/>
          <p:cNvSpPr/>
          <p:nvPr/>
        </p:nvSpPr>
        <p:spPr>
          <a:xfrm>
            <a:off x="548640" y="4599432"/>
            <a:ext cx="11091672" cy="484632"/>
          </a:xfrm>
          <a:prstGeom prst="rect">
            <a:avLst/>
          </a:prstGeom>
          <a:solidFill>
            <a:srgbClr val="F4F6FB"/>
          </a:solidFill>
          <a:ln w="12700">
            <a:solidFill>
              <a:srgbClr val="F4F6FB"/>
            </a:solidFill>
            <a:prstDash val="solid"/>
          </a:ln>
        </p:spPr>
      </p:sp>
      <p:sp>
        <p:nvSpPr>
          <p:cNvPr id="37" name="Text 35"/>
          <p:cNvSpPr txBox="1"/>
          <p:nvPr/>
        </p:nvSpPr>
        <p:spPr>
          <a:xfrm>
            <a:off x="640080" y="4599432"/>
            <a:ext cx="3383280" cy="484632"/>
          </a:xfrm>
          <a:prstGeom prst="rect">
            <a:avLst/>
          </a:prstGeom>
          <a:noFill/>
          <a:ln/>
        </p:spPr>
        <p:txBody>
          <a:bodyPr wrap="square" lIns="0" tIns="0" rIns="0" bIns="0" rtlCol="0" anchor="ctr"/>
          <a:lstStyle/>
          <a:p>
            <a:pPr indent="0" marL="0">
              <a:buNone/>
            </a:pPr>
            <a:r>
              <a:rPr lang="en-US" sz="1100" b="1" dirty="0">
                <a:solidFill>
                  <a:srgbClr val="22205D"/>
                </a:solidFill>
                <a:latin typeface="Arial" pitchFamily="34" charset="0"/>
                <a:ea typeface="Arial" pitchFamily="34" charset="-122"/>
                <a:cs typeface="Arial" pitchFamily="34" charset="-120"/>
              </a:rPr>
              <a:t>Videos: HR brand, then Life at xLoop</a:t>
            </a:r>
            <a:endParaRPr lang="en-US" sz="1100" dirty="0"/>
          </a:p>
        </p:txBody>
      </p:sp>
      <p:sp>
        <p:nvSpPr>
          <p:cNvPr id="38" name="Shape 36"/>
          <p:cNvSpPr/>
          <p:nvPr/>
        </p:nvSpPr>
        <p:spPr>
          <a:xfrm>
            <a:off x="4160520" y="4681728"/>
            <a:ext cx="2417064" cy="320040"/>
          </a:xfrm>
          <a:prstGeom prst="roundRect">
            <a:avLst>
              <a:gd name="adj" fmla="val 17143"/>
            </a:avLst>
          </a:prstGeom>
          <a:solidFill>
            <a:srgbClr val="5CC3AE"/>
          </a:solidFill>
          <a:ln w="12700">
            <a:solidFill>
              <a:srgbClr val="5CC3AE"/>
            </a:solidFill>
            <a:prstDash val="solid"/>
          </a:ln>
        </p:spPr>
      </p:sp>
      <p:sp>
        <p:nvSpPr>
          <p:cNvPr id="39" name="Text 37"/>
          <p:cNvSpPr txBox="1"/>
          <p:nvPr/>
        </p:nvSpPr>
        <p:spPr>
          <a:xfrm>
            <a:off x="4233672" y="4681728"/>
            <a:ext cx="2270760" cy="320040"/>
          </a:xfrm>
          <a:prstGeom prst="rect">
            <a:avLst/>
          </a:prstGeom>
          <a:noFill/>
          <a:ln/>
        </p:spPr>
        <p:txBody>
          <a:bodyPr wrap="square" lIns="0" tIns="0" rIns="0" bIns="0" rtlCol="0" anchor="ctr"/>
          <a:lstStyle/>
          <a:p>
            <a:pPr indent="0" marL="0">
              <a:buNone/>
            </a:pPr>
            <a:r>
              <a:rPr lang="en-US" sz="1000" b="1" dirty="0">
                <a:solidFill>
                  <a:srgbClr val="22205D"/>
                </a:solidFill>
                <a:latin typeface="Arial" pitchFamily="34" charset="0"/>
                <a:ea typeface="Arial" pitchFamily="34" charset="-122"/>
                <a:cs typeface="Arial" pitchFamily="34" charset="-120"/>
              </a:rPr>
              <a:t>Omais · Sana</a:t>
            </a:r>
            <a:endParaRPr lang="en-US" sz="1000" dirty="0"/>
          </a:p>
        </p:txBody>
      </p:sp>
      <p:sp>
        <p:nvSpPr>
          <p:cNvPr id="40" name="Text 38"/>
          <p:cNvSpPr txBox="1"/>
          <p:nvPr/>
        </p:nvSpPr>
        <p:spPr>
          <a:xfrm>
            <a:off x="640080" y="5084064"/>
            <a:ext cx="3383280" cy="484632"/>
          </a:xfrm>
          <a:prstGeom prst="rect">
            <a:avLst/>
          </a:prstGeom>
          <a:noFill/>
          <a:ln/>
        </p:spPr>
        <p:txBody>
          <a:bodyPr wrap="square" lIns="0" tIns="0" rIns="0" bIns="0" rtlCol="0" anchor="ctr"/>
          <a:lstStyle/>
          <a:p>
            <a:pPr indent="0" marL="0">
              <a:buNone/>
            </a:pPr>
            <a:r>
              <a:rPr lang="en-US" sz="1100" b="1" dirty="0">
                <a:solidFill>
                  <a:srgbClr val="22205D"/>
                </a:solidFill>
                <a:latin typeface="Arial" pitchFamily="34" charset="0"/>
                <a:ea typeface="Arial" pitchFamily="34" charset="-122"/>
                <a:cs typeface="Arial" pitchFamily="34" charset="-120"/>
              </a:rPr>
              <a:t>Launch campaign for the diagnostic tools</a:t>
            </a:r>
            <a:endParaRPr lang="en-US" sz="1100" dirty="0"/>
          </a:p>
        </p:txBody>
      </p:sp>
      <p:sp>
        <p:nvSpPr>
          <p:cNvPr id="41" name="Shape 39"/>
          <p:cNvSpPr/>
          <p:nvPr/>
        </p:nvSpPr>
        <p:spPr>
          <a:xfrm>
            <a:off x="6669024" y="5166360"/>
            <a:ext cx="3671316" cy="320040"/>
          </a:xfrm>
          <a:prstGeom prst="roundRect">
            <a:avLst>
              <a:gd name="adj" fmla="val 17143"/>
            </a:avLst>
          </a:prstGeom>
          <a:solidFill>
            <a:srgbClr val="50BFE6"/>
          </a:solidFill>
          <a:ln w="12700">
            <a:solidFill>
              <a:srgbClr val="50BFE6"/>
            </a:solidFill>
            <a:prstDash val="solid"/>
          </a:ln>
        </p:spPr>
      </p:sp>
      <p:sp>
        <p:nvSpPr>
          <p:cNvPr id="42" name="Text 40"/>
          <p:cNvSpPr txBox="1"/>
          <p:nvPr/>
        </p:nvSpPr>
        <p:spPr>
          <a:xfrm>
            <a:off x="6742176" y="5166360"/>
            <a:ext cx="3525012" cy="320040"/>
          </a:xfrm>
          <a:prstGeom prst="rect">
            <a:avLst/>
          </a:prstGeom>
          <a:noFill/>
          <a:ln/>
        </p:spPr>
        <p:txBody>
          <a:bodyPr wrap="square" lIns="0" tIns="0" rIns="0" bIns="0" rtlCol="0" anchor="ctr"/>
          <a:lstStyle/>
          <a:p>
            <a:pPr indent="0" marL="0">
              <a:buNone/>
            </a:pPr>
            <a:r>
              <a:rPr lang="en-US" sz="1000" b="1" dirty="0">
                <a:solidFill>
                  <a:srgbClr val="22205D"/>
                </a:solidFill>
                <a:latin typeface="Arial" pitchFamily="34" charset="0"/>
                <a:ea typeface="Arial" pitchFamily="34" charset="-122"/>
                <a:cs typeface="Arial" pitchFamily="34" charset="-120"/>
              </a:rPr>
              <a:t>Sana · Omais · leaders</a:t>
            </a:r>
            <a:endParaRPr lang="en-US" sz="1000" dirty="0"/>
          </a:p>
        </p:txBody>
      </p:sp>
      <p:sp>
        <p:nvSpPr>
          <p:cNvPr id="43" name="Shape 41"/>
          <p:cNvSpPr/>
          <p:nvPr/>
        </p:nvSpPr>
        <p:spPr>
          <a:xfrm>
            <a:off x="548640" y="5568696"/>
            <a:ext cx="11091672" cy="484632"/>
          </a:xfrm>
          <a:prstGeom prst="rect">
            <a:avLst/>
          </a:prstGeom>
          <a:solidFill>
            <a:srgbClr val="F4F6FB"/>
          </a:solidFill>
          <a:ln w="12700">
            <a:solidFill>
              <a:srgbClr val="F4F6FB"/>
            </a:solidFill>
            <a:prstDash val="solid"/>
          </a:ln>
        </p:spPr>
      </p:sp>
      <p:sp>
        <p:nvSpPr>
          <p:cNvPr id="44" name="Text 42"/>
          <p:cNvSpPr txBox="1"/>
          <p:nvPr/>
        </p:nvSpPr>
        <p:spPr>
          <a:xfrm>
            <a:off x="640080" y="5568696"/>
            <a:ext cx="3383280" cy="484632"/>
          </a:xfrm>
          <a:prstGeom prst="rect">
            <a:avLst/>
          </a:prstGeom>
          <a:noFill/>
          <a:ln/>
        </p:spPr>
        <p:txBody>
          <a:bodyPr wrap="square" lIns="0" tIns="0" rIns="0" bIns="0" rtlCol="0" anchor="ctr"/>
          <a:lstStyle/>
          <a:p>
            <a:pPr indent="0" marL="0">
              <a:buNone/>
            </a:pPr>
            <a:r>
              <a:rPr lang="en-US" sz="1100" b="1" dirty="0">
                <a:solidFill>
                  <a:srgbClr val="22205D"/>
                </a:solidFill>
                <a:latin typeface="Arial" pitchFamily="34" charset="0"/>
                <a:ea typeface="Arial" pitchFamily="34" charset="-122"/>
                <a:cs typeface="Arial" pitchFamily="34" charset="-120"/>
              </a:rPr>
              <a:t>Q2 report + Q3 plan</a:t>
            </a:r>
            <a:endParaRPr lang="en-US" sz="1100" dirty="0"/>
          </a:p>
        </p:txBody>
      </p:sp>
      <p:sp>
        <p:nvSpPr>
          <p:cNvPr id="45" name="Shape 43"/>
          <p:cNvSpPr/>
          <p:nvPr/>
        </p:nvSpPr>
        <p:spPr>
          <a:xfrm>
            <a:off x="10431780" y="5650992"/>
            <a:ext cx="1162812" cy="320040"/>
          </a:xfrm>
          <a:prstGeom prst="roundRect">
            <a:avLst>
              <a:gd name="adj" fmla="val 17143"/>
            </a:avLst>
          </a:prstGeom>
          <a:solidFill>
            <a:srgbClr val="22205D"/>
          </a:solidFill>
          <a:ln w="12700">
            <a:solidFill>
              <a:srgbClr val="22205D"/>
            </a:solidFill>
            <a:prstDash val="solid"/>
          </a:ln>
        </p:spPr>
      </p:sp>
      <p:sp>
        <p:nvSpPr>
          <p:cNvPr id="46" name="Text 44"/>
          <p:cNvSpPr txBox="1"/>
          <p:nvPr/>
        </p:nvSpPr>
        <p:spPr>
          <a:xfrm>
            <a:off x="10504932" y="5650992"/>
            <a:ext cx="1016508" cy="32004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Sana</a:t>
            </a:r>
            <a:endParaRPr lang="en-US" sz="1000" dirty="0"/>
          </a:p>
        </p:txBody>
      </p:sp>
      <p:sp>
        <p:nvSpPr>
          <p:cNvPr id="47" name="Text 45"/>
          <p:cNvSpPr txBox="1"/>
          <p:nvPr/>
        </p:nvSpPr>
        <p:spPr>
          <a:xfrm>
            <a:off x="548640" y="6263640"/>
            <a:ext cx="11091672" cy="320040"/>
          </a:xfrm>
          <a:prstGeom prst="rect">
            <a:avLst/>
          </a:prstGeom>
          <a:noFill/>
          <a:ln/>
        </p:spPr>
        <p:txBody>
          <a:bodyPr wrap="square" lIns="0" tIns="0" rIns="0" bIns="0" rtlCol="0" anchor="ctr"/>
          <a:lstStyle/>
          <a:p>
            <a:pPr indent="0" marL="0">
              <a:buNone/>
            </a:pPr>
            <a:r>
              <a:rPr lang="en-US" sz="1200" i="1" dirty="0">
                <a:solidFill>
                  <a:srgbClr val="5A5A7A"/>
                </a:solidFill>
                <a:latin typeface="Arial" pitchFamily="34" charset="0"/>
                <a:ea typeface="Arial" pitchFamily="34" charset="-122"/>
                <a:cs typeface="Arial" pitchFamily="34" charset="-120"/>
              </a:rPr>
              <a:t>Website dates depend on production scheduling the two developers.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indent="0" marL="0">
              <a:buNone/>
            </a:pPr>
            <a:r>
              <a:rPr lang="en-US" sz="3000" b="1" dirty="0">
                <a:solidFill>
                  <a:srgbClr val="22205D"/>
                </a:solidFill>
                <a:latin typeface="Arial" pitchFamily="34" charset="0"/>
                <a:ea typeface="Arial" pitchFamily="34" charset="-122"/>
                <a:cs typeface="Arial" pitchFamily="34" charset="-120"/>
              </a:rPr>
              <a:t>Q3 (Jan–Mar): turn visibility into leads</a:t>
            </a:r>
            <a:endParaRPr lang="en-US" sz="3000" dirty="0"/>
          </a:p>
        </p:txBody>
      </p:sp>
      <p:sp>
        <p:nvSpPr>
          <p:cNvPr id="3" name="Shape 1"/>
          <p:cNvSpPr/>
          <p:nvPr/>
        </p:nvSpPr>
        <p:spPr>
          <a:xfrm>
            <a:off x="548640" y="1280160"/>
            <a:ext cx="3514344" cy="3017520"/>
          </a:xfrm>
          <a:prstGeom prst="roundRect">
            <a:avLst>
              <a:gd name="adj" fmla="val 2424"/>
            </a:avLst>
          </a:prstGeom>
          <a:solidFill>
            <a:srgbClr val="FFFFFF"/>
          </a:solidFill>
          <a:ln w="9525">
            <a:solidFill>
              <a:srgbClr val="E6E6E6"/>
            </a:solidFill>
            <a:prstDash val="solid"/>
          </a:ln>
        </p:spPr>
      </p:sp>
      <p:sp>
        <p:nvSpPr>
          <p:cNvPr id="4" name="Shape 2"/>
          <p:cNvSpPr/>
          <p:nvPr/>
        </p:nvSpPr>
        <p:spPr>
          <a:xfrm>
            <a:off x="777240" y="1508760"/>
            <a:ext cx="1554480" cy="411480"/>
          </a:xfrm>
          <a:prstGeom prst="roundRect">
            <a:avLst>
              <a:gd name="adj" fmla="val 17778"/>
            </a:avLst>
          </a:prstGeom>
          <a:solidFill>
            <a:srgbClr val="22205D"/>
          </a:solidFill>
          <a:ln w="12700">
            <a:solidFill>
              <a:srgbClr val="22205D"/>
            </a:solidFill>
            <a:prstDash val="solid"/>
          </a:ln>
        </p:spPr>
      </p:sp>
      <p:sp>
        <p:nvSpPr>
          <p:cNvPr id="5" name="Text 3"/>
          <p:cNvSpPr txBox="1"/>
          <p:nvPr/>
        </p:nvSpPr>
        <p:spPr>
          <a:xfrm>
            <a:off x="777240" y="1508760"/>
            <a:ext cx="1554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January</a:t>
            </a:r>
            <a:endParaRPr lang="en-US" sz="1400" dirty="0"/>
          </a:p>
        </p:txBody>
      </p:sp>
      <p:sp>
        <p:nvSpPr>
          <p:cNvPr id="6" name="Text 4"/>
          <p:cNvSpPr txBox="1"/>
          <p:nvPr/>
        </p:nvSpPr>
        <p:spPr>
          <a:xfrm>
            <a:off x="777240" y="2148840"/>
            <a:ext cx="3057144" cy="20116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2205D"/>
                </a:solidFill>
                <a:latin typeface="Arial" pitchFamily="34" charset="0"/>
                <a:ea typeface="Arial" pitchFamily="34" charset="-122"/>
                <a:cs typeface="Arial" pitchFamily="34" charset="-120"/>
              </a:rPr>
              <a:t>Set lead targets from the Q2 baseline</a:t>
            </a:r>
            <a:endParaRPr lang="en-US" sz="1400" dirty="0"/>
          </a:p>
          <a:p>
            <a:pPr marL="342900" indent="-342900">
              <a:spcAft>
                <a:spcPts val="1000"/>
              </a:spcAft>
              <a:buSzPct val="100000"/>
              <a:buChar char="•"/>
            </a:pPr>
            <a:r>
              <a:rPr lang="en-US" sz="1400" dirty="0">
                <a:solidFill>
                  <a:srgbClr val="22205D"/>
                </a:solidFill>
                <a:latin typeface="Arial" pitchFamily="34" charset="0"/>
                <a:ea typeface="Arial" pitchFamily="34" charset="-122"/>
                <a:cs typeface="Arial" pitchFamily="34" charset="-120"/>
              </a:rPr>
              <a:t>Article series answering buyer questions for each service</a:t>
            </a:r>
            <a:endParaRPr lang="en-US" sz="1400" dirty="0"/>
          </a:p>
          <a:p>
            <a:pPr marL="342900" indent="-342900">
              <a:spcAft>
                <a:spcPts val="1000"/>
              </a:spcAft>
              <a:buSzPct val="100000"/>
              <a:buChar char="•"/>
            </a:pPr>
            <a:r>
              <a:rPr lang="en-US" sz="1400" dirty="0">
                <a:solidFill>
                  <a:srgbClr val="22205D"/>
                </a:solidFill>
                <a:latin typeface="Arial" pitchFamily="34" charset="0"/>
                <a:ea typeface="Arial" pitchFamily="34" charset="-122"/>
                <a:cs typeface="Arial" pitchFamily="34" charset="-120"/>
              </a:rPr>
              <a:t>Promote both diagnostic tools on LinkedIn, including leaders' posts</a:t>
            </a:r>
            <a:endParaRPr lang="en-US" sz="1400" dirty="0"/>
          </a:p>
        </p:txBody>
      </p:sp>
      <p:sp>
        <p:nvSpPr>
          <p:cNvPr id="7" name="Shape 5"/>
          <p:cNvSpPr/>
          <p:nvPr/>
        </p:nvSpPr>
        <p:spPr>
          <a:xfrm>
            <a:off x="4337304" y="1280160"/>
            <a:ext cx="3514344" cy="3017520"/>
          </a:xfrm>
          <a:prstGeom prst="roundRect">
            <a:avLst>
              <a:gd name="adj" fmla="val 2424"/>
            </a:avLst>
          </a:prstGeom>
          <a:solidFill>
            <a:srgbClr val="FFFFFF"/>
          </a:solidFill>
          <a:ln w="9525">
            <a:solidFill>
              <a:srgbClr val="E6E6E6"/>
            </a:solidFill>
            <a:prstDash val="solid"/>
          </a:ln>
        </p:spPr>
      </p:sp>
      <p:sp>
        <p:nvSpPr>
          <p:cNvPr id="8" name="Shape 6"/>
          <p:cNvSpPr/>
          <p:nvPr/>
        </p:nvSpPr>
        <p:spPr>
          <a:xfrm>
            <a:off x="4565904" y="1508760"/>
            <a:ext cx="1554480" cy="411480"/>
          </a:xfrm>
          <a:prstGeom prst="roundRect">
            <a:avLst>
              <a:gd name="adj" fmla="val 17778"/>
            </a:avLst>
          </a:prstGeom>
          <a:solidFill>
            <a:srgbClr val="0061F6"/>
          </a:solidFill>
          <a:ln w="12700">
            <a:solidFill>
              <a:srgbClr val="0061F6"/>
            </a:solidFill>
            <a:prstDash val="solid"/>
          </a:ln>
        </p:spPr>
      </p:sp>
      <p:sp>
        <p:nvSpPr>
          <p:cNvPr id="9" name="Text 7"/>
          <p:cNvSpPr txBox="1"/>
          <p:nvPr/>
        </p:nvSpPr>
        <p:spPr>
          <a:xfrm>
            <a:off x="4565904" y="1508760"/>
            <a:ext cx="1554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February</a:t>
            </a:r>
            <a:endParaRPr lang="en-US" sz="1400" dirty="0"/>
          </a:p>
        </p:txBody>
      </p:sp>
      <p:sp>
        <p:nvSpPr>
          <p:cNvPr id="10" name="Text 8"/>
          <p:cNvSpPr txBox="1"/>
          <p:nvPr/>
        </p:nvSpPr>
        <p:spPr>
          <a:xfrm>
            <a:off x="4565904" y="2148840"/>
            <a:ext cx="3057144" cy="20116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2205D"/>
                </a:solidFill>
                <a:latin typeface="Arial" pitchFamily="34" charset="0"/>
                <a:ea typeface="Arial" pitchFamily="34" charset="-122"/>
                <a:cs typeface="Arial" pitchFamily="34" charset="-120"/>
              </a:rPr>
              <a:t>One joint asset each with Microsoft, Kore.ai and Emeritus, for sales' partner model</a:t>
            </a:r>
            <a:endParaRPr lang="en-US" sz="1400" dirty="0"/>
          </a:p>
          <a:p>
            <a:pPr marL="342900" indent="-342900">
              <a:spcAft>
                <a:spcPts val="1000"/>
              </a:spcAft>
              <a:buSzPct val="100000"/>
              <a:buChar char="•"/>
            </a:pPr>
            <a:r>
              <a:rPr lang="en-US" sz="1400" dirty="0">
                <a:solidFill>
                  <a:srgbClr val="22205D"/>
                </a:solidFill>
                <a:latin typeface="Arial" pitchFamily="34" charset="0"/>
                <a:ea typeface="Arial" pitchFamily="34" charset="-122"/>
                <a:cs typeface="Arial" pitchFamily="34" charset="-120"/>
              </a:rPr>
              <a:t>2 new case studies, with client permission</a:t>
            </a:r>
            <a:endParaRPr lang="en-US" sz="1400" dirty="0"/>
          </a:p>
          <a:p>
            <a:pPr marL="342900" indent="-342900">
              <a:spcAft>
                <a:spcPts val="1000"/>
              </a:spcAft>
              <a:buSzPct val="100000"/>
              <a:buChar char="•"/>
            </a:pPr>
            <a:r>
              <a:rPr lang="en-US" sz="1400" dirty="0">
                <a:solidFill>
                  <a:srgbClr val="22205D"/>
                </a:solidFill>
                <a:latin typeface="Arial" pitchFamily="34" charset="0"/>
                <a:ea typeface="Arial" pitchFamily="34" charset="-122"/>
                <a:cs typeface="Arial" pitchFamily="34" charset="-120"/>
              </a:rPr>
              <a:t>Leaders' LinkedIn aimed at sales' target accounts</a:t>
            </a:r>
            <a:endParaRPr lang="en-US" sz="1400" dirty="0"/>
          </a:p>
        </p:txBody>
      </p:sp>
      <p:sp>
        <p:nvSpPr>
          <p:cNvPr id="11" name="Shape 9"/>
          <p:cNvSpPr/>
          <p:nvPr/>
        </p:nvSpPr>
        <p:spPr>
          <a:xfrm>
            <a:off x="8125968" y="1280160"/>
            <a:ext cx="3514344" cy="3017520"/>
          </a:xfrm>
          <a:prstGeom prst="roundRect">
            <a:avLst>
              <a:gd name="adj" fmla="val 2424"/>
            </a:avLst>
          </a:prstGeom>
          <a:solidFill>
            <a:srgbClr val="FFFFFF"/>
          </a:solidFill>
          <a:ln w="9525">
            <a:solidFill>
              <a:srgbClr val="E6E6E6"/>
            </a:solidFill>
            <a:prstDash val="solid"/>
          </a:ln>
        </p:spPr>
      </p:sp>
      <p:sp>
        <p:nvSpPr>
          <p:cNvPr id="12" name="Shape 10"/>
          <p:cNvSpPr/>
          <p:nvPr/>
        </p:nvSpPr>
        <p:spPr>
          <a:xfrm>
            <a:off x="8354568" y="1508760"/>
            <a:ext cx="1554480" cy="411480"/>
          </a:xfrm>
          <a:prstGeom prst="roundRect">
            <a:avLst>
              <a:gd name="adj" fmla="val 17778"/>
            </a:avLst>
          </a:prstGeom>
          <a:solidFill>
            <a:srgbClr val="0098D8"/>
          </a:solidFill>
          <a:ln w="12700">
            <a:solidFill>
              <a:srgbClr val="0098D8"/>
            </a:solidFill>
            <a:prstDash val="solid"/>
          </a:ln>
        </p:spPr>
      </p:sp>
      <p:sp>
        <p:nvSpPr>
          <p:cNvPr id="13" name="Text 11"/>
          <p:cNvSpPr txBox="1"/>
          <p:nvPr/>
        </p:nvSpPr>
        <p:spPr>
          <a:xfrm>
            <a:off x="8354568" y="1508760"/>
            <a:ext cx="1554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March</a:t>
            </a:r>
            <a:endParaRPr lang="en-US" sz="1400" dirty="0"/>
          </a:p>
        </p:txBody>
      </p:sp>
      <p:sp>
        <p:nvSpPr>
          <p:cNvPr id="14" name="Text 12"/>
          <p:cNvSpPr txBox="1"/>
          <p:nvPr/>
        </p:nvSpPr>
        <p:spPr>
          <a:xfrm>
            <a:off x="8354568" y="2148840"/>
            <a:ext cx="3057144" cy="20116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2205D"/>
                </a:solidFill>
                <a:latin typeface="Arial" pitchFamily="34" charset="0"/>
                <a:ea typeface="Arial" pitchFamily="34" charset="-122"/>
                <a:cs typeface="Arial" pitchFamily="34" charset="-120"/>
              </a:rPr>
              <a:t>Award and PR submissions</a:t>
            </a:r>
            <a:endParaRPr lang="en-US" sz="1400" dirty="0"/>
          </a:p>
          <a:p>
            <a:pPr marL="342900" indent="-342900">
              <a:spcAft>
                <a:spcPts val="1000"/>
              </a:spcAft>
              <a:buSzPct val="100000"/>
              <a:buChar char="•"/>
            </a:pPr>
            <a:r>
              <a:rPr lang="en-US" sz="1400" dirty="0">
                <a:solidFill>
                  <a:srgbClr val="22205D"/>
                </a:solidFill>
                <a:latin typeface="Arial" pitchFamily="34" charset="0"/>
                <a:ea typeface="Arial" pitchFamily="34" charset="-122"/>
                <a:cs typeface="Arial" pitchFamily="34" charset="-120"/>
              </a:rPr>
              <a:t>Refresh the top 20 articles so AI answers quote them</a:t>
            </a:r>
            <a:endParaRPr lang="en-US" sz="1400" dirty="0"/>
          </a:p>
          <a:p>
            <a:pPr marL="342900" indent="-342900">
              <a:spcAft>
                <a:spcPts val="1000"/>
              </a:spcAft>
              <a:buSzPct val="100000"/>
              <a:buChar char="•"/>
            </a:pPr>
            <a:r>
              <a:rPr lang="en-US" sz="1400" dirty="0">
                <a:solidFill>
                  <a:srgbClr val="22205D"/>
                </a:solidFill>
                <a:latin typeface="Arial" pitchFamily="34" charset="0"/>
                <a:ea typeface="Arial" pitchFamily="34" charset="-122"/>
                <a:cs typeface="Arial" pitchFamily="34" charset="-120"/>
              </a:rPr>
              <a:t>Q3 review + Q4 plan</a:t>
            </a:r>
            <a:endParaRPr lang="en-US" sz="1400" dirty="0"/>
          </a:p>
        </p:txBody>
      </p:sp>
      <p:sp>
        <p:nvSpPr>
          <p:cNvPr id="15" name="Text 13"/>
          <p:cNvSpPr txBox="1"/>
          <p:nvPr/>
        </p:nvSpPr>
        <p:spPr>
          <a:xfrm>
            <a:off x="548640" y="4572000"/>
            <a:ext cx="11091672" cy="457200"/>
          </a:xfrm>
          <a:prstGeom prst="rect">
            <a:avLst/>
          </a:prstGeom>
          <a:noFill/>
          <a:ln/>
        </p:spPr>
        <p:txBody>
          <a:bodyPr wrap="square" lIns="0" tIns="0" rIns="0" bIns="0" rtlCol="0" anchor="ctr"/>
          <a:lstStyle/>
          <a:p>
            <a:pPr indent="0" marL="0">
              <a:buNone/>
            </a:pPr>
            <a:r>
              <a:rPr lang="en-US" sz="1400" b="1" dirty="0">
                <a:solidFill>
                  <a:srgbClr val="22205D"/>
                </a:solidFill>
                <a:latin typeface="Arial" pitchFamily="34" charset="0"/>
                <a:ea typeface="Arial" pitchFamily="34" charset="-122"/>
                <a:cs typeface="Arial" pitchFamily="34" charset="-120"/>
              </a:rPr>
              <a:t>No paid lead generation assumed. If budget opens, the first test is a small LinkedIn campaign to the Data &amp; AI tool.</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indent="0" marL="0">
              <a:buNone/>
            </a:pPr>
            <a:r>
              <a:rPr lang="en-US" sz="3000" b="1" dirty="0">
                <a:solidFill>
                  <a:srgbClr val="22205D"/>
                </a:solidFill>
                <a:latin typeface="Arial" pitchFamily="34" charset="0"/>
                <a:ea typeface="Arial" pitchFamily="34" charset="-122"/>
                <a:cs typeface="Arial" pitchFamily="34" charset="-120"/>
              </a:rPr>
              <a:t>Who does what</a:t>
            </a:r>
            <a:endParaRPr lang="en-US" sz="3000" dirty="0"/>
          </a:p>
        </p:txBody>
      </p:sp>
      <p:sp>
        <p:nvSpPr>
          <p:cNvPr id="3" name="Shape 1"/>
          <p:cNvSpPr/>
          <p:nvPr/>
        </p:nvSpPr>
        <p:spPr>
          <a:xfrm>
            <a:off x="548640" y="1234440"/>
            <a:ext cx="6766560" cy="822960"/>
          </a:xfrm>
          <a:prstGeom prst="roundRect">
            <a:avLst>
              <a:gd name="adj" fmla="val 8889"/>
            </a:avLst>
          </a:prstGeom>
          <a:solidFill>
            <a:srgbClr val="FFFFFF"/>
          </a:solidFill>
          <a:ln w="9525">
            <a:solidFill>
              <a:srgbClr val="E6E6E6"/>
            </a:solidFill>
            <a:prstDash val="solid"/>
          </a:ln>
        </p:spPr>
      </p:sp>
      <p:sp>
        <p:nvSpPr>
          <p:cNvPr id="4" name="Shape 2"/>
          <p:cNvSpPr/>
          <p:nvPr/>
        </p:nvSpPr>
        <p:spPr>
          <a:xfrm>
            <a:off x="749808" y="1453896"/>
            <a:ext cx="384048" cy="384048"/>
          </a:xfrm>
          <a:prstGeom prst="ellipse">
            <a:avLst/>
          </a:prstGeom>
          <a:solidFill>
            <a:srgbClr val="22205D"/>
          </a:solidFill>
          <a:ln w="12700">
            <a:solidFill>
              <a:srgbClr val="22205D"/>
            </a:solidFill>
            <a:prstDash val="solid"/>
          </a:ln>
        </p:spPr>
      </p:sp>
      <p:sp>
        <p:nvSpPr>
          <p:cNvPr id="5" name="Text 3"/>
          <p:cNvSpPr txBox="1"/>
          <p:nvPr/>
        </p:nvSpPr>
        <p:spPr>
          <a:xfrm>
            <a:off x="1280160" y="1307592"/>
            <a:ext cx="2377440" cy="365760"/>
          </a:xfrm>
          <a:prstGeom prst="rect">
            <a:avLst/>
          </a:prstGeom>
          <a:noFill/>
          <a:ln/>
        </p:spPr>
        <p:txBody>
          <a:bodyPr wrap="square" lIns="0" tIns="0" rIns="0" bIns="0" rtlCol="0" anchor="ctr"/>
          <a:lstStyle/>
          <a:p>
            <a:pPr indent="0" marL="0">
              <a:buNone/>
            </a:pPr>
            <a:r>
              <a:rPr lang="en-US" sz="1400" b="1" dirty="0">
                <a:solidFill>
                  <a:srgbClr val="22205D"/>
                </a:solidFill>
                <a:latin typeface="Arial" pitchFamily="34" charset="0"/>
                <a:ea typeface="Arial" pitchFamily="34" charset="-122"/>
                <a:cs typeface="Arial" pitchFamily="34" charset="-120"/>
              </a:rPr>
              <a:t>Sana</a:t>
            </a:r>
            <a:endParaRPr lang="en-US" sz="1400" dirty="0"/>
          </a:p>
        </p:txBody>
      </p:sp>
      <p:sp>
        <p:nvSpPr>
          <p:cNvPr id="6" name="Text 4"/>
          <p:cNvSpPr txBox="1"/>
          <p:nvPr/>
        </p:nvSpPr>
        <p:spPr>
          <a:xfrm>
            <a:off x="1280160" y="1655064"/>
            <a:ext cx="2377440" cy="329184"/>
          </a:xfrm>
          <a:prstGeom prst="rect">
            <a:avLst/>
          </a:prstGeom>
          <a:noFill/>
          <a:ln/>
        </p:spPr>
        <p:txBody>
          <a:bodyPr wrap="square" lIns="0" tIns="0" rIns="0" bIns="0" rtlCol="0" anchor="ctr"/>
          <a:lstStyle/>
          <a:p>
            <a:pPr indent="0" marL="0">
              <a:buNone/>
            </a:pPr>
            <a:r>
              <a:rPr lang="en-US" sz="1100" dirty="0">
                <a:solidFill>
                  <a:srgbClr val="5A5A7A"/>
                </a:solidFill>
                <a:latin typeface="Arial" pitchFamily="34" charset="0"/>
                <a:ea typeface="Arial" pitchFamily="34" charset="-122"/>
                <a:cs typeface="Arial" pitchFamily="34" charset="-120"/>
              </a:rPr>
              <a:t>Marketing consultant, flexible hours</a:t>
            </a:r>
            <a:endParaRPr lang="en-US" sz="1100" dirty="0"/>
          </a:p>
        </p:txBody>
      </p:sp>
      <p:sp>
        <p:nvSpPr>
          <p:cNvPr id="7" name="Text 5"/>
          <p:cNvSpPr txBox="1"/>
          <p:nvPr/>
        </p:nvSpPr>
        <p:spPr>
          <a:xfrm>
            <a:off x="3749040" y="1298448"/>
            <a:ext cx="3383280" cy="694944"/>
          </a:xfrm>
          <a:prstGeom prst="rect">
            <a:avLst/>
          </a:prstGeom>
          <a:noFill/>
          <a:ln/>
        </p:spPr>
        <p:txBody>
          <a:bodyPr wrap="square" lIns="0" tIns="0" rIns="0" bIns="0" rtlCol="0" anchor="ctr"/>
          <a:lstStyle/>
          <a:p>
            <a:pPr indent="0" marL="0">
              <a:buNone/>
            </a:pPr>
            <a:r>
              <a:rPr lang="en-US" sz="1200" dirty="0">
                <a:solidFill>
                  <a:srgbClr val="22205D"/>
                </a:solidFill>
                <a:latin typeface="Arial" pitchFamily="34" charset="0"/>
                <a:ea typeface="Arial" pitchFamily="34" charset="-122"/>
                <a:cs typeface="Arial" pitchFamily="34" charset="-120"/>
              </a:rPr>
              <a:t>Strategy, content, SEO and AI search, briefs, reviews, monthly report. Not for same-day requests</a:t>
            </a:r>
            <a:endParaRPr lang="en-US" sz="1200" dirty="0"/>
          </a:p>
        </p:txBody>
      </p:sp>
      <p:sp>
        <p:nvSpPr>
          <p:cNvPr id="8" name="Shape 6"/>
          <p:cNvSpPr/>
          <p:nvPr/>
        </p:nvSpPr>
        <p:spPr>
          <a:xfrm>
            <a:off x="548640" y="2194560"/>
            <a:ext cx="6766560" cy="822960"/>
          </a:xfrm>
          <a:prstGeom prst="roundRect">
            <a:avLst>
              <a:gd name="adj" fmla="val 8889"/>
            </a:avLst>
          </a:prstGeom>
          <a:solidFill>
            <a:srgbClr val="FFFFFF"/>
          </a:solidFill>
          <a:ln w="9525">
            <a:solidFill>
              <a:srgbClr val="E6E6E6"/>
            </a:solidFill>
            <a:prstDash val="solid"/>
          </a:ln>
        </p:spPr>
      </p:sp>
      <p:sp>
        <p:nvSpPr>
          <p:cNvPr id="9" name="Shape 7"/>
          <p:cNvSpPr/>
          <p:nvPr/>
        </p:nvSpPr>
        <p:spPr>
          <a:xfrm>
            <a:off x="749808" y="2414016"/>
            <a:ext cx="384048" cy="384048"/>
          </a:xfrm>
          <a:prstGeom prst="ellipse">
            <a:avLst/>
          </a:prstGeom>
          <a:solidFill>
            <a:srgbClr val="0061F6"/>
          </a:solidFill>
          <a:ln w="12700">
            <a:solidFill>
              <a:srgbClr val="0061F6"/>
            </a:solidFill>
            <a:prstDash val="solid"/>
          </a:ln>
        </p:spPr>
      </p:sp>
      <p:sp>
        <p:nvSpPr>
          <p:cNvPr id="10" name="Text 8"/>
          <p:cNvSpPr txBox="1"/>
          <p:nvPr/>
        </p:nvSpPr>
        <p:spPr>
          <a:xfrm>
            <a:off x="1280160" y="2267712"/>
            <a:ext cx="2377440" cy="365760"/>
          </a:xfrm>
          <a:prstGeom prst="rect">
            <a:avLst/>
          </a:prstGeom>
          <a:noFill/>
          <a:ln/>
        </p:spPr>
        <p:txBody>
          <a:bodyPr wrap="square" lIns="0" tIns="0" rIns="0" bIns="0" rtlCol="0" anchor="ctr"/>
          <a:lstStyle/>
          <a:p>
            <a:pPr indent="0" marL="0">
              <a:buNone/>
            </a:pPr>
            <a:r>
              <a:rPr lang="en-US" sz="1400" b="1" dirty="0">
                <a:solidFill>
                  <a:srgbClr val="22205D"/>
                </a:solidFill>
                <a:latin typeface="Arial" pitchFamily="34" charset="0"/>
                <a:ea typeface="Arial" pitchFamily="34" charset="-122"/>
                <a:cs typeface="Arial" pitchFamily="34" charset="-120"/>
              </a:rPr>
              <a:t>Omais</a:t>
            </a:r>
            <a:endParaRPr lang="en-US" sz="1400" dirty="0"/>
          </a:p>
        </p:txBody>
      </p:sp>
      <p:sp>
        <p:nvSpPr>
          <p:cNvPr id="11" name="Text 9"/>
          <p:cNvSpPr txBox="1"/>
          <p:nvPr/>
        </p:nvSpPr>
        <p:spPr>
          <a:xfrm>
            <a:off x="1280160" y="2615184"/>
            <a:ext cx="2377440" cy="329184"/>
          </a:xfrm>
          <a:prstGeom prst="rect">
            <a:avLst/>
          </a:prstGeom>
          <a:noFill/>
          <a:ln/>
        </p:spPr>
        <p:txBody>
          <a:bodyPr wrap="square" lIns="0" tIns="0" rIns="0" bIns="0" rtlCol="0" anchor="ctr"/>
          <a:lstStyle/>
          <a:p>
            <a:pPr indent="0" marL="0">
              <a:buNone/>
            </a:pPr>
            <a:r>
              <a:rPr lang="en-US" sz="1100" dirty="0">
                <a:solidFill>
                  <a:srgbClr val="5A5A7A"/>
                </a:solidFill>
                <a:latin typeface="Arial" pitchFamily="34" charset="0"/>
                <a:ea typeface="Arial" pitchFamily="34" charset="-122"/>
                <a:cs typeface="Arial" pitchFamily="34" charset="-120"/>
              </a:rPr>
              <a:t>Creative lead</a:t>
            </a:r>
            <a:endParaRPr lang="en-US" sz="1100" dirty="0"/>
          </a:p>
        </p:txBody>
      </p:sp>
      <p:sp>
        <p:nvSpPr>
          <p:cNvPr id="12" name="Text 10"/>
          <p:cNvSpPr txBox="1"/>
          <p:nvPr/>
        </p:nvSpPr>
        <p:spPr>
          <a:xfrm>
            <a:off x="3749040" y="2258568"/>
            <a:ext cx="3383280" cy="694944"/>
          </a:xfrm>
          <a:prstGeom prst="rect">
            <a:avLst/>
          </a:prstGeom>
          <a:noFill/>
          <a:ln/>
        </p:spPr>
        <p:txBody>
          <a:bodyPr wrap="square" lIns="0" tIns="0" rIns="0" bIns="0" rtlCol="0" anchor="ctr"/>
          <a:lstStyle/>
          <a:p>
            <a:pPr indent="0" marL="0">
              <a:buNone/>
            </a:pPr>
            <a:r>
              <a:rPr lang="en-US" sz="1200" dirty="0">
                <a:solidFill>
                  <a:srgbClr val="22205D"/>
                </a:solidFill>
                <a:latin typeface="Arial" pitchFamily="34" charset="0"/>
                <a:ea typeface="Arial" pitchFamily="34" charset="-122"/>
                <a:cs typeface="Arial" pitchFamily="34" charset="-120"/>
              </a:rPr>
              <a:t>Design, video, social creative, sales material</a:t>
            </a:r>
            <a:endParaRPr lang="en-US" sz="1200" dirty="0"/>
          </a:p>
        </p:txBody>
      </p:sp>
      <p:sp>
        <p:nvSpPr>
          <p:cNvPr id="13" name="Shape 11"/>
          <p:cNvSpPr/>
          <p:nvPr/>
        </p:nvSpPr>
        <p:spPr>
          <a:xfrm>
            <a:off x="548640" y="3154680"/>
            <a:ext cx="6766560" cy="822960"/>
          </a:xfrm>
          <a:prstGeom prst="roundRect">
            <a:avLst>
              <a:gd name="adj" fmla="val 8889"/>
            </a:avLst>
          </a:prstGeom>
          <a:solidFill>
            <a:srgbClr val="FFFFFF"/>
          </a:solidFill>
          <a:ln w="9525">
            <a:solidFill>
              <a:srgbClr val="E6E6E6"/>
            </a:solidFill>
            <a:prstDash val="solid"/>
          </a:ln>
        </p:spPr>
      </p:sp>
      <p:sp>
        <p:nvSpPr>
          <p:cNvPr id="14" name="Shape 12"/>
          <p:cNvSpPr/>
          <p:nvPr/>
        </p:nvSpPr>
        <p:spPr>
          <a:xfrm>
            <a:off x="749808" y="3374136"/>
            <a:ext cx="384048" cy="384048"/>
          </a:xfrm>
          <a:prstGeom prst="ellipse">
            <a:avLst/>
          </a:prstGeom>
          <a:solidFill>
            <a:srgbClr val="0098D8"/>
          </a:solidFill>
          <a:ln w="12700">
            <a:solidFill>
              <a:srgbClr val="0098D8"/>
            </a:solidFill>
            <a:prstDash val="solid"/>
          </a:ln>
        </p:spPr>
      </p:sp>
      <p:sp>
        <p:nvSpPr>
          <p:cNvPr id="15" name="Text 13"/>
          <p:cNvSpPr txBox="1"/>
          <p:nvPr/>
        </p:nvSpPr>
        <p:spPr>
          <a:xfrm>
            <a:off x="1280160" y="3227832"/>
            <a:ext cx="2377440" cy="365760"/>
          </a:xfrm>
          <a:prstGeom prst="rect">
            <a:avLst/>
          </a:prstGeom>
          <a:noFill/>
          <a:ln/>
        </p:spPr>
        <p:txBody>
          <a:bodyPr wrap="square" lIns="0" tIns="0" rIns="0" bIns="0" rtlCol="0" anchor="ctr"/>
          <a:lstStyle/>
          <a:p>
            <a:pPr indent="0" marL="0">
              <a:buNone/>
            </a:pPr>
            <a:r>
              <a:rPr lang="en-US" sz="1400" b="1" dirty="0">
                <a:solidFill>
                  <a:srgbClr val="22205D"/>
                </a:solidFill>
                <a:latin typeface="Arial" pitchFamily="34" charset="0"/>
                <a:ea typeface="Arial" pitchFamily="34" charset="-122"/>
                <a:cs typeface="Arial" pitchFamily="34" charset="-120"/>
              </a:rPr>
              <a:t>Rafay</a:t>
            </a:r>
            <a:endParaRPr lang="en-US" sz="1400" dirty="0"/>
          </a:p>
        </p:txBody>
      </p:sp>
      <p:sp>
        <p:nvSpPr>
          <p:cNvPr id="16" name="Text 14"/>
          <p:cNvSpPr txBox="1"/>
          <p:nvPr/>
        </p:nvSpPr>
        <p:spPr>
          <a:xfrm>
            <a:off x="1280160" y="3575304"/>
            <a:ext cx="2377440" cy="329184"/>
          </a:xfrm>
          <a:prstGeom prst="rect">
            <a:avLst/>
          </a:prstGeom>
          <a:noFill/>
          <a:ln/>
        </p:spPr>
        <p:txBody>
          <a:bodyPr wrap="square" lIns="0" tIns="0" rIns="0" bIns="0" rtlCol="0" anchor="ctr"/>
          <a:lstStyle/>
          <a:p>
            <a:pPr indent="0" marL="0">
              <a:buNone/>
            </a:pPr>
            <a:r>
              <a:rPr lang="en-US" sz="1100" dirty="0">
                <a:solidFill>
                  <a:srgbClr val="5A5A7A"/>
                </a:solidFill>
                <a:latin typeface="Arial" pitchFamily="34" charset="0"/>
                <a:ea typeface="Arial" pitchFamily="34" charset="-122"/>
                <a:cs typeface="Arial" pitchFamily="34" charset="-120"/>
              </a:rPr>
              <a:t>UI/UX, shared with client work</a:t>
            </a:r>
            <a:endParaRPr lang="en-US" sz="1100" dirty="0"/>
          </a:p>
        </p:txBody>
      </p:sp>
      <p:sp>
        <p:nvSpPr>
          <p:cNvPr id="17" name="Text 15"/>
          <p:cNvSpPr txBox="1"/>
          <p:nvPr/>
        </p:nvSpPr>
        <p:spPr>
          <a:xfrm>
            <a:off x="3749040" y="3218688"/>
            <a:ext cx="3383280" cy="694944"/>
          </a:xfrm>
          <a:prstGeom prst="rect">
            <a:avLst/>
          </a:prstGeom>
          <a:noFill/>
          <a:ln/>
        </p:spPr>
        <p:txBody>
          <a:bodyPr wrap="square" lIns="0" tIns="0" rIns="0" bIns="0" rtlCol="0" anchor="ctr"/>
          <a:lstStyle/>
          <a:p>
            <a:pPr indent="0" marL="0">
              <a:buNone/>
            </a:pPr>
            <a:r>
              <a:rPr lang="en-US" sz="1200" dirty="0">
                <a:solidFill>
                  <a:srgbClr val="22205D"/>
                </a:solidFill>
                <a:latin typeface="Arial" pitchFamily="34" charset="0"/>
                <a:ea typeface="Arial" pitchFamily="34" charset="-122"/>
                <a:cs typeface="Arial" pitchFamily="34" charset="-120"/>
              </a:rPr>
              <a:t>Website and diagnostic tool design</a:t>
            </a:r>
            <a:endParaRPr lang="en-US" sz="1200" dirty="0"/>
          </a:p>
        </p:txBody>
      </p:sp>
      <p:sp>
        <p:nvSpPr>
          <p:cNvPr id="18" name="Shape 16"/>
          <p:cNvSpPr/>
          <p:nvPr/>
        </p:nvSpPr>
        <p:spPr>
          <a:xfrm>
            <a:off x="548640" y="4114800"/>
            <a:ext cx="6766560" cy="822960"/>
          </a:xfrm>
          <a:prstGeom prst="roundRect">
            <a:avLst>
              <a:gd name="adj" fmla="val 8889"/>
            </a:avLst>
          </a:prstGeom>
          <a:solidFill>
            <a:srgbClr val="FFFFFF"/>
          </a:solidFill>
          <a:ln w="9525">
            <a:solidFill>
              <a:srgbClr val="E6E6E6"/>
            </a:solidFill>
            <a:prstDash val="solid"/>
          </a:ln>
        </p:spPr>
      </p:sp>
      <p:sp>
        <p:nvSpPr>
          <p:cNvPr id="19" name="Shape 17"/>
          <p:cNvSpPr/>
          <p:nvPr/>
        </p:nvSpPr>
        <p:spPr>
          <a:xfrm>
            <a:off x="749808" y="4334256"/>
            <a:ext cx="384048" cy="384048"/>
          </a:xfrm>
          <a:prstGeom prst="ellipse">
            <a:avLst/>
          </a:prstGeom>
          <a:solidFill>
            <a:srgbClr val="5A5A7A"/>
          </a:solidFill>
          <a:ln w="12700">
            <a:solidFill>
              <a:srgbClr val="5A5A7A"/>
            </a:solidFill>
            <a:prstDash val="solid"/>
          </a:ln>
        </p:spPr>
      </p:sp>
      <p:sp>
        <p:nvSpPr>
          <p:cNvPr id="20" name="Text 18"/>
          <p:cNvSpPr txBox="1"/>
          <p:nvPr/>
        </p:nvSpPr>
        <p:spPr>
          <a:xfrm>
            <a:off x="1280160" y="4187952"/>
            <a:ext cx="2377440" cy="365760"/>
          </a:xfrm>
          <a:prstGeom prst="rect">
            <a:avLst/>
          </a:prstGeom>
          <a:noFill/>
          <a:ln/>
        </p:spPr>
        <p:txBody>
          <a:bodyPr wrap="square" lIns="0" tIns="0" rIns="0" bIns="0" rtlCol="0" anchor="ctr"/>
          <a:lstStyle/>
          <a:p>
            <a:pPr indent="0" marL="0">
              <a:buNone/>
            </a:pPr>
            <a:r>
              <a:rPr lang="en-US" sz="1400" b="1" dirty="0">
                <a:solidFill>
                  <a:srgbClr val="22205D"/>
                </a:solidFill>
                <a:latin typeface="Arial" pitchFamily="34" charset="0"/>
                <a:ea typeface="Arial" pitchFamily="34" charset="-122"/>
                <a:cs typeface="Arial" pitchFamily="34" charset="-120"/>
              </a:rPr>
              <a:t>Production devs (2)</a:t>
            </a:r>
            <a:endParaRPr lang="en-US" sz="1400" dirty="0"/>
          </a:p>
        </p:txBody>
      </p:sp>
      <p:sp>
        <p:nvSpPr>
          <p:cNvPr id="21" name="Text 19"/>
          <p:cNvSpPr txBox="1"/>
          <p:nvPr/>
        </p:nvSpPr>
        <p:spPr>
          <a:xfrm>
            <a:off x="1280160" y="4535424"/>
            <a:ext cx="2377440" cy="329184"/>
          </a:xfrm>
          <a:prstGeom prst="rect">
            <a:avLst/>
          </a:prstGeom>
          <a:noFill/>
          <a:ln/>
        </p:spPr>
        <p:txBody>
          <a:bodyPr wrap="square" lIns="0" tIns="0" rIns="0" bIns="0" rtlCol="0" anchor="ctr"/>
          <a:lstStyle/>
          <a:p>
            <a:pPr indent="0" marL="0">
              <a:buNone/>
            </a:pPr>
            <a:r>
              <a:rPr lang="en-US" sz="1100" dirty="0">
                <a:solidFill>
                  <a:srgbClr val="5A5A7A"/>
                </a:solidFill>
                <a:latin typeface="Arial" pitchFamily="34" charset="0"/>
                <a:ea typeface="Arial" pitchFamily="34" charset="-122"/>
                <a:cs typeface="Arial" pitchFamily="34" charset="-120"/>
              </a:rPr>
              <a:t>Shared</a:t>
            </a:r>
            <a:endParaRPr lang="en-US" sz="1100" dirty="0"/>
          </a:p>
        </p:txBody>
      </p:sp>
      <p:sp>
        <p:nvSpPr>
          <p:cNvPr id="22" name="Text 20"/>
          <p:cNvSpPr txBox="1"/>
          <p:nvPr/>
        </p:nvSpPr>
        <p:spPr>
          <a:xfrm>
            <a:off x="3749040" y="4178808"/>
            <a:ext cx="3383280" cy="694944"/>
          </a:xfrm>
          <a:prstGeom prst="rect">
            <a:avLst/>
          </a:prstGeom>
          <a:noFill/>
          <a:ln/>
        </p:spPr>
        <p:txBody>
          <a:bodyPr wrap="square" lIns="0" tIns="0" rIns="0" bIns="0" rtlCol="0" anchor="ctr"/>
          <a:lstStyle/>
          <a:p>
            <a:pPr indent="0" marL="0">
              <a:buNone/>
            </a:pPr>
            <a:r>
              <a:rPr lang="en-US" sz="1200" dirty="0">
                <a:solidFill>
                  <a:srgbClr val="22205D"/>
                </a:solidFill>
                <a:latin typeface="Arial" pitchFamily="34" charset="0"/>
                <a:ea typeface="Arial" pitchFamily="34" charset="-122"/>
                <a:cs typeface="Arial" pitchFamily="34" charset="-120"/>
              </a:rPr>
              <a:t>Build and release the website</a:t>
            </a:r>
            <a:endParaRPr lang="en-US" sz="1200" dirty="0"/>
          </a:p>
        </p:txBody>
      </p:sp>
      <p:sp>
        <p:nvSpPr>
          <p:cNvPr id="23" name="Shape 21"/>
          <p:cNvSpPr/>
          <p:nvPr/>
        </p:nvSpPr>
        <p:spPr>
          <a:xfrm>
            <a:off x="548640" y="5074920"/>
            <a:ext cx="6766560" cy="822960"/>
          </a:xfrm>
          <a:prstGeom prst="roundRect">
            <a:avLst>
              <a:gd name="adj" fmla="val 8889"/>
            </a:avLst>
          </a:prstGeom>
          <a:solidFill>
            <a:srgbClr val="EAF7F4"/>
          </a:solidFill>
          <a:ln w="9525">
            <a:solidFill>
              <a:srgbClr val="E6E6E6"/>
            </a:solidFill>
            <a:prstDash val="solid"/>
          </a:ln>
        </p:spPr>
      </p:sp>
      <p:sp>
        <p:nvSpPr>
          <p:cNvPr id="24" name="Shape 22"/>
          <p:cNvSpPr/>
          <p:nvPr/>
        </p:nvSpPr>
        <p:spPr>
          <a:xfrm>
            <a:off x="749808" y="5294376"/>
            <a:ext cx="384048" cy="384048"/>
          </a:xfrm>
          <a:prstGeom prst="ellipse">
            <a:avLst/>
          </a:prstGeom>
          <a:solidFill>
            <a:srgbClr val="5CC3AE"/>
          </a:solidFill>
          <a:ln w="12700">
            <a:solidFill>
              <a:srgbClr val="5CC3AE"/>
            </a:solidFill>
            <a:prstDash val="solid"/>
          </a:ln>
        </p:spPr>
      </p:sp>
      <p:sp>
        <p:nvSpPr>
          <p:cNvPr id="25" name="Text 23"/>
          <p:cNvSpPr txBox="1"/>
          <p:nvPr/>
        </p:nvSpPr>
        <p:spPr>
          <a:xfrm>
            <a:off x="1280160" y="5148072"/>
            <a:ext cx="2377440" cy="365760"/>
          </a:xfrm>
          <a:prstGeom prst="rect">
            <a:avLst/>
          </a:prstGeom>
          <a:noFill/>
          <a:ln/>
        </p:spPr>
        <p:txBody>
          <a:bodyPr wrap="square" lIns="0" tIns="0" rIns="0" bIns="0" rtlCol="0" anchor="ctr"/>
          <a:lstStyle/>
          <a:p>
            <a:pPr indent="0" marL="0">
              <a:buNone/>
            </a:pPr>
            <a:r>
              <a:rPr lang="en-US" sz="1400" b="1" dirty="0">
                <a:solidFill>
                  <a:srgbClr val="22205D"/>
                </a:solidFill>
                <a:latin typeface="Arial" pitchFamily="34" charset="0"/>
                <a:ea typeface="Arial" pitchFamily="34" charset="-122"/>
                <a:cs typeface="Arial" pitchFamily="34" charset="-120"/>
              </a:rPr>
              <a:t>Needed: Marketing Executive</a:t>
            </a:r>
            <a:endParaRPr lang="en-US" sz="1400" dirty="0"/>
          </a:p>
        </p:txBody>
      </p:sp>
      <p:sp>
        <p:nvSpPr>
          <p:cNvPr id="26" name="Text 24"/>
          <p:cNvSpPr txBox="1"/>
          <p:nvPr/>
        </p:nvSpPr>
        <p:spPr>
          <a:xfrm>
            <a:off x="1280160" y="5495544"/>
            <a:ext cx="2377440" cy="329184"/>
          </a:xfrm>
          <a:prstGeom prst="rect">
            <a:avLst/>
          </a:prstGeom>
          <a:noFill/>
          <a:ln/>
        </p:spPr>
        <p:txBody>
          <a:bodyPr wrap="square" lIns="0" tIns="0" rIns="0" bIns="0" rtlCol="0" anchor="ctr"/>
          <a:lstStyle/>
          <a:p>
            <a:pPr indent="0" marL="0">
              <a:buNone/>
            </a:pPr>
            <a:r>
              <a:rPr lang="en-US" sz="1100" dirty="0">
                <a:solidFill>
                  <a:srgbClr val="5A5A7A"/>
                </a:solidFill>
                <a:latin typeface="Arial" pitchFamily="34" charset="0"/>
                <a:ea typeface="Arial" pitchFamily="34" charset="-122"/>
                <a:cs typeface="Arial" pitchFamily="34" charset="-120"/>
              </a:rPr>
              <a:t>Day-to-day owner</a:t>
            </a:r>
            <a:endParaRPr lang="en-US" sz="1100" dirty="0"/>
          </a:p>
        </p:txBody>
      </p:sp>
      <p:sp>
        <p:nvSpPr>
          <p:cNvPr id="27" name="Text 25"/>
          <p:cNvSpPr txBox="1"/>
          <p:nvPr/>
        </p:nvSpPr>
        <p:spPr>
          <a:xfrm>
            <a:off x="3749040" y="5138928"/>
            <a:ext cx="3383280" cy="694944"/>
          </a:xfrm>
          <a:prstGeom prst="rect">
            <a:avLst/>
          </a:prstGeom>
          <a:noFill/>
          <a:ln/>
        </p:spPr>
        <p:txBody>
          <a:bodyPr wrap="square" lIns="0" tIns="0" rIns="0" bIns="0" rtlCol="0" anchor="ctr"/>
          <a:lstStyle/>
          <a:p>
            <a:pPr indent="0" marL="0">
              <a:buNone/>
            </a:pPr>
            <a:r>
              <a:rPr lang="en-US" sz="1200" dirty="0">
                <a:solidFill>
                  <a:srgbClr val="22205D"/>
                </a:solidFill>
                <a:latin typeface="Arial" pitchFamily="34" charset="0"/>
                <a:ea typeface="Arial" pitchFamily="34" charset="-122"/>
                <a:cs typeface="Arial" pitchFamily="34" charset="-120"/>
              </a:rPr>
              <a:t>Publishing, social, chasing approvals, working with devs and sales, urgent requests, tracking</a:t>
            </a:r>
            <a:endParaRPr lang="en-US" sz="1200" dirty="0"/>
          </a:p>
        </p:txBody>
      </p:sp>
      <p:sp>
        <p:nvSpPr>
          <p:cNvPr id="28" name="Shape 26"/>
          <p:cNvSpPr/>
          <p:nvPr/>
        </p:nvSpPr>
        <p:spPr>
          <a:xfrm>
            <a:off x="7680960" y="1234440"/>
            <a:ext cx="3959352" cy="4663440"/>
          </a:xfrm>
          <a:prstGeom prst="roundRect">
            <a:avLst>
              <a:gd name="adj" fmla="val 1848"/>
            </a:avLst>
          </a:prstGeom>
          <a:solidFill>
            <a:srgbClr val="F4F6FB"/>
          </a:solidFill>
          <a:ln w="9525">
            <a:solidFill>
              <a:srgbClr val="E6E6E6"/>
            </a:solidFill>
            <a:prstDash val="solid"/>
          </a:ln>
        </p:spPr>
      </p:sp>
      <p:sp>
        <p:nvSpPr>
          <p:cNvPr id="29" name="Text 27"/>
          <p:cNvSpPr txBox="1"/>
          <p:nvPr/>
        </p:nvSpPr>
        <p:spPr>
          <a:xfrm>
            <a:off x="7955280" y="1371600"/>
            <a:ext cx="3410712" cy="457200"/>
          </a:xfrm>
          <a:prstGeom prst="rect">
            <a:avLst/>
          </a:prstGeom>
          <a:noFill/>
          <a:ln/>
        </p:spPr>
        <p:txBody>
          <a:bodyPr wrap="square" lIns="0" tIns="0" rIns="0" bIns="0" rtlCol="0" anchor="ctr"/>
          <a:lstStyle/>
          <a:p>
            <a:pPr indent="0" marL="0">
              <a:buNone/>
            </a:pPr>
            <a:r>
              <a:rPr lang="en-US" sz="1800" b="1" dirty="0">
                <a:solidFill>
                  <a:srgbClr val="22205D"/>
                </a:solidFill>
                <a:latin typeface="Arial" pitchFamily="34" charset="0"/>
                <a:ea typeface="Arial" pitchFamily="34" charset="-122"/>
                <a:cs typeface="Arial" pitchFamily="34" charset="-120"/>
              </a:rPr>
              <a:t>How requests come in</a:t>
            </a:r>
            <a:endParaRPr lang="en-US" sz="1800" dirty="0"/>
          </a:p>
        </p:txBody>
      </p:sp>
      <p:sp>
        <p:nvSpPr>
          <p:cNvPr id="30" name="Text 28"/>
          <p:cNvSpPr txBox="1"/>
          <p:nvPr/>
        </p:nvSpPr>
        <p:spPr>
          <a:xfrm>
            <a:off x="7955280" y="1965960"/>
            <a:ext cx="3410712" cy="329184"/>
          </a:xfrm>
          <a:prstGeom prst="rect">
            <a:avLst/>
          </a:prstGeom>
          <a:noFill/>
          <a:ln/>
        </p:spPr>
        <p:txBody>
          <a:bodyPr wrap="square" lIns="0" tIns="0" rIns="0" bIns="0" rtlCol="0" anchor="ctr"/>
          <a:lstStyle/>
          <a:p>
            <a:pPr indent="0" marL="0">
              <a:buNone/>
            </a:pPr>
            <a:r>
              <a:rPr lang="en-US" sz="1400" b="1" dirty="0">
                <a:solidFill>
                  <a:srgbClr val="0061F6"/>
                </a:solidFill>
                <a:latin typeface="Arial" pitchFamily="34" charset="0"/>
                <a:ea typeface="Arial" pitchFamily="34" charset="-122"/>
                <a:cs typeface="Arial" pitchFamily="34" charset="-120"/>
              </a:rPr>
              <a:t>Needs content</a:t>
            </a:r>
            <a:endParaRPr lang="en-US" sz="1400" dirty="0"/>
          </a:p>
        </p:txBody>
      </p:sp>
      <p:sp>
        <p:nvSpPr>
          <p:cNvPr id="31" name="Text 29"/>
          <p:cNvSpPr txBox="1"/>
          <p:nvPr/>
        </p:nvSpPr>
        <p:spPr>
          <a:xfrm>
            <a:off x="7955280" y="2295144"/>
            <a:ext cx="3410712" cy="502920"/>
          </a:xfrm>
          <a:prstGeom prst="rect">
            <a:avLst/>
          </a:prstGeom>
          <a:noFill/>
          <a:ln/>
        </p:spPr>
        <p:txBody>
          <a:bodyPr wrap="square" lIns="0" tIns="0" rIns="0" bIns="0" rtlCol="0" anchor="t"/>
          <a:lstStyle/>
          <a:p>
            <a:pPr indent="0" marL="0">
              <a:buNone/>
            </a:pPr>
            <a:r>
              <a:rPr lang="en-US" sz="1200" dirty="0">
                <a:solidFill>
                  <a:srgbClr val="22205D"/>
                </a:solidFill>
                <a:latin typeface="Arial" pitchFamily="34" charset="0"/>
                <a:ea typeface="Arial" pitchFamily="34" charset="-122"/>
                <a:cs typeface="Arial" pitchFamily="34" charset="-120"/>
              </a:rPr>
              <a:t>To Sana, with 2 working days' notice</a:t>
            </a:r>
            <a:endParaRPr lang="en-US" sz="1200" dirty="0"/>
          </a:p>
        </p:txBody>
      </p:sp>
      <p:sp>
        <p:nvSpPr>
          <p:cNvPr id="32" name="Text 30"/>
          <p:cNvSpPr txBox="1"/>
          <p:nvPr/>
        </p:nvSpPr>
        <p:spPr>
          <a:xfrm>
            <a:off x="7955280" y="2926080"/>
            <a:ext cx="3410712" cy="329184"/>
          </a:xfrm>
          <a:prstGeom prst="rect">
            <a:avLst/>
          </a:prstGeom>
          <a:noFill/>
          <a:ln/>
        </p:spPr>
        <p:txBody>
          <a:bodyPr wrap="square" lIns="0" tIns="0" rIns="0" bIns="0" rtlCol="0" anchor="ctr"/>
          <a:lstStyle/>
          <a:p>
            <a:pPr indent="0" marL="0">
              <a:buNone/>
            </a:pPr>
            <a:r>
              <a:rPr lang="en-US" sz="1400" b="1" dirty="0">
                <a:solidFill>
                  <a:srgbClr val="0061F6"/>
                </a:solidFill>
                <a:latin typeface="Arial" pitchFamily="34" charset="0"/>
                <a:ea typeface="Arial" pitchFamily="34" charset="-122"/>
                <a:cs typeface="Arial" pitchFamily="34" charset="-120"/>
              </a:rPr>
              <a:t>Content ready, needs design</a:t>
            </a:r>
            <a:endParaRPr lang="en-US" sz="1400" dirty="0"/>
          </a:p>
        </p:txBody>
      </p:sp>
      <p:sp>
        <p:nvSpPr>
          <p:cNvPr id="33" name="Text 31"/>
          <p:cNvSpPr txBox="1"/>
          <p:nvPr/>
        </p:nvSpPr>
        <p:spPr>
          <a:xfrm>
            <a:off x="7955280" y="3255264"/>
            <a:ext cx="3410712" cy="502920"/>
          </a:xfrm>
          <a:prstGeom prst="rect">
            <a:avLst/>
          </a:prstGeom>
          <a:noFill/>
          <a:ln/>
        </p:spPr>
        <p:txBody>
          <a:bodyPr wrap="square" lIns="0" tIns="0" rIns="0" bIns="0" rtlCol="0" anchor="t"/>
          <a:lstStyle/>
          <a:p>
            <a:pPr indent="0" marL="0">
              <a:buNone/>
            </a:pPr>
            <a:r>
              <a:rPr lang="en-US" sz="1200" dirty="0">
                <a:solidFill>
                  <a:srgbClr val="22205D"/>
                </a:solidFill>
                <a:latin typeface="Arial" pitchFamily="34" charset="0"/>
                <a:ea typeface="Arial" pitchFamily="34" charset="-122"/>
                <a:cs typeface="Arial" pitchFamily="34" charset="-120"/>
              </a:rPr>
              <a:t>Straight to Omais. Sana guides and reviews if needed</a:t>
            </a:r>
            <a:endParaRPr lang="en-US" sz="1200" dirty="0"/>
          </a:p>
        </p:txBody>
      </p:sp>
      <p:sp>
        <p:nvSpPr>
          <p:cNvPr id="34" name="Text 32"/>
          <p:cNvSpPr txBox="1"/>
          <p:nvPr/>
        </p:nvSpPr>
        <p:spPr>
          <a:xfrm>
            <a:off x="7955280" y="3886200"/>
            <a:ext cx="3410712" cy="329184"/>
          </a:xfrm>
          <a:prstGeom prst="rect">
            <a:avLst/>
          </a:prstGeom>
          <a:noFill/>
          <a:ln/>
        </p:spPr>
        <p:txBody>
          <a:bodyPr wrap="square" lIns="0" tIns="0" rIns="0" bIns="0" rtlCol="0" anchor="ctr"/>
          <a:lstStyle/>
          <a:p>
            <a:pPr indent="0" marL="0">
              <a:buNone/>
            </a:pPr>
            <a:r>
              <a:rPr lang="en-US" sz="1400" b="1" dirty="0">
                <a:solidFill>
                  <a:srgbClr val="0061F6"/>
                </a:solidFill>
                <a:latin typeface="Arial" pitchFamily="34" charset="0"/>
                <a:ea typeface="Arial" pitchFamily="34" charset="-122"/>
                <a:cs typeface="Arial" pitchFamily="34" charset="-120"/>
              </a:rPr>
              <a:t>Website change</a:t>
            </a:r>
            <a:endParaRPr lang="en-US" sz="1400" dirty="0"/>
          </a:p>
        </p:txBody>
      </p:sp>
      <p:sp>
        <p:nvSpPr>
          <p:cNvPr id="35" name="Text 33"/>
          <p:cNvSpPr txBox="1"/>
          <p:nvPr/>
        </p:nvSpPr>
        <p:spPr>
          <a:xfrm>
            <a:off x="7955280" y="4215384"/>
            <a:ext cx="3410712" cy="502920"/>
          </a:xfrm>
          <a:prstGeom prst="rect">
            <a:avLst/>
          </a:prstGeom>
          <a:noFill/>
          <a:ln/>
        </p:spPr>
        <p:txBody>
          <a:bodyPr wrap="square" lIns="0" tIns="0" rIns="0" bIns="0" rtlCol="0" anchor="t"/>
          <a:lstStyle/>
          <a:p>
            <a:pPr indent="0" marL="0">
              <a:buNone/>
            </a:pPr>
            <a:r>
              <a:rPr lang="en-US" sz="1200" dirty="0">
                <a:solidFill>
                  <a:srgbClr val="22205D"/>
                </a:solidFill>
                <a:latin typeface="Arial" pitchFamily="34" charset="0"/>
                <a:ea typeface="Arial" pitchFamily="34" charset="-122"/>
                <a:cs typeface="Arial" pitchFamily="34" charset="-120"/>
              </a:rPr>
              <a:t>Into the next release, via Rafay and the devs</a:t>
            </a:r>
            <a:endParaRPr lang="en-US" sz="1200" dirty="0"/>
          </a:p>
        </p:txBody>
      </p:sp>
      <p:sp>
        <p:nvSpPr>
          <p:cNvPr id="36" name="Text 34"/>
          <p:cNvSpPr txBox="1"/>
          <p:nvPr/>
        </p:nvSpPr>
        <p:spPr>
          <a:xfrm>
            <a:off x="7955280" y="4846320"/>
            <a:ext cx="3410712" cy="329184"/>
          </a:xfrm>
          <a:prstGeom prst="rect">
            <a:avLst/>
          </a:prstGeom>
          <a:noFill/>
          <a:ln/>
        </p:spPr>
        <p:txBody>
          <a:bodyPr wrap="square" lIns="0" tIns="0" rIns="0" bIns="0" rtlCol="0" anchor="ctr"/>
          <a:lstStyle/>
          <a:p>
            <a:pPr indent="0" marL="0">
              <a:buNone/>
            </a:pPr>
            <a:r>
              <a:rPr lang="en-US" sz="1400" b="1" dirty="0">
                <a:solidFill>
                  <a:srgbClr val="0061F6"/>
                </a:solidFill>
                <a:latin typeface="Arial" pitchFamily="34" charset="0"/>
                <a:ea typeface="Arial" pitchFamily="34" charset="-122"/>
                <a:cs typeface="Arial" pitchFamily="34" charset="-120"/>
              </a:rPr>
              <a:t>Urgent, same-day</a:t>
            </a:r>
            <a:endParaRPr lang="en-US" sz="1400" dirty="0"/>
          </a:p>
        </p:txBody>
      </p:sp>
      <p:sp>
        <p:nvSpPr>
          <p:cNvPr id="37" name="Text 35"/>
          <p:cNvSpPr txBox="1"/>
          <p:nvPr/>
        </p:nvSpPr>
        <p:spPr>
          <a:xfrm>
            <a:off x="7955280" y="5175504"/>
            <a:ext cx="3410712" cy="502920"/>
          </a:xfrm>
          <a:prstGeom prst="rect">
            <a:avLst/>
          </a:prstGeom>
          <a:noFill/>
          <a:ln/>
        </p:spPr>
        <p:txBody>
          <a:bodyPr wrap="square" lIns="0" tIns="0" rIns="0" bIns="0" rtlCol="0" anchor="t"/>
          <a:lstStyle/>
          <a:p>
            <a:pPr indent="0" marL="0">
              <a:buNone/>
            </a:pPr>
            <a:r>
              <a:rPr lang="en-US" sz="1200" dirty="0">
                <a:solidFill>
                  <a:srgbClr val="22205D"/>
                </a:solidFill>
                <a:latin typeface="Arial" pitchFamily="34" charset="0"/>
                <a:ea typeface="Arial" pitchFamily="34" charset="-122"/>
                <a:cs typeface="Arial" pitchFamily="34" charset="-120"/>
              </a:rPr>
              <a:t>Marketing Executive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indent="0" marL="0">
              <a:buNone/>
            </a:pPr>
            <a:r>
              <a:rPr lang="en-US" sz="3000" b="1" dirty="0">
                <a:solidFill>
                  <a:srgbClr val="22205D"/>
                </a:solidFill>
                <a:latin typeface="Arial" pitchFamily="34" charset="0"/>
                <a:ea typeface="Arial" pitchFamily="34" charset="-122"/>
                <a:cs typeface="Arial" pitchFamily="34" charset="-120"/>
              </a:rPr>
              <a:t>The resource gap</a:t>
            </a:r>
            <a:endParaRPr lang="en-US" sz="3000" dirty="0"/>
          </a:p>
        </p:txBody>
      </p:sp>
      <p:sp>
        <p:nvSpPr>
          <p:cNvPr id="3" name="Text 1"/>
          <p:cNvSpPr txBox="1"/>
          <p:nvPr/>
        </p:nvSpPr>
        <p:spPr>
          <a:xfrm>
            <a:off x="548640" y="987552"/>
            <a:ext cx="11091672" cy="365760"/>
          </a:xfrm>
          <a:prstGeom prst="rect">
            <a:avLst/>
          </a:prstGeom>
          <a:noFill/>
          <a:ln/>
        </p:spPr>
        <p:txBody>
          <a:bodyPr wrap="square" lIns="0" tIns="0" rIns="0" bIns="0" rtlCol="0" anchor="ctr"/>
          <a:lstStyle/>
          <a:p>
            <a:pPr indent="0" marL="0">
              <a:buNone/>
            </a:pPr>
            <a:r>
              <a:rPr lang="en-US" sz="1400" dirty="0">
                <a:solidFill>
                  <a:srgbClr val="5A5A7A"/>
                </a:solidFill>
                <a:latin typeface="Arial" pitchFamily="34" charset="0"/>
                <a:ea typeface="Arial" pitchFamily="34" charset="-122"/>
                <a:cs typeface="Arial" pitchFamily="34" charset="-120"/>
              </a:rPr>
              <a:t>Estimated hours a month to deliver this plan</a:t>
            </a:r>
            <a:endParaRPr lang="en-US" sz="1400" dirty="0"/>
          </a:p>
        </p:txBody>
      </p:sp>
      <p:sp>
        <p:nvSpPr>
          <p:cNvPr id="4" name="Shape 2"/>
          <p:cNvSpPr/>
          <p:nvPr/>
        </p:nvSpPr>
        <p:spPr>
          <a:xfrm>
            <a:off x="548640" y="1783080"/>
            <a:ext cx="3105668" cy="822960"/>
          </a:xfrm>
          <a:prstGeom prst="rect">
            <a:avLst/>
          </a:prstGeom>
          <a:solidFill>
            <a:srgbClr val="22205D"/>
          </a:solidFill>
          <a:ln w="19050">
            <a:solidFill>
              <a:srgbClr val="FFFFFF"/>
            </a:solidFill>
            <a:prstDash val="solid"/>
          </a:ln>
        </p:spPr>
      </p:sp>
      <p:sp>
        <p:nvSpPr>
          <p:cNvPr id="5" name="Text 3"/>
          <p:cNvSpPr txBox="1"/>
          <p:nvPr/>
        </p:nvSpPr>
        <p:spPr>
          <a:xfrm>
            <a:off x="548640" y="1783080"/>
            <a:ext cx="3105668"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35h</a:t>
            </a:r>
            <a:endParaRPr lang="en-US" sz="1600" dirty="0"/>
          </a:p>
        </p:txBody>
      </p:sp>
      <p:sp>
        <p:nvSpPr>
          <p:cNvPr id="6" name="Text 4"/>
          <p:cNvSpPr txBox="1"/>
          <p:nvPr/>
        </p:nvSpPr>
        <p:spPr>
          <a:xfrm>
            <a:off x="594360" y="2651760"/>
            <a:ext cx="3014228" cy="548640"/>
          </a:xfrm>
          <a:prstGeom prst="rect">
            <a:avLst/>
          </a:prstGeom>
          <a:noFill/>
          <a:ln/>
        </p:spPr>
        <p:txBody>
          <a:bodyPr wrap="square" lIns="0" tIns="0" rIns="0" bIns="0" rtlCol="0" anchor="t"/>
          <a:lstStyle/>
          <a:p>
            <a:pPr algn="ctr" indent="0" marL="0">
              <a:buNone/>
            </a:pPr>
            <a:r>
              <a:rPr lang="en-US" sz="1100" dirty="0">
                <a:solidFill>
                  <a:srgbClr val="22205D"/>
                </a:solidFill>
                <a:latin typeface="Arial" pitchFamily="34" charset="0"/>
                <a:ea typeface="Arial" pitchFamily="34" charset="-122"/>
                <a:cs typeface="Arial" pitchFamily="34" charset="-120"/>
              </a:rPr>
              <a:t>Content, SEO, AI search</a:t>
            </a:r>
            <a:endParaRPr lang="en-US" sz="1100" dirty="0"/>
          </a:p>
        </p:txBody>
      </p:sp>
      <p:sp>
        <p:nvSpPr>
          <p:cNvPr id="7" name="Shape 5"/>
          <p:cNvSpPr/>
          <p:nvPr/>
        </p:nvSpPr>
        <p:spPr>
          <a:xfrm>
            <a:off x="3654308" y="1783080"/>
            <a:ext cx="1331001" cy="822960"/>
          </a:xfrm>
          <a:prstGeom prst="rect">
            <a:avLst/>
          </a:prstGeom>
          <a:solidFill>
            <a:srgbClr val="0061F6"/>
          </a:solidFill>
          <a:ln w="19050">
            <a:solidFill>
              <a:srgbClr val="FFFFFF"/>
            </a:solidFill>
            <a:prstDash val="solid"/>
          </a:ln>
        </p:spPr>
      </p:sp>
      <p:sp>
        <p:nvSpPr>
          <p:cNvPr id="8" name="Text 6"/>
          <p:cNvSpPr txBox="1"/>
          <p:nvPr/>
        </p:nvSpPr>
        <p:spPr>
          <a:xfrm>
            <a:off x="3654308" y="1783080"/>
            <a:ext cx="1331001"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15h</a:t>
            </a:r>
            <a:endParaRPr lang="en-US" sz="1600" dirty="0"/>
          </a:p>
        </p:txBody>
      </p:sp>
      <p:sp>
        <p:nvSpPr>
          <p:cNvPr id="9" name="Text 7"/>
          <p:cNvSpPr txBox="1"/>
          <p:nvPr/>
        </p:nvSpPr>
        <p:spPr>
          <a:xfrm>
            <a:off x="3700028" y="2651760"/>
            <a:ext cx="1239561" cy="548640"/>
          </a:xfrm>
          <a:prstGeom prst="rect">
            <a:avLst/>
          </a:prstGeom>
          <a:noFill/>
          <a:ln/>
        </p:spPr>
        <p:txBody>
          <a:bodyPr wrap="square" lIns="0" tIns="0" rIns="0" bIns="0" rtlCol="0" anchor="t"/>
          <a:lstStyle/>
          <a:p>
            <a:pPr algn="ctr" indent="0" marL="0">
              <a:buNone/>
            </a:pPr>
            <a:r>
              <a:rPr lang="en-US" sz="1100" dirty="0">
                <a:solidFill>
                  <a:srgbClr val="22205D"/>
                </a:solidFill>
                <a:latin typeface="Arial" pitchFamily="34" charset="0"/>
                <a:ea typeface="Arial" pitchFamily="34" charset="-122"/>
                <a:cs typeface="Arial" pitchFamily="34" charset="-120"/>
              </a:rPr>
              <a:t>Strategy, briefs, reviews, report</a:t>
            </a:r>
            <a:endParaRPr lang="en-US" sz="1100" dirty="0"/>
          </a:p>
        </p:txBody>
      </p:sp>
      <p:sp>
        <p:nvSpPr>
          <p:cNvPr id="10" name="Shape 8"/>
          <p:cNvSpPr/>
          <p:nvPr/>
        </p:nvSpPr>
        <p:spPr>
          <a:xfrm>
            <a:off x="4985309" y="1783080"/>
            <a:ext cx="3549335" cy="822960"/>
          </a:xfrm>
          <a:prstGeom prst="rect">
            <a:avLst/>
          </a:prstGeom>
          <a:solidFill>
            <a:srgbClr val="5CC3AE"/>
          </a:solidFill>
          <a:ln w="19050">
            <a:solidFill>
              <a:srgbClr val="FFFFFF"/>
            </a:solidFill>
            <a:prstDash val="solid"/>
          </a:ln>
        </p:spPr>
      </p:sp>
      <p:sp>
        <p:nvSpPr>
          <p:cNvPr id="11" name="Text 9"/>
          <p:cNvSpPr txBox="1"/>
          <p:nvPr/>
        </p:nvSpPr>
        <p:spPr>
          <a:xfrm>
            <a:off x="4985309" y="1783080"/>
            <a:ext cx="3549335" cy="822960"/>
          </a:xfrm>
          <a:prstGeom prst="rect">
            <a:avLst/>
          </a:prstGeom>
          <a:noFill/>
          <a:ln/>
        </p:spPr>
        <p:txBody>
          <a:bodyPr wrap="square" lIns="0" tIns="0" rIns="0" bIns="0" rtlCol="0" anchor="ctr"/>
          <a:lstStyle/>
          <a:p>
            <a:pPr algn="ctr" indent="0" marL="0">
              <a:buNone/>
            </a:pPr>
            <a:r>
              <a:rPr lang="en-US" sz="1600" b="1" dirty="0">
                <a:solidFill>
                  <a:srgbClr val="22205D"/>
                </a:solidFill>
                <a:latin typeface="Arial" pitchFamily="34" charset="0"/>
                <a:ea typeface="Arial" pitchFamily="34" charset="-122"/>
                <a:cs typeface="Arial" pitchFamily="34" charset="-120"/>
              </a:rPr>
              <a:t>40h</a:t>
            </a:r>
            <a:endParaRPr lang="en-US" sz="1600" dirty="0"/>
          </a:p>
        </p:txBody>
      </p:sp>
      <p:sp>
        <p:nvSpPr>
          <p:cNvPr id="12" name="Text 10"/>
          <p:cNvSpPr txBox="1"/>
          <p:nvPr/>
        </p:nvSpPr>
        <p:spPr>
          <a:xfrm>
            <a:off x="5031029" y="2651760"/>
            <a:ext cx="3457895" cy="548640"/>
          </a:xfrm>
          <a:prstGeom prst="rect">
            <a:avLst/>
          </a:prstGeom>
          <a:noFill/>
          <a:ln/>
        </p:spPr>
        <p:txBody>
          <a:bodyPr wrap="square" lIns="0" tIns="0" rIns="0" bIns="0" rtlCol="0" anchor="t"/>
          <a:lstStyle/>
          <a:p>
            <a:pPr algn="ctr" indent="0" marL="0">
              <a:buNone/>
            </a:pPr>
            <a:r>
              <a:rPr lang="en-US" sz="1100" dirty="0">
                <a:solidFill>
                  <a:srgbClr val="22205D"/>
                </a:solidFill>
                <a:latin typeface="Arial" pitchFamily="34" charset="0"/>
                <a:ea typeface="Arial" pitchFamily="34" charset="-122"/>
                <a:cs typeface="Arial" pitchFamily="34" charset="-120"/>
              </a:rPr>
              <a:t>Publishing, social, coordination</a:t>
            </a:r>
            <a:endParaRPr lang="en-US" sz="1100" dirty="0"/>
          </a:p>
        </p:txBody>
      </p:sp>
      <p:sp>
        <p:nvSpPr>
          <p:cNvPr id="13" name="Shape 11"/>
          <p:cNvSpPr/>
          <p:nvPr/>
        </p:nvSpPr>
        <p:spPr>
          <a:xfrm>
            <a:off x="8534644" y="1783080"/>
            <a:ext cx="2218334" cy="822960"/>
          </a:xfrm>
          <a:prstGeom prst="rect">
            <a:avLst/>
          </a:prstGeom>
          <a:solidFill>
            <a:srgbClr val="50BFE6"/>
          </a:solidFill>
          <a:ln w="19050">
            <a:solidFill>
              <a:srgbClr val="FFFFFF"/>
            </a:solidFill>
            <a:prstDash val="solid"/>
          </a:ln>
        </p:spPr>
      </p:sp>
      <p:sp>
        <p:nvSpPr>
          <p:cNvPr id="14" name="Text 12"/>
          <p:cNvSpPr txBox="1"/>
          <p:nvPr/>
        </p:nvSpPr>
        <p:spPr>
          <a:xfrm>
            <a:off x="8534644" y="1783080"/>
            <a:ext cx="2218334" cy="822960"/>
          </a:xfrm>
          <a:prstGeom prst="rect">
            <a:avLst/>
          </a:prstGeom>
          <a:noFill/>
          <a:ln/>
        </p:spPr>
        <p:txBody>
          <a:bodyPr wrap="square" lIns="0" tIns="0" rIns="0" bIns="0" rtlCol="0" anchor="ctr"/>
          <a:lstStyle/>
          <a:p>
            <a:pPr algn="ctr" indent="0" marL="0">
              <a:buNone/>
            </a:pPr>
            <a:r>
              <a:rPr lang="en-US" sz="1600" b="1" dirty="0">
                <a:solidFill>
                  <a:srgbClr val="22205D"/>
                </a:solidFill>
                <a:latin typeface="Arial" pitchFamily="34" charset="0"/>
                <a:ea typeface="Arial" pitchFamily="34" charset="-122"/>
                <a:cs typeface="Arial" pitchFamily="34" charset="-120"/>
              </a:rPr>
              <a:t>25h</a:t>
            </a:r>
            <a:endParaRPr lang="en-US" sz="1600" dirty="0"/>
          </a:p>
        </p:txBody>
      </p:sp>
      <p:sp>
        <p:nvSpPr>
          <p:cNvPr id="15" name="Text 13"/>
          <p:cNvSpPr txBox="1"/>
          <p:nvPr/>
        </p:nvSpPr>
        <p:spPr>
          <a:xfrm>
            <a:off x="8580364" y="2651760"/>
            <a:ext cx="2126894" cy="548640"/>
          </a:xfrm>
          <a:prstGeom prst="rect">
            <a:avLst/>
          </a:prstGeom>
          <a:noFill/>
          <a:ln/>
        </p:spPr>
        <p:txBody>
          <a:bodyPr wrap="square" lIns="0" tIns="0" rIns="0" bIns="0" rtlCol="0" anchor="t"/>
          <a:lstStyle/>
          <a:p>
            <a:pPr algn="ctr" indent="0" marL="0">
              <a:buNone/>
            </a:pPr>
            <a:r>
              <a:rPr lang="en-US" sz="1100" dirty="0">
                <a:solidFill>
                  <a:srgbClr val="22205D"/>
                </a:solidFill>
                <a:latin typeface="Arial" pitchFamily="34" charset="0"/>
                <a:ea typeface="Arial" pitchFamily="34" charset="-122"/>
                <a:cs typeface="Arial" pitchFamily="34" charset="-120"/>
              </a:rPr>
              <a:t>Urgent + other-team requests</a:t>
            </a:r>
            <a:endParaRPr lang="en-US" sz="1100" dirty="0"/>
          </a:p>
        </p:txBody>
      </p:sp>
      <p:sp>
        <p:nvSpPr>
          <p:cNvPr id="16" name="Shape 14"/>
          <p:cNvSpPr/>
          <p:nvPr/>
        </p:nvSpPr>
        <p:spPr>
          <a:xfrm>
            <a:off x="10752978" y="1783080"/>
            <a:ext cx="887334" cy="822960"/>
          </a:xfrm>
          <a:prstGeom prst="rect">
            <a:avLst/>
          </a:prstGeom>
          <a:solidFill>
            <a:srgbClr val="E6E6E6"/>
          </a:solidFill>
          <a:ln w="19050">
            <a:solidFill>
              <a:srgbClr val="FFFFFF"/>
            </a:solidFill>
            <a:prstDash val="solid"/>
          </a:ln>
        </p:spPr>
      </p:sp>
      <p:sp>
        <p:nvSpPr>
          <p:cNvPr id="17" name="Text 15"/>
          <p:cNvSpPr txBox="1"/>
          <p:nvPr/>
        </p:nvSpPr>
        <p:spPr>
          <a:xfrm>
            <a:off x="10752978" y="1783080"/>
            <a:ext cx="887334" cy="822960"/>
          </a:xfrm>
          <a:prstGeom prst="rect">
            <a:avLst/>
          </a:prstGeom>
          <a:noFill/>
          <a:ln/>
        </p:spPr>
        <p:txBody>
          <a:bodyPr wrap="square" lIns="0" tIns="0" rIns="0" bIns="0" rtlCol="0" anchor="ctr"/>
          <a:lstStyle/>
          <a:p>
            <a:pPr algn="ctr" indent="0" marL="0">
              <a:buNone/>
            </a:pPr>
            <a:r>
              <a:rPr lang="en-US" sz="1600" b="1" dirty="0">
                <a:solidFill>
                  <a:srgbClr val="22205D"/>
                </a:solidFill>
                <a:latin typeface="Arial" pitchFamily="34" charset="0"/>
                <a:ea typeface="Arial" pitchFamily="34" charset="-122"/>
                <a:cs typeface="Arial" pitchFamily="34" charset="-120"/>
              </a:rPr>
              <a:t>10h</a:t>
            </a:r>
            <a:endParaRPr lang="en-US" sz="1600" dirty="0"/>
          </a:p>
        </p:txBody>
      </p:sp>
      <p:sp>
        <p:nvSpPr>
          <p:cNvPr id="18" name="Text 16"/>
          <p:cNvSpPr txBox="1"/>
          <p:nvPr/>
        </p:nvSpPr>
        <p:spPr>
          <a:xfrm>
            <a:off x="10798698" y="2651760"/>
            <a:ext cx="795894" cy="548640"/>
          </a:xfrm>
          <a:prstGeom prst="rect">
            <a:avLst/>
          </a:prstGeom>
          <a:noFill/>
          <a:ln/>
        </p:spPr>
        <p:txBody>
          <a:bodyPr wrap="square" lIns="0" tIns="0" rIns="0" bIns="0" rtlCol="0" anchor="t"/>
          <a:lstStyle/>
          <a:p>
            <a:pPr algn="ctr" indent="0" marL="0">
              <a:buNone/>
            </a:pPr>
            <a:r>
              <a:rPr lang="en-US" sz="1100" dirty="0">
                <a:solidFill>
                  <a:srgbClr val="22205D"/>
                </a:solidFill>
                <a:latin typeface="Arial" pitchFamily="34" charset="0"/>
                <a:ea typeface="Arial" pitchFamily="34" charset="-122"/>
                <a:cs typeface="Arial" pitchFamily="34" charset="-120"/>
              </a:rPr>
              <a:t>Events, HR, video</a:t>
            </a:r>
            <a:endParaRPr lang="en-US" sz="1100" dirty="0"/>
          </a:p>
        </p:txBody>
      </p:sp>
      <p:sp>
        <p:nvSpPr>
          <p:cNvPr id="19" name="Text 17"/>
          <p:cNvSpPr txBox="1"/>
          <p:nvPr/>
        </p:nvSpPr>
        <p:spPr>
          <a:xfrm>
            <a:off x="548640" y="1371600"/>
            <a:ext cx="4436669" cy="347472"/>
          </a:xfrm>
          <a:prstGeom prst="rect">
            <a:avLst/>
          </a:prstGeom>
          <a:noFill/>
          <a:ln/>
        </p:spPr>
        <p:txBody>
          <a:bodyPr wrap="square" lIns="0" tIns="0" rIns="0" bIns="0" rtlCol="0" anchor="ctr"/>
          <a:lstStyle/>
          <a:p>
            <a:pPr algn="ctr" indent="0" marL="0">
              <a:buNone/>
            </a:pPr>
            <a:r>
              <a:rPr lang="en-US" sz="1300" b="1" dirty="0">
                <a:solidFill>
                  <a:srgbClr val="22205D"/>
                </a:solidFill>
                <a:latin typeface="Arial" pitchFamily="34" charset="0"/>
                <a:ea typeface="Arial" pitchFamily="34" charset="-122"/>
                <a:cs typeface="Arial" pitchFamily="34" charset="-120"/>
              </a:rPr>
              <a:t>Sana covers ~50h</a:t>
            </a:r>
            <a:endParaRPr lang="en-US" sz="1300" dirty="0"/>
          </a:p>
        </p:txBody>
      </p:sp>
      <p:sp>
        <p:nvSpPr>
          <p:cNvPr id="20" name="Text 18"/>
          <p:cNvSpPr txBox="1"/>
          <p:nvPr/>
        </p:nvSpPr>
        <p:spPr>
          <a:xfrm>
            <a:off x="4985309" y="1371600"/>
            <a:ext cx="6655003" cy="347472"/>
          </a:xfrm>
          <a:prstGeom prst="rect">
            <a:avLst/>
          </a:prstGeom>
          <a:noFill/>
          <a:ln/>
        </p:spPr>
        <p:txBody>
          <a:bodyPr wrap="square" lIns="0" tIns="0" rIns="0" bIns="0" rtlCol="0" anchor="ctr"/>
          <a:lstStyle/>
          <a:p>
            <a:pPr algn="ctr" indent="0" marL="0">
              <a:buNone/>
            </a:pPr>
            <a:r>
              <a:rPr lang="en-US" sz="1300" b="1" dirty="0">
                <a:solidFill>
                  <a:srgbClr val="22205D"/>
                </a:solidFill>
                <a:latin typeface="Arial" pitchFamily="34" charset="0"/>
                <a:ea typeface="Arial" pitchFamily="34" charset="-122"/>
                <a:cs typeface="Arial" pitchFamily="34" charset="-120"/>
              </a:rPr>
              <a:t>Not covered: ~75h a month</a:t>
            </a:r>
            <a:endParaRPr lang="en-US" sz="1300" dirty="0"/>
          </a:p>
        </p:txBody>
      </p:sp>
      <p:sp>
        <p:nvSpPr>
          <p:cNvPr id="21" name="Shape 19"/>
          <p:cNvSpPr/>
          <p:nvPr/>
        </p:nvSpPr>
        <p:spPr>
          <a:xfrm>
            <a:off x="548640" y="3429000"/>
            <a:ext cx="3514344" cy="2103120"/>
          </a:xfrm>
          <a:prstGeom prst="roundRect">
            <a:avLst>
              <a:gd name="adj" fmla="val 3478"/>
            </a:avLst>
          </a:prstGeom>
          <a:solidFill>
            <a:srgbClr val="FFFFFF"/>
          </a:solidFill>
          <a:ln w="9525">
            <a:solidFill>
              <a:srgbClr val="E6E6E6"/>
            </a:solidFill>
            <a:prstDash val="solid"/>
          </a:ln>
        </p:spPr>
      </p:sp>
      <p:sp>
        <p:nvSpPr>
          <p:cNvPr id="22" name="Shape 20"/>
          <p:cNvSpPr/>
          <p:nvPr/>
        </p:nvSpPr>
        <p:spPr>
          <a:xfrm>
            <a:off x="777240" y="3657600"/>
            <a:ext cx="384048" cy="384048"/>
          </a:xfrm>
          <a:prstGeom prst="ellipse">
            <a:avLst/>
          </a:prstGeom>
          <a:solidFill>
            <a:srgbClr val="5CC3AE"/>
          </a:solidFill>
          <a:ln w="12700">
            <a:solidFill>
              <a:srgbClr val="5CC3AE"/>
            </a:solidFill>
            <a:prstDash val="solid"/>
          </a:ln>
        </p:spPr>
      </p:sp>
      <p:sp>
        <p:nvSpPr>
          <p:cNvPr id="23" name="Text 21"/>
          <p:cNvSpPr txBox="1"/>
          <p:nvPr/>
        </p:nvSpPr>
        <p:spPr>
          <a:xfrm>
            <a:off x="777240" y="3657600"/>
            <a:ext cx="384048" cy="384048"/>
          </a:xfrm>
          <a:prstGeom prst="rect">
            <a:avLst/>
          </a:prstGeom>
          <a:noFill/>
          <a:ln/>
        </p:spPr>
        <p:txBody>
          <a:bodyPr wrap="square" lIns="0" tIns="0" rIns="0" bIns="0" rtlCol="0" anchor="ctr"/>
          <a:lstStyle/>
          <a:p>
            <a:pPr algn="ctr" indent="0" marL="0">
              <a:buNone/>
            </a:pPr>
            <a:r>
              <a:rPr lang="en-US" sz="1400" b="1" dirty="0">
                <a:solidFill>
                  <a:srgbClr val="22205D"/>
                </a:solidFill>
                <a:latin typeface="Arial" pitchFamily="34" charset="0"/>
                <a:ea typeface="Arial" pitchFamily="34" charset="-122"/>
                <a:cs typeface="Arial" pitchFamily="34" charset="-120"/>
              </a:rPr>
              <a:t>A</a:t>
            </a:r>
            <a:endParaRPr lang="en-US" sz="1400" dirty="0"/>
          </a:p>
        </p:txBody>
      </p:sp>
      <p:sp>
        <p:nvSpPr>
          <p:cNvPr id="24" name="Text 22"/>
          <p:cNvSpPr txBox="1"/>
          <p:nvPr/>
        </p:nvSpPr>
        <p:spPr>
          <a:xfrm>
            <a:off x="1280160" y="3611880"/>
            <a:ext cx="2599944" cy="502920"/>
          </a:xfrm>
          <a:prstGeom prst="rect">
            <a:avLst/>
          </a:prstGeom>
          <a:noFill/>
          <a:ln/>
        </p:spPr>
        <p:txBody>
          <a:bodyPr wrap="square" lIns="0" tIns="0" rIns="0" bIns="0" rtlCol="0" anchor="ctr"/>
          <a:lstStyle/>
          <a:p>
            <a:pPr indent="0" marL="0">
              <a:buNone/>
            </a:pPr>
            <a:r>
              <a:rPr lang="en-US" sz="1400" b="1" dirty="0">
                <a:solidFill>
                  <a:srgbClr val="22205D"/>
                </a:solidFill>
                <a:latin typeface="Arial" pitchFamily="34" charset="0"/>
                <a:ea typeface="Arial" pitchFamily="34" charset="-122"/>
                <a:cs typeface="Arial" pitchFamily="34" charset="-120"/>
              </a:rPr>
              <a:t>Full-time Marketing Executive</a:t>
            </a:r>
            <a:endParaRPr lang="en-US" sz="1400" dirty="0"/>
          </a:p>
        </p:txBody>
      </p:sp>
      <p:sp>
        <p:nvSpPr>
          <p:cNvPr id="25" name="Text 23"/>
          <p:cNvSpPr txBox="1"/>
          <p:nvPr/>
        </p:nvSpPr>
        <p:spPr>
          <a:xfrm>
            <a:off x="1280160" y="4114800"/>
            <a:ext cx="2599944" cy="274320"/>
          </a:xfrm>
          <a:prstGeom prst="rect">
            <a:avLst/>
          </a:prstGeom>
          <a:noFill/>
          <a:ln/>
        </p:spPr>
        <p:txBody>
          <a:bodyPr wrap="square" lIns="0" tIns="0" rIns="0" bIns="0" rtlCol="0" anchor="ctr"/>
          <a:lstStyle/>
          <a:p>
            <a:pPr indent="0" marL="0">
              <a:buNone/>
            </a:pPr>
            <a:r>
              <a:rPr lang="en-US" sz="1000" b="1" spc="200" kern="0" dirty="0">
                <a:solidFill>
                  <a:srgbClr val="0061F6"/>
                </a:solidFill>
                <a:latin typeface="Arial" pitchFamily="34" charset="0"/>
                <a:ea typeface="Arial" pitchFamily="34" charset="-122"/>
                <a:cs typeface="Arial" pitchFamily="34" charset="-120"/>
              </a:rPr>
              <a:t>RECOMMENDED</a:t>
            </a:r>
            <a:endParaRPr lang="en-US" sz="1000" dirty="0"/>
          </a:p>
        </p:txBody>
      </p:sp>
      <p:sp>
        <p:nvSpPr>
          <p:cNvPr id="26" name="Text 24"/>
          <p:cNvSpPr txBox="1"/>
          <p:nvPr/>
        </p:nvSpPr>
        <p:spPr>
          <a:xfrm>
            <a:off x="777240" y="4480560"/>
            <a:ext cx="3057144" cy="1463040"/>
          </a:xfrm>
          <a:prstGeom prst="rect">
            <a:avLst/>
          </a:prstGeom>
          <a:noFill/>
          <a:ln/>
        </p:spPr>
        <p:txBody>
          <a:bodyPr wrap="square" lIns="0" tIns="0" rIns="0" bIns="0" rtlCol="0" anchor="t"/>
          <a:lstStyle/>
          <a:p>
            <a:pPr indent="0" marL="0">
              <a:buNone/>
            </a:pPr>
            <a:r>
              <a:rPr lang="en-US" sz="1300" dirty="0">
                <a:solidFill>
                  <a:srgbClr val="22205D"/>
                </a:solidFill>
                <a:latin typeface="Arial" pitchFamily="34" charset="0"/>
                <a:ea typeface="Arial" pitchFamily="34" charset="-122"/>
                <a:cs typeface="Arial" pitchFamily="34" charset="-120"/>
              </a:rPr>
              <a:t>Covers execution and urgent requests. Full plan delivered.</a:t>
            </a:r>
            <a:endParaRPr lang="en-US" sz="1300" dirty="0"/>
          </a:p>
        </p:txBody>
      </p:sp>
      <p:sp>
        <p:nvSpPr>
          <p:cNvPr id="27" name="Shape 25"/>
          <p:cNvSpPr/>
          <p:nvPr/>
        </p:nvSpPr>
        <p:spPr>
          <a:xfrm>
            <a:off x="4337304" y="3429000"/>
            <a:ext cx="3514344" cy="2103120"/>
          </a:xfrm>
          <a:prstGeom prst="roundRect">
            <a:avLst>
              <a:gd name="adj" fmla="val 3478"/>
            </a:avLst>
          </a:prstGeom>
          <a:solidFill>
            <a:srgbClr val="FFFFFF"/>
          </a:solidFill>
          <a:ln w="9525">
            <a:solidFill>
              <a:srgbClr val="E6E6E6"/>
            </a:solidFill>
            <a:prstDash val="solid"/>
          </a:ln>
        </p:spPr>
      </p:sp>
      <p:sp>
        <p:nvSpPr>
          <p:cNvPr id="28" name="Shape 26"/>
          <p:cNvSpPr/>
          <p:nvPr/>
        </p:nvSpPr>
        <p:spPr>
          <a:xfrm>
            <a:off x="4565904" y="3657600"/>
            <a:ext cx="384048" cy="384048"/>
          </a:xfrm>
          <a:prstGeom prst="ellipse">
            <a:avLst/>
          </a:prstGeom>
          <a:solidFill>
            <a:srgbClr val="50BFE6"/>
          </a:solidFill>
          <a:ln w="12700">
            <a:solidFill>
              <a:srgbClr val="50BFE6"/>
            </a:solidFill>
            <a:prstDash val="solid"/>
          </a:ln>
        </p:spPr>
      </p:sp>
      <p:sp>
        <p:nvSpPr>
          <p:cNvPr id="29" name="Text 27"/>
          <p:cNvSpPr txBox="1"/>
          <p:nvPr/>
        </p:nvSpPr>
        <p:spPr>
          <a:xfrm>
            <a:off x="4565904" y="3657600"/>
            <a:ext cx="384048" cy="384048"/>
          </a:xfrm>
          <a:prstGeom prst="rect">
            <a:avLst/>
          </a:prstGeom>
          <a:noFill/>
          <a:ln/>
        </p:spPr>
        <p:txBody>
          <a:bodyPr wrap="square" lIns="0" tIns="0" rIns="0" bIns="0" rtlCol="0" anchor="ctr"/>
          <a:lstStyle/>
          <a:p>
            <a:pPr algn="ctr" indent="0" marL="0">
              <a:buNone/>
            </a:pPr>
            <a:r>
              <a:rPr lang="en-US" sz="1400" b="1" dirty="0">
                <a:solidFill>
                  <a:srgbClr val="22205D"/>
                </a:solidFill>
                <a:latin typeface="Arial" pitchFamily="34" charset="0"/>
                <a:ea typeface="Arial" pitchFamily="34" charset="-122"/>
                <a:cs typeface="Arial" pitchFamily="34" charset="-120"/>
              </a:rPr>
              <a:t>B</a:t>
            </a:r>
            <a:endParaRPr lang="en-US" sz="1400" dirty="0"/>
          </a:p>
        </p:txBody>
      </p:sp>
      <p:sp>
        <p:nvSpPr>
          <p:cNvPr id="30" name="Text 28"/>
          <p:cNvSpPr txBox="1"/>
          <p:nvPr/>
        </p:nvSpPr>
        <p:spPr>
          <a:xfrm>
            <a:off x="5068824" y="3611880"/>
            <a:ext cx="2599944" cy="502920"/>
          </a:xfrm>
          <a:prstGeom prst="rect">
            <a:avLst/>
          </a:prstGeom>
          <a:noFill/>
          <a:ln/>
        </p:spPr>
        <p:txBody>
          <a:bodyPr wrap="square" lIns="0" tIns="0" rIns="0" bIns="0" rtlCol="0" anchor="ctr"/>
          <a:lstStyle/>
          <a:p>
            <a:pPr indent="0" marL="0">
              <a:buNone/>
            </a:pPr>
            <a:r>
              <a:rPr lang="en-US" sz="1400" b="1" dirty="0">
                <a:solidFill>
                  <a:srgbClr val="22205D"/>
                </a:solidFill>
                <a:latin typeface="Arial" pitchFamily="34" charset="0"/>
                <a:ea typeface="Arial" pitchFamily="34" charset="-122"/>
                <a:cs typeface="Arial" pitchFamily="34" charset="-120"/>
              </a:rPr>
              <a:t>Part-time or intern (~80h a month)</a:t>
            </a:r>
            <a:endParaRPr lang="en-US" sz="1400" dirty="0"/>
          </a:p>
        </p:txBody>
      </p:sp>
      <p:sp>
        <p:nvSpPr>
          <p:cNvPr id="31" name="Text 29"/>
          <p:cNvSpPr txBox="1"/>
          <p:nvPr/>
        </p:nvSpPr>
        <p:spPr>
          <a:xfrm>
            <a:off x="4565904" y="4480560"/>
            <a:ext cx="3057144" cy="1463040"/>
          </a:xfrm>
          <a:prstGeom prst="rect">
            <a:avLst/>
          </a:prstGeom>
          <a:noFill/>
          <a:ln/>
        </p:spPr>
        <p:txBody>
          <a:bodyPr wrap="square" lIns="0" tIns="0" rIns="0" bIns="0" rtlCol="0" anchor="t"/>
          <a:lstStyle/>
          <a:p>
            <a:pPr indent="0" marL="0">
              <a:buNone/>
            </a:pPr>
            <a:r>
              <a:rPr lang="en-US" sz="1300" dirty="0">
                <a:solidFill>
                  <a:srgbClr val="22205D"/>
                </a:solidFill>
                <a:latin typeface="Arial" pitchFamily="34" charset="0"/>
                <a:ea typeface="Arial" pitchFamily="34" charset="-122"/>
                <a:cs typeface="Arial" pitchFamily="34" charset="-120"/>
              </a:rPr>
              <a:t>Covers execution. Slower on urgent requests.</a:t>
            </a:r>
            <a:endParaRPr lang="en-US" sz="1300" dirty="0"/>
          </a:p>
        </p:txBody>
      </p:sp>
      <p:sp>
        <p:nvSpPr>
          <p:cNvPr id="32" name="Shape 30"/>
          <p:cNvSpPr/>
          <p:nvPr/>
        </p:nvSpPr>
        <p:spPr>
          <a:xfrm>
            <a:off x="8125968" y="3429000"/>
            <a:ext cx="3514344" cy="2103120"/>
          </a:xfrm>
          <a:prstGeom prst="roundRect">
            <a:avLst>
              <a:gd name="adj" fmla="val 3478"/>
            </a:avLst>
          </a:prstGeom>
          <a:solidFill>
            <a:srgbClr val="FFFFFF"/>
          </a:solidFill>
          <a:ln w="9525">
            <a:solidFill>
              <a:srgbClr val="E6E6E6"/>
            </a:solidFill>
            <a:prstDash val="solid"/>
          </a:ln>
        </p:spPr>
      </p:sp>
      <p:sp>
        <p:nvSpPr>
          <p:cNvPr id="33" name="Shape 31"/>
          <p:cNvSpPr/>
          <p:nvPr/>
        </p:nvSpPr>
        <p:spPr>
          <a:xfrm>
            <a:off x="8354568" y="3657600"/>
            <a:ext cx="384048" cy="384048"/>
          </a:xfrm>
          <a:prstGeom prst="ellipse">
            <a:avLst/>
          </a:prstGeom>
          <a:solidFill>
            <a:srgbClr val="E6E6E6"/>
          </a:solidFill>
          <a:ln w="12700">
            <a:solidFill>
              <a:srgbClr val="E6E6E6"/>
            </a:solidFill>
            <a:prstDash val="solid"/>
          </a:ln>
        </p:spPr>
      </p:sp>
      <p:sp>
        <p:nvSpPr>
          <p:cNvPr id="34" name="Text 32"/>
          <p:cNvSpPr txBox="1"/>
          <p:nvPr/>
        </p:nvSpPr>
        <p:spPr>
          <a:xfrm>
            <a:off x="8354568" y="3657600"/>
            <a:ext cx="384048" cy="384048"/>
          </a:xfrm>
          <a:prstGeom prst="rect">
            <a:avLst/>
          </a:prstGeom>
          <a:noFill/>
          <a:ln/>
        </p:spPr>
        <p:txBody>
          <a:bodyPr wrap="square" lIns="0" tIns="0" rIns="0" bIns="0" rtlCol="0" anchor="ctr"/>
          <a:lstStyle/>
          <a:p>
            <a:pPr algn="ctr" indent="0" marL="0">
              <a:buNone/>
            </a:pPr>
            <a:r>
              <a:rPr lang="en-US" sz="1400" b="1" dirty="0">
                <a:solidFill>
                  <a:srgbClr val="22205D"/>
                </a:solidFill>
                <a:latin typeface="Arial" pitchFamily="34" charset="0"/>
                <a:ea typeface="Arial" pitchFamily="34" charset="-122"/>
                <a:cs typeface="Arial" pitchFamily="34" charset="-120"/>
              </a:rPr>
              <a:t>C</a:t>
            </a:r>
            <a:endParaRPr lang="en-US" sz="1400" dirty="0"/>
          </a:p>
        </p:txBody>
      </p:sp>
      <p:sp>
        <p:nvSpPr>
          <p:cNvPr id="35" name="Text 33"/>
          <p:cNvSpPr txBox="1"/>
          <p:nvPr/>
        </p:nvSpPr>
        <p:spPr>
          <a:xfrm>
            <a:off x="8857488" y="3611880"/>
            <a:ext cx="2599944" cy="502920"/>
          </a:xfrm>
          <a:prstGeom prst="rect">
            <a:avLst/>
          </a:prstGeom>
          <a:noFill/>
          <a:ln/>
        </p:spPr>
        <p:txBody>
          <a:bodyPr wrap="square" lIns="0" tIns="0" rIns="0" bIns="0" rtlCol="0" anchor="ctr"/>
          <a:lstStyle/>
          <a:p>
            <a:pPr indent="0" marL="0">
              <a:buNone/>
            </a:pPr>
            <a:r>
              <a:rPr lang="en-US" sz="1400" b="1" dirty="0">
                <a:solidFill>
                  <a:srgbClr val="22205D"/>
                </a:solidFill>
                <a:latin typeface="Arial" pitchFamily="34" charset="0"/>
                <a:ea typeface="Arial" pitchFamily="34" charset="-122"/>
                <a:cs typeface="Arial" pitchFamily="34" charset="-120"/>
              </a:rPr>
              <a:t>No new resource</a:t>
            </a:r>
            <a:endParaRPr lang="en-US" sz="1400" dirty="0"/>
          </a:p>
        </p:txBody>
      </p:sp>
      <p:sp>
        <p:nvSpPr>
          <p:cNvPr id="36" name="Text 34"/>
          <p:cNvSpPr txBox="1"/>
          <p:nvPr/>
        </p:nvSpPr>
        <p:spPr>
          <a:xfrm>
            <a:off x="8354568" y="4480560"/>
            <a:ext cx="3057144" cy="1463040"/>
          </a:xfrm>
          <a:prstGeom prst="rect">
            <a:avLst/>
          </a:prstGeom>
          <a:noFill/>
          <a:ln/>
        </p:spPr>
        <p:txBody>
          <a:bodyPr wrap="square" lIns="0" tIns="0" rIns="0" bIns="0" rtlCol="0" anchor="t"/>
          <a:lstStyle/>
          <a:p>
            <a:pPr indent="0" marL="0">
              <a:buNone/>
            </a:pPr>
            <a:r>
              <a:rPr lang="en-US" sz="1300" dirty="0">
                <a:solidFill>
                  <a:srgbClr val="22205D"/>
                </a:solidFill>
                <a:latin typeface="Arial" pitchFamily="34" charset="0"/>
                <a:ea typeface="Arial" pitchFamily="34" charset="-122"/>
                <a:cs typeface="Arial" pitchFamily="34" charset="-120"/>
              </a:rPr>
              <a:t>Strategy, content, SEO and website releases continue. Social posting, urgent and other-team requests, and event support stop.</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2205D"/>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Decisions needed today</a:t>
            </a:r>
            <a:endParaRPr lang="en-US" sz="3400" dirty="0"/>
          </a:p>
        </p:txBody>
      </p:sp>
      <p:sp>
        <p:nvSpPr>
          <p:cNvPr id="3" name="Shape 1"/>
          <p:cNvSpPr/>
          <p:nvPr/>
        </p:nvSpPr>
        <p:spPr>
          <a:xfrm>
            <a:off x="548640" y="1536192"/>
            <a:ext cx="384048" cy="384048"/>
          </a:xfrm>
          <a:prstGeom prst="ellipse">
            <a:avLst/>
          </a:prstGeom>
          <a:solidFill>
            <a:srgbClr val="5CC3AE"/>
          </a:solidFill>
          <a:ln w="12700">
            <a:solidFill>
              <a:srgbClr val="5CC3AE"/>
            </a:solidFill>
            <a:prstDash val="solid"/>
          </a:ln>
        </p:spPr>
      </p:sp>
      <p:sp>
        <p:nvSpPr>
          <p:cNvPr id="4" name="Text 2"/>
          <p:cNvSpPr txBox="1"/>
          <p:nvPr/>
        </p:nvSpPr>
        <p:spPr>
          <a:xfrm>
            <a:off x="548640" y="1536192"/>
            <a:ext cx="384048" cy="384048"/>
          </a:xfrm>
          <a:prstGeom prst="rect">
            <a:avLst/>
          </a:prstGeom>
          <a:noFill/>
          <a:ln/>
        </p:spPr>
        <p:txBody>
          <a:bodyPr wrap="square" lIns="0" tIns="0" rIns="0" bIns="0" rtlCol="0" anchor="ctr"/>
          <a:lstStyle/>
          <a:p>
            <a:pPr algn="ctr" indent="0" marL="0">
              <a:buNone/>
            </a:pPr>
            <a:r>
              <a:rPr lang="en-US" sz="1400" b="1" dirty="0">
                <a:solidFill>
                  <a:srgbClr val="22205D"/>
                </a:solidFill>
                <a:latin typeface="Arial" pitchFamily="34" charset="0"/>
                <a:ea typeface="Arial" pitchFamily="34" charset="-122"/>
                <a:cs typeface="Arial" pitchFamily="34" charset="-120"/>
              </a:rPr>
              <a:t>1</a:t>
            </a:r>
            <a:endParaRPr lang="en-US" sz="1400" dirty="0"/>
          </a:p>
        </p:txBody>
      </p:sp>
      <p:sp>
        <p:nvSpPr>
          <p:cNvPr id="5" name="Text 3"/>
          <p:cNvSpPr txBox="1"/>
          <p:nvPr/>
        </p:nvSpPr>
        <p:spPr>
          <a:xfrm>
            <a:off x="1188720" y="1463040"/>
            <a:ext cx="10451592" cy="54864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Approve the HR brand video</a:t>
            </a:r>
            <a:endParaRPr lang="en-US" sz="1800" dirty="0"/>
          </a:p>
        </p:txBody>
      </p:sp>
      <p:sp>
        <p:nvSpPr>
          <p:cNvPr id="6" name="Shape 4"/>
          <p:cNvSpPr/>
          <p:nvPr/>
        </p:nvSpPr>
        <p:spPr>
          <a:xfrm>
            <a:off x="548640" y="2313432"/>
            <a:ext cx="384048" cy="384048"/>
          </a:xfrm>
          <a:prstGeom prst="ellipse">
            <a:avLst/>
          </a:prstGeom>
          <a:solidFill>
            <a:srgbClr val="5CC3AE"/>
          </a:solidFill>
          <a:ln w="12700">
            <a:solidFill>
              <a:srgbClr val="5CC3AE"/>
            </a:solidFill>
            <a:prstDash val="solid"/>
          </a:ln>
        </p:spPr>
      </p:sp>
      <p:sp>
        <p:nvSpPr>
          <p:cNvPr id="7" name="Text 5"/>
          <p:cNvSpPr txBox="1"/>
          <p:nvPr/>
        </p:nvSpPr>
        <p:spPr>
          <a:xfrm>
            <a:off x="548640" y="2313432"/>
            <a:ext cx="384048" cy="384048"/>
          </a:xfrm>
          <a:prstGeom prst="rect">
            <a:avLst/>
          </a:prstGeom>
          <a:noFill/>
          <a:ln/>
        </p:spPr>
        <p:txBody>
          <a:bodyPr wrap="square" lIns="0" tIns="0" rIns="0" bIns="0" rtlCol="0" anchor="ctr"/>
          <a:lstStyle/>
          <a:p>
            <a:pPr algn="ctr" indent="0" marL="0">
              <a:buNone/>
            </a:pPr>
            <a:r>
              <a:rPr lang="en-US" sz="1400" b="1" dirty="0">
                <a:solidFill>
                  <a:srgbClr val="22205D"/>
                </a:solidFill>
                <a:latin typeface="Arial" pitchFamily="34" charset="0"/>
                <a:ea typeface="Arial" pitchFamily="34" charset="-122"/>
                <a:cs typeface="Arial" pitchFamily="34" charset="-120"/>
              </a:rPr>
              <a:t>2</a:t>
            </a:r>
            <a:endParaRPr lang="en-US" sz="1400" dirty="0"/>
          </a:p>
        </p:txBody>
      </p:sp>
      <p:sp>
        <p:nvSpPr>
          <p:cNvPr id="8" name="Text 6"/>
          <p:cNvSpPr txBox="1"/>
          <p:nvPr/>
        </p:nvSpPr>
        <p:spPr>
          <a:xfrm>
            <a:off x="1188720" y="2240280"/>
            <a:ext cx="10451592" cy="54864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Resource: option A, B or C</a:t>
            </a:r>
            <a:endParaRPr lang="en-US" sz="1800" dirty="0"/>
          </a:p>
        </p:txBody>
      </p:sp>
      <p:sp>
        <p:nvSpPr>
          <p:cNvPr id="9" name="Shape 7"/>
          <p:cNvSpPr/>
          <p:nvPr/>
        </p:nvSpPr>
        <p:spPr>
          <a:xfrm>
            <a:off x="548640" y="3090672"/>
            <a:ext cx="384048" cy="384048"/>
          </a:xfrm>
          <a:prstGeom prst="ellipse">
            <a:avLst/>
          </a:prstGeom>
          <a:solidFill>
            <a:srgbClr val="5CC3AE"/>
          </a:solidFill>
          <a:ln w="12700">
            <a:solidFill>
              <a:srgbClr val="5CC3AE"/>
            </a:solidFill>
            <a:prstDash val="solid"/>
          </a:ln>
        </p:spPr>
      </p:sp>
      <p:sp>
        <p:nvSpPr>
          <p:cNvPr id="10" name="Text 8"/>
          <p:cNvSpPr txBox="1"/>
          <p:nvPr/>
        </p:nvSpPr>
        <p:spPr>
          <a:xfrm>
            <a:off x="548640" y="3090672"/>
            <a:ext cx="384048" cy="384048"/>
          </a:xfrm>
          <a:prstGeom prst="rect">
            <a:avLst/>
          </a:prstGeom>
          <a:noFill/>
          <a:ln/>
        </p:spPr>
        <p:txBody>
          <a:bodyPr wrap="square" lIns="0" tIns="0" rIns="0" bIns="0" rtlCol="0" anchor="ctr"/>
          <a:lstStyle/>
          <a:p>
            <a:pPr algn="ctr" indent="0" marL="0">
              <a:buNone/>
            </a:pPr>
            <a:r>
              <a:rPr lang="en-US" sz="1400" b="1" dirty="0">
                <a:solidFill>
                  <a:srgbClr val="22205D"/>
                </a:solidFill>
                <a:latin typeface="Arial" pitchFamily="34" charset="0"/>
                <a:ea typeface="Arial" pitchFamily="34" charset="-122"/>
                <a:cs typeface="Arial" pitchFamily="34" charset="-120"/>
              </a:rPr>
              <a:t>3</a:t>
            </a:r>
            <a:endParaRPr lang="en-US" sz="1400" dirty="0"/>
          </a:p>
        </p:txBody>
      </p:sp>
      <p:sp>
        <p:nvSpPr>
          <p:cNvPr id="11" name="Text 9"/>
          <p:cNvSpPr txBox="1"/>
          <p:nvPr/>
        </p:nvSpPr>
        <p:spPr>
          <a:xfrm>
            <a:off x="1188720" y="3017520"/>
            <a:ext cx="10451592" cy="54864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Production dev time for Release 1 (October) and Release 2 (November)</a:t>
            </a:r>
            <a:endParaRPr lang="en-US" sz="1800" dirty="0"/>
          </a:p>
        </p:txBody>
      </p:sp>
      <p:sp>
        <p:nvSpPr>
          <p:cNvPr id="12" name="Shape 10"/>
          <p:cNvSpPr/>
          <p:nvPr/>
        </p:nvSpPr>
        <p:spPr>
          <a:xfrm>
            <a:off x="548640" y="3867912"/>
            <a:ext cx="384048" cy="384048"/>
          </a:xfrm>
          <a:prstGeom prst="ellipse">
            <a:avLst/>
          </a:prstGeom>
          <a:solidFill>
            <a:srgbClr val="5CC3AE"/>
          </a:solidFill>
          <a:ln w="12700">
            <a:solidFill>
              <a:srgbClr val="5CC3AE"/>
            </a:solidFill>
            <a:prstDash val="solid"/>
          </a:ln>
        </p:spPr>
      </p:sp>
      <p:sp>
        <p:nvSpPr>
          <p:cNvPr id="13" name="Text 11"/>
          <p:cNvSpPr txBox="1"/>
          <p:nvPr/>
        </p:nvSpPr>
        <p:spPr>
          <a:xfrm>
            <a:off x="548640" y="3867912"/>
            <a:ext cx="384048" cy="384048"/>
          </a:xfrm>
          <a:prstGeom prst="rect">
            <a:avLst/>
          </a:prstGeom>
          <a:noFill/>
          <a:ln/>
        </p:spPr>
        <p:txBody>
          <a:bodyPr wrap="square" lIns="0" tIns="0" rIns="0" bIns="0" rtlCol="0" anchor="ctr"/>
          <a:lstStyle/>
          <a:p>
            <a:pPr algn="ctr" indent="0" marL="0">
              <a:buNone/>
            </a:pPr>
            <a:r>
              <a:rPr lang="en-US" sz="1400" b="1" dirty="0">
                <a:solidFill>
                  <a:srgbClr val="22205D"/>
                </a:solidFill>
                <a:latin typeface="Arial" pitchFamily="34" charset="0"/>
                <a:ea typeface="Arial" pitchFamily="34" charset="-122"/>
                <a:cs typeface="Arial" pitchFamily="34" charset="-120"/>
              </a:rPr>
              <a:t>4</a:t>
            </a:r>
            <a:endParaRPr lang="en-US" sz="1400" dirty="0"/>
          </a:p>
        </p:txBody>
      </p:sp>
      <p:sp>
        <p:nvSpPr>
          <p:cNvPr id="14" name="Text 12"/>
          <p:cNvSpPr txBox="1"/>
          <p:nvPr/>
        </p:nvSpPr>
        <p:spPr>
          <a:xfrm>
            <a:off x="1188720" y="3794760"/>
            <a:ext cx="10451592" cy="54864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Client naming in decks vs on the website: HBL, MAF, Kayali / Huda Beauty, Harmony Gold</a:t>
            </a:r>
            <a:endParaRPr lang="en-US" sz="1800" dirty="0"/>
          </a:p>
        </p:txBody>
      </p:sp>
      <p:sp>
        <p:nvSpPr>
          <p:cNvPr id="15" name="Shape 13"/>
          <p:cNvSpPr/>
          <p:nvPr/>
        </p:nvSpPr>
        <p:spPr>
          <a:xfrm>
            <a:off x="548640" y="4645152"/>
            <a:ext cx="384048" cy="384048"/>
          </a:xfrm>
          <a:prstGeom prst="ellipse">
            <a:avLst/>
          </a:prstGeom>
          <a:solidFill>
            <a:srgbClr val="5CC3AE"/>
          </a:solidFill>
          <a:ln w="12700">
            <a:solidFill>
              <a:srgbClr val="5CC3AE"/>
            </a:solidFill>
            <a:prstDash val="solid"/>
          </a:ln>
        </p:spPr>
      </p:sp>
      <p:sp>
        <p:nvSpPr>
          <p:cNvPr id="16" name="Text 14"/>
          <p:cNvSpPr txBox="1"/>
          <p:nvPr/>
        </p:nvSpPr>
        <p:spPr>
          <a:xfrm>
            <a:off x="548640" y="4645152"/>
            <a:ext cx="384048" cy="384048"/>
          </a:xfrm>
          <a:prstGeom prst="rect">
            <a:avLst/>
          </a:prstGeom>
          <a:noFill/>
          <a:ln/>
        </p:spPr>
        <p:txBody>
          <a:bodyPr wrap="square" lIns="0" tIns="0" rIns="0" bIns="0" rtlCol="0" anchor="ctr"/>
          <a:lstStyle/>
          <a:p>
            <a:pPr algn="ctr" indent="0" marL="0">
              <a:buNone/>
            </a:pPr>
            <a:r>
              <a:rPr lang="en-US" sz="1400" b="1" dirty="0">
                <a:solidFill>
                  <a:srgbClr val="22205D"/>
                </a:solidFill>
                <a:latin typeface="Arial" pitchFamily="34" charset="0"/>
                <a:ea typeface="Arial" pitchFamily="34" charset="-122"/>
                <a:cs typeface="Arial" pitchFamily="34" charset="-120"/>
              </a:rPr>
              <a:t>5</a:t>
            </a:r>
            <a:endParaRPr lang="en-US" sz="1400" dirty="0"/>
          </a:p>
        </p:txBody>
      </p:sp>
      <p:sp>
        <p:nvSpPr>
          <p:cNvPr id="17" name="Text 15"/>
          <p:cNvSpPr txBox="1"/>
          <p:nvPr/>
        </p:nvSpPr>
        <p:spPr>
          <a:xfrm>
            <a:off x="1188720" y="4572000"/>
            <a:ext cx="10451592" cy="54864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Request rule: 2 working days' notice for content. Design-only goes straight to Omais</a:t>
            </a:r>
            <a:endParaRPr lang="en-US" sz="1800" dirty="0"/>
          </a:p>
        </p:txBody>
      </p:sp>
      <p:sp>
        <p:nvSpPr>
          <p:cNvPr id="18" name="Shape 16"/>
          <p:cNvSpPr/>
          <p:nvPr/>
        </p:nvSpPr>
        <p:spPr>
          <a:xfrm>
            <a:off x="548640" y="5422392"/>
            <a:ext cx="384048" cy="384048"/>
          </a:xfrm>
          <a:prstGeom prst="ellipse">
            <a:avLst/>
          </a:prstGeom>
          <a:solidFill>
            <a:srgbClr val="5CC3AE"/>
          </a:solidFill>
          <a:ln w="12700">
            <a:solidFill>
              <a:srgbClr val="5CC3AE"/>
            </a:solidFill>
            <a:prstDash val="solid"/>
          </a:ln>
        </p:spPr>
      </p:sp>
      <p:sp>
        <p:nvSpPr>
          <p:cNvPr id="19" name="Text 17"/>
          <p:cNvSpPr txBox="1"/>
          <p:nvPr/>
        </p:nvSpPr>
        <p:spPr>
          <a:xfrm>
            <a:off x="548640" y="5422392"/>
            <a:ext cx="384048" cy="384048"/>
          </a:xfrm>
          <a:prstGeom prst="rect">
            <a:avLst/>
          </a:prstGeom>
          <a:noFill/>
          <a:ln/>
        </p:spPr>
        <p:txBody>
          <a:bodyPr wrap="square" lIns="0" tIns="0" rIns="0" bIns="0" rtlCol="0" anchor="ctr"/>
          <a:lstStyle/>
          <a:p>
            <a:pPr algn="ctr" indent="0" marL="0">
              <a:buNone/>
            </a:pPr>
            <a:r>
              <a:rPr lang="en-US" sz="1400" b="1" dirty="0">
                <a:solidFill>
                  <a:srgbClr val="22205D"/>
                </a:solidFill>
                <a:latin typeface="Arial" pitchFamily="34" charset="0"/>
                <a:ea typeface="Arial" pitchFamily="34" charset="-122"/>
                <a:cs typeface="Arial" pitchFamily="34" charset="-120"/>
              </a:rPr>
              <a:t>6</a:t>
            </a:r>
            <a:endParaRPr lang="en-US" sz="1400" dirty="0"/>
          </a:p>
        </p:txBody>
      </p:sp>
      <p:sp>
        <p:nvSpPr>
          <p:cNvPr id="20" name="Text 18"/>
          <p:cNvSpPr txBox="1"/>
          <p:nvPr/>
        </p:nvSpPr>
        <p:spPr>
          <a:xfrm>
            <a:off x="1188720" y="5349240"/>
            <a:ext cx="10451592" cy="54864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Sales owner to confirm leads weekly, so we can report pipeline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xLoop Marketing Plan Q2-Q3</dc:title>
  <dc:subject>PptxGenJS Presentation</dc:subject>
  <dc:creator>PptxGenJS</dc:creator>
  <cp:lastModifiedBy>PptxGenJS</cp:lastModifiedBy>
  <cp:revision>1</cp:revision>
  <dcterms:created xsi:type="dcterms:W3CDTF">2026-09-23T08:44:53Z</dcterms:created>
  <dcterms:modified xsi:type="dcterms:W3CDTF">2026-09-23T08:44:53Z</dcterms:modified>
</cp:coreProperties>
</file>