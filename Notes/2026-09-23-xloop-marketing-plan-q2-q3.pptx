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quarters: Q2 = Oct–Dec 2026, Q3 = Jan–Mar 2027. Order: numbers, assets to approve, challenges, targets, timeline, team, resource gap,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Marketing Q3 2026 report (Oct–Dec 2025 figures), Search Console Nov 2025 (227 of 232 clicks were brand searches), live sitemap (82 blog pages), Mari campaign results. The GA4 and Search Console accounts we can see today are set up for a different tracking ID and the non-www address, so they show no data. Fixing this is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MAF and Kayali are internal-only for now, so these slides are for sales use under NDA until the client naming decision (last slide). Homepage Figma still shows the v1 layout: AI Security featured, 9 industries, placeholder blog cards. It gets updated to v2 before dev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&amp; AI Readiness tool ships with the homepage in October because it's the homepage's featured section. Videos take about a week each. AI search visibility covers fixing duplicate titles, making the old domain redirect permanent (it's temporary today), structured data, updating the profile AI engines read (llms.txt) to match current services, and answer-first page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Sana's hours: 2–3 a day, about 45–65 a month, averaged at 50. AI tools let one person cover content, SEO and AI search. What's left is execution and being on call for same-day work, which needs a person in the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05D"/>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300" b="1" spc="300" kern="0" dirty="0">
                <a:solidFill>
                  <a:srgbClr val="50BFE6"/>
                </a:solidFill>
                <a:latin typeface="Arial" pitchFamily="34" charset="0"/>
                <a:ea typeface="Arial" pitchFamily="34" charset="-122"/>
                <a:cs typeface="Arial" pitchFamily="34" charset="-120"/>
              </a:rPr>
              <a:t>MARKETING SCRUM · 25 SEP 2026</a:t>
            </a:r>
            <a:endParaRPr lang="en-US" sz="1300" dirty="0"/>
          </a:p>
        </p:txBody>
      </p:sp>
      <p:sp>
        <p:nvSpPr>
          <p:cNvPr id="3" name="Text 1"/>
          <p:cNvSpPr txBox="1"/>
          <p:nvPr/>
        </p:nvSpPr>
        <p:spPr>
          <a:xfrm>
            <a:off x="548640" y="192024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Marketing Plan: Q2–Q3</a:t>
            </a:r>
            <a:endParaRPr lang="en-US" sz="4800" dirty="0"/>
          </a:p>
        </p:txBody>
      </p:sp>
      <p:sp>
        <p:nvSpPr>
          <p:cNvPr id="4" name="Text 2"/>
          <p:cNvSpPr txBox="1"/>
          <p:nvPr/>
        </p:nvSpPr>
        <p:spPr>
          <a:xfrm>
            <a:off x="548640" y="2971800"/>
            <a:ext cx="10058400" cy="54864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Where we are · Where we need to be · How we get there</a:t>
            </a:r>
            <a:endParaRPr lang="en-US" sz="2200" dirty="0"/>
          </a:p>
        </p:txBody>
      </p:sp>
      <p:sp>
        <p:nvSpPr>
          <p:cNvPr id="5" name="Text 3"/>
          <p:cNvSpPr txBox="1"/>
          <p:nvPr/>
        </p:nvSpPr>
        <p:spPr>
          <a:xfrm>
            <a:off x="548640" y="3840480"/>
            <a:ext cx="7315200" cy="457200"/>
          </a:xfrm>
          <a:prstGeom prst="rect">
            <a:avLst/>
          </a:prstGeom>
          <a:noFill/>
          <a:ln/>
        </p:spPr>
        <p:txBody>
          <a:bodyPr wrap="square" lIns="0" tIns="0" rIns="0" bIns="0" rtlCol="0" anchor="ctr"/>
          <a:lstStyle/>
          <a:p>
            <a:pPr indent="0" marL="0">
              <a:buNone/>
            </a:pPr>
            <a:r>
              <a:rPr lang="en-US" sz="1600" dirty="0">
                <a:solidFill>
                  <a:srgbClr val="5CC3AE"/>
                </a:solidFill>
                <a:latin typeface="Arial" pitchFamily="34" charset="0"/>
                <a:ea typeface="Arial" pitchFamily="34" charset="-122"/>
                <a:cs typeface="Arial" pitchFamily="34" charset="-120"/>
              </a:rPr>
              <a:t>October 2026 – March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Where we are: the numbers</a:t>
            </a:r>
            <a:endParaRPr lang="en-US" sz="3000" dirty="0"/>
          </a:p>
        </p:txBody>
      </p:sp>
      <p:sp>
        <p:nvSpPr>
          <p:cNvPr id="3" name="Text 1"/>
          <p:cNvSpPr txBox="1"/>
          <p:nvPr/>
        </p:nvSpPr>
        <p:spPr>
          <a:xfrm>
            <a:off x="548640" y="987552"/>
            <a:ext cx="11091672" cy="365760"/>
          </a:xfrm>
          <a:prstGeom prst="rect">
            <a:avLst/>
          </a:prstGeom>
          <a:noFill/>
          <a:ln/>
        </p:spPr>
        <p:txBody>
          <a:bodyPr wrap="square" lIns="0" tIns="0" rIns="0" bIns="0" rtlCol="0" anchor="ctr"/>
          <a:lstStyle/>
          <a:p>
            <a:pPr indent="0" marL="0">
              <a:buNone/>
            </a:pPr>
            <a:r>
              <a:rPr lang="en-US" sz="1400" dirty="0">
                <a:solidFill>
                  <a:srgbClr val="5A5A7A"/>
                </a:solidFill>
                <a:latin typeface="Arial" pitchFamily="34" charset="0"/>
                <a:ea typeface="Arial" pitchFamily="34" charset="-122"/>
                <a:cs typeface="Arial" pitchFamily="34" charset="-120"/>
              </a:rPr>
              <a:t>Last measured figures. Website numbers are from Oct–Dec 2025, the last period with working analytics</a:t>
            </a:r>
            <a:endParaRPr lang="en-US" sz="1400" dirty="0"/>
          </a:p>
        </p:txBody>
      </p:sp>
      <p:sp>
        <p:nvSpPr>
          <p:cNvPr id="4" name="Shape 2"/>
          <p:cNvSpPr/>
          <p:nvPr/>
        </p:nvSpPr>
        <p:spPr>
          <a:xfrm>
            <a:off x="548640" y="1600200"/>
            <a:ext cx="2567178" cy="1828800"/>
          </a:xfrm>
          <a:prstGeom prst="roundRect">
            <a:avLst>
              <a:gd name="adj" fmla="val 4000"/>
            </a:avLst>
          </a:prstGeom>
          <a:solidFill>
            <a:srgbClr val="FFFFFF"/>
          </a:solidFill>
          <a:ln w="9525">
            <a:solidFill>
              <a:srgbClr val="E6E6E6"/>
            </a:solidFill>
            <a:prstDash val="solid"/>
          </a:ln>
        </p:spPr>
      </p:sp>
      <p:sp>
        <p:nvSpPr>
          <p:cNvPr id="5" name="Text 3"/>
          <p:cNvSpPr txBox="1"/>
          <p:nvPr/>
        </p:nvSpPr>
        <p:spPr>
          <a:xfrm>
            <a:off x="777240" y="1783080"/>
            <a:ext cx="2109978" cy="777240"/>
          </a:xfrm>
          <a:prstGeom prst="rect">
            <a:avLst/>
          </a:prstGeom>
          <a:noFill/>
          <a:ln/>
        </p:spPr>
        <p:txBody>
          <a:bodyPr wrap="square" lIns="0" tIns="0" rIns="0" bIns="0" rtlCol="0" anchor="ctr"/>
          <a:lstStyle/>
          <a:p>
            <a:pPr indent="0" marL="0">
              <a:buNone/>
            </a:pPr>
            <a:r>
              <a:rPr lang="en-US" sz="3400" b="1" dirty="0">
                <a:solidFill>
                  <a:srgbClr val="0061F6"/>
                </a:solidFill>
                <a:latin typeface="Arial" pitchFamily="34" charset="0"/>
                <a:ea typeface="Arial" pitchFamily="34" charset="-122"/>
                <a:cs typeface="Arial" pitchFamily="34" charset="-120"/>
              </a:rPr>
              <a:t>4.7k</a:t>
            </a:r>
            <a:endParaRPr lang="en-US" sz="3400" dirty="0"/>
          </a:p>
        </p:txBody>
      </p:sp>
      <p:sp>
        <p:nvSpPr>
          <p:cNvPr id="6" name="Text 4"/>
          <p:cNvSpPr txBox="1"/>
          <p:nvPr/>
        </p:nvSpPr>
        <p:spPr>
          <a:xfrm>
            <a:off x="777240" y="256032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Active website users in a quarter</a:t>
            </a:r>
            <a:endParaRPr lang="en-US" sz="1300" dirty="0"/>
          </a:p>
        </p:txBody>
      </p:sp>
      <p:sp>
        <p:nvSpPr>
          <p:cNvPr id="7" name="Shape 5"/>
          <p:cNvSpPr/>
          <p:nvPr/>
        </p:nvSpPr>
        <p:spPr>
          <a:xfrm>
            <a:off x="3390138" y="1600200"/>
            <a:ext cx="2567178" cy="1828800"/>
          </a:xfrm>
          <a:prstGeom prst="roundRect">
            <a:avLst>
              <a:gd name="adj" fmla="val 4000"/>
            </a:avLst>
          </a:prstGeom>
          <a:solidFill>
            <a:srgbClr val="FFFFFF"/>
          </a:solidFill>
          <a:ln w="9525">
            <a:solidFill>
              <a:srgbClr val="E6E6E6"/>
            </a:solidFill>
            <a:prstDash val="solid"/>
          </a:ln>
        </p:spPr>
      </p:sp>
      <p:sp>
        <p:nvSpPr>
          <p:cNvPr id="8" name="Text 6"/>
          <p:cNvSpPr txBox="1"/>
          <p:nvPr/>
        </p:nvSpPr>
        <p:spPr>
          <a:xfrm>
            <a:off x="3618738" y="1783080"/>
            <a:ext cx="2109978" cy="777240"/>
          </a:xfrm>
          <a:prstGeom prst="rect">
            <a:avLst/>
          </a:prstGeom>
          <a:noFill/>
          <a:ln/>
        </p:spPr>
        <p:txBody>
          <a:bodyPr wrap="square" lIns="0" tIns="0" rIns="0" bIns="0" rtlCol="0" anchor="ctr"/>
          <a:lstStyle/>
          <a:p>
            <a:pPr indent="0" marL="0">
              <a:buNone/>
            </a:pPr>
            <a:r>
              <a:rPr lang="en-US" sz="3400" b="1" dirty="0">
                <a:solidFill>
                  <a:srgbClr val="0061F6"/>
                </a:solidFill>
                <a:latin typeface="Arial" pitchFamily="34" charset="0"/>
                <a:ea typeface="Arial" pitchFamily="34" charset="-122"/>
                <a:cs typeface="Arial" pitchFamily="34" charset="-120"/>
              </a:rPr>
              <a:t>82</a:t>
            </a:r>
            <a:endParaRPr lang="en-US" sz="3400" dirty="0"/>
          </a:p>
        </p:txBody>
      </p:sp>
      <p:sp>
        <p:nvSpPr>
          <p:cNvPr id="9" name="Text 7"/>
          <p:cNvSpPr txBox="1"/>
          <p:nvPr/>
        </p:nvSpPr>
        <p:spPr>
          <a:xfrm>
            <a:off x="3618738" y="256032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Articles published on the blog</a:t>
            </a:r>
            <a:endParaRPr lang="en-US" sz="1300" dirty="0"/>
          </a:p>
        </p:txBody>
      </p:sp>
      <p:sp>
        <p:nvSpPr>
          <p:cNvPr id="10" name="Shape 8"/>
          <p:cNvSpPr/>
          <p:nvPr/>
        </p:nvSpPr>
        <p:spPr>
          <a:xfrm>
            <a:off x="6231636" y="1600200"/>
            <a:ext cx="2567178" cy="1828800"/>
          </a:xfrm>
          <a:prstGeom prst="roundRect">
            <a:avLst>
              <a:gd name="adj" fmla="val 4000"/>
            </a:avLst>
          </a:prstGeom>
          <a:solidFill>
            <a:srgbClr val="FFFFFF"/>
          </a:solidFill>
          <a:ln w="9525">
            <a:solidFill>
              <a:srgbClr val="E6E6E6"/>
            </a:solidFill>
            <a:prstDash val="solid"/>
          </a:ln>
        </p:spPr>
      </p:sp>
      <p:sp>
        <p:nvSpPr>
          <p:cNvPr id="11" name="Text 9"/>
          <p:cNvSpPr txBox="1"/>
          <p:nvPr/>
        </p:nvSpPr>
        <p:spPr>
          <a:xfrm>
            <a:off x="6460236" y="1783080"/>
            <a:ext cx="2109978" cy="777240"/>
          </a:xfrm>
          <a:prstGeom prst="rect">
            <a:avLst/>
          </a:prstGeom>
          <a:noFill/>
          <a:ln/>
        </p:spPr>
        <p:txBody>
          <a:bodyPr wrap="square" lIns="0" tIns="0" rIns="0" bIns="0" rtlCol="0" anchor="ctr"/>
          <a:lstStyle/>
          <a:p>
            <a:pPr indent="0" marL="0">
              <a:buNone/>
            </a:pPr>
            <a:r>
              <a:rPr lang="en-US" sz="3400" b="1" dirty="0">
                <a:solidFill>
                  <a:srgbClr val="0098D8"/>
                </a:solidFill>
                <a:latin typeface="Arial" pitchFamily="34" charset="0"/>
                <a:ea typeface="Arial" pitchFamily="34" charset="-122"/>
                <a:cs typeface="Arial" pitchFamily="34" charset="-120"/>
              </a:rPr>
              <a:t>Page 9</a:t>
            </a:r>
            <a:endParaRPr lang="en-US" sz="3400" dirty="0"/>
          </a:p>
        </p:txBody>
      </p:sp>
      <p:sp>
        <p:nvSpPr>
          <p:cNvPr id="12" name="Text 10"/>
          <p:cNvSpPr txBox="1"/>
          <p:nvPr/>
        </p:nvSpPr>
        <p:spPr>
          <a:xfrm>
            <a:off x="6460236" y="256032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Average Google position</a:t>
            </a:r>
            <a:endParaRPr lang="en-US" sz="1300" dirty="0"/>
          </a:p>
        </p:txBody>
      </p:sp>
      <p:sp>
        <p:nvSpPr>
          <p:cNvPr id="13" name="Shape 11"/>
          <p:cNvSpPr/>
          <p:nvPr/>
        </p:nvSpPr>
        <p:spPr>
          <a:xfrm>
            <a:off x="9073134" y="1600200"/>
            <a:ext cx="2567178" cy="1828800"/>
          </a:xfrm>
          <a:prstGeom prst="roundRect">
            <a:avLst>
              <a:gd name="adj" fmla="val 4000"/>
            </a:avLst>
          </a:prstGeom>
          <a:solidFill>
            <a:srgbClr val="FFFFFF"/>
          </a:solidFill>
          <a:ln w="9525">
            <a:solidFill>
              <a:srgbClr val="E6E6E6"/>
            </a:solidFill>
            <a:prstDash val="solid"/>
          </a:ln>
        </p:spPr>
      </p:sp>
      <p:sp>
        <p:nvSpPr>
          <p:cNvPr id="14" name="Text 12"/>
          <p:cNvSpPr txBox="1"/>
          <p:nvPr/>
        </p:nvSpPr>
        <p:spPr>
          <a:xfrm>
            <a:off x="9301734" y="1783080"/>
            <a:ext cx="2109978" cy="777240"/>
          </a:xfrm>
          <a:prstGeom prst="rect">
            <a:avLst/>
          </a:prstGeom>
          <a:noFill/>
          <a:ln/>
        </p:spPr>
        <p:txBody>
          <a:bodyPr wrap="square" lIns="0" tIns="0" rIns="0" bIns="0" rtlCol="0" anchor="ctr"/>
          <a:lstStyle/>
          <a:p>
            <a:pPr indent="0" marL="0">
              <a:buNone/>
            </a:pPr>
            <a:r>
              <a:rPr lang="en-US" sz="3400" b="1" dirty="0">
                <a:solidFill>
                  <a:srgbClr val="0098D8"/>
                </a:solidFill>
                <a:latin typeface="Arial" pitchFamily="34" charset="0"/>
                <a:ea typeface="Arial" pitchFamily="34" charset="-122"/>
                <a:cs typeface="Arial" pitchFamily="34" charset="-120"/>
              </a:rPr>
              <a:t>~0</a:t>
            </a:r>
            <a:endParaRPr lang="en-US" sz="3400" dirty="0"/>
          </a:p>
        </p:txBody>
      </p:sp>
      <p:sp>
        <p:nvSpPr>
          <p:cNvPr id="15" name="Text 13"/>
          <p:cNvSpPr txBox="1"/>
          <p:nvPr/>
        </p:nvSpPr>
        <p:spPr>
          <a:xfrm>
            <a:off x="9301734" y="256032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Search clicks from people who didn't type "xLoop"</a:t>
            </a:r>
            <a:endParaRPr lang="en-US" sz="1300" dirty="0"/>
          </a:p>
        </p:txBody>
      </p:sp>
      <p:sp>
        <p:nvSpPr>
          <p:cNvPr id="16" name="Shape 14"/>
          <p:cNvSpPr/>
          <p:nvPr/>
        </p:nvSpPr>
        <p:spPr>
          <a:xfrm>
            <a:off x="548640" y="3703320"/>
            <a:ext cx="2567178" cy="1828800"/>
          </a:xfrm>
          <a:prstGeom prst="roundRect">
            <a:avLst>
              <a:gd name="adj" fmla="val 4000"/>
            </a:avLst>
          </a:prstGeom>
          <a:solidFill>
            <a:srgbClr val="FFFFFF"/>
          </a:solidFill>
          <a:ln w="9525">
            <a:solidFill>
              <a:srgbClr val="E6E6E6"/>
            </a:solidFill>
            <a:prstDash val="solid"/>
          </a:ln>
        </p:spPr>
      </p:sp>
      <p:sp>
        <p:nvSpPr>
          <p:cNvPr id="17" name="Text 15"/>
          <p:cNvSpPr txBox="1"/>
          <p:nvPr/>
        </p:nvSpPr>
        <p:spPr>
          <a:xfrm>
            <a:off x="777240" y="3886200"/>
            <a:ext cx="2109978" cy="777240"/>
          </a:xfrm>
          <a:prstGeom prst="rect">
            <a:avLst/>
          </a:prstGeom>
          <a:noFill/>
          <a:ln/>
        </p:spPr>
        <p:txBody>
          <a:bodyPr wrap="square" lIns="0" tIns="0" rIns="0" bIns="0" rtlCol="0" anchor="ctr"/>
          <a:lstStyle/>
          <a:p>
            <a:pPr indent="0" marL="0">
              <a:buNone/>
            </a:pPr>
            <a:r>
              <a:rPr lang="en-US" sz="3400" b="1" dirty="0">
                <a:solidFill>
                  <a:srgbClr val="0061F6"/>
                </a:solidFill>
                <a:latin typeface="Arial" pitchFamily="34" charset="0"/>
                <a:ea typeface="Arial" pitchFamily="34" charset="-122"/>
                <a:cs typeface="Arial" pitchFamily="34" charset="-120"/>
              </a:rPr>
              <a:t>54</a:t>
            </a:r>
            <a:endParaRPr lang="en-US" sz="3400" dirty="0"/>
          </a:p>
        </p:txBody>
      </p:sp>
      <p:sp>
        <p:nvSpPr>
          <p:cNvPr id="18" name="Text 16"/>
          <p:cNvSpPr txBox="1"/>
          <p:nvPr/>
        </p:nvSpPr>
        <p:spPr>
          <a:xfrm>
            <a:off x="777240" y="466344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Visits referred by ChatGPT in a quarter</a:t>
            </a:r>
            <a:endParaRPr lang="en-US" sz="1300" dirty="0"/>
          </a:p>
        </p:txBody>
      </p:sp>
      <p:sp>
        <p:nvSpPr>
          <p:cNvPr id="19" name="Shape 17"/>
          <p:cNvSpPr/>
          <p:nvPr/>
        </p:nvSpPr>
        <p:spPr>
          <a:xfrm>
            <a:off x="3390138" y="3703320"/>
            <a:ext cx="2567178" cy="1828800"/>
          </a:xfrm>
          <a:prstGeom prst="roundRect">
            <a:avLst>
              <a:gd name="adj" fmla="val 4000"/>
            </a:avLst>
          </a:prstGeom>
          <a:solidFill>
            <a:srgbClr val="FFFFFF"/>
          </a:solidFill>
          <a:ln w="9525">
            <a:solidFill>
              <a:srgbClr val="E6E6E6"/>
            </a:solidFill>
            <a:prstDash val="solid"/>
          </a:ln>
        </p:spPr>
      </p:sp>
      <p:sp>
        <p:nvSpPr>
          <p:cNvPr id="20" name="Text 18"/>
          <p:cNvSpPr txBox="1"/>
          <p:nvPr/>
        </p:nvSpPr>
        <p:spPr>
          <a:xfrm>
            <a:off x="3618738" y="3886200"/>
            <a:ext cx="2109978" cy="777240"/>
          </a:xfrm>
          <a:prstGeom prst="rect">
            <a:avLst/>
          </a:prstGeom>
          <a:noFill/>
          <a:ln/>
        </p:spPr>
        <p:txBody>
          <a:bodyPr wrap="square" lIns="0" tIns="0" rIns="0" bIns="0" rtlCol="0" anchor="ctr"/>
          <a:lstStyle/>
          <a:p>
            <a:pPr indent="0" marL="0">
              <a:buNone/>
            </a:pPr>
            <a:r>
              <a:rPr lang="en-US" sz="3400" b="1" dirty="0">
                <a:solidFill>
                  <a:srgbClr val="5CC3AE"/>
                </a:solidFill>
                <a:latin typeface="Arial" pitchFamily="34" charset="0"/>
                <a:ea typeface="Arial" pitchFamily="34" charset="-122"/>
                <a:cs typeface="Arial" pitchFamily="34" charset="-120"/>
              </a:rPr>
              <a:t>1,500</a:t>
            </a:r>
            <a:endParaRPr lang="en-US" sz="3400" dirty="0"/>
          </a:p>
        </p:txBody>
      </p:sp>
      <p:sp>
        <p:nvSpPr>
          <p:cNvPr id="21" name="Text 19"/>
          <p:cNvSpPr txBox="1"/>
          <p:nvPr/>
        </p:nvSpPr>
        <p:spPr>
          <a:xfrm>
            <a:off x="3618738" y="466344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Mari applications vs a 1,000 target (only paid campaign)</a:t>
            </a:r>
            <a:endParaRPr lang="en-US" sz="1300" dirty="0"/>
          </a:p>
        </p:txBody>
      </p:sp>
      <p:sp>
        <p:nvSpPr>
          <p:cNvPr id="22" name="Shape 20"/>
          <p:cNvSpPr/>
          <p:nvPr/>
        </p:nvSpPr>
        <p:spPr>
          <a:xfrm>
            <a:off x="6231636" y="3703320"/>
            <a:ext cx="2567178" cy="1828800"/>
          </a:xfrm>
          <a:prstGeom prst="roundRect">
            <a:avLst>
              <a:gd name="adj" fmla="val 4000"/>
            </a:avLst>
          </a:prstGeom>
          <a:solidFill>
            <a:srgbClr val="FFFFFF"/>
          </a:solidFill>
          <a:ln w="9525">
            <a:solidFill>
              <a:srgbClr val="E6E6E6"/>
            </a:solidFill>
            <a:prstDash val="solid"/>
          </a:ln>
        </p:spPr>
      </p:sp>
      <p:sp>
        <p:nvSpPr>
          <p:cNvPr id="23" name="Text 21"/>
          <p:cNvSpPr txBox="1"/>
          <p:nvPr/>
        </p:nvSpPr>
        <p:spPr>
          <a:xfrm>
            <a:off x="6460236" y="3886200"/>
            <a:ext cx="2109978" cy="777240"/>
          </a:xfrm>
          <a:prstGeom prst="rect">
            <a:avLst/>
          </a:prstGeom>
          <a:noFill/>
          <a:ln/>
        </p:spPr>
        <p:txBody>
          <a:bodyPr wrap="square" lIns="0" tIns="0" rIns="0" bIns="0" rtlCol="0" anchor="ctr"/>
          <a:lstStyle/>
          <a:p>
            <a:pPr indent="0" marL="0">
              <a:buNone/>
            </a:pPr>
            <a:r>
              <a:rPr lang="en-US" sz="3400" b="1" dirty="0">
                <a:solidFill>
                  <a:srgbClr val="5A5A7A"/>
                </a:solidFill>
                <a:latin typeface="Arial" pitchFamily="34" charset="0"/>
                <a:ea typeface="Arial" pitchFamily="34" charset="-122"/>
                <a:cs typeface="Arial" pitchFamily="34" charset="-120"/>
              </a:rPr>
              <a:t>0</a:t>
            </a:r>
            <a:endParaRPr lang="en-US" sz="3400" dirty="0"/>
          </a:p>
        </p:txBody>
      </p:sp>
      <p:sp>
        <p:nvSpPr>
          <p:cNvPr id="24" name="Text 22"/>
          <p:cNvSpPr txBox="1"/>
          <p:nvPr/>
        </p:nvSpPr>
        <p:spPr>
          <a:xfrm>
            <a:off x="6460236" y="466344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Paid spend on lead generation. Pipeline is sales- and partner-led</a:t>
            </a:r>
            <a:endParaRPr lang="en-US" sz="1300" dirty="0"/>
          </a:p>
        </p:txBody>
      </p:sp>
      <p:sp>
        <p:nvSpPr>
          <p:cNvPr id="25" name="Shape 23"/>
          <p:cNvSpPr/>
          <p:nvPr/>
        </p:nvSpPr>
        <p:spPr>
          <a:xfrm>
            <a:off x="9073134" y="3703320"/>
            <a:ext cx="2567178" cy="1828800"/>
          </a:xfrm>
          <a:prstGeom prst="roundRect">
            <a:avLst>
              <a:gd name="adj" fmla="val 4000"/>
            </a:avLst>
          </a:prstGeom>
          <a:solidFill>
            <a:srgbClr val="FFFFFF"/>
          </a:solidFill>
          <a:ln w="9525">
            <a:solidFill>
              <a:srgbClr val="E6E6E6"/>
            </a:solidFill>
            <a:prstDash val="solid"/>
          </a:ln>
        </p:spPr>
      </p:sp>
      <p:sp>
        <p:nvSpPr>
          <p:cNvPr id="26" name="Text 24"/>
          <p:cNvSpPr txBox="1"/>
          <p:nvPr/>
        </p:nvSpPr>
        <p:spPr>
          <a:xfrm>
            <a:off x="9301734" y="3886200"/>
            <a:ext cx="2109978" cy="777240"/>
          </a:xfrm>
          <a:prstGeom prst="rect">
            <a:avLst/>
          </a:prstGeom>
          <a:noFill/>
          <a:ln/>
        </p:spPr>
        <p:txBody>
          <a:bodyPr wrap="square" lIns="0" tIns="0" rIns="0" bIns="0" rtlCol="0" anchor="ctr"/>
          <a:lstStyle/>
          <a:p>
            <a:pPr indent="0" marL="0">
              <a:buNone/>
            </a:pPr>
            <a:r>
              <a:rPr lang="en-US" sz="3400" b="1" dirty="0">
                <a:solidFill>
                  <a:srgbClr val="5A5A7A"/>
                </a:solidFill>
                <a:latin typeface="Arial" pitchFamily="34" charset="0"/>
                <a:ea typeface="Arial" pitchFamily="34" charset="-122"/>
                <a:cs typeface="Arial" pitchFamily="34" charset="-120"/>
              </a:rPr>
              <a:t>Not live</a:t>
            </a:r>
            <a:endParaRPr lang="en-US" sz="3400" dirty="0"/>
          </a:p>
        </p:txBody>
      </p:sp>
      <p:sp>
        <p:nvSpPr>
          <p:cNvPr id="27" name="Text 25"/>
          <p:cNvSpPr txBox="1"/>
          <p:nvPr/>
        </p:nvSpPr>
        <p:spPr>
          <a:xfrm>
            <a:off x="9301734" y="4663440"/>
            <a:ext cx="2109978" cy="73152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Analytics we can access isn't connected to the live site</a:t>
            </a:r>
            <a:endParaRPr lang="en-US" sz="1300" dirty="0"/>
          </a:p>
        </p:txBody>
      </p:sp>
      <p:sp>
        <p:nvSpPr>
          <p:cNvPr id="28" name="Text 26"/>
          <p:cNvSpPr txBox="1"/>
          <p:nvPr/>
        </p:nvSpPr>
        <p:spPr>
          <a:xfrm>
            <a:off x="548640" y="5943600"/>
            <a:ext cx="11091672" cy="457200"/>
          </a:xfrm>
          <a:prstGeom prst="rect">
            <a:avLst/>
          </a:prstGeom>
          <a:noFill/>
          <a:ln/>
        </p:spPr>
        <p:txBody>
          <a:bodyPr wrap="square" lIns="0" tIns="0" rIns="0" bIns="0" rtlCol="0" anchor="ctr"/>
          <a:lstStyle/>
          <a:p>
            <a:pPr indent="0" marL="0">
              <a:buNone/>
            </a:pPr>
            <a:r>
              <a:rPr lang="en-US" sz="1600" b="1" dirty="0">
                <a:solidFill>
                  <a:srgbClr val="22205D"/>
                </a:solidFill>
                <a:latin typeface="Arial" pitchFamily="34" charset="0"/>
                <a:ea typeface="Arial" pitchFamily="34" charset="-122"/>
                <a:cs typeface="Arial" pitchFamily="34" charset="-120"/>
              </a:rPr>
              <a:t>We publish plenty. Search and AI engines don't yet send us buyers. Q2–Q3 closes that gap.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What's ready: show and approve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3657600"/>
                <a:gridCol w="1280160"/>
                <a:gridCol w="4846320"/>
                <a:gridCol w="1307592"/>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Asset</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Next step</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Target</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Corporate deck + case studies: HBL AM, MAF, Wefi</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5CC3AE"/>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Approve as the sales master deck</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Today</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HR brand video</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Ready</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0061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CEO approval, then HR, website, LinkedIn</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Today</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Homepage v2</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5CC3AE"/>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Content approved by sales + CTO. Update Figma, hand to devs</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Oct 2</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Data &amp; AI Readiness Assessment</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 review</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0098D8"/>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With Farrukh. Add data section, build with homepage</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Oct 31</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AI Security Assessment</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5CC3AE"/>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Designed. Build on the security pages</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Oct 31</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Life at xLoop video</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Next</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6E6E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Script, shoot, edit in one week</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Oct 23</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Case study: Kayali / Huda Beauty</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Waiting</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6E6E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Content from the account team</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Oct 9</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4 service cluster pages</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In progress</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50BFE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Content specs done. Design + build</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Nov 30</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475488">
                <a:tc>
                  <a:txBody>
                    <a:bodyPr/>
                    <a:lstStyle/>
                    <a:p>
                      <a:pPr indent="0" marL="0">
                        <a:buNone/>
                      </a:pPr>
                      <a:r>
                        <a:rPr lang="en-US" sz="1200" b="1" dirty="0">
                          <a:solidFill>
                            <a:srgbClr val="22205D"/>
                          </a:solidFill>
                          <a:latin typeface="Arial" pitchFamily="34" charset="0"/>
                          <a:ea typeface="Arial" pitchFamily="34" charset="-122"/>
                          <a:cs typeface="Arial" pitchFamily="34" charset="-120"/>
                        </a:rPr>
                        <a:t>Mining industry page</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In progress</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50BFE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Content, design, build</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algn="ctr" indent="0" marL="0">
                        <a:buNone/>
                      </a:pPr>
                      <a:r>
                        <a:rPr lang="en-US" sz="1200" b="1" dirty="0">
                          <a:solidFill>
                            <a:srgbClr val="22205D"/>
                          </a:solidFill>
                          <a:latin typeface="Arial" pitchFamily="34" charset="0"/>
                          <a:ea typeface="Arial" pitchFamily="34" charset="-122"/>
                          <a:cs typeface="Arial" pitchFamily="34" charset="-120"/>
                        </a:rPr>
                        <a:t>Nov 30</a:t>
                      </a:r>
                      <a:endParaRPr lang="en-US" sz="1200" dirty="0">
                        <a:latin typeface="Arial" charset="0"/>
                        <a:ea typeface="Arial" charset="0"/>
                        <a:cs typeface="Arial" charset="0"/>
                      </a:endParaRPr>
                    </a:p>
                  </a:txBody>
                  <a:tcPr marL="91440" marR="91440"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What's holding us back</a:t>
            </a:r>
            <a:endParaRPr lang="en-US" sz="3000" dirty="0"/>
          </a:p>
        </p:txBody>
      </p:sp>
      <p:sp>
        <p:nvSpPr>
          <p:cNvPr id="3" name="Shape 1"/>
          <p:cNvSpPr/>
          <p:nvPr/>
        </p:nvSpPr>
        <p:spPr>
          <a:xfrm>
            <a:off x="548640" y="1325880"/>
            <a:ext cx="11091672" cy="841248"/>
          </a:xfrm>
          <a:prstGeom prst="roundRect">
            <a:avLst>
              <a:gd name="adj" fmla="val 8696"/>
            </a:avLst>
          </a:prstGeom>
          <a:solidFill>
            <a:srgbClr val="FFFFFF"/>
          </a:solidFill>
          <a:ln w="9525">
            <a:solidFill>
              <a:srgbClr val="E6E6E6"/>
            </a:solidFill>
            <a:prstDash val="solid"/>
          </a:ln>
        </p:spPr>
      </p:sp>
      <p:sp>
        <p:nvSpPr>
          <p:cNvPr id="4" name="Shape 2"/>
          <p:cNvSpPr/>
          <p:nvPr/>
        </p:nvSpPr>
        <p:spPr>
          <a:xfrm>
            <a:off x="777240" y="1554480"/>
            <a:ext cx="384048" cy="384048"/>
          </a:xfrm>
          <a:prstGeom prst="ellipse">
            <a:avLst/>
          </a:prstGeom>
          <a:solidFill>
            <a:srgbClr val="22205D"/>
          </a:solidFill>
          <a:ln w="12700">
            <a:solidFill>
              <a:srgbClr val="22205D"/>
            </a:solidFill>
            <a:prstDash val="solid"/>
          </a:ln>
        </p:spPr>
      </p:sp>
      <p:sp>
        <p:nvSpPr>
          <p:cNvPr id="5" name="Text 3"/>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371600" y="1417320"/>
            <a:ext cx="3017520" cy="658368"/>
          </a:xfrm>
          <a:prstGeom prst="rect">
            <a:avLst/>
          </a:prstGeom>
          <a:noFill/>
          <a:ln/>
        </p:spPr>
        <p:txBody>
          <a:bodyPr wrap="square" lIns="0" tIns="0" rIns="0" bIns="0" rtlCol="0" anchor="ctr"/>
          <a:lstStyle/>
          <a:p>
            <a:pPr indent="0" marL="0">
              <a:buNone/>
            </a:pPr>
            <a:r>
              <a:rPr lang="en-US" sz="1600" b="1" dirty="0">
                <a:solidFill>
                  <a:srgbClr val="22205D"/>
                </a:solidFill>
                <a:latin typeface="Arial" pitchFamily="34" charset="0"/>
                <a:ea typeface="Arial" pitchFamily="34" charset="-122"/>
                <a:cs typeface="Arial" pitchFamily="34" charset="-120"/>
              </a:rPr>
              <a:t>Capacity</a:t>
            </a:r>
            <a:endParaRPr lang="en-US" sz="1600" dirty="0"/>
          </a:p>
        </p:txBody>
      </p:sp>
      <p:sp>
        <p:nvSpPr>
          <p:cNvPr id="7" name="Text 5"/>
          <p:cNvSpPr txBox="1"/>
          <p:nvPr/>
        </p:nvSpPr>
        <p:spPr>
          <a:xfrm>
            <a:off x="4480560" y="1399032"/>
            <a:ext cx="6931152" cy="694944"/>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1 marketer (moving to part-time), 1 designer, 1 UI/UX designer shared with client work. Nobody owns day-to-day execution or urgent requests.</a:t>
            </a:r>
            <a:endParaRPr lang="en-US" sz="1300" dirty="0"/>
          </a:p>
        </p:txBody>
      </p:sp>
      <p:sp>
        <p:nvSpPr>
          <p:cNvPr id="8" name="Shape 6"/>
          <p:cNvSpPr/>
          <p:nvPr/>
        </p:nvSpPr>
        <p:spPr>
          <a:xfrm>
            <a:off x="548640" y="2313432"/>
            <a:ext cx="11091672" cy="841248"/>
          </a:xfrm>
          <a:prstGeom prst="roundRect">
            <a:avLst>
              <a:gd name="adj" fmla="val 8696"/>
            </a:avLst>
          </a:prstGeom>
          <a:solidFill>
            <a:srgbClr val="FFFFFF"/>
          </a:solidFill>
          <a:ln w="9525">
            <a:solidFill>
              <a:srgbClr val="E6E6E6"/>
            </a:solidFill>
            <a:prstDash val="solid"/>
          </a:ln>
        </p:spPr>
      </p:sp>
      <p:sp>
        <p:nvSpPr>
          <p:cNvPr id="9" name="Shape 7"/>
          <p:cNvSpPr/>
          <p:nvPr/>
        </p:nvSpPr>
        <p:spPr>
          <a:xfrm>
            <a:off x="777240" y="2542032"/>
            <a:ext cx="384048" cy="384048"/>
          </a:xfrm>
          <a:prstGeom prst="ellipse">
            <a:avLst/>
          </a:prstGeom>
          <a:solidFill>
            <a:srgbClr val="22205D"/>
          </a:solidFill>
          <a:ln w="12700">
            <a:solidFill>
              <a:srgbClr val="22205D"/>
            </a:solidFill>
            <a:prstDash val="solid"/>
          </a:ln>
        </p:spPr>
      </p:sp>
      <p:sp>
        <p:nvSpPr>
          <p:cNvPr id="10" name="Text 8"/>
          <p:cNvSpPr txBox="1"/>
          <p:nvPr/>
        </p:nvSpPr>
        <p:spPr>
          <a:xfrm>
            <a:off x="777240" y="2542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1371600" y="2404872"/>
            <a:ext cx="3017520" cy="658368"/>
          </a:xfrm>
          <a:prstGeom prst="rect">
            <a:avLst/>
          </a:prstGeom>
          <a:noFill/>
          <a:ln/>
        </p:spPr>
        <p:txBody>
          <a:bodyPr wrap="square" lIns="0" tIns="0" rIns="0" bIns="0" rtlCol="0" anchor="ctr"/>
          <a:lstStyle/>
          <a:p>
            <a:pPr indent="0" marL="0">
              <a:buNone/>
            </a:pPr>
            <a:r>
              <a:rPr lang="en-US" sz="1600" b="1" dirty="0">
                <a:solidFill>
                  <a:srgbClr val="22205D"/>
                </a:solidFill>
                <a:latin typeface="Arial" pitchFamily="34" charset="0"/>
                <a:ea typeface="Arial" pitchFamily="34" charset="-122"/>
                <a:cs typeface="Arial" pitchFamily="34" charset="-120"/>
              </a:rPr>
              <a:t>Website depends on production</a:t>
            </a:r>
            <a:endParaRPr lang="en-US" sz="1600" dirty="0"/>
          </a:p>
        </p:txBody>
      </p:sp>
      <p:sp>
        <p:nvSpPr>
          <p:cNvPr id="12" name="Text 10"/>
          <p:cNvSpPr txBox="1"/>
          <p:nvPr/>
        </p:nvSpPr>
        <p:spPr>
          <a:xfrm>
            <a:off x="4480560" y="2386584"/>
            <a:ext cx="6931152" cy="694944"/>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2 developers shared with production. Finished content and designs wait in the queue.</a:t>
            </a:r>
            <a:endParaRPr lang="en-US" sz="1300" dirty="0"/>
          </a:p>
        </p:txBody>
      </p:sp>
      <p:sp>
        <p:nvSpPr>
          <p:cNvPr id="13" name="Shape 11"/>
          <p:cNvSpPr/>
          <p:nvPr/>
        </p:nvSpPr>
        <p:spPr>
          <a:xfrm>
            <a:off x="548640" y="3300984"/>
            <a:ext cx="11091672" cy="841248"/>
          </a:xfrm>
          <a:prstGeom prst="roundRect">
            <a:avLst>
              <a:gd name="adj" fmla="val 8696"/>
            </a:avLst>
          </a:prstGeom>
          <a:solidFill>
            <a:srgbClr val="FFFFFF"/>
          </a:solidFill>
          <a:ln w="9525">
            <a:solidFill>
              <a:srgbClr val="E6E6E6"/>
            </a:solidFill>
            <a:prstDash val="solid"/>
          </a:ln>
        </p:spPr>
      </p:sp>
      <p:sp>
        <p:nvSpPr>
          <p:cNvPr id="14" name="Shape 12"/>
          <p:cNvSpPr/>
          <p:nvPr/>
        </p:nvSpPr>
        <p:spPr>
          <a:xfrm>
            <a:off x="777240" y="3529584"/>
            <a:ext cx="384048" cy="384048"/>
          </a:xfrm>
          <a:prstGeom prst="ellipse">
            <a:avLst/>
          </a:prstGeom>
          <a:solidFill>
            <a:srgbClr val="22205D"/>
          </a:solidFill>
          <a:ln w="12700">
            <a:solidFill>
              <a:srgbClr val="22205D"/>
            </a:solidFill>
            <a:prstDash val="solid"/>
          </a:ln>
        </p:spPr>
      </p:sp>
      <p:sp>
        <p:nvSpPr>
          <p:cNvPr id="15" name="Text 13"/>
          <p:cNvSpPr txBox="1"/>
          <p:nvPr/>
        </p:nvSpPr>
        <p:spPr>
          <a:xfrm>
            <a:off x="777240" y="35295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1371600" y="3392424"/>
            <a:ext cx="3017520" cy="658368"/>
          </a:xfrm>
          <a:prstGeom prst="rect">
            <a:avLst/>
          </a:prstGeom>
          <a:noFill/>
          <a:ln/>
        </p:spPr>
        <p:txBody>
          <a:bodyPr wrap="square" lIns="0" tIns="0" rIns="0" bIns="0" rtlCol="0" anchor="ctr"/>
          <a:lstStyle/>
          <a:p>
            <a:pPr indent="0" marL="0">
              <a:buNone/>
            </a:pPr>
            <a:r>
              <a:rPr lang="en-US" sz="1600" b="1" dirty="0">
                <a:solidFill>
                  <a:srgbClr val="22205D"/>
                </a:solidFill>
                <a:latin typeface="Arial" pitchFamily="34" charset="0"/>
                <a:ea typeface="Arial" pitchFamily="34" charset="-122"/>
                <a:cs typeface="Arial" pitchFamily="34" charset="-120"/>
              </a:rPr>
              <a:t>Search and AI visibility</a:t>
            </a:r>
            <a:endParaRPr lang="en-US" sz="1600" dirty="0"/>
          </a:p>
        </p:txBody>
      </p:sp>
      <p:sp>
        <p:nvSpPr>
          <p:cNvPr id="17" name="Text 15"/>
          <p:cNvSpPr txBox="1"/>
          <p:nvPr/>
        </p:nvSpPr>
        <p:spPr>
          <a:xfrm>
            <a:off x="4480560" y="3374136"/>
            <a:ext cx="6931152" cy="694944"/>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82 articles, yet page 9 and ~0 non-brand clicks. Site signals are out of date: repeated page titles, and the profile AI engines read still lists industries we're dropping.</a:t>
            </a:r>
            <a:endParaRPr lang="en-US" sz="1300" dirty="0"/>
          </a:p>
        </p:txBody>
      </p:sp>
      <p:sp>
        <p:nvSpPr>
          <p:cNvPr id="18" name="Shape 16"/>
          <p:cNvSpPr/>
          <p:nvPr/>
        </p:nvSpPr>
        <p:spPr>
          <a:xfrm>
            <a:off x="548640" y="4288536"/>
            <a:ext cx="11091672" cy="841248"/>
          </a:xfrm>
          <a:prstGeom prst="roundRect">
            <a:avLst>
              <a:gd name="adj" fmla="val 8696"/>
            </a:avLst>
          </a:prstGeom>
          <a:solidFill>
            <a:srgbClr val="FFFFFF"/>
          </a:solidFill>
          <a:ln w="9525">
            <a:solidFill>
              <a:srgbClr val="E6E6E6"/>
            </a:solidFill>
            <a:prstDash val="solid"/>
          </a:ln>
        </p:spPr>
      </p:sp>
      <p:sp>
        <p:nvSpPr>
          <p:cNvPr id="19" name="Shape 17"/>
          <p:cNvSpPr/>
          <p:nvPr/>
        </p:nvSpPr>
        <p:spPr>
          <a:xfrm>
            <a:off x="777240" y="4517136"/>
            <a:ext cx="384048" cy="384048"/>
          </a:xfrm>
          <a:prstGeom prst="ellipse">
            <a:avLst/>
          </a:prstGeom>
          <a:solidFill>
            <a:srgbClr val="22205D"/>
          </a:solidFill>
          <a:ln w="12700">
            <a:solidFill>
              <a:srgbClr val="22205D"/>
            </a:solidFill>
            <a:prstDash val="solid"/>
          </a:ln>
        </p:spPr>
      </p:sp>
      <p:sp>
        <p:nvSpPr>
          <p:cNvPr id="20" name="Text 18"/>
          <p:cNvSpPr txBox="1"/>
          <p:nvPr/>
        </p:nvSpPr>
        <p:spPr>
          <a:xfrm>
            <a:off x="777240" y="4517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1371600" y="4379976"/>
            <a:ext cx="3017520" cy="658368"/>
          </a:xfrm>
          <a:prstGeom prst="rect">
            <a:avLst/>
          </a:prstGeom>
          <a:noFill/>
          <a:ln/>
        </p:spPr>
        <p:txBody>
          <a:bodyPr wrap="square" lIns="0" tIns="0" rIns="0" bIns="0" rtlCol="0" anchor="ctr"/>
          <a:lstStyle/>
          <a:p>
            <a:pPr indent="0" marL="0">
              <a:buNone/>
            </a:pPr>
            <a:r>
              <a:rPr lang="en-US" sz="1600" b="1" dirty="0">
                <a:solidFill>
                  <a:srgbClr val="22205D"/>
                </a:solidFill>
                <a:latin typeface="Arial" pitchFamily="34" charset="0"/>
                <a:ea typeface="Arial" pitchFamily="34" charset="-122"/>
                <a:cs typeface="Arial" pitchFamily="34" charset="-120"/>
              </a:rPr>
              <a:t>Proof we can't publish</a:t>
            </a:r>
            <a:endParaRPr lang="en-US" sz="1600" dirty="0"/>
          </a:p>
        </p:txBody>
      </p:sp>
      <p:sp>
        <p:nvSpPr>
          <p:cNvPr id="22" name="Text 20"/>
          <p:cNvSpPr txBox="1"/>
          <p:nvPr/>
        </p:nvSpPr>
        <p:spPr>
          <a:xfrm>
            <a:off x="4480560" y="4361688"/>
            <a:ext cx="6931152" cy="694944"/>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Our strongest clients (MAF, Kayali) aren't cleared for naming, so public case studies stay anonymous.</a:t>
            </a:r>
            <a:endParaRPr lang="en-US" sz="1300" dirty="0"/>
          </a:p>
        </p:txBody>
      </p:sp>
      <p:sp>
        <p:nvSpPr>
          <p:cNvPr id="23" name="Shape 21"/>
          <p:cNvSpPr/>
          <p:nvPr/>
        </p:nvSpPr>
        <p:spPr>
          <a:xfrm>
            <a:off x="548640" y="5276088"/>
            <a:ext cx="11091672" cy="841248"/>
          </a:xfrm>
          <a:prstGeom prst="roundRect">
            <a:avLst>
              <a:gd name="adj" fmla="val 8696"/>
            </a:avLst>
          </a:prstGeom>
          <a:solidFill>
            <a:srgbClr val="FFFFFF"/>
          </a:solidFill>
          <a:ln w="9525">
            <a:solidFill>
              <a:srgbClr val="E6E6E6"/>
            </a:solidFill>
            <a:prstDash val="solid"/>
          </a:ln>
        </p:spPr>
      </p:sp>
      <p:sp>
        <p:nvSpPr>
          <p:cNvPr id="24" name="Shape 22"/>
          <p:cNvSpPr/>
          <p:nvPr/>
        </p:nvSpPr>
        <p:spPr>
          <a:xfrm>
            <a:off x="777240" y="5504688"/>
            <a:ext cx="384048" cy="384048"/>
          </a:xfrm>
          <a:prstGeom prst="ellipse">
            <a:avLst/>
          </a:prstGeom>
          <a:solidFill>
            <a:srgbClr val="22205D"/>
          </a:solidFill>
          <a:ln w="12700">
            <a:solidFill>
              <a:srgbClr val="22205D"/>
            </a:solidFill>
            <a:prstDash val="solid"/>
          </a:ln>
        </p:spPr>
      </p:sp>
      <p:sp>
        <p:nvSpPr>
          <p:cNvPr id="25" name="Text 23"/>
          <p:cNvSpPr txBox="1"/>
          <p:nvPr/>
        </p:nvSpPr>
        <p:spPr>
          <a:xfrm>
            <a:off x="777240" y="5504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371600" y="5367528"/>
            <a:ext cx="3017520" cy="658368"/>
          </a:xfrm>
          <a:prstGeom prst="rect">
            <a:avLst/>
          </a:prstGeom>
          <a:noFill/>
          <a:ln/>
        </p:spPr>
        <p:txBody>
          <a:bodyPr wrap="square" lIns="0" tIns="0" rIns="0" bIns="0" rtlCol="0" anchor="ctr"/>
          <a:lstStyle/>
          <a:p>
            <a:pPr indent="0" marL="0">
              <a:buNone/>
            </a:pPr>
            <a:r>
              <a:rPr lang="en-US" sz="1600" b="1" dirty="0">
                <a:solidFill>
                  <a:srgbClr val="22205D"/>
                </a:solidFill>
                <a:latin typeface="Arial" pitchFamily="34" charset="0"/>
                <a:ea typeface="Arial" pitchFamily="34" charset="-122"/>
                <a:cs typeface="Arial" pitchFamily="34" charset="-120"/>
              </a:rPr>
              <a:t>No lead measurement</a:t>
            </a:r>
            <a:endParaRPr lang="en-US" sz="1600" dirty="0"/>
          </a:p>
        </p:txBody>
      </p:sp>
      <p:sp>
        <p:nvSpPr>
          <p:cNvPr id="27" name="Text 25"/>
          <p:cNvSpPr txBox="1"/>
          <p:nvPr/>
        </p:nvSpPr>
        <p:spPr>
          <a:xfrm>
            <a:off x="4480560" y="5349240"/>
            <a:ext cx="6931152" cy="694944"/>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No lead tracker, and analytics isn't connected to the live site. We can't show what marketing brings in.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Where we need to be by March 2027</a:t>
            </a:r>
            <a:endParaRPr lang="en-US" sz="3000" dirty="0"/>
          </a:p>
        </p:txBody>
      </p:sp>
      <p:sp>
        <p:nvSpPr>
          <p:cNvPr id="3" name="Shape 1"/>
          <p:cNvSpPr/>
          <p:nvPr/>
        </p:nvSpPr>
        <p:spPr>
          <a:xfrm>
            <a:off x="548640" y="1280160"/>
            <a:ext cx="5362956" cy="4480560"/>
          </a:xfrm>
          <a:prstGeom prst="roundRect">
            <a:avLst>
              <a:gd name="adj" fmla="val 1633"/>
            </a:avLst>
          </a:prstGeom>
          <a:solidFill>
            <a:srgbClr val="F4F6FB"/>
          </a:solidFill>
          <a:ln w="9525">
            <a:solidFill>
              <a:srgbClr val="E6E6E6"/>
            </a:solidFill>
            <a:prstDash val="solid"/>
          </a:ln>
        </p:spPr>
      </p:sp>
      <p:sp>
        <p:nvSpPr>
          <p:cNvPr id="4" name="Text 2"/>
          <p:cNvSpPr txBox="1"/>
          <p:nvPr/>
        </p:nvSpPr>
        <p:spPr>
          <a:xfrm>
            <a:off x="822960" y="1417320"/>
            <a:ext cx="4814316" cy="457200"/>
          </a:xfrm>
          <a:prstGeom prst="rect">
            <a:avLst/>
          </a:prstGeom>
          <a:noFill/>
          <a:ln/>
        </p:spPr>
        <p:txBody>
          <a:bodyPr wrap="square" lIns="0" tIns="0" rIns="0" bIns="0" rtlCol="0" anchor="ctr"/>
          <a:lstStyle/>
          <a:p>
            <a:pPr indent="0" marL="0">
              <a:buNone/>
            </a:pPr>
            <a:r>
              <a:rPr lang="en-US" sz="2000" b="1" dirty="0">
                <a:solidFill>
                  <a:srgbClr val="0061F6"/>
                </a:solidFill>
                <a:latin typeface="Arial" pitchFamily="34" charset="0"/>
                <a:ea typeface="Arial" pitchFamily="34" charset="-122"/>
                <a:cs typeface="Arial" pitchFamily="34" charset="-120"/>
              </a:rPr>
              <a:t>What ships</a:t>
            </a:r>
            <a:endParaRPr lang="en-US" sz="2000" dirty="0"/>
          </a:p>
        </p:txBody>
      </p:sp>
      <p:sp>
        <p:nvSpPr>
          <p:cNvPr id="5" name="Text 3"/>
          <p:cNvSpPr txBox="1"/>
          <p:nvPr/>
        </p:nvSpPr>
        <p:spPr>
          <a:xfrm>
            <a:off x="822960" y="1965960"/>
            <a:ext cx="960120" cy="502920"/>
          </a:xfrm>
          <a:prstGeom prst="rect">
            <a:avLst/>
          </a:prstGeom>
          <a:noFill/>
          <a:ln/>
        </p:spPr>
        <p:txBody>
          <a:bodyPr wrap="square" lIns="0" tIns="0" rIns="0" bIns="0" rtlCol="0" anchor="ctr"/>
          <a:lstStyle/>
          <a:p>
            <a:pPr indent="0" marL="0">
              <a:buNone/>
            </a:pPr>
            <a:r>
              <a:rPr lang="en-US" sz="1200" b="1" dirty="0">
                <a:solidFill>
                  <a:srgbClr val="0098D8"/>
                </a:solidFill>
                <a:latin typeface="Arial" pitchFamily="34" charset="0"/>
                <a:ea typeface="Arial" pitchFamily="34" charset="-122"/>
                <a:cs typeface="Arial" pitchFamily="34" charset="-120"/>
              </a:rPr>
              <a:t>Oct</a:t>
            </a:r>
            <a:endParaRPr lang="en-US" sz="1200" dirty="0"/>
          </a:p>
        </p:txBody>
      </p:sp>
      <p:sp>
        <p:nvSpPr>
          <p:cNvPr id="6" name="Text 4"/>
          <p:cNvSpPr txBox="1"/>
          <p:nvPr/>
        </p:nvSpPr>
        <p:spPr>
          <a:xfrm>
            <a:off x="1828800" y="1965960"/>
            <a:ext cx="3808476" cy="502920"/>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New homepage + Data &amp; AI Readiness tool live</a:t>
            </a:r>
            <a:endParaRPr lang="en-US" sz="1300" dirty="0"/>
          </a:p>
        </p:txBody>
      </p:sp>
      <p:sp>
        <p:nvSpPr>
          <p:cNvPr id="7" name="Text 5"/>
          <p:cNvSpPr txBox="1"/>
          <p:nvPr/>
        </p:nvSpPr>
        <p:spPr>
          <a:xfrm>
            <a:off x="822960" y="2569464"/>
            <a:ext cx="960120" cy="502920"/>
          </a:xfrm>
          <a:prstGeom prst="rect">
            <a:avLst/>
          </a:prstGeom>
          <a:noFill/>
          <a:ln/>
        </p:spPr>
        <p:txBody>
          <a:bodyPr wrap="square" lIns="0" tIns="0" rIns="0" bIns="0" rtlCol="0" anchor="ctr"/>
          <a:lstStyle/>
          <a:p>
            <a:pPr indent="0" marL="0">
              <a:buNone/>
            </a:pPr>
            <a:r>
              <a:rPr lang="en-US" sz="1200" b="1" dirty="0">
                <a:solidFill>
                  <a:srgbClr val="0098D8"/>
                </a:solidFill>
                <a:latin typeface="Arial" pitchFamily="34" charset="0"/>
                <a:ea typeface="Arial" pitchFamily="34" charset="-122"/>
                <a:cs typeface="Arial" pitchFamily="34" charset="-120"/>
              </a:rPr>
              <a:t>Oct</a:t>
            </a:r>
            <a:endParaRPr lang="en-US" sz="1200" dirty="0"/>
          </a:p>
        </p:txBody>
      </p:sp>
      <p:sp>
        <p:nvSpPr>
          <p:cNvPr id="8" name="Text 6"/>
          <p:cNvSpPr txBox="1"/>
          <p:nvPr/>
        </p:nvSpPr>
        <p:spPr>
          <a:xfrm>
            <a:off x="1828800" y="2569464"/>
            <a:ext cx="3808476" cy="502920"/>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AI Security tool live on the security pages</a:t>
            </a:r>
            <a:endParaRPr lang="en-US" sz="1300" dirty="0"/>
          </a:p>
        </p:txBody>
      </p:sp>
      <p:sp>
        <p:nvSpPr>
          <p:cNvPr id="9" name="Text 7"/>
          <p:cNvSpPr txBox="1"/>
          <p:nvPr/>
        </p:nvSpPr>
        <p:spPr>
          <a:xfrm>
            <a:off x="822960" y="3172968"/>
            <a:ext cx="960120" cy="502920"/>
          </a:xfrm>
          <a:prstGeom prst="rect">
            <a:avLst/>
          </a:prstGeom>
          <a:noFill/>
          <a:ln/>
        </p:spPr>
        <p:txBody>
          <a:bodyPr wrap="square" lIns="0" tIns="0" rIns="0" bIns="0" rtlCol="0" anchor="ctr"/>
          <a:lstStyle/>
          <a:p>
            <a:pPr indent="0" marL="0">
              <a:buNone/>
            </a:pPr>
            <a:r>
              <a:rPr lang="en-US" sz="1200" b="1" dirty="0">
                <a:solidFill>
                  <a:srgbClr val="0098D8"/>
                </a:solidFill>
                <a:latin typeface="Arial" pitchFamily="34" charset="0"/>
                <a:ea typeface="Arial" pitchFamily="34" charset="-122"/>
                <a:cs typeface="Arial" pitchFamily="34" charset="-120"/>
              </a:rPr>
              <a:t>Oct</a:t>
            </a:r>
            <a:endParaRPr lang="en-US" sz="1200" dirty="0"/>
          </a:p>
        </p:txBody>
      </p:sp>
      <p:sp>
        <p:nvSpPr>
          <p:cNvPr id="10" name="Text 8"/>
          <p:cNvSpPr txBox="1"/>
          <p:nvPr/>
        </p:nvSpPr>
        <p:spPr>
          <a:xfrm>
            <a:off x="1828800" y="3172968"/>
            <a:ext cx="3808476" cy="502920"/>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2 videos: HR brand + Life at xLoop</a:t>
            </a:r>
            <a:endParaRPr lang="en-US" sz="1300" dirty="0"/>
          </a:p>
        </p:txBody>
      </p:sp>
      <p:sp>
        <p:nvSpPr>
          <p:cNvPr id="11" name="Text 9"/>
          <p:cNvSpPr txBox="1"/>
          <p:nvPr/>
        </p:nvSpPr>
        <p:spPr>
          <a:xfrm>
            <a:off x="822960" y="3776472"/>
            <a:ext cx="960120" cy="502920"/>
          </a:xfrm>
          <a:prstGeom prst="rect">
            <a:avLst/>
          </a:prstGeom>
          <a:noFill/>
          <a:ln/>
        </p:spPr>
        <p:txBody>
          <a:bodyPr wrap="square" lIns="0" tIns="0" rIns="0" bIns="0" rtlCol="0" anchor="ctr"/>
          <a:lstStyle/>
          <a:p>
            <a:pPr indent="0" marL="0">
              <a:buNone/>
            </a:pPr>
            <a:r>
              <a:rPr lang="en-US" sz="1200" b="1" dirty="0">
                <a:solidFill>
                  <a:srgbClr val="0098D8"/>
                </a:solidFill>
                <a:latin typeface="Arial" pitchFamily="34" charset="0"/>
                <a:ea typeface="Arial" pitchFamily="34" charset="-122"/>
                <a:cs typeface="Arial" pitchFamily="34" charset="-120"/>
              </a:rPr>
              <a:t>Nov</a:t>
            </a:r>
            <a:endParaRPr lang="en-US" sz="1200" dirty="0"/>
          </a:p>
        </p:txBody>
      </p:sp>
      <p:sp>
        <p:nvSpPr>
          <p:cNvPr id="12" name="Text 10"/>
          <p:cNvSpPr txBox="1"/>
          <p:nvPr/>
        </p:nvSpPr>
        <p:spPr>
          <a:xfrm>
            <a:off x="1828800" y="3776472"/>
            <a:ext cx="3808476" cy="502920"/>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4 service cluster pages + Mining page live</a:t>
            </a:r>
            <a:endParaRPr lang="en-US" sz="1300" dirty="0"/>
          </a:p>
        </p:txBody>
      </p:sp>
      <p:sp>
        <p:nvSpPr>
          <p:cNvPr id="13" name="Text 11"/>
          <p:cNvSpPr txBox="1"/>
          <p:nvPr/>
        </p:nvSpPr>
        <p:spPr>
          <a:xfrm>
            <a:off x="822960" y="4379976"/>
            <a:ext cx="960120" cy="502920"/>
          </a:xfrm>
          <a:prstGeom prst="rect">
            <a:avLst/>
          </a:prstGeom>
          <a:noFill/>
          <a:ln/>
        </p:spPr>
        <p:txBody>
          <a:bodyPr wrap="square" lIns="0" tIns="0" rIns="0" bIns="0" rtlCol="0" anchor="ctr"/>
          <a:lstStyle/>
          <a:p>
            <a:pPr indent="0" marL="0">
              <a:buNone/>
            </a:pPr>
            <a:r>
              <a:rPr lang="en-US" sz="1200" b="1" dirty="0">
                <a:solidFill>
                  <a:srgbClr val="0098D8"/>
                </a:solidFill>
                <a:latin typeface="Arial" pitchFamily="34" charset="0"/>
                <a:ea typeface="Arial" pitchFamily="34" charset="-122"/>
                <a:cs typeface="Arial" pitchFamily="34" charset="-120"/>
              </a:rPr>
              <a:t>Nov</a:t>
            </a:r>
            <a:endParaRPr lang="en-US" sz="1200" dirty="0"/>
          </a:p>
        </p:txBody>
      </p:sp>
      <p:sp>
        <p:nvSpPr>
          <p:cNvPr id="14" name="Text 12"/>
          <p:cNvSpPr txBox="1"/>
          <p:nvPr/>
        </p:nvSpPr>
        <p:spPr>
          <a:xfrm>
            <a:off x="1828800" y="4379976"/>
            <a:ext cx="3808476" cy="502920"/>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Sales kit: master deck, case studies, 1 one-pager per cluster</a:t>
            </a:r>
            <a:endParaRPr lang="en-US" sz="1300" dirty="0"/>
          </a:p>
        </p:txBody>
      </p:sp>
      <p:sp>
        <p:nvSpPr>
          <p:cNvPr id="15" name="Text 13"/>
          <p:cNvSpPr txBox="1"/>
          <p:nvPr/>
        </p:nvSpPr>
        <p:spPr>
          <a:xfrm>
            <a:off x="822960" y="4983480"/>
            <a:ext cx="960120" cy="502920"/>
          </a:xfrm>
          <a:prstGeom prst="rect">
            <a:avLst/>
          </a:prstGeom>
          <a:noFill/>
          <a:ln/>
        </p:spPr>
        <p:txBody>
          <a:bodyPr wrap="square" lIns="0" tIns="0" rIns="0" bIns="0" rtlCol="0" anchor="ctr"/>
          <a:lstStyle/>
          <a:p>
            <a:pPr indent="0" marL="0">
              <a:buNone/>
            </a:pPr>
            <a:r>
              <a:rPr lang="en-US" sz="1200" b="1" dirty="0">
                <a:solidFill>
                  <a:srgbClr val="0098D8"/>
                </a:solidFill>
                <a:latin typeface="Arial" pitchFamily="34" charset="0"/>
                <a:ea typeface="Arial" pitchFamily="34" charset="-122"/>
                <a:cs typeface="Arial" pitchFamily="34" charset="-120"/>
              </a:rPr>
              <a:t>Oct–Mar</a:t>
            </a:r>
            <a:endParaRPr lang="en-US" sz="1200" dirty="0"/>
          </a:p>
        </p:txBody>
      </p:sp>
      <p:sp>
        <p:nvSpPr>
          <p:cNvPr id="16" name="Text 14"/>
          <p:cNvSpPr txBox="1"/>
          <p:nvPr/>
        </p:nvSpPr>
        <p:spPr>
          <a:xfrm>
            <a:off x="1828800" y="4983480"/>
            <a:ext cx="3808476" cy="502920"/>
          </a:xfrm>
          <a:prstGeom prst="rect">
            <a:avLst/>
          </a:prstGeom>
          <a:noFill/>
          <a:ln/>
        </p:spPr>
        <p:txBody>
          <a:bodyPr wrap="square" lIns="0" tIns="0" rIns="0" bIns="0" rtlCol="0" anchor="ctr"/>
          <a:lstStyle/>
          <a:p>
            <a:pPr indent="0" marL="0">
              <a:buNone/>
            </a:pPr>
            <a:r>
              <a:rPr lang="en-US" sz="1300" dirty="0">
                <a:solidFill>
                  <a:srgbClr val="22205D"/>
                </a:solidFill>
                <a:latin typeface="Arial" pitchFamily="34" charset="0"/>
                <a:ea typeface="Arial" pitchFamily="34" charset="-122"/>
                <a:cs typeface="Arial" pitchFamily="34" charset="-120"/>
              </a:rPr>
              <a:t>24 new or refreshed articles, written to be quoted by AI answers</a:t>
            </a:r>
            <a:endParaRPr lang="en-US" sz="1300" dirty="0"/>
          </a:p>
        </p:txBody>
      </p:sp>
      <p:sp>
        <p:nvSpPr>
          <p:cNvPr id="17" name="Shape 15"/>
          <p:cNvSpPr/>
          <p:nvPr/>
        </p:nvSpPr>
        <p:spPr>
          <a:xfrm>
            <a:off x="6277356" y="1280160"/>
            <a:ext cx="5362956" cy="4480560"/>
          </a:xfrm>
          <a:prstGeom prst="roundRect">
            <a:avLst>
              <a:gd name="adj" fmla="val 1633"/>
            </a:avLst>
          </a:prstGeom>
          <a:solidFill>
            <a:srgbClr val="F4F6FB"/>
          </a:solidFill>
          <a:ln w="9525">
            <a:solidFill>
              <a:srgbClr val="E6E6E6"/>
            </a:solidFill>
            <a:prstDash val="solid"/>
          </a:ln>
        </p:spPr>
      </p:sp>
      <p:sp>
        <p:nvSpPr>
          <p:cNvPr id="18" name="Text 16"/>
          <p:cNvSpPr txBox="1"/>
          <p:nvPr/>
        </p:nvSpPr>
        <p:spPr>
          <a:xfrm>
            <a:off x="6551676" y="1417320"/>
            <a:ext cx="4814316" cy="457200"/>
          </a:xfrm>
          <a:prstGeom prst="rect">
            <a:avLst/>
          </a:prstGeom>
          <a:noFill/>
          <a:ln/>
        </p:spPr>
        <p:txBody>
          <a:bodyPr wrap="square" lIns="0" tIns="0" rIns="0" bIns="0" rtlCol="0" anchor="ctr"/>
          <a:lstStyle/>
          <a:p>
            <a:pPr indent="0" marL="0">
              <a:buNone/>
            </a:pPr>
            <a:r>
              <a:rPr lang="en-US" sz="2000" b="1" dirty="0">
                <a:solidFill>
                  <a:srgbClr val="0061F6"/>
                </a:solidFill>
                <a:latin typeface="Arial" pitchFamily="34" charset="0"/>
                <a:ea typeface="Arial" pitchFamily="34" charset="-122"/>
                <a:cs typeface="Arial" pitchFamily="34" charset="-120"/>
              </a:rPr>
              <a:t>What we report every month</a:t>
            </a:r>
            <a:endParaRPr lang="en-US" sz="2000" dirty="0"/>
          </a:p>
        </p:txBody>
      </p:sp>
      <p:sp>
        <p:nvSpPr>
          <p:cNvPr id="19" name="Shape 17"/>
          <p:cNvSpPr/>
          <p:nvPr/>
        </p:nvSpPr>
        <p:spPr>
          <a:xfrm>
            <a:off x="6551676" y="2066544"/>
            <a:ext cx="384048" cy="384048"/>
          </a:xfrm>
          <a:prstGeom prst="ellipse">
            <a:avLst/>
          </a:prstGeom>
          <a:solidFill>
            <a:srgbClr val="5CC3AE"/>
          </a:solidFill>
          <a:ln w="12700">
            <a:solidFill>
              <a:srgbClr val="5CC3AE"/>
            </a:solidFill>
            <a:prstDash val="solid"/>
          </a:ln>
        </p:spPr>
      </p:sp>
      <p:sp>
        <p:nvSpPr>
          <p:cNvPr id="20" name="Text 18"/>
          <p:cNvSpPr txBox="1"/>
          <p:nvPr/>
        </p:nvSpPr>
        <p:spPr>
          <a:xfrm>
            <a:off x="6551676" y="2066544"/>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1</a:t>
            </a:r>
            <a:endParaRPr lang="en-US" sz="1400" dirty="0"/>
          </a:p>
        </p:txBody>
      </p:sp>
      <p:sp>
        <p:nvSpPr>
          <p:cNvPr id="21" name="Text 19"/>
          <p:cNvSpPr txBox="1"/>
          <p:nvPr/>
        </p:nvSpPr>
        <p:spPr>
          <a:xfrm>
            <a:off x="7100316" y="2011680"/>
            <a:ext cx="4265676" cy="292608"/>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Qualified leads by source</a:t>
            </a:r>
            <a:endParaRPr lang="en-US" sz="1400" dirty="0"/>
          </a:p>
        </p:txBody>
      </p:sp>
      <p:sp>
        <p:nvSpPr>
          <p:cNvPr id="22" name="Text 20"/>
          <p:cNvSpPr txBox="1"/>
          <p:nvPr/>
        </p:nvSpPr>
        <p:spPr>
          <a:xfrm>
            <a:off x="7100316" y="2304288"/>
            <a:ext cx="4265676" cy="256032"/>
          </a:xfrm>
          <a:prstGeom prst="rect">
            <a:avLst/>
          </a:prstGeom>
          <a:noFill/>
          <a:ln/>
        </p:spPr>
        <p:txBody>
          <a:bodyPr wrap="square" lIns="0" tIns="0" rIns="0" bIns="0" rtlCol="0" anchor="ctr"/>
          <a:lstStyle/>
          <a:p>
            <a:pPr indent="0" marL="0">
              <a:buNone/>
            </a:pPr>
            <a:r>
              <a:rPr lang="en-US" sz="1200" dirty="0">
                <a:solidFill>
                  <a:srgbClr val="5A5A7A"/>
                </a:solidFill>
                <a:latin typeface="Arial" pitchFamily="34" charset="0"/>
                <a:ea typeface="Arial" pitchFamily="34" charset="-122"/>
                <a:cs typeface="Arial" pitchFamily="34" charset="-120"/>
              </a:rPr>
              <a:t>confirmed by sales</a:t>
            </a:r>
            <a:endParaRPr lang="en-US" sz="1200" dirty="0"/>
          </a:p>
        </p:txBody>
      </p:sp>
      <p:sp>
        <p:nvSpPr>
          <p:cNvPr id="23" name="Shape 21"/>
          <p:cNvSpPr/>
          <p:nvPr/>
        </p:nvSpPr>
        <p:spPr>
          <a:xfrm>
            <a:off x="6551676" y="2779776"/>
            <a:ext cx="384048" cy="384048"/>
          </a:xfrm>
          <a:prstGeom prst="ellipse">
            <a:avLst/>
          </a:prstGeom>
          <a:solidFill>
            <a:srgbClr val="5CC3AE"/>
          </a:solidFill>
          <a:ln w="12700">
            <a:solidFill>
              <a:srgbClr val="5CC3AE"/>
            </a:solidFill>
            <a:prstDash val="solid"/>
          </a:ln>
        </p:spPr>
      </p:sp>
      <p:sp>
        <p:nvSpPr>
          <p:cNvPr id="24" name="Text 22"/>
          <p:cNvSpPr txBox="1"/>
          <p:nvPr/>
        </p:nvSpPr>
        <p:spPr>
          <a:xfrm>
            <a:off x="6551676" y="2779776"/>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2</a:t>
            </a:r>
            <a:endParaRPr lang="en-US" sz="1400" dirty="0"/>
          </a:p>
        </p:txBody>
      </p:sp>
      <p:sp>
        <p:nvSpPr>
          <p:cNvPr id="25" name="Text 23"/>
          <p:cNvSpPr txBox="1"/>
          <p:nvPr/>
        </p:nvSpPr>
        <p:spPr>
          <a:xfrm>
            <a:off x="7100316" y="2724912"/>
            <a:ext cx="4265676" cy="292608"/>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Diagnostic tool completions</a:t>
            </a:r>
            <a:endParaRPr lang="en-US" sz="1400" dirty="0"/>
          </a:p>
        </p:txBody>
      </p:sp>
      <p:sp>
        <p:nvSpPr>
          <p:cNvPr id="26" name="Text 24"/>
          <p:cNvSpPr txBox="1"/>
          <p:nvPr/>
        </p:nvSpPr>
        <p:spPr>
          <a:xfrm>
            <a:off x="7100316" y="3017520"/>
            <a:ext cx="4265676" cy="256032"/>
          </a:xfrm>
          <a:prstGeom prst="rect">
            <a:avLst/>
          </a:prstGeom>
          <a:noFill/>
          <a:ln/>
        </p:spPr>
        <p:txBody>
          <a:bodyPr wrap="square" lIns="0" tIns="0" rIns="0" bIns="0" rtlCol="0" anchor="ctr"/>
          <a:lstStyle/>
          <a:p>
            <a:pPr indent="0" marL="0">
              <a:buNone/>
            </a:pPr>
            <a:r>
              <a:rPr lang="en-US" sz="1200" dirty="0">
                <a:solidFill>
                  <a:srgbClr val="5A5A7A"/>
                </a:solidFill>
                <a:latin typeface="Arial" pitchFamily="34" charset="0"/>
                <a:ea typeface="Arial" pitchFamily="34" charset="-122"/>
                <a:cs typeface="Arial" pitchFamily="34" charset="-120"/>
              </a:rPr>
              <a:t>new, from Oct</a:t>
            </a:r>
            <a:endParaRPr lang="en-US" sz="1200" dirty="0"/>
          </a:p>
        </p:txBody>
      </p:sp>
      <p:sp>
        <p:nvSpPr>
          <p:cNvPr id="27" name="Shape 25"/>
          <p:cNvSpPr/>
          <p:nvPr/>
        </p:nvSpPr>
        <p:spPr>
          <a:xfrm>
            <a:off x="6551676" y="3493008"/>
            <a:ext cx="384048" cy="384048"/>
          </a:xfrm>
          <a:prstGeom prst="ellipse">
            <a:avLst/>
          </a:prstGeom>
          <a:solidFill>
            <a:srgbClr val="5CC3AE"/>
          </a:solidFill>
          <a:ln w="12700">
            <a:solidFill>
              <a:srgbClr val="5CC3AE"/>
            </a:solidFill>
            <a:prstDash val="solid"/>
          </a:ln>
        </p:spPr>
      </p:sp>
      <p:sp>
        <p:nvSpPr>
          <p:cNvPr id="28" name="Text 26"/>
          <p:cNvSpPr txBox="1"/>
          <p:nvPr/>
        </p:nvSpPr>
        <p:spPr>
          <a:xfrm>
            <a:off x="6551676" y="3493008"/>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7100316" y="3438144"/>
            <a:ext cx="4265676" cy="292608"/>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Non-brand search clicks</a:t>
            </a:r>
            <a:endParaRPr lang="en-US" sz="1400" dirty="0"/>
          </a:p>
        </p:txBody>
      </p:sp>
      <p:sp>
        <p:nvSpPr>
          <p:cNvPr id="30" name="Text 28"/>
          <p:cNvSpPr txBox="1"/>
          <p:nvPr/>
        </p:nvSpPr>
        <p:spPr>
          <a:xfrm>
            <a:off x="7100316" y="3730752"/>
            <a:ext cx="4265676" cy="256032"/>
          </a:xfrm>
          <a:prstGeom prst="rect">
            <a:avLst/>
          </a:prstGeom>
          <a:noFill/>
          <a:ln/>
        </p:spPr>
        <p:txBody>
          <a:bodyPr wrap="square" lIns="0" tIns="0" rIns="0" bIns="0" rtlCol="0" anchor="ctr"/>
          <a:lstStyle/>
          <a:p>
            <a:pPr indent="0" marL="0">
              <a:buNone/>
            </a:pPr>
            <a:r>
              <a:rPr lang="en-US" sz="1200" dirty="0">
                <a:solidFill>
                  <a:srgbClr val="5A5A7A"/>
                </a:solidFill>
                <a:latin typeface="Arial" pitchFamily="34" charset="0"/>
                <a:ea typeface="Arial" pitchFamily="34" charset="-122"/>
                <a:cs typeface="Arial" pitchFamily="34" charset="-120"/>
              </a:rPr>
              <a:t>baseline ~0</a:t>
            </a:r>
            <a:endParaRPr lang="en-US" sz="1200" dirty="0"/>
          </a:p>
        </p:txBody>
      </p:sp>
      <p:sp>
        <p:nvSpPr>
          <p:cNvPr id="31" name="Shape 29"/>
          <p:cNvSpPr/>
          <p:nvPr/>
        </p:nvSpPr>
        <p:spPr>
          <a:xfrm>
            <a:off x="6551676" y="4206240"/>
            <a:ext cx="384048" cy="384048"/>
          </a:xfrm>
          <a:prstGeom prst="ellipse">
            <a:avLst/>
          </a:prstGeom>
          <a:solidFill>
            <a:srgbClr val="5CC3AE"/>
          </a:solidFill>
          <a:ln w="12700">
            <a:solidFill>
              <a:srgbClr val="5CC3AE"/>
            </a:solidFill>
            <a:prstDash val="solid"/>
          </a:ln>
        </p:spPr>
      </p:sp>
      <p:sp>
        <p:nvSpPr>
          <p:cNvPr id="32" name="Text 30"/>
          <p:cNvSpPr txBox="1"/>
          <p:nvPr/>
        </p:nvSpPr>
        <p:spPr>
          <a:xfrm>
            <a:off x="6551676" y="4206240"/>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4</a:t>
            </a:r>
            <a:endParaRPr lang="en-US" sz="1400" dirty="0"/>
          </a:p>
        </p:txBody>
      </p:sp>
      <p:sp>
        <p:nvSpPr>
          <p:cNvPr id="33" name="Text 31"/>
          <p:cNvSpPr txBox="1"/>
          <p:nvPr/>
        </p:nvSpPr>
        <p:spPr>
          <a:xfrm>
            <a:off x="7100316" y="4151376"/>
            <a:ext cx="4265676" cy="292608"/>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AI-engine referrals</a:t>
            </a:r>
            <a:endParaRPr lang="en-US" sz="1400" dirty="0"/>
          </a:p>
        </p:txBody>
      </p:sp>
      <p:sp>
        <p:nvSpPr>
          <p:cNvPr id="34" name="Text 32"/>
          <p:cNvSpPr txBox="1"/>
          <p:nvPr/>
        </p:nvSpPr>
        <p:spPr>
          <a:xfrm>
            <a:off x="7100316" y="4443984"/>
            <a:ext cx="4265676" cy="256032"/>
          </a:xfrm>
          <a:prstGeom prst="rect">
            <a:avLst/>
          </a:prstGeom>
          <a:noFill/>
          <a:ln/>
        </p:spPr>
        <p:txBody>
          <a:bodyPr wrap="square" lIns="0" tIns="0" rIns="0" bIns="0" rtlCol="0" anchor="ctr"/>
          <a:lstStyle/>
          <a:p>
            <a:pPr indent="0" marL="0">
              <a:buNone/>
            </a:pPr>
            <a:r>
              <a:rPr lang="en-US" sz="1200" dirty="0">
                <a:solidFill>
                  <a:srgbClr val="5A5A7A"/>
                </a:solidFill>
                <a:latin typeface="Arial" pitchFamily="34" charset="0"/>
                <a:ea typeface="Arial" pitchFamily="34" charset="-122"/>
                <a:cs typeface="Arial" pitchFamily="34" charset="-120"/>
              </a:rPr>
              <a:t>baseline 54 a quarter</a:t>
            </a:r>
            <a:endParaRPr lang="en-US" sz="1200" dirty="0"/>
          </a:p>
        </p:txBody>
      </p:sp>
      <p:sp>
        <p:nvSpPr>
          <p:cNvPr id="35" name="Shape 33"/>
          <p:cNvSpPr/>
          <p:nvPr/>
        </p:nvSpPr>
        <p:spPr>
          <a:xfrm>
            <a:off x="6551676" y="4919472"/>
            <a:ext cx="384048" cy="384048"/>
          </a:xfrm>
          <a:prstGeom prst="ellipse">
            <a:avLst/>
          </a:prstGeom>
          <a:solidFill>
            <a:srgbClr val="5CC3AE"/>
          </a:solidFill>
          <a:ln w="12700">
            <a:solidFill>
              <a:srgbClr val="5CC3AE"/>
            </a:solidFill>
            <a:prstDash val="solid"/>
          </a:ln>
        </p:spPr>
      </p:sp>
      <p:sp>
        <p:nvSpPr>
          <p:cNvPr id="36" name="Text 34"/>
          <p:cNvSpPr txBox="1"/>
          <p:nvPr/>
        </p:nvSpPr>
        <p:spPr>
          <a:xfrm>
            <a:off x="6551676" y="491947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5</a:t>
            </a:r>
            <a:endParaRPr lang="en-US" sz="1400" dirty="0"/>
          </a:p>
        </p:txBody>
      </p:sp>
      <p:sp>
        <p:nvSpPr>
          <p:cNvPr id="37" name="Text 35"/>
          <p:cNvSpPr txBox="1"/>
          <p:nvPr/>
        </p:nvSpPr>
        <p:spPr>
          <a:xfrm>
            <a:off x="7100316" y="4864608"/>
            <a:ext cx="4265676" cy="292608"/>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Average Google position</a:t>
            </a:r>
            <a:endParaRPr lang="en-US" sz="1400" dirty="0"/>
          </a:p>
        </p:txBody>
      </p:sp>
      <p:sp>
        <p:nvSpPr>
          <p:cNvPr id="38" name="Text 36"/>
          <p:cNvSpPr txBox="1"/>
          <p:nvPr/>
        </p:nvSpPr>
        <p:spPr>
          <a:xfrm>
            <a:off x="7100316" y="5157216"/>
            <a:ext cx="4265676" cy="256032"/>
          </a:xfrm>
          <a:prstGeom prst="rect">
            <a:avLst/>
          </a:prstGeom>
          <a:noFill/>
          <a:ln/>
        </p:spPr>
        <p:txBody>
          <a:bodyPr wrap="square" lIns="0" tIns="0" rIns="0" bIns="0" rtlCol="0" anchor="ctr"/>
          <a:lstStyle/>
          <a:p>
            <a:pPr indent="0" marL="0">
              <a:buNone/>
            </a:pPr>
            <a:r>
              <a:rPr lang="en-US" sz="1200" dirty="0">
                <a:solidFill>
                  <a:srgbClr val="5A5A7A"/>
                </a:solidFill>
                <a:latin typeface="Arial" pitchFamily="34" charset="0"/>
                <a:ea typeface="Arial" pitchFamily="34" charset="-122"/>
                <a:cs typeface="Arial" pitchFamily="34" charset="-120"/>
              </a:rPr>
              <a:t>baseline page 9</a:t>
            </a:r>
            <a:endParaRPr lang="en-US" sz="1200" dirty="0"/>
          </a:p>
        </p:txBody>
      </p:sp>
      <p:sp>
        <p:nvSpPr>
          <p:cNvPr id="39" name="Text 37"/>
          <p:cNvSpPr txBox="1"/>
          <p:nvPr/>
        </p:nvSpPr>
        <p:spPr>
          <a:xfrm>
            <a:off x="548640" y="5989320"/>
            <a:ext cx="11091672" cy="411480"/>
          </a:xfrm>
          <a:prstGeom prst="rect">
            <a:avLst/>
          </a:prstGeom>
          <a:noFill/>
          <a:ln/>
        </p:spPr>
        <p:txBody>
          <a:bodyPr wrap="square" lIns="0" tIns="0" rIns="0" bIns="0" rtlCol="0" anchor="ctr"/>
          <a:lstStyle/>
          <a:p>
            <a:pPr indent="0" marL="0">
              <a:buNone/>
            </a:pPr>
            <a:r>
              <a:rPr lang="en-US" sz="1500" b="1" dirty="0">
                <a:solidFill>
                  <a:srgbClr val="22205D"/>
                </a:solidFill>
                <a:latin typeface="Arial" pitchFamily="34" charset="0"/>
                <a:ea typeface="Arial" pitchFamily="34" charset="-122"/>
                <a:cs typeface="Arial" pitchFamily="34" charset="-120"/>
              </a:rPr>
              <a:t>Baseline measured in October. Targets set in January, from real data.</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Q2 (Oct–Dec): launch and measure</a:t>
            </a:r>
            <a:endParaRPr lang="en-US" sz="3000" dirty="0"/>
          </a:p>
        </p:txBody>
      </p:sp>
      <p:sp>
        <p:nvSpPr>
          <p:cNvPr id="3" name="Shape 1"/>
          <p:cNvSpPr/>
          <p:nvPr/>
        </p:nvSpPr>
        <p:spPr>
          <a:xfrm>
            <a:off x="4114800" y="1234440"/>
            <a:ext cx="1254252" cy="365760"/>
          </a:xfrm>
          <a:prstGeom prst="rect">
            <a:avLst/>
          </a:prstGeom>
          <a:solidFill>
            <a:srgbClr val="22205D"/>
          </a:solidFill>
          <a:ln w="12700">
            <a:solidFill>
              <a:srgbClr val="FFFFFF"/>
            </a:solidFill>
            <a:prstDash val="solid"/>
          </a:ln>
        </p:spPr>
      </p:sp>
      <p:sp>
        <p:nvSpPr>
          <p:cNvPr id="4" name="Text 2"/>
          <p:cNvSpPr txBox="1"/>
          <p:nvPr/>
        </p:nvSpPr>
        <p:spPr>
          <a:xfrm>
            <a:off x="4114800" y="1234440"/>
            <a:ext cx="12542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Oct 1–15</a:t>
            </a:r>
            <a:endParaRPr lang="en-US" sz="1100" dirty="0"/>
          </a:p>
        </p:txBody>
      </p:sp>
      <p:sp>
        <p:nvSpPr>
          <p:cNvPr id="5" name="Shape 3"/>
          <p:cNvSpPr/>
          <p:nvPr/>
        </p:nvSpPr>
        <p:spPr>
          <a:xfrm>
            <a:off x="5369052" y="1234440"/>
            <a:ext cx="1254252" cy="365760"/>
          </a:xfrm>
          <a:prstGeom prst="rect">
            <a:avLst/>
          </a:prstGeom>
          <a:solidFill>
            <a:srgbClr val="22205D"/>
          </a:solidFill>
          <a:ln w="12700">
            <a:solidFill>
              <a:srgbClr val="FFFFFF"/>
            </a:solidFill>
            <a:prstDash val="solid"/>
          </a:ln>
        </p:spPr>
      </p:sp>
      <p:sp>
        <p:nvSpPr>
          <p:cNvPr id="6" name="Text 4"/>
          <p:cNvSpPr txBox="1"/>
          <p:nvPr/>
        </p:nvSpPr>
        <p:spPr>
          <a:xfrm>
            <a:off x="5369052" y="1234440"/>
            <a:ext cx="12542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Oct 16–31</a:t>
            </a:r>
            <a:endParaRPr lang="en-US" sz="1100" dirty="0"/>
          </a:p>
        </p:txBody>
      </p:sp>
      <p:sp>
        <p:nvSpPr>
          <p:cNvPr id="7" name="Shape 5"/>
          <p:cNvSpPr/>
          <p:nvPr/>
        </p:nvSpPr>
        <p:spPr>
          <a:xfrm>
            <a:off x="6623304" y="1234440"/>
            <a:ext cx="1254252" cy="365760"/>
          </a:xfrm>
          <a:prstGeom prst="rect">
            <a:avLst/>
          </a:prstGeom>
          <a:solidFill>
            <a:srgbClr val="0061F6"/>
          </a:solidFill>
          <a:ln w="12700">
            <a:solidFill>
              <a:srgbClr val="FFFFFF"/>
            </a:solidFill>
            <a:prstDash val="solid"/>
          </a:ln>
        </p:spPr>
      </p:sp>
      <p:sp>
        <p:nvSpPr>
          <p:cNvPr id="8" name="Text 6"/>
          <p:cNvSpPr txBox="1"/>
          <p:nvPr/>
        </p:nvSpPr>
        <p:spPr>
          <a:xfrm>
            <a:off x="6623304" y="1234440"/>
            <a:ext cx="12542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Nov 1–15</a:t>
            </a:r>
            <a:endParaRPr lang="en-US" sz="1100" dirty="0"/>
          </a:p>
        </p:txBody>
      </p:sp>
      <p:sp>
        <p:nvSpPr>
          <p:cNvPr id="9" name="Shape 7"/>
          <p:cNvSpPr/>
          <p:nvPr/>
        </p:nvSpPr>
        <p:spPr>
          <a:xfrm>
            <a:off x="7877556" y="1234440"/>
            <a:ext cx="1254252" cy="365760"/>
          </a:xfrm>
          <a:prstGeom prst="rect">
            <a:avLst/>
          </a:prstGeom>
          <a:solidFill>
            <a:srgbClr val="0061F6"/>
          </a:solidFill>
          <a:ln w="12700">
            <a:solidFill>
              <a:srgbClr val="FFFFFF"/>
            </a:solidFill>
            <a:prstDash val="solid"/>
          </a:ln>
        </p:spPr>
      </p:sp>
      <p:sp>
        <p:nvSpPr>
          <p:cNvPr id="10" name="Text 8"/>
          <p:cNvSpPr txBox="1"/>
          <p:nvPr/>
        </p:nvSpPr>
        <p:spPr>
          <a:xfrm>
            <a:off x="7877556" y="1234440"/>
            <a:ext cx="12542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Nov 16–30</a:t>
            </a:r>
            <a:endParaRPr lang="en-US" sz="1100" dirty="0"/>
          </a:p>
        </p:txBody>
      </p:sp>
      <p:sp>
        <p:nvSpPr>
          <p:cNvPr id="11" name="Shape 9"/>
          <p:cNvSpPr/>
          <p:nvPr/>
        </p:nvSpPr>
        <p:spPr>
          <a:xfrm>
            <a:off x="9131808" y="1234440"/>
            <a:ext cx="1254252" cy="365760"/>
          </a:xfrm>
          <a:prstGeom prst="rect">
            <a:avLst/>
          </a:prstGeom>
          <a:solidFill>
            <a:srgbClr val="0098D8"/>
          </a:solidFill>
          <a:ln w="12700">
            <a:solidFill>
              <a:srgbClr val="FFFFFF"/>
            </a:solidFill>
            <a:prstDash val="solid"/>
          </a:ln>
        </p:spPr>
      </p:sp>
      <p:sp>
        <p:nvSpPr>
          <p:cNvPr id="12" name="Text 10"/>
          <p:cNvSpPr txBox="1"/>
          <p:nvPr/>
        </p:nvSpPr>
        <p:spPr>
          <a:xfrm>
            <a:off x="9131808" y="1234440"/>
            <a:ext cx="12542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Dec 1–15</a:t>
            </a:r>
            <a:endParaRPr lang="en-US" sz="1100" dirty="0"/>
          </a:p>
        </p:txBody>
      </p:sp>
      <p:sp>
        <p:nvSpPr>
          <p:cNvPr id="13" name="Shape 11"/>
          <p:cNvSpPr/>
          <p:nvPr/>
        </p:nvSpPr>
        <p:spPr>
          <a:xfrm>
            <a:off x="10386060" y="1234440"/>
            <a:ext cx="1254252" cy="365760"/>
          </a:xfrm>
          <a:prstGeom prst="rect">
            <a:avLst/>
          </a:prstGeom>
          <a:solidFill>
            <a:srgbClr val="0098D8"/>
          </a:solidFill>
          <a:ln w="12700">
            <a:solidFill>
              <a:srgbClr val="FFFFFF"/>
            </a:solidFill>
            <a:prstDash val="solid"/>
          </a:ln>
        </p:spPr>
      </p:sp>
      <p:sp>
        <p:nvSpPr>
          <p:cNvPr id="14" name="Text 12"/>
          <p:cNvSpPr txBox="1"/>
          <p:nvPr/>
        </p:nvSpPr>
        <p:spPr>
          <a:xfrm>
            <a:off x="10386060" y="1234440"/>
            <a:ext cx="12542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Dec 16–31</a:t>
            </a:r>
            <a:endParaRPr lang="en-US" sz="1100" dirty="0"/>
          </a:p>
        </p:txBody>
      </p:sp>
      <p:sp>
        <p:nvSpPr>
          <p:cNvPr id="15" name="Shape 13"/>
          <p:cNvSpPr/>
          <p:nvPr/>
        </p:nvSpPr>
        <p:spPr>
          <a:xfrm>
            <a:off x="548640" y="1691640"/>
            <a:ext cx="11091672" cy="484632"/>
          </a:xfrm>
          <a:prstGeom prst="rect">
            <a:avLst/>
          </a:prstGeom>
          <a:solidFill>
            <a:srgbClr val="F4F6FB"/>
          </a:solidFill>
          <a:ln w="12700">
            <a:solidFill>
              <a:srgbClr val="F4F6FB"/>
            </a:solidFill>
            <a:prstDash val="solid"/>
          </a:ln>
        </p:spPr>
      </p:sp>
      <p:sp>
        <p:nvSpPr>
          <p:cNvPr id="16" name="Text 14"/>
          <p:cNvSpPr txBox="1"/>
          <p:nvPr/>
        </p:nvSpPr>
        <p:spPr>
          <a:xfrm>
            <a:off x="640080" y="1691640"/>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Fix analytics + lead tracker</a:t>
            </a:r>
            <a:endParaRPr lang="en-US" sz="1100" dirty="0"/>
          </a:p>
        </p:txBody>
      </p:sp>
      <p:sp>
        <p:nvSpPr>
          <p:cNvPr id="17" name="Shape 15"/>
          <p:cNvSpPr/>
          <p:nvPr/>
        </p:nvSpPr>
        <p:spPr>
          <a:xfrm>
            <a:off x="4160520" y="1773936"/>
            <a:ext cx="1162812" cy="320040"/>
          </a:xfrm>
          <a:prstGeom prst="roundRect">
            <a:avLst>
              <a:gd name="adj" fmla="val 17143"/>
            </a:avLst>
          </a:prstGeom>
          <a:solidFill>
            <a:srgbClr val="0098D8"/>
          </a:solidFill>
          <a:ln w="12700">
            <a:solidFill>
              <a:srgbClr val="0098D8"/>
            </a:solidFill>
            <a:prstDash val="solid"/>
          </a:ln>
        </p:spPr>
      </p:sp>
      <p:sp>
        <p:nvSpPr>
          <p:cNvPr id="18" name="Text 16"/>
          <p:cNvSpPr txBox="1"/>
          <p:nvPr/>
        </p:nvSpPr>
        <p:spPr>
          <a:xfrm>
            <a:off x="4233672" y="1773936"/>
            <a:ext cx="1016508" cy="3200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Devs · Sana</a:t>
            </a:r>
            <a:endParaRPr lang="en-US" sz="1000" dirty="0"/>
          </a:p>
        </p:txBody>
      </p:sp>
      <p:sp>
        <p:nvSpPr>
          <p:cNvPr id="19" name="Text 17"/>
          <p:cNvSpPr txBox="1"/>
          <p:nvPr/>
        </p:nvSpPr>
        <p:spPr>
          <a:xfrm>
            <a:off x="640080" y="2176272"/>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Release 1: homepage v2, Data &amp; AI tool, AI Security tool, title fixes</a:t>
            </a:r>
            <a:endParaRPr lang="en-US" sz="1100" dirty="0"/>
          </a:p>
        </p:txBody>
      </p:sp>
      <p:sp>
        <p:nvSpPr>
          <p:cNvPr id="20" name="Shape 18"/>
          <p:cNvSpPr/>
          <p:nvPr/>
        </p:nvSpPr>
        <p:spPr>
          <a:xfrm>
            <a:off x="4160520" y="2258568"/>
            <a:ext cx="2417064" cy="320040"/>
          </a:xfrm>
          <a:prstGeom prst="roundRect">
            <a:avLst>
              <a:gd name="adj" fmla="val 17143"/>
            </a:avLst>
          </a:prstGeom>
          <a:solidFill>
            <a:srgbClr val="0061F6"/>
          </a:solidFill>
          <a:ln w="12700">
            <a:solidFill>
              <a:srgbClr val="0061F6"/>
            </a:solidFill>
            <a:prstDash val="solid"/>
          </a:ln>
        </p:spPr>
      </p:sp>
      <p:sp>
        <p:nvSpPr>
          <p:cNvPr id="21" name="Text 19"/>
          <p:cNvSpPr txBox="1"/>
          <p:nvPr/>
        </p:nvSpPr>
        <p:spPr>
          <a:xfrm>
            <a:off x="4233672" y="2258568"/>
            <a:ext cx="2270760" cy="3200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Rafay · Devs · live Oct 31</a:t>
            </a:r>
            <a:endParaRPr lang="en-US" sz="1000" dirty="0"/>
          </a:p>
        </p:txBody>
      </p:sp>
      <p:sp>
        <p:nvSpPr>
          <p:cNvPr id="22" name="Shape 20"/>
          <p:cNvSpPr/>
          <p:nvPr/>
        </p:nvSpPr>
        <p:spPr>
          <a:xfrm>
            <a:off x="548640" y="2660904"/>
            <a:ext cx="11091672" cy="484632"/>
          </a:xfrm>
          <a:prstGeom prst="rect">
            <a:avLst/>
          </a:prstGeom>
          <a:solidFill>
            <a:srgbClr val="F4F6FB"/>
          </a:solidFill>
          <a:ln w="12700">
            <a:solidFill>
              <a:srgbClr val="F4F6FB"/>
            </a:solidFill>
            <a:prstDash val="solid"/>
          </a:ln>
        </p:spPr>
      </p:sp>
      <p:sp>
        <p:nvSpPr>
          <p:cNvPr id="23" name="Text 21"/>
          <p:cNvSpPr txBox="1"/>
          <p:nvPr/>
        </p:nvSpPr>
        <p:spPr>
          <a:xfrm>
            <a:off x="640080" y="2660904"/>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Release 2: 4 cluster pages, Mining, case study pages</a:t>
            </a:r>
            <a:endParaRPr lang="en-US" sz="1100" dirty="0"/>
          </a:p>
        </p:txBody>
      </p:sp>
      <p:sp>
        <p:nvSpPr>
          <p:cNvPr id="24" name="Shape 22"/>
          <p:cNvSpPr/>
          <p:nvPr/>
        </p:nvSpPr>
        <p:spPr>
          <a:xfrm>
            <a:off x="5414772" y="2743200"/>
            <a:ext cx="3671316" cy="320040"/>
          </a:xfrm>
          <a:prstGeom prst="roundRect">
            <a:avLst>
              <a:gd name="adj" fmla="val 17143"/>
            </a:avLst>
          </a:prstGeom>
          <a:solidFill>
            <a:srgbClr val="0061F6"/>
          </a:solidFill>
          <a:ln w="12700">
            <a:solidFill>
              <a:srgbClr val="0061F6"/>
            </a:solidFill>
            <a:prstDash val="solid"/>
          </a:ln>
        </p:spPr>
      </p:sp>
      <p:sp>
        <p:nvSpPr>
          <p:cNvPr id="25" name="Text 23"/>
          <p:cNvSpPr txBox="1"/>
          <p:nvPr/>
        </p:nvSpPr>
        <p:spPr>
          <a:xfrm>
            <a:off x="5487924" y="2743200"/>
            <a:ext cx="3525012" cy="3200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Rafay · Devs · live Nov 30</a:t>
            </a:r>
            <a:endParaRPr lang="en-US" sz="1000" dirty="0"/>
          </a:p>
        </p:txBody>
      </p:sp>
      <p:sp>
        <p:nvSpPr>
          <p:cNvPr id="26" name="Text 24"/>
          <p:cNvSpPr txBox="1"/>
          <p:nvPr/>
        </p:nvSpPr>
        <p:spPr>
          <a:xfrm>
            <a:off x="640080" y="3145536"/>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AI search visibility: structured data, AI profile, answer-first pages</a:t>
            </a:r>
            <a:endParaRPr lang="en-US" sz="1100" dirty="0"/>
          </a:p>
        </p:txBody>
      </p:sp>
      <p:sp>
        <p:nvSpPr>
          <p:cNvPr id="27" name="Shape 25"/>
          <p:cNvSpPr/>
          <p:nvPr/>
        </p:nvSpPr>
        <p:spPr>
          <a:xfrm>
            <a:off x="4160520" y="3227832"/>
            <a:ext cx="4925568" cy="320040"/>
          </a:xfrm>
          <a:prstGeom prst="roundRect">
            <a:avLst>
              <a:gd name="adj" fmla="val 17143"/>
            </a:avLst>
          </a:prstGeom>
          <a:solidFill>
            <a:srgbClr val="0098D8"/>
          </a:solidFill>
          <a:ln w="12700">
            <a:solidFill>
              <a:srgbClr val="0098D8"/>
            </a:solidFill>
            <a:prstDash val="solid"/>
          </a:ln>
        </p:spPr>
      </p:sp>
      <p:sp>
        <p:nvSpPr>
          <p:cNvPr id="28" name="Text 26"/>
          <p:cNvSpPr txBox="1"/>
          <p:nvPr/>
        </p:nvSpPr>
        <p:spPr>
          <a:xfrm>
            <a:off x="4233672" y="3227832"/>
            <a:ext cx="4779264" cy="3200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Sana · Devs</a:t>
            </a:r>
            <a:endParaRPr lang="en-US" sz="1000" dirty="0"/>
          </a:p>
        </p:txBody>
      </p:sp>
      <p:sp>
        <p:nvSpPr>
          <p:cNvPr id="29" name="Shape 27"/>
          <p:cNvSpPr/>
          <p:nvPr/>
        </p:nvSpPr>
        <p:spPr>
          <a:xfrm>
            <a:off x="548640" y="3630168"/>
            <a:ext cx="11091672" cy="484632"/>
          </a:xfrm>
          <a:prstGeom prst="rect">
            <a:avLst/>
          </a:prstGeom>
          <a:solidFill>
            <a:srgbClr val="F4F6FB"/>
          </a:solidFill>
          <a:ln w="12700">
            <a:solidFill>
              <a:srgbClr val="F4F6FB"/>
            </a:solidFill>
            <a:prstDash val="solid"/>
          </a:ln>
        </p:spPr>
      </p:sp>
      <p:sp>
        <p:nvSpPr>
          <p:cNvPr id="30" name="Text 28"/>
          <p:cNvSpPr txBox="1"/>
          <p:nvPr/>
        </p:nvSpPr>
        <p:spPr>
          <a:xfrm>
            <a:off x="640080" y="3630168"/>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1 article a week + LinkedIn 2–3 a week</a:t>
            </a:r>
            <a:endParaRPr lang="en-US" sz="1100" dirty="0"/>
          </a:p>
        </p:txBody>
      </p:sp>
      <p:sp>
        <p:nvSpPr>
          <p:cNvPr id="31" name="Shape 29"/>
          <p:cNvSpPr/>
          <p:nvPr/>
        </p:nvSpPr>
        <p:spPr>
          <a:xfrm>
            <a:off x="4160520" y="3712464"/>
            <a:ext cx="7434072" cy="320040"/>
          </a:xfrm>
          <a:prstGeom prst="roundRect">
            <a:avLst>
              <a:gd name="adj" fmla="val 17143"/>
            </a:avLst>
          </a:prstGeom>
          <a:solidFill>
            <a:srgbClr val="5CC3AE"/>
          </a:solidFill>
          <a:ln w="12700">
            <a:solidFill>
              <a:srgbClr val="5CC3AE"/>
            </a:solidFill>
            <a:prstDash val="solid"/>
          </a:ln>
        </p:spPr>
      </p:sp>
      <p:sp>
        <p:nvSpPr>
          <p:cNvPr id="32" name="Text 30"/>
          <p:cNvSpPr txBox="1"/>
          <p:nvPr/>
        </p:nvSpPr>
        <p:spPr>
          <a:xfrm>
            <a:off x="4233672" y="3712464"/>
            <a:ext cx="7287768" cy="320040"/>
          </a:xfrm>
          <a:prstGeom prst="rect">
            <a:avLst/>
          </a:prstGeom>
          <a:noFill/>
          <a:ln/>
        </p:spPr>
        <p:txBody>
          <a:bodyPr wrap="square" lIns="0" tIns="0" rIns="0" bIns="0" rtlCol="0" anchor="ctr"/>
          <a:lstStyle/>
          <a:p>
            <a:pPr indent="0" marL="0">
              <a:buNone/>
            </a:pPr>
            <a:r>
              <a:rPr lang="en-US" sz="1000" b="1" dirty="0">
                <a:solidFill>
                  <a:srgbClr val="22205D"/>
                </a:solidFill>
                <a:latin typeface="Arial" pitchFamily="34" charset="0"/>
                <a:ea typeface="Arial" pitchFamily="34" charset="-122"/>
                <a:cs typeface="Arial" pitchFamily="34" charset="-120"/>
              </a:rPr>
              <a:t>Sana · Omais</a:t>
            </a:r>
            <a:endParaRPr lang="en-US" sz="1000" dirty="0"/>
          </a:p>
        </p:txBody>
      </p:sp>
      <p:sp>
        <p:nvSpPr>
          <p:cNvPr id="33" name="Text 31"/>
          <p:cNvSpPr txBox="1"/>
          <p:nvPr/>
        </p:nvSpPr>
        <p:spPr>
          <a:xfrm>
            <a:off x="640080" y="4114800"/>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Sales kit: final deck, Kayali case study, one-pagers</a:t>
            </a:r>
            <a:endParaRPr lang="en-US" sz="1100" dirty="0"/>
          </a:p>
        </p:txBody>
      </p:sp>
      <p:sp>
        <p:nvSpPr>
          <p:cNvPr id="34" name="Shape 32"/>
          <p:cNvSpPr/>
          <p:nvPr/>
        </p:nvSpPr>
        <p:spPr>
          <a:xfrm>
            <a:off x="4160520" y="4197096"/>
            <a:ext cx="3671316" cy="320040"/>
          </a:xfrm>
          <a:prstGeom prst="roundRect">
            <a:avLst>
              <a:gd name="adj" fmla="val 17143"/>
            </a:avLst>
          </a:prstGeom>
          <a:solidFill>
            <a:srgbClr val="5CC3AE"/>
          </a:solidFill>
          <a:ln w="12700">
            <a:solidFill>
              <a:srgbClr val="5CC3AE"/>
            </a:solidFill>
            <a:prstDash val="solid"/>
          </a:ln>
        </p:spPr>
      </p:sp>
      <p:sp>
        <p:nvSpPr>
          <p:cNvPr id="35" name="Text 33"/>
          <p:cNvSpPr txBox="1"/>
          <p:nvPr/>
        </p:nvSpPr>
        <p:spPr>
          <a:xfrm>
            <a:off x="4233672" y="4197096"/>
            <a:ext cx="3525012" cy="320040"/>
          </a:xfrm>
          <a:prstGeom prst="rect">
            <a:avLst/>
          </a:prstGeom>
          <a:noFill/>
          <a:ln/>
        </p:spPr>
        <p:txBody>
          <a:bodyPr wrap="square" lIns="0" tIns="0" rIns="0" bIns="0" rtlCol="0" anchor="ctr"/>
          <a:lstStyle/>
          <a:p>
            <a:pPr indent="0" marL="0">
              <a:buNone/>
            </a:pPr>
            <a:r>
              <a:rPr lang="en-US" sz="1000" b="1" dirty="0">
                <a:solidFill>
                  <a:srgbClr val="22205D"/>
                </a:solidFill>
                <a:latin typeface="Arial" pitchFamily="34" charset="0"/>
                <a:ea typeface="Arial" pitchFamily="34" charset="-122"/>
                <a:cs typeface="Arial" pitchFamily="34" charset="-120"/>
              </a:rPr>
              <a:t>Sana · Omais</a:t>
            </a:r>
            <a:endParaRPr lang="en-US" sz="1000" dirty="0"/>
          </a:p>
        </p:txBody>
      </p:sp>
      <p:sp>
        <p:nvSpPr>
          <p:cNvPr id="36" name="Shape 34"/>
          <p:cNvSpPr/>
          <p:nvPr/>
        </p:nvSpPr>
        <p:spPr>
          <a:xfrm>
            <a:off x="548640" y="4599432"/>
            <a:ext cx="11091672" cy="484632"/>
          </a:xfrm>
          <a:prstGeom prst="rect">
            <a:avLst/>
          </a:prstGeom>
          <a:solidFill>
            <a:srgbClr val="F4F6FB"/>
          </a:solidFill>
          <a:ln w="12700">
            <a:solidFill>
              <a:srgbClr val="F4F6FB"/>
            </a:solidFill>
            <a:prstDash val="solid"/>
          </a:ln>
        </p:spPr>
      </p:sp>
      <p:sp>
        <p:nvSpPr>
          <p:cNvPr id="37" name="Text 35"/>
          <p:cNvSpPr txBox="1"/>
          <p:nvPr/>
        </p:nvSpPr>
        <p:spPr>
          <a:xfrm>
            <a:off x="640080" y="4599432"/>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Videos: HR brand, then Life at xLoop</a:t>
            </a:r>
            <a:endParaRPr lang="en-US" sz="1100" dirty="0"/>
          </a:p>
        </p:txBody>
      </p:sp>
      <p:sp>
        <p:nvSpPr>
          <p:cNvPr id="38" name="Shape 36"/>
          <p:cNvSpPr/>
          <p:nvPr/>
        </p:nvSpPr>
        <p:spPr>
          <a:xfrm>
            <a:off x="4160520" y="4681728"/>
            <a:ext cx="2417064" cy="320040"/>
          </a:xfrm>
          <a:prstGeom prst="roundRect">
            <a:avLst>
              <a:gd name="adj" fmla="val 17143"/>
            </a:avLst>
          </a:prstGeom>
          <a:solidFill>
            <a:srgbClr val="5CC3AE"/>
          </a:solidFill>
          <a:ln w="12700">
            <a:solidFill>
              <a:srgbClr val="5CC3AE"/>
            </a:solidFill>
            <a:prstDash val="solid"/>
          </a:ln>
        </p:spPr>
      </p:sp>
      <p:sp>
        <p:nvSpPr>
          <p:cNvPr id="39" name="Text 37"/>
          <p:cNvSpPr txBox="1"/>
          <p:nvPr/>
        </p:nvSpPr>
        <p:spPr>
          <a:xfrm>
            <a:off x="4233672" y="4681728"/>
            <a:ext cx="2270760" cy="320040"/>
          </a:xfrm>
          <a:prstGeom prst="rect">
            <a:avLst/>
          </a:prstGeom>
          <a:noFill/>
          <a:ln/>
        </p:spPr>
        <p:txBody>
          <a:bodyPr wrap="square" lIns="0" tIns="0" rIns="0" bIns="0" rtlCol="0" anchor="ctr"/>
          <a:lstStyle/>
          <a:p>
            <a:pPr indent="0" marL="0">
              <a:buNone/>
            </a:pPr>
            <a:r>
              <a:rPr lang="en-US" sz="1000" b="1" dirty="0">
                <a:solidFill>
                  <a:srgbClr val="22205D"/>
                </a:solidFill>
                <a:latin typeface="Arial" pitchFamily="34" charset="0"/>
                <a:ea typeface="Arial" pitchFamily="34" charset="-122"/>
                <a:cs typeface="Arial" pitchFamily="34" charset="-120"/>
              </a:rPr>
              <a:t>Omais · Sana</a:t>
            </a:r>
            <a:endParaRPr lang="en-US" sz="1000" dirty="0"/>
          </a:p>
        </p:txBody>
      </p:sp>
      <p:sp>
        <p:nvSpPr>
          <p:cNvPr id="40" name="Text 38"/>
          <p:cNvSpPr txBox="1"/>
          <p:nvPr/>
        </p:nvSpPr>
        <p:spPr>
          <a:xfrm>
            <a:off x="640080" y="5084064"/>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Launch campaign for the diagnostic tools</a:t>
            </a:r>
            <a:endParaRPr lang="en-US" sz="1100" dirty="0"/>
          </a:p>
        </p:txBody>
      </p:sp>
      <p:sp>
        <p:nvSpPr>
          <p:cNvPr id="41" name="Shape 39"/>
          <p:cNvSpPr/>
          <p:nvPr/>
        </p:nvSpPr>
        <p:spPr>
          <a:xfrm>
            <a:off x="6669024" y="5166360"/>
            <a:ext cx="3671316" cy="320040"/>
          </a:xfrm>
          <a:prstGeom prst="roundRect">
            <a:avLst>
              <a:gd name="adj" fmla="val 17143"/>
            </a:avLst>
          </a:prstGeom>
          <a:solidFill>
            <a:srgbClr val="50BFE6"/>
          </a:solidFill>
          <a:ln w="12700">
            <a:solidFill>
              <a:srgbClr val="50BFE6"/>
            </a:solidFill>
            <a:prstDash val="solid"/>
          </a:ln>
        </p:spPr>
      </p:sp>
      <p:sp>
        <p:nvSpPr>
          <p:cNvPr id="42" name="Text 40"/>
          <p:cNvSpPr txBox="1"/>
          <p:nvPr/>
        </p:nvSpPr>
        <p:spPr>
          <a:xfrm>
            <a:off x="6742176" y="5166360"/>
            <a:ext cx="3525012" cy="320040"/>
          </a:xfrm>
          <a:prstGeom prst="rect">
            <a:avLst/>
          </a:prstGeom>
          <a:noFill/>
          <a:ln/>
        </p:spPr>
        <p:txBody>
          <a:bodyPr wrap="square" lIns="0" tIns="0" rIns="0" bIns="0" rtlCol="0" anchor="ctr"/>
          <a:lstStyle/>
          <a:p>
            <a:pPr indent="0" marL="0">
              <a:buNone/>
            </a:pPr>
            <a:r>
              <a:rPr lang="en-US" sz="1000" b="1" dirty="0">
                <a:solidFill>
                  <a:srgbClr val="22205D"/>
                </a:solidFill>
                <a:latin typeface="Arial" pitchFamily="34" charset="0"/>
                <a:ea typeface="Arial" pitchFamily="34" charset="-122"/>
                <a:cs typeface="Arial" pitchFamily="34" charset="-120"/>
              </a:rPr>
              <a:t>Sana · Omais · leaders</a:t>
            </a:r>
            <a:endParaRPr lang="en-US" sz="1000" dirty="0"/>
          </a:p>
        </p:txBody>
      </p:sp>
      <p:sp>
        <p:nvSpPr>
          <p:cNvPr id="43" name="Shape 41"/>
          <p:cNvSpPr/>
          <p:nvPr/>
        </p:nvSpPr>
        <p:spPr>
          <a:xfrm>
            <a:off x="548640" y="5568696"/>
            <a:ext cx="11091672" cy="484632"/>
          </a:xfrm>
          <a:prstGeom prst="rect">
            <a:avLst/>
          </a:prstGeom>
          <a:solidFill>
            <a:srgbClr val="F4F6FB"/>
          </a:solidFill>
          <a:ln w="12700">
            <a:solidFill>
              <a:srgbClr val="F4F6FB"/>
            </a:solidFill>
            <a:prstDash val="solid"/>
          </a:ln>
        </p:spPr>
      </p:sp>
      <p:sp>
        <p:nvSpPr>
          <p:cNvPr id="44" name="Text 42"/>
          <p:cNvSpPr txBox="1"/>
          <p:nvPr/>
        </p:nvSpPr>
        <p:spPr>
          <a:xfrm>
            <a:off x="640080" y="5568696"/>
            <a:ext cx="3383280" cy="484632"/>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Q2 report + Q3 plan</a:t>
            </a:r>
            <a:endParaRPr lang="en-US" sz="1100" dirty="0"/>
          </a:p>
        </p:txBody>
      </p:sp>
      <p:sp>
        <p:nvSpPr>
          <p:cNvPr id="45" name="Shape 43"/>
          <p:cNvSpPr/>
          <p:nvPr/>
        </p:nvSpPr>
        <p:spPr>
          <a:xfrm>
            <a:off x="10431780" y="5650992"/>
            <a:ext cx="1162812" cy="320040"/>
          </a:xfrm>
          <a:prstGeom prst="roundRect">
            <a:avLst>
              <a:gd name="adj" fmla="val 17143"/>
            </a:avLst>
          </a:prstGeom>
          <a:solidFill>
            <a:srgbClr val="22205D"/>
          </a:solidFill>
          <a:ln w="12700">
            <a:solidFill>
              <a:srgbClr val="22205D"/>
            </a:solidFill>
            <a:prstDash val="solid"/>
          </a:ln>
        </p:spPr>
      </p:sp>
      <p:sp>
        <p:nvSpPr>
          <p:cNvPr id="46" name="Text 44"/>
          <p:cNvSpPr txBox="1"/>
          <p:nvPr/>
        </p:nvSpPr>
        <p:spPr>
          <a:xfrm>
            <a:off x="10504932" y="5650992"/>
            <a:ext cx="1016508" cy="3200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Sana</a:t>
            </a:r>
            <a:endParaRPr lang="en-US" sz="1000" dirty="0"/>
          </a:p>
        </p:txBody>
      </p:sp>
      <p:sp>
        <p:nvSpPr>
          <p:cNvPr id="47" name="Text 45"/>
          <p:cNvSpPr txBox="1"/>
          <p:nvPr/>
        </p:nvSpPr>
        <p:spPr>
          <a:xfrm>
            <a:off x="548640" y="6263640"/>
            <a:ext cx="11091672" cy="320040"/>
          </a:xfrm>
          <a:prstGeom prst="rect">
            <a:avLst/>
          </a:prstGeom>
          <a:noFill/>
          <a:ln/>
        </p:spPr>
        <p:txBody>
          <a:bodyPr wrap="square" lIns="0" tIns="0" rIns="0" bIns="0" rtlCol="0" anchor="ctr"/>
          <a:lstStyle/>
          <a:p>
            <a:pPr indent="0" marL="0">
              <a:buNone/>
            </a:pPr>
            <a:r>
              <a:rPr lang="en-US" sz="1200" i="1" dirty="0">
                <a:solidFill>
                  <a:srgbClr val="5A5A7A"/>
                </a:solidFill>
                <a:latin typeface="Arial" pitchFamily="34" charset="0"/>
                <a:ea typeface="Arial" pitchFamily="34" charset="-122"/>
                <a:cs typeface="Arial" pitchFamily="34" charset="-120"/>
              </a:rPr>
              <a:t>Website dates depend on production scheduling the two developers.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Q3 (Jan–Mar): turn visibility into leads</a:t>
            </a:r>
            <a:endParaRPr lang="en-US" sz="3000" dirty="0"/>
          </a:p>
        </p:txBody>
      </p:sp>
      <p:sp>
        <p:nvSpPr>
          <p:cNvPr id="3" name="Shape 1"/>
          <p:cNvSpPr/>
          <p:nvPr/>
        </p:nvSpPr>
        <p:spPr>
          <a:xfrm>
            <a:off x="548640" y="1280160"/>
            <a:ext cx="3514344" cy="3017520"/>
          </a:xfrm>
          <a:prstGeom prst="roundRect">
            <a:avLst>
              <a:gd name="adj" fmla="val 2424"/>
            </a:avLst>
          </a:prstGeom>
          <a:solidFill>
            <a:srgbClr val="FFFFFF"/>
          </a:solidFill>
          <a:ln w="9525">
            <a:solidFill>
              <a:srgbClr val="E6E6E6"/>
            </a:solidFill>
            <a:prstDash val="solid"/>
          </a:ln>
        </p:spPr>
      </p:sp>
      <p:sp>
        <p:nvSpPr>
          <p:cNvPr id="4" name="Shape 2"/>
          <p:cNvSpPr/>
          <p:nvPr/>
        </p:nvSpPr>
        <p:spPr>
          <a:xfrm>
            <a:off x="777240" y="1508760"/>
            <a:ext cx="1554480" cy="411480"/>
          </a:xfrm>
          <a:prstGeom prst="roundRect">
            <a:avLst>
              <a:gd name="adj" fmla="val 17778"/>
            </a:avLst>
          </a:prstGeom>
          <a:solidFill>
            <a:srgbClr val="22205D"/>
          </a:solidFill>
          <a:ln w="12700">
            <a:solidFill>
              <a:srgbClr val="22205D"/>
            </a:solidFill>
            <a:prstDash val="solid"/>
          </a:ln>
        </p:spPr>
      </p:sp>
      <p:sp>
        <p:nvSpPr>
          <p:cNvPr id="5" name="Text 3"/>
          <p:cNvSpPr txBox="1"/>
          <p:nvPr/>
        </p:nvSpPr>
        <p:spPr>
          <a:xfrm>
            <a:off x="777240" y="1508760"/>
            <a:ext cx="1554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January</a:t>
            </a:r>
            <a:endParaRPr lang="en-US" sz="1400" dirty="0"/>
          </a:p>
        </p:txBody>
      </p:sp>
      <p:sp>
        <p:nvSpPr>
          <p:cNvPr id="6" name="Text 4"/>
          <p:cNvSpPr txBox="1"/>
          <p:nvPr/>
        </p:nvSpPr>
        <p:spPr>
          <a:xfrm>
            <a:off x="777240" y="2148840"/>
            <a:ext cx="3057144" cy="20116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Set lead targets from the Q2 baseline</a:t>
            </a:r>
            <a:endParaRPr lang="en-US" sz="1400" dirty="0"/>
          </a:p>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Article series answering buyer questions for each service</a:t>
            </a:r>
            <a:endParaRPr lang="en-US" sz="1400" dirty="0"/>
          </a:p>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Promote both diagnostic tools on LinkedIn, including leaders' posts</a:t>
            </a:r>
            <a:endParaRPr lang="en-US" sz="1400" dirty="0"/>
          </a:p>
        </p:txBody>
      </p:sp>
      <p:sp>
        <p:nvSpPr>
          <p:cNvPr id="7" name="Shape 5"/>
          <p:cNvSpPr/>
          <p:nvPr/>
        </p:nvSpPr>
        <p:spPr>
          <a:xfrm>
            <a:off x="4337304" y="1280160"/>
            <a:ext cx="3514344" cy="3017520"/>
          </a:xfrm>
          <a:prstGeom prst="roundRect">
            <a:avLst>
              <a:gd name="adj" fmla="val 2424"/>
            </a:avLst>
          </a:prstGeom>
          <a:solidFill>
            <a:srgbClr val="FFFFFF"/>
          </a:solidFill>
          <a:ln w="9525">
            <a:solidFill>
              <a:srgbClr val="E6E6E6"/>
            </a:solidFill>
            <a:prstDash val="solid"/>
          </a:ln>
        </p:spPr>
      </p:sp>
      <p:sp>
        <p:nvSpPr>
          <p:cNvPr id="8" name="Shape 6"/>
          <p:cNvSpPr/>
          <p:nvPr/>
        </p:nvSpPr>
        <p:spPr>
          <a:xfrm>
            <a:off x="4565904" y="1508760"/>
            <a:ext cx="1554480" cy="411480"/>
          </a:xfrm>
          <a:prstGeom prst="roundRect">
            <a:avLst>
              <a:gd name="adj" fmla="val 17778"/>
            </a:avLst>
          </a:prstGeom>
          <a:solidFill>
            <a:srgbClr val="0061F6"/>
          </a:solidFill>
          <a:ln w="12700">
            <a:solidFill>
              <a:srgbClr val="0061F6"/>
            </a:solidFill>
            <a:prstDash val="solid"/>
          </a:ln>
        </p:spPr>
      </p:sp>
      <p:sp>
        <p:nvSpPr>
          <p:cNvPr id="9" name="Text 7"/>
          <p:cNvSpPr txBox="1"/>
          <p:nvPr/>
        </p:nvSpPr>
        <p:spPr>
          <a:xfrm>
            <a:off x="4565904" y="1508760"/>
            <a:ext cx="1554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February</a:t>
            </a:r>
            <a:endParaRPr lang="en-US" sz="1400" dirty="0"/>
          </a:p>
        </p:txBody>
      </p:sp>
      <p:sp>
        <p:nvSpPr>
          <p:cNvPr id="10" name="Text 8"/>
          <p:cNvSpPr txBox="1"/>
          <p:nvPr/>
        </p:nvSpPr>
        <p:spPr>
          <a:xfrm>
            <a:off x="4565904" y="2148840"/>
            <a:ext cx="3057144" cy="20116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One joint asset each with Microsoft, Kore.ai and Emeritus, for sales' partner model</a:t>
            </a:r>
            <a:endParaRPr lang="en-US" sz="1400" dirty="0"/>
          </a:p>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2 new case studies, with client permission</a:t>
            </a:r>
            <a:endParaRPr lang="en-US" sz="1400" dirty="0"/>
          </a:p>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Leaders' LinkedIn aimed at sales' target accounts</a:t>
            </a:r>
            <a:endParaRPr lang="en-US" sz="1400" dirty="0"/>
          </a:p>
        </p:txBody>
      </p:sp>
      <p:sp>
        <p:nvSpPr>
          <p:cNvPr id="11" name="Shape 9"/>
          <p:cNvSpPr/>
          <p:nvPr/>
        </p:nvSpPr>
        <p:spPr>
          <a:xfrm>
            <a:off x="8125968" y="1280160"/>
            <a:ext cx="3514344" cy="3017520"/>
          </a:xfrm>
          <a:prstGeom prst="roundRect">
            <a:avLst>
              <a:gd name="adj" fmla="val 2424"/>
            </a:avLst>
          </a:prstGeom>
          <a:solidFill>
            <a:srgbClr val="FFFFFF"/>
          </a:solidFill>
          <a:ln w="9525">
            <a:solidFill>
              <a:srgbClr val="E6E6E6"/>
            </a:solidFill>
            <a:prstDash val="solid"/>
          </a:ln>
        </p:spPr>
      </p:sp>
      <p:sp>
        <p:nvSpPr>
          <p:cNvPr id="12" name="Shape 10"/>
          <p:cNvSpPr/>
          <p:nvPr/>
        </p:nvSpPr>
        <p:spPr>
          <a:xfrm>
            <a:off x="8354568" y="1508760"/>
            <a:ext cx="1554480" cy="411480"/>
          </a:xfrm>
          <a:prstGeom prst="roundRect">
            <a:avLst>
              <a:gd name="adj" fmla="val 17778"/>
            </a:avLst>
          </a:prstGeom>
          <a:solidFill>
            <a:srgbClr val="0098D8"/>
          </a:solidFill>
          <a:ln w="12700">
            <a:solidFill>
              <a:srgbClr val="0098D8"/>
            </a:solidFill>
            <a:prstDash val="solid"/>
          </a:ln>
        </p:spPr>
      </p:sp>
      <p:sp>
        <p:nvSpPr>
          <p:cNvPr id="13" name="Text 11"/>
          <p:cNvSpPr txBox="1"/>
          <p:nvPr/>
        </p:nvSpPr>
        <p:spPr>
          <a:xfrm>
            <a:off x="8354568" y="1508760"/>
            <a:ext cx="1554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March</a:t>
            </a:r>
            <a:endParaRPr lang="en-US" sz="1400" dirty="0"/>
          </a:p>
        </p:txBody>
      </p:sp>
      <p:sp>
        <p:nvSpPr>
          <p:cNvPr id="14" name="Text 12"/>
          <p:cNvSpPr txBox="1"/>
          <p:nvPr/>
        </p:nvSpPr>
        <p:spPr>
          <a:xfrm>
            <a:off x="8354568" y="2148840"/>
            <a:ext cx="3057144" cy="20116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Award and PR submissions</a:t>
            </a:r>
            <a:endParaRPr lang="en-US" sz="1400" dirty="0"/>
          </a:p>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Refresh the top 20 articles so AI answers quote them</a:t>
            </a:r>
            <a:endParaRPr lang="en-US" sz="1400" dirty="0"/>
          </a:p>
          <a:p>
            <a:pPr marL="342900" indent="-342900">
              <a:spcAft>
                <a:spcPts val="1000"/>
              </a:spcAft>
              <a:buSzPct val="100000"/>
              <a:buChar char="•"/>
            </a:pPr>
            <a:r>
              <a:rPr lang="en-US" sz="1400" dirty="0">
                <a:solidFill>
                  <a:srgbClr val="22205D"/>
                </a:solidFill>
                <a:latin typeface="Arial" pitchFamily="34" charset="0"/>
                <a:ea typeface="Arial" pitchFamily="34" charset="-122"/>
                <a:cs typeface="Arial" pitchFamily="34" charset="-120"/>
              </a:rPr>
              <a:t>Q3 review + Q4 plan</a:t>
            </a:r>
            <a:endParaRPr lang="en-US" sz="1400" dirty="0"/>
          </a:p>
        </p:txBody>
      </p:sp>
      <p:sp>
        <p:nvSpPr>
          <p:cNvPr id="15" name="Text 13"/>
          <p:cNvSpPr txBox="1"/>
          <p:nvPr/>
        </p:nvSpPr>
        <p:spPr>
          <a:xfrm>
            <a:off x="548640" y="4572000"/>
            <a:ext cx="11091672" cy="45720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No paid lead generation assumed. If budget opens, the first test is a small LinkedIn campaign to the Data &amp; AI tool.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Who does what</a:t>
            </a:r>
            <a:endParaRPr lang="en-US" sz="3000" dirty="0"/>
          </a:p>
        </p:txBody>
      </p:sp>
      <p:sp>
        <p:nvSpPr>
          <p:cNvPr id="3" name="Shape 1"/>
          <p:cNvSpPr/>
          <p:nvPr/>
        </p:nvSpPr>
        <p:spPr>
          <a:xfrm>
            <a:off x="548640" y="1234440"/>
            <a:ext cx="6766560" cy="822960"/>
          </a:xfrm>
          <a:prstGeom prst="roundRect">
            <a:avLst>
              <a:gd name="adj" fmla="val 8889"/>
            </a:avLst>
          </a:prstGeom>
          <a:solidFill>
            <a:srgbClr val="FFFFFF"/>
          </a:solidFill>
          <a:ln w="9525">
            <a:solidFill>
              <a:srgbClr val="E6E6E6"/>
            </a:solidFill>
            <a:prstDash val="solid"/>
          </a:ln>
        </p:spPr>
      </p:sp>
      <p:sp>
        <p:nvSpPr>
          <p:cNvPr id="4" name="Shape 2"/>
          <p:cNvSpPr/>
          <p:nvPr/>
        </p:nvSpPr>
        <p:spPr>
          <a:xfrm>
            <a:off x="749808" y="1453896"/>
            <a:ext cx="384048" cy="384048"/>
          </a:xfrm>
          <a:prstGeom prst="ellipse">
            <a:avLst/>
          </a:prstGeom>
          <a:solidFill>
            <a:srgbClr val="22205D"/>
          </a:solidFill>
          <a:ln w="12700">
            <a:solidFill>
              <a:srgbClr val="22205D"/>
            </a:solidFill>
            <a:prstDash val="solid"/>
          </a:ln>
        </p:spPr>
      </p:sp>
      <p:sp>
        <p:nvSpPr>
          <p:cNvPr id="5" name="Text 3"/>
          <p:cNvSpPr txBox="1"/>
          <p:nvPr/>
        </p:nvSpPr>
        <p:spPr>
          <a:xfrm>
            <a:off x="1280160" y="1307592"/>
            <a:ext cx="2377440" cy="36576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Sana</a:t>
            </a:r>
            <a:endParaRPr lang="en-US" sz="1400" dirty="0"/>
          </a:p>
        </p:txBody>
      </p:sp>
      <p:sp>
        <p:nvSpPr>
          <p:cNvPr id="6" name="Text 4"/>
          <p:cNvSpPr txBox="1"/>
          <p:nvPr/>
        </p:nvSpPr>
        <p:spPr>
          <a:xfrm>
            <a:off x="1280160" y="1655064"/>
            <a:ext cx="2377440" cy="329184"/>
          </a:xfrm>
          <a:prstGeom prst="rect">
            <a:avLst/>
          </a:prstGeom>
          <a:noFill/>
          <a:ln/>
        </p:spPr>
        <p:txBody>
          <a:bodyPr wrap="square" lIns="0" tIns="0" rIns="0" bIns="0" rtlCol="0" anchor="ctr"/>
          <a:lstStyle/>
          <a:p>
            <a:pPr indent="0" marL="0">
              <a:buNone/>
            </a:pPr>
            <a:r>
              <a:rPr lang="en-US" sz="1100" dirty="0">
                <a:solidFill>
                  <a:srgbClr val="5A5A7A"/>
                </a:solidFill>
                <a:latin typeface="Arial" pitchFamily="34" charset="0"/>
                <a:ea typeface="Arial" pitchFamily="34" charset="-122"/>
                <a:cs typeface="Arial" pitchFamily="34" charset="-120"/>
              </a:rPr>
              <a:t>Marketing consultant, flexible hours</a:t>
            </a:r>
            <a:endParaRPr lang="en-US" sz="1100" dirty="0"/>
          </a:p>
        </p:txBody>
      </p:sp>
      <p:sp>
        <p:nvSpPr>
          <p:cNvPr id="7" name="Text 5"/>
          <p:cNvSpPr txBox="1"/>
          <p:nvPr/>
        </p:nvSpPr>
        <p:spPr>
          <a:xfrm>
            <a:off x="3749040" y="1298448"/>
            <a:ext cx="3383280" cy="694944"/>
          </a:xfrm>
          <a:prstGeom prst="rect">
            <a:avLst/>
          </a:prstGeom>
          <a:noFill/>
          <a:ln/>
        </p:spPr>
        <p:txBody>
          <a:bodyPr wrap="square" lIns="0" tIns="0" rIns="0" bIns="0" rtlCol="0" anchor="ctr"/>
          <a:lstStyle/>
          <a:p>
            <a:pPr indent="0" marL="0">
              <a:buNone/>
            </a:pPr>
            <a:r>
              <a:rPr lang="en-US" sz="1200" dirty="0">
                <a:solidFill>
                  <a:srgbClr val="22205D"/>
                </a:solidFill>
                <a:latin typeface="Arial" pitchFamily="34" charset="0"/>
                <a:ea typeface="Arial" pitchFamily="34" charset="-122"/>
                <a:cs typeface="Arial" pitchFamily="34" charset="-120"/>
              </a:rPr>
              <a:t>Strategy, content, SEO and AI search, briefs, reviews, monthly report. Not for same-day requests</a:t>
            </a:r>
            <a:endParaRPr lang="en-US" sz="1200" dirty="0"/>
          </a:p>
        </p:txBody>
      </p:sp>
      <p:sp>
        <p:nvSpPr>
          <p:cNvPr id="8" name="Shape 6"/>
          <p:cNvSpPr/>
          <p:nvPr/>
        </p:nvSpPr>
        <p:spPr>
          <a:xfrm>
            <a:off x="548640" y="2194560"/>
            <a:ext cx="6766560" cy="822960"/>
          </a:xfrm>
          <a:prstGeom prst="roundRect">
            <a:avLst>
              <a:gd name="adj" fmla="val 8889"/>
            </a:avLst>
          </a:prstGeom>
          <a:solidFill>
            <a:srgbClr val="FFFFFF"/>
          </a:solidFill>
          <a:ln w="9525">
            <a:solidFill>
              <a:srgbClr val="E6E6E6"/>
            </a:solidFill>
            <a:prstDash val="solid"/>
          </a:ln>
        </p:spPr>
      </p:sp>
      <p:sp>
        <p:nvSpPr>
          <p:cNvPr id="9" name="Shape 7"/>
          <p:cNvSpPr/>
          <p:nvPr/>
        </p:nvSpPr>
        <p:spPr>
          <a:xfrm>
            <a:off x="749808" y="2414016"/>
            <a:ext cx="384048" cy="384048"/>
          </a:xfrm>
          <a:prstGeom prst="ellipse">
            <a:avLst/>
          </a:prstGeom>
          <a:solidFill>
            <a:srgbClr val="0061F6"/>
          </a:solidFill>
          <a:ln w="12700">
            <a:solidFill>
              <a:srgbClr val="0061F6"/>
            </a:solidFill>
            <a:prstDash val="solid"/>
          </a:ln>
        </p:spPr>
      </p:sp>
      <p:sp>
        <p:nvSpPr>
          <p:cNvPr id="10" name="Text 8"/>
          <p:cNvSpPr txBox="1"/>
          <p:nvPr/>
        </p:nvSpPr>
        <p:spPr>
          <a:xfrm>
            <a:off x="1280160" y="2267712"/>
            <a:ext cx="2377440" cy="36576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Omais</a:t>
            </a:r>
            <a:endParaRPr lang="en-US" sz="1400" dirty="0"/>
          </a:p>
        </p:txBody>
      </p:sp>
      <p:sp>
        <p:nvSpPr>
          <p:cNvPr id="11" name="Text 9"/>
          <p:cNvSpPr txBox="1"/>
          <p:nvPr/>
        </p:nvSpPr>
        <p:spPr>
          <a:xfrm>
            <a:off x="1280160" y="2615184"/>
            <a:ext cx="2377440" cy="329184"/>
          </a:xfrm>
          <a:prstGeom prst="rect">
            <a:avLst/>
          </a:prstGeom>
          <a:noFill/>
          <a:ln/>
        </p:spPr>
        <p:txBody>
          <a:bodyPr wrap="square" lIns="0" tIns="0" rIns="0" bIns="0" rtlCol="0" anchor="ctr"/>
          <a:lstStyle/>
          <a:p>
            <a:pPr indent="0" marL="0">
              <a:buNone/>
            </a:pPr>
            <a:r>
              <a:rPr lang="en-US" sz="1100" dirty="0">
                <a:solidFill>
                  <a:srgbClr val="5A5A7A"/>
                </a:solidFill>
                <a:latin typeface="Arial" pitchFamily="34" charset="0"/>
                <a:ea typeface="Arial" pitchFamily="34" charset="-122"/>
                <a:cs typeface="Arial" pitchFamily="34" charset="-120"/>
              </a:rPr>
              <a:t>Creative lead</a:t>
            </a:r>
            <a:endParaRPr lang="en-US" sz="1100" dirty="0"/>
          </a:p>
        </p:txBody>
      </p:sp>
      <p:sp>
        <p:nvSpPr>
          <p:cNvPr id="12" name="Text 10"/>
          <p:cNvSpPr txBox="1"/>
          <p:nvPr/>
        </p:nvSpPr>
        <p:spPr>
          <a:xfrm>
            <a:off x="3749040" y="2258568"/>
            <a:ext cx="3383280" cy="694944"/>
          </a:xfrm>
          <a:prstGeom prst="rect">
            <a:avLst/>
          </a:prstGeom>
          <a:noFill/>
          <a:ln/>
        </p:spPr>
        <p:txBody>
          <a:bodyPr wrap="square" lIns="0" tIns="0" rIns="0" bIns="0" rtlCol="0" anchor="ctr"/>
          <a:lstStyle/>
          <a:p>
            <a:pPr indent="0" marL="0">
              <a:buNone/>
            </a:pPr>
            <a:r>
              <a:rPr lang="en-US" sz="1200" dirty="0">
                <a:solidFill>
                  <a:srgbClr val="22205D"/>
                </a:solidFill>
                <a:latin typeface="Arial" pitchFamily="34" charset="0"/>
                <a:ea typeface="Arial" pitchFamily="34" charset="-122"/>
                <a:cs typeface="Arial" pitchFamily="34" charset="-120"/>
              </a:rPr>
              <a:t>Design, video, social creative, sales material</a:t>
            </a:r>
            <a:endParaRPr lang="en-US" sz="1200" dirty="0"/>
          </a:p>
        </p:txBody>
      </p:sp>
      <p:sp>
        <p:nvSpPr>
          <p:cNvPr id="13" name="Shape 11"/>
          <p:cNvSpPr/>
          <p:nvPr/>
        </p:nvSpPr>
        <p:spPr>
          <a:xfrm>
            <a:off x="548640" y="3154680"/>
            <a:ext cx="6766560" cy="822960"/>
          </a:xfrm>
          <a:prstGeom prst="roundRect">
            <a:avLst>
              <a:gd name="adj" fmla="val 8889"/>
            </a:avLst>
          </a:prstGeom>
          <a:solidFill>
            <a:srgbClr val="FFFFFF"/>
          </a:solidFill>
          <a:ln w="9525">
            <a:solidFill>
              <a:srgbClr val="E6E6E6"/>
            </a:solidFill>
            <a:prstDash val="solid"/>
          </a:ln>
        </p:spPr>
      </p:sp>
      <p:sp>
        <p:nvSpPr>
          <p:cNvPr id="14" name="Shape 12"/>
          <p:cNvSpPr/>
          <p:nvPr/>
        </p:nvSpPr>
        <p:spPr>
          <a:xfrm>
            <a:off x="749808" y="3374136"/>
            <a:ext cx="384048" cy="384048"/>
          </a:xfrm>
          <a:prstGeom prst="ellipse">
            <a:avLst/>
          </a:prstGeom>
          <a:solidFill>
            <a:srgbClr val="0098D8"/>
          </a:solidFill>
          <a:ln w="12700">
            <a:solidFill>
              <a:srgbClr val="0098D8"/>
            </a:solidFill>
            <a:prstDash val="solid"/>
          </a:ln>
        </p:spPr>
      </p:sp>
      <p:sp>
        <p:nvSpPr>
          <p:cNvPr id="15" name="Text 13"/>
          <p:cNvSpPr txBox="1"/>
          <p:nvPr/>
        </p:nvSpPr>
        <p:spPr>
          <a:xfrm>
            <a:off x="1280160" y="3227832"/>
            <a:ext cx="2377440" cy="36576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Rafay</a:t>
            </a:r>
            <a:endParaRPr lang="en-US" sz="1400" dirty="0"/>
          </a:p>
        </p:txBody>
      </p:sp>
      <p:sp>
        <p:nvSpPr>
          <p:cNvPr id="16" name="Text 14"/>
          <p:cNvSpPr txBox="1"/>
          <p:nvPr/>
        </p:nvSpPr>
        <p:spPr>
          <a:xfrm>
            <a:off x="1280160" y="3575304"/>
            <a:ext cx="2377440" cy="329184"/>
          </a:xfrm>
          <a:prstGeom prst="rect">
            <a:avLst/>
          </a:prstGeom>
          <a:noFill/>
          <a:ln/>
        </p:spPr>
        <p:txBody>
          <a:bodyPr wrap="square" lIns="0" tIns="0" rIns="0" bIns="0" rtlCol="0" anchor="ctr"/>
          <a:lstStyle/>
          <a:p>
            <a:pPr indent="0" marL="0">
              <a:buNone/>
            </a:pPr>
            <a:r>
              <a:rPr lang="en-US" sz="1100" dirty="0">
                <a:solidFill>
                  <a:srgbClr val="5A5A7A"/>
                </a:solidFill>
                <a:latin typeface="Arial" pitchFamily="34" charset="0"/>
                <a:ea typeface="Arial" pitchFamily="34" charset="-122"/>
                <a:cs typeface="Arial" pitchFamily="34" charset="-120"/>
              </a:rPr>
              <a:t>UI/UX, shared with client work</a:t>
            </a:r>
            <a:endParaRPr lang="en-US" sz="1100" dirty="0"/>
          </a:p>
        </p:txBody>
      </p:sp>
      <p:sp>
        <p:nvSpPr>
          <p:cNvPr id="17" name="Text 15"/>
          <p:cNvSpPr txBox="1"/>
          <p:nvPr/>
        </p:nvSpPr>
        <p:spPr>
          <a:xfrm>
            <a:off x="3749040" y="3218688"/>
            <a:ext cx="3383280" cy="694944"/>
          </a:xfrm>
          <a:prstGeom prst="rect">
            <a:avLst/>
          </a:prstGeom>
          <a:noFill/>
          <a:ln/>
        </p:spPr>
        <p:txBody>
          <a:bodyPr wrap="square" lIns="0" tIns="0" rIns="0" bIns="0" rtlCol="0" anchor="ctr"/>
          <a:lstStyle/>
          <a:p>
            <a:pPr indent="0" marL="0">
              <a:buNone/>
            </a:pPr>
            <a:r>
              <a:rPr lang="en-US" sz="1200" dirty="0">
                <a:solidFill>
                  <a:srgbClr val="22205D"/>
                </a:solidFill>
                <a:latin typeface="Arial" pitchFamily="34" charset="0"/>
                <a:ea typeface="Arial" pitchFamily="34" charset="-122"/>
                <a:cs typeface="Arial" pitchFamily="34" charset="-120"/>
              </a:rPr>
              <a:t>Website and diagnostic tool design</a:t>
            </a:r>
            <a:endParaRPr lang="en-US" sz="1200" dirty="0"/>
          </a:p>
        </p:txBody>
      </p:sp>
      <p:sp>
        <p:nvSpPr>
          <p:cNvPr id="18" name="Shape 16"/>
          <p:cNvSpPr/>
          <p:nvPr/>
        </p:nvSpPr>
        <p:spPr>
          <a:xfrm>
            <a:off x="548640" y="4114800"/>
            <a:ext cx="6766560" cy="822960"/>
          </a:xfrm>
          <a:prstGeom prst="roundRect">
            <a:avLst>
              <a:gd name="adj" fmla="val 8889"/>
            </a:avLst>
          </a:prstGeom>
          <a:solidFill>
            <a:srgbClr val="FFFFFF"/>
          </a:solidFill>
          <a:ln w="9525">
            <a:solidFill>
              <a:srgbClr val="E6E6E6"/>
            </a:solidFill>
            <a:prstDash val="solid"/>
          </a:ln>
        </p:spPr>
      </p:sp>
      <p:sp>
        <p:nvSpPr>
          <p:cNvPr id="19" name="Shape 17"/>
          <p:cNvSpPr/>
          <p:nvPr/>
        </p:nvSpPr>
        <p:spPr>
          <a:xfrm>
            <a:off x="749808" y="4334256"/>
            <a:ext cx="384048" cy="384048"/>
          </a:xfrm>
          <a:prstGeom prst="ellipse">
            <a:avLst/>
          </a:prstGeom>
          <a:solidFill>
            <a:srgbClr val="5A5A7A"/>
          </a:solidFill>
          <a:ln w="12700">
            <a:solidFill>
              <a:srgbClr val="5A5A7A"/>
            </a:solidFill>
            <a:prstDash val="solid"/>
          </a:ln>
        </p:spPr>
      </p:sp>
      <p:sp>
        <p:nvSpPr>
          <p:cNvPr id="20" name="Text 18"/>
          <p:cNvSpPr txBox="1"/>
          <p:nvPr/>
        </p:nvSpPr>
        <p:spPr>
          <a:xfrm>
            <a:off x="1280160" y="4187952"/>
            <a:ext cx="2377440" cy="36576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Production devs (2)</a:t>
            </a:r>
            <a:endParaRPr lang="en-US" sz="1400" dirty="0"/>
          </a:p>
        </p:txBody>
      </p:sp>
      <p:sp>
        <p:nvSpPr>
          <p:cNvPr id="21" name="Text 19"/>
          <p:cNvSpPr txBox="1"/>
          <p:nvPr/>
        </p:nvSpPr>
        <p:spPr>
          <a:xfrm>
            <a:off x="1280160" y="4535424"/>
            <a:ext cx="2377440" cy="329184"/>
          </a:xfrm>
          <a:prstGeom prst="rect">
            <a:avLst/>
          </a:prstGeom>
          <a:noFill/>
          <a:ln/>
        </p:spPr>
        <p:txBody>
          <a:bodyPr wrap="square" lIns="0" tIns="0" rIns="0" bIns="0" rtlCol="0" anchor="ctr"/>
          <a:lstStyle/>
          <a:p>
            <a:pPr indent="0" marL="0">
              <a:buNone/>
            </a:pPr>
            <a:r>
              <a:rPr lang="en-US" sz="1100" dirty="0">
                <a:solidFill>
                  <a:srgbClr val="5A5A7A"/>
                </a:solidFill>
                <a:latin typeface="Arial" pitchFamily="34" charset="0"/>
                <a:ea typeface="Arial" pitchFamily="34" charset="-122"/>
                <a:cs typeface="Arial" pitchFamily="34" charset="-120"/>
              </a:rPr>
              <a:t>Shared</a:t>
            </a:r>
            <a:endParaRPr lang="en-US" sz="1100" dirty="0"/>
          </a:p>
        </p:txBody>
      </p:sp>
      <p:sp>
        <p:nvSpPr>
          <p:cNvPr id="22" name="Text 20"/>
          <p:cNvSpPr txBox="1"/>
          <p:nvPr/>
        </p:nvSpPr>
        <p:spPr>
          <a:xfrm>
            <a:off x="3749040" y="4178808"/>
            <a:ext cx="3383280" cy="694944"/>
          </a:xfrm>
          <a:prstGeom prst="rect">
            <a:avLst/>
          </a:prstGeom>
          <a:noFill/>
          <a:ln/>
        </p:spPr>
        <p:txBody>
          <a:bodyPr wrap="square" lIns="0" tIns="0" rIns="0" bIns="0" rtlCol="0" anchor="ctr"/>
          <a:lstStyle/>
          <a:p>
            <a:pPr indent="0" marL="0">
              <a:buNone/>
            </a:pPr>
            <a:r>
              <a:rPr lang="en-US" sz="1200" dirty="0">
                <a:solidFill>
                  <a:srgbClr val="22205D"/>
                </a:solidFill>
                <a:latin typeface="Arial" pitchFamily="34" charset="0"/>
                <a:ea typeface="Arial" pitchFamily="34" charset="-122"/>
                <a:cs typeface="Arial" pitchFamily="34" charset="-120"/>
              </a:rPr>
              <a:t>Build and release the website</a:t>
            </a:r>
            <a:endParaRPr lang="en-US" sz="1200" dirty="0"/>
          </a:p>
        </p:txBody>
      </p:sp>
      <p:sp>
        <p:nvSpPr>
          <p:cNvPr id="23" name="Shape 21"/>
          <p:cNvSpPr/>
          <p:nvPr/>
        </p:nvSpPr>
        <p:spPr>
          <a:xfrm>
            <a:off x="548640" y="5074920"/>
            <a:ext cx="6766560" cy="822960"/>
          </a:xfrm>
          <a:prstGeom prst="roundRect">
            <a:avLst>
              <a:gd name="adj" fmla="val 8889"/>
            </a:avLst>
          </a:prstGeom>
          <a:solidFill>
            <a:srgbClr val="EAF7F4"/>
          </a:solidFill>
          <a:ln w="9525">
            <a:solidFill>
              <a:srgbClr val="E6E6E6"/>
            </a:solidFill>
            <a:prstDash val="solid"/>
          </a:ln>
        </p:spPr>
      </p:sp>
      <p:sp>
        <p:nvSpPr>
          <p:cNvPr id="24" name="Shape 22"/>
          <p:cNvSpPr/>
          <p:nvPr/>
        </p:nvSpPr>
        <p:spPr>
          <a:xfrm>
            <a:off x="749808" y="5294376"/>
            <a:ext cx="384048" cy="384048"/>
          </a:xfrm>
          <a:prstGeom prst="ellipse">
            <a:avLst/>
          </a:prstGeom>
          <a:solidFill>
            <a:srgbClr val="5CC3AE"/>
          </a:solidFill>
          <a:ln w="12700">
            <a:solidFill>
              <a:srgbClr val="5CC3AE"/>
            </a:solidFill>
            <a:prstDash val="solid"/>
          </a:ln>
        </p:spPr>
      </p:sp>
      <p:sp>
        <p:nvSpPr>
          <p:cNvPr id="25" name="Text 23"/>
          <p:cNvSpPr txBox="1"/>
          <p:nvPr/>
        </p:nvSpPr>
        <p:spPr>
          <a:xfrm>
            <a:off x="1280160" y="5148072"/>
            <a:ext cx="2377440" cy="36576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Needed: Marketing Executive</a:t>
            </a:r>
            <a:endParaRPr lang="en-US" sz="1400" dirty="0"/>
          </a:p>
        </p:txBody>
      </p:sp>
      <p:sp>
        <p:nvSpPr>
          <p:cNvPr id="26" name="Text 24"/>
          <p:cNvSpPr txBox="1"/>
          <p:nvPr/>
        </p:nvSpPr>
        <p:spPr>
          <a:xfrm>
            <a:off x="1280160" y="5495544"/>
            <a:ext cx="2377440" cy="329184"/>
          </a:xfrm>
          <a:prstGeom prst="rect">
            <a:avLst/>
          </a:prstGeom>
          <a:noFill/>
          <a:ln/>
        </p:spPr>
        <p:txBody>
          <a:bodyPr wrap="square" lIns="0" tIns="0" rIns="0" bIns="0" rtlCol="0" anchor="ctr"/>
          <a:lstStyle/>
          <a:p>
            <a:pPr indent="0" marL="0">
              <a:buNone/>
            </a:pPr>
            <a:r>
              <a:rPr lang="en-US" sz="1100" dirty="0">
                <a:solidFill>
                  <a:srgbClr val="5A5A7A"/>
                </a:solidFill>
                <a:latin typeface="Arial" pitchFamily="34" charset="0"/>
                <a:ea typeface="Arial" pitchFamily="34" charset="-122"/>
                <a:cs typeface="Arial" pitchFamily="34" charset="-120"/>
              </a:rPr>
              <a:t>Day-to-day owner</a:t>
            </a:r>
            <a:endParaRPr lang="en-US" sz="1100" dirty="0"/>
          </a:p>
        </p:txBody>
      </p:sp>
      <p:sp>
        <p:nvSpPr>
          <p:cNvPr id="27" name="Text 25"/>
          <p:cNvSpPr txBox="1"/>
          <p:nvPr/>
        </p:nvSpPr>
        <p:spPr>
          <a:xfrm>
            <a:off x="3749040" y="5138928"/>
            <a:ext cx="3383280" cy="694944"/>
          </a:xfrm>
          <a:prstGeom prst="rect">
            <a:avLst/>
          </a:prstGeom>
          <a:noFill/>
          <a:ln/>
        </p:spPr>
        <p:txBody>
          <a:bodyPr wrap="square" lIns="0" tIns="0" rIns="0" bIns="0" rtlCol="0" anchor="ctr"/>
          <a:lstStyle/>
          <a:p>
            <a:pPr indent="0" marL="0">
              <a:buNone/>
            </a:pPr>
            <a:r>
              <a:rPr lang="en-US" sz="1200" dirty="0">
                <a:solidFill>
                  <a:srgbClr val="22205D"/>
                </a:solidFill>
                <a:latin typeface="Arial" pitchFamily="34" charset="0"/>
                <a:ea typeface="Arial" pitchFamily="34" charset="-122"/>
                <a:cs typeface="Arial" pitchFamily="34" charset="-120"/>
              </a:rPr>
              <a:t>Publishing, social, chasing approvals, working with devs and sales, urgent requests, tracking</a:t>
            </a:r>
            <a:endParaRPr lang="en-US" sz="1200" dirty="0"/>
          </a:p>
        </p:txBody>
      </p:sp>
      <p:sp>
        <p:nvSpPr>
          <p:cNvPr id="28" name="Shape 26"/>
          <p:cNvSpPr/>
          <p:nvPr/>
        </p:nvSpPr>
        <p:spPr>
          <a:xfrm>
            <a:off x="7680960" y="1234440"/>
            <a:ext cx="3959352" cy="4663440"/>
          </a:xfrm>
          <a:prstGeom prst="roundRect">
            <a:avLst>
              <a:gd name="adj" fmla="val 1848"/>
            </a:avLst>
          </a:prstGeom>
          <a:solidFill>
            <a:srgbClr val="F4F6FB"/>
          </a:solidFill>
          <a:ln w="9525">
            <a:solidFill>
              <a:srgbClr val="E6E6E6"/>
            </a:solidFill>
            <a:prstDash val="solid"/>
          </a:ln>
        </p:spPr>
      </p:sp>
      <p:sp>
        <p:nvSpPr>
          <p:cNvPr id="29" name="Text 27"/>
          <p:cNvSpPr txBox="1"/>
          <p:nvPr/>
        </p:nvSpPr>
        <p:spPr>
          <a:xfrm>
            <a:off x="7955280" y="1371600"/>
            <a:ext cx="3410712" cy="457200"/>
          </a:xfrm>
          <a:prstGeom prst="rect">
            <a:avLst/>
          </a:prstGeom>
          <a:noFill/>
          <a:ln/>
        </p:spPr>
        <p:txBody>
          <a:bodyPr wrap="square" lIns="0" tIns="0" rIns="0" bIns="0" rtlCol="0" anchor="ctr"/>
          <a:lstStyle/>
          <a:p>
            <a:pPr indent="0" marL="0">
              <a:buNone/>
            </a:pPr>
            <a:r>
              <a:rPr lang="en-US" sz="1800" b="1" dirty="0">
                <a:solidFill>
                  <a:srgbClr val="22205D"/>
                </a:solidFill>
                <a:latin typeface="Arial" pitchFamily="34" charset="0"/>
                <a:ea typeface="Arial" pitchFamily="34" charset="-122"/>
                <a:cs typeface="Arial" pitchFamily="34" charset="-120"/>
              </a:rPr>
              <a:t>How requests come in</a:t>
            </a:r>
            <a:endParaRPr lang="en-US" sz="1800" dirty="0"/>
          </a:p>
        </p:txBody>
      </p:sp>
      <p:sp>
        <p:nvSpPr>
          <p:cNvPr id="30" name="Text 28"/>
          <p:cNvSpPr txBox="1"/>
          <p:nvPr/>
        </p:nvSpPr>
        <p:spPr>
          <a:xfrm>
            <a:off x="7955280" y="1965960"/>
            <a:ext cx="3410712" cy="329184"/>
          </a:xfrm>
          <a:prstGeom prst="rect">
            <a:avLst/>
          </a:prstGeom>
          <a:noFill/>
          <a:ln/>
        </p:spPr>
        <p:txBody>
          <a:bodyPr wrap="square" lIns="0" tIns="0" rIns="0" bIns="0" rtlCol="0" anchor="ctr"/>
          <a:lstStyle/>
          <a:p>
            <a:pPr indent="0" marL="0">
              <a:buNone/>
            </a:pPr>
            <a:r>
              <a:rPr lang="en-US" sz="1400" b="1" dirty="0">
                <a:solidFill>
                  <a:srgbClr val="0061F6"/>
                </a:solidFill>
                <a:latin typeface="Arial" pitchFamily="34" charset="0"/>
                <a:ea typeface="Arial" pitchFamily="34" charset="-122"/>
                <a:cs typeface="Arial" pitchFamily="34" charset="-120"/>
              </a:rPr>
              <a:t>Needs content</a:t>
            </a:r>
            <a:endParaRPr lang="en-US" sz="1400" dirty="0"/>
          </a:p>
        </p:txBody>
      </p:sp>
      <p:sp>
        <p:nvSpPr>
          <p:cNvPr id="31" name="Text 29"/>
          <p:cNvSpPr txBox="1"/>
          <p:nvPr/>
        </p:nvSpPr>
        <p:spPr>
          <a:xfrm>
            <a:off x="7955280" y="2295144"/>
            <a:ext cx="3410712" cy="502920"/>
          </a:xfrm>
          <a:prstGeom prst="rect">
            <a:avLst/>
          </a:prstGeom>
          <a:noFill/>
          <a:ln/>
        </p:spPr>
        <p:txBody>
          <a:bodyPr wrap="square" lIns="0" tIns="0" rIns="0" bIns="0" rtlCol="0" anchor="t"/>
          <a:lstStyle/>
          <a:p>
            <a:pPr indent="0" marL="0">
              <a:buNone/>
            </a:pPr>
            <a:r>
              <a:rPr lang="en-US" sz="1200" dirty="0">
                <a:solidFill>
                  <a:srgbClr val="22205D"/>
                </a:solidFill>
                <a:latin typeface="Arial" pitchFamily="34" charset="0"/>
                <a:ea typeface="Arial" pitchFamily="34" charset="-122"/>
                <a:cs typeface="Arial" pitchFamily="34" charset="-120"/>
              </a:rPr>
              <a:t>To Sana, with 2 working days' notice</a:t>
            </a:r>
            <a:endParaRPr lang="en-US" sz="1200" dirty="0"/>
          </a:p>
        </p:txBody>
      </p:sp>
      <p:sp>
        <p:nvSpPr>
          <p:cNvPr id="32" name="Text 30"/>
          <p:cNvSpPr txBox="1"/>
          <p:nvPr/>
        </p:nvSpPr>
        <p:spPr>
          <a:xfrm>
            <a:off x="7955280" y="2926080"/>
            <a:ext cx="3410712" cy="329184"/>
          </a:xfrm>
          <a:prstGeom prst="rect">
            <a:avLst/>
          </a:prstGeom>
          <a:noFill/>
          <a:ln/>
        </p:spPr>
        <p:txBody>
          <a:bodyPr wrap="square" lIns="0" tIns="0" rIns="0" bIns="0" rtlCol="0" anchor="ctr"/>
          <a:lstStyle/>
          <a:p>
            <a:pPr indent="0" marL="0">
              <a:buNone/>
            </a:pPr>
            <a:r>
              <a:rPr lang="en-US" sz="1400" b="1" dirty="0">
                <a:solidFill>
                  <a:srgbClr val="0061F6"/>
                </a:solidFill>
                <a:latin typeface="Arial" pitchFamily="34" charset="0"/>
                <a:ea typeface="Arial" pitchFamily="34" charset="-122"/>
                <a:cs typeface="Arial" pitchFamily="34" charset="-120"/>
              </a:rPr>
              <a:t>Content ready, needs design</a:t>
            </a:r>
            <a:endParaRPr lang="en-US" sz="1400" dirty="0"/>
          </a:p>
        </p:txBody>
      </p:sp>
      <p:sp>
        <p:nvSpPr>
          <p:cNvPr id="33" name="Text 31"/>
          <p:cNvSpPr txBox="1"/>
          <p:nvPr/>
        </p:nvSpPr>
        <p:spPr>
          <a:xfrm>
            <a:off x="7955280" y="3255264"/>
            <a:ext cx="3410712" cy="502920"/>
          </a:xfrm>
          <a:prstGeom prst="rect">
            <a:avLst/>
          </a:prstGeom>
          <a:noFill/>
          <a:ln/>
        </p:spPr>
        <p:txBody>
          <a:bodyPr wrap="square" lIns="0" tIns="0" rIns="0" bIns="0" rtlCol="0" anchor="t"/>
          <a:lstStyle/>
          <a:p>
            <a:pPr indent="0" marL="0">
              <a:buNone/>
            </a:pPr>
            <a:r>
              <a:rPr lang="en-US" sz="1200" dirty="0">
                <a:solidFill>
                  <a:srgbClr val="22205D"/>
                </a:solidFill>
                <a:latin typeface="Arial" pitchFamily="34" charset="0"/>
                <a:ea typeface="Arial" pitchFamily="34" charset="-122"/>
                <a:cs typeface="Arial" pitchFamily="34" charset="-120"/>
              </a:rPr>
              <a:t>Straight to Omais. Sana guides and reviews if needed</a:t>
            </a:r>
            <a:endParaRPr lang="en-US" sz="1200" dirty="0"/>
          </a:p>
        </p:txBody>
      </p:sp>
      <p:sp>
        <p:nvSpPr>
          <p:cNvPr id="34" name="Text 32"/>
          <p:cNvSpPr txBox="1"/>
          <p:nvPr/>
        </p:nvSpPr>
        <p:spPr>
          <a:xfrm>
            <a:off x="7955280" y="3886200"/>
            <a:ext cx="3410712" cy="329184"/>
          </a:xfrm>
          <a:prstGeom prst="rect">
            <a:avLst/>
          </a:prstGeom>
          <a:noFill/>
          <a:ln/>
        </p:spPr>
        <p:txBody>
          <a:bodyPr wrap="square" lIns="0" tIns="0" rIns="0" bIns="0" rtlCol="0" anchor="ctr"/>
          <a:lstStyle/>
          <a:p>
            <a:pPr indent="0" marL="0">
              <a:buNone/>
            </a:pPr>
            <a:r>
              <a:rPr lang="en-US" sz="1400" b="1" dirty="0">
                <a:solidFill>
                  <a:srgbClr val="0061F6"/>
                </a:solidFill>
                <a:latin typeface="Arial" pitchFamily="34" charset="0"/>
                <a:ea typeface="Arial" pitchFamily="34" charset="-122"/>
                <a:cs typeface="Arial" pitchFamily="34" charset="-120"/>
              </a:rPr>
              <a:t>Website change</a:t>
            </a:r>
            <a:endParaRPr lang="en-US" sz="1400" dirty="0"/>
          </a:p>
        </p:txBody>
      </p:sp>
      <p:sp>
        <p:nvSpPr>
          <p:cNvPr id="35" name="Text 33"/>
          <p:cNvSpPr txBox="1"/>
          <p:nvPr/>
        </p:nvSpPr>
        <p:spPr>
          <a:xfrm>
            <a:off x="7955280" y="4215384"/>
            <a:ext cx="3410712" cy="502920"/>
          </a:xfrm>
          <a:prstGeom prst="rect">
            <a:avLst/>
          </a:prstGeom>
          <a:noFill/>
          <a:ln/>
        </p:spPr>
        <p:txBody>
          <a:bodyPr wrap="square" lIns="0" tIns="0" rIns="0" bIns="0" rtlCol="0" anchor="t"/>
          <a:lstStyle/>
          <a:p>
            <a:pPr indent="0" marL="0">
              <a:buNone/>
            </a:pPr>
            <a:r>
              <a:rPr lang="en-US" sz="1200" dirty="0">
                <a:solidFill>
                  <a:srgbClr val="22205D"/>
                </a:solidFill>
                <a:latin typeface="Arial" pitchFamily="34" charset="0"/>
                <a:ea typeface="Arial" pitchFamily="34" charset="-122"/>
                <a:cs typeface="Arial" pitchFamily="34" charset="-120"/>
              </a:rPr>
              <a:t>Into the next release, via Rafay and the devs</a:t>
            </a:r>
            <a:endParaRPr lang="en-US" sz="1200" dirty="0"/>
          </a:p>
        </p:txBody>
      </p:sp>
      <p:sp>
        <p:nvSpPr>
          <p:cNvPr id="36" name="Text 34"/>
          <p:cNvSpPr txBox="1"/>
          <p:nvPr/>
        </p:nvSpPr>
        <p:spPr>
          <a:xfrm>
            <a:off x="7955280" y="4846320"/>
            <a:ext cx="3410712" cy="329184"/>
          </a:xfrm>
          <a:prstGeom prst="rect">
            <a:avLst/>
          </a:prstGeom>
          <a:noFill/>
          <a:ln/>
        </p:spPr>
        <p:txBody>
          <a:bodyPr wrap="square" lIns="0" tIns="0" rIns="0" bIns="0" rtlCol="0" anchor="ctr"/>
          <a:lstStyle/>
          <a:p>
            <a:pPr indent="0" marL="0">
              <a:buNone/>
            </a:pPr>
            <a:r>
              <a:rPr lang="en-US" sz="1400" b="1" dirty="0">
                <a:solidFill>
                  <a:srgbClr val="0061F6"/>
                </a:solidFill>
                <a:latin typeface="Arial" pitchFamily="34" charset="0"/>
                <a:ea typeface="Arial" pitchFamily="34" charset="-122"/>
                <a:cs typeface="Arial" pitchFamily="34" charset="-120"/>
              </a:rPr>
              <a:t>Urgent, same-day</a:t>
            </a:r>
            <a:endParaRPr lang="en-US" sz="1400" dirty="0"/>
          </a:p>
        </p:txBody>
      </p:sp>
      <p:sp>
        <p:nvSpPr>
          <p:cNvPr id="37" name="Text 35"/>
          <p:cNvSpPr txBox="1"/>
          <p:nvPr/>
        </p:nvSpPr>
        <p:spPr>
          <a:xfrm>
            <a:off x="7955280" y="5175504"/>
            <a:ext cx="3410712" cy="502920"/>
          </a:xfrm>
          <a:prstGeom prst="rect">
            <a:avLst/>
          </a:prstGeom>
          <a:noFill/>
          <a:ln/>
        </p:spPr>
        <p:txBody>
          <a:bodyPr wrap="square" lIns="0" tIns="0" rIns="0" bIns="0" rtlCol="0" anchor="t"/>
          <a:lstStyle/>
          <a:p>
            <a:pPr indent="0" marL="0">
              <a:buNone/>
            </a:pPr>
            <a:r>
              <a:rPr lang="en-US" sz="1200" dirty="0">
                <a:solidFill>
                  <a:srgbClr val="22205D"/>
                </a:solidFill>
                <a:latin typeface="Arial" pitchFamily="34" charset="0"/>
                <a:ea typeface="Arial" pitchFamily="34" charset="-122"/>
                <a:cs typeface="Arial" pitchFamily="34" charset="-120"/>
              </a:rPr>
              <a:t>Marketing Executive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ctr"/>
          <a:lstStyle/>
          <a:p>
            <a:pPr indent="0" marL="0">
              <a:buNone/>
            </a:pPr>
            <a:r>
              <a:rPr lang="en-US" sz="3000" b="1" dirty="0">
                <a:solidFill>
                  <a:srgbClr val="22205D"/>
                </a:solidFill>
                <a:latin typeface="Arial" pitchFamily="34" charset="0"/>
                <a:ea typeface="Arial" pitchFamily="34" charset="-122"/>
                <a:cs typeface="Arial" pitchFamily="34" charset="-120"/>
              </a:rPr>
              <a:t>The resource gap</a:t>
            </a:r>
            <a:endParaRPr lang="en-US" sz="3000" dirty="0"/>
          </a:p>
        </p:txBody>
      </p:sp>
      <p:sp>
        <p:nvSpPr>
          <p:cNvPr id="3" name="Text 1"/>
          <p:cNvSpPr txBox="1"/>
          <p:nvPr/>
        </p:nvSpPr>
        <p:spPr>
          <a:xfrm>
            <a:off x="548640" y="987552"/>
            <a:ext cx="11091672" cy="365760"/>
          </a:xfrm>
          <a:prstGeom prst="rect">
            <a:avLst/>
          </a:prstGeom>
          <a:noFill/>
          <a:ln/>
        </p:spPr>
        <p:txBody>
          <a:bodyPr wrap="square" lIns="0" tIns="0" rIns="0" bIns="0" rtlCol="0" anchor="ctr"/>
          <a:lstStyle/>
          <a:p>
            <a:pPr indent="0" marL="0">
              <a:buNone/>
            </a:pPr>
            <a:r>
              <a:rPr lang="en-US" sz="1400" dirty="0">
                <a:solidFill>
                  <a:srgbClr val="5A5A7A"/>
                </a:solidFill>
                <a:latin typeface="Arial" pitchFamily="34" charset="0"/>
                <a:ea typeface="Arial" pitchFamily="34" charset="-122"/>
                <a:cs typeface="Arial" pitchFamily="34" charset="-120"/>
              </a:rPr>
              <a:t>Estimated hours a month to deliver this plan</a:t>
            </a:r>
            <a:endParaRPr lang="en-US" sz="1400" dirty="0"/>
          </a:p>
        </p:txBody>
      </p:sp>
      <p:sp>
        <p:nvSpPr>
          <p:cNvPr id="4" name="Shape 2"/>
          <p:cNvSpPr/>
          <p:nvPr/>
        </p:nvSpPr>
        <p:spPr>
          <a:xfrm>
            <a:off x="548640" y="1783080"/>
            <a:ext cx="3105668" cy="822960"/>
          </a:xfrm>
          <a:prstGeom prst="rect">
            <a:avLst/>
          </a:prstGeom>
          <a:solidFill>
            <a:srgbClr val="22205D"/>
          </a:solidFill>
          <a:ln w="19050">
            <a:solidFill>
              <a:srgbClr val="FFFFFF"/>
            </a:solidFill>
            <a:prstDash val="solid"/>
          </a:ln>
        </p:spPr>
      </p:sp>
      <p:sp>
        <p:nvSpPr>
          <p:cNvPr id="5" name="Text 3"/>
          <p:cNvSpPr txBox="1"/>
          <p:nvPr/>
        </p:nvSpPr>
        <p:spPr>
          <a:xfrm>
            <a:off x="548640" y="1783080"/>
            <a:ext cx="3105668"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35h</a:t>
            </a:r>
            <a:endParaRPr lang="en-US" sz="1600" dirty="0"/>
          </a:p>
        </p:txBody>
      </p:sp>
      <p:sp>
        <p:nvSpPr>
          <p:cNvPr id="6" name="Text 4"/>
          <p:cNvSpPr txBox="1"/>
          <p:nvPr/>
        </p:nvSpPr>
        <p:spPr>
          <a:xfrm>
            <a:off x="594360" y="2651760"/>
            <a:ext cx="3014228" cy="548640"/>
          </a:xfrm>
          <a:prstGeom prst="rect">
            <a:avLst/>
          </a:prstGeom>
          <a:noFill/>
          <a:ln/>
        </p:spPr>
        <p:txBody>
          <a:bodyPr wrap="square" lIns="0" tIns="0" rIns="0" bIns="0" rtlCol="0" anchor="t"/>
          <a:lstStyle/>
          <a:p>
            <a:pPr algn="ctr" indent="0" marL="0">
              <a:buNone/>
            </a:pPr>
            <a:r>
              <a:rPr lang="en-US" sz="1100" dirty="0">
                <a:solidFill>
                  <a:srgbClr val="22205D"/>
                </a:solidFill>
                <a:latin typeface="Arial" pitchFamily="34" charset="0"/>
                <a:ea typeface="Arial" pitchFamily="34" charset="-122"/>
                <a:cs typeface="Arial" pitchFamily="34" charset="-120"/>
              </a:rPr>
              <a:t>Content, SEO, AI search</a:t>
            </a:r>
            <a:endParaRPr lang="en-US" sz="1100" dirty="0"/>
          </a:p>
        </p:txBody>
      </p:sp>
      <p:sp>
        <p:nvSpPr>
          <p:cNvPr id="7" name="Shape 5"/>
          <p:cNvSpPr/>
          <p:nvPr/>
        </p:nvSpPr>
        <p:spPr>
          <a:xfrm>
            <a:off x="3654308" y="1783080"/>
            <a:ext cx="1331001" cy="822960"/>
          </a:xfrm>
          <a:prstGeom prst="rect">
            <a:avLst/>
          </a:prstGeom>
          <a:solidFill>
            <a:srgbClr val="0061F6"/>
          </a:solidFill>
          <a:ln w="19050">
            <a:solidFill>
              <a:srgbClr val="FFFFFF"/>
            </a:solidFill>
            <a:prstDash val="solid"/>
          </a:ln>
        </p:spPr>
      </p:sp>
      <p:sp>
        <p:nvSpPr>
          <p:cNvPr id="8" name="Text 6"/>
          <p:cNvSpPr txBox="1"/>
          <p:nvPr/>
        </p:nvSpPr>
        <p:spPr>
          <a:xfrm>
            <a:off x="3654308" y="1783080"/>
            <a:ext cx="1331001"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15h</a:t>
            </a:r>
            <a:endParaRPr lang="en-US" sz="1600" dirty="0"/>
          </a:p>
        </p:txBody>
      </p:sp>
      <p:sp>
        <p:nvSpPr>
          <p:cNvPr id="9" name="Text 7"/>
          <p:cNvSpPr txBox="1"/>
          <p:nvPr/>
        </p:nvSpPr>
        <p:spPr>
          <a:xfrm>
            <a:off x="3700028" y="2651760"/>
            <a:ext cx="1239561" cy="548640"/>
          </a:xfrm>
          <a:prstGeom prst="rect">
            <a:avLst/>
          </a:prstGeom>
          <a:noFill/>
          <a:ln/>
        </p:spPr>
        <p:txBody>
          <a:bodyPr wrap="square" lIns="0" tIns="0" rIns="0" bIns="0" rtlCol="0" anchor="t"/>
          <a:lstStyle/>
          <a:p>
            <a:pPr algn="ctr" indent="0" marL="0">
              <a:buNone/>
            </a:pPr>
            <a:r>
              <a:rPr lang="en-US" sz="1100" dirty="0">
                <a:solidFill>
                  <a:srgbClr val="22205D"/>
                </a:solidFill>
                <a:latin typeface="Arial" pitchFamily="34" charset="0"/>
                <a:ea typeface="Arial" pitchFamily="34" charset="-122"/>
                <a:cs typeface="Arial" pitchFamily="34" charset="-120"/>
              </a:rPr>
              <a:t>Strategy, briefs, reviews, report</a:t>
            </a:r>
            <a:endParaRPr lang="en-US" sz="1100" dirty="0"/>
          </a:p>
        </p:txBody>
      </p:sp>
      <p:sp>
        <p:nvSpPr>
          <p:cNvPr id="10" name="Shape 8"/>
          <p:cNvSpPr/>
          <p:nvPr/>
        </p:nvSpPr>
        <p:spPr>
          <a:xfrm>
            <a:off x="4985309" y="1783080"/>
            <a:ext cx="3549335" cy="822960"/>
          </a:xfrm>
          <a:prstGeom prst="rect">
            <a:avLst/>
          </a:prstGeom>
          <a:solidFill>
            <a:srgbClr val="5CC3AE"/>
          </a:solidFill>
          <a:ln w="19050">
            <a:solidFill>
              <a:srgbClr val="FFFFFF"/>
            </a:solidFill>
            <a:prstDash val="solid"/>
          </a:ln>
        </p:spPr>
      </p:sp>
      <p:sp>
        <p:nvSpPr>
          <p:cNvPr id="11" name="Text 9"/>
          <p:cNvSpPr txBox="1"/>
          <p:nvPr/>
        </p:nvSpPr>
        <p:spPr>
          <a:xfrm>
            <a:off x="4985309" y="1783080"/>
            <a:ext cx="3549335" cy="822960"/>
          </a:xfrm>
          <a:prstGeom prst="rect">
            <a:avLst/>
          </a:prstGeom>
          <a:noFill/>
          <a:ln/>
        </p:spPr>
        <p:txBody>
          <a:bodyPr wrap="square" lIns="0" tIns="0" rIns="0" bIns="0" rtlCol="0" anchor="ctr"/>
          <a:lstStyle/>
          <a:p>
            <a:pPr algn="ctr" indent="0" marL="0">
              <a:buNone/>
            </a:pPr>
            <a:r>
              <a:rPr lang="en-US" sz="1600" b="1" dirty="0">
                <a:solidFill>
                  <a:srgbClr val="22205D"/>
                </a:solidFill>
                <a:latin typeface="Arial" pitchFamily="34" charset="0"/>
                <a:ea typeface="Arial" pitchFamily="34" charset="-122"/>
                <a:cs typeface="Arial" pitchFamily="34" charset="-120"/>
              </a:rPr>
              <a:t>40h</a:t>
            </a:r>
            <a:endParaRPr lang="en-US" sz="1600" dirty="0"/>
          </a:p>
        </p:txBody>
      </p:sp>
      <p:sp>
        <p:nvSpPr>
          <p:cNvPr id="12" name="Text 10"/>
          <p:cNvSpPr txBox="1"/>
          <p:nvPr/>
        </p:nvSpPr>
        <p:spPr>
          <a:xfrm>
            <a:off x="5031029" y="2651760"/>
            <a:ext cx="3457895" cy="548640"/>
          </a:xfrm>
          <a:prstGeom prst="rect">
            <a:avLst/>
          </a:prstGeom>
          <a:noFill/>
          <a:ln/>
        </p:spPr>
        <p:txBody>
          <a:bodyPr wrap="square" lIns="0" tIns="0" rIns="0" bIns="0" rtlCol="0" anchor="t"/>
          <a:lstStyle/>
          <a:p>
            <a:pPr algn="ctr" indent="0" marL="0">
              <a:buNone/>
            </a:pPr>
            <a:r>
              <a:rPr lang="en-US" sz="1100" dirty="0">
                <a:solidFill>
                  <a:srgbClr val="22205D"/>
                </a:solidFill>
                <a:latin typeface="Arial" pitchFamily="34" charset="0"/>
                <a:ea typeface="Arial" pitchFamily="34" charset="-122"/>
                <a:cs typeface="Arial" pitchFamily="34" charset="-120"/>
              </a:rPr>
              <a:t>Publishing, social, coordination</a:t>
            </a:r>
            <a:endParaRPr lang="en-US" sz="1100" dirty="0"/>
          </a:p>
        </p:txBody>
      </p:sp>
      <p:sp>
        <p:nvSpPr>
          <p:cNvPr id="13" name="Shape 11"/>
          <p:cNvSpPr/>
          <p:nvPr/>
        </p:nvSpPr>
        <p:spPr>
          <a:xfrm>
            <a:off x="8534644" y="1783080"/>
            <a:ext cx="2218334" cy="822960"/>
          </a:xfrm>
          <a:prstGeom prst="rect">
            <a:avLst/>
          </a:prstGeom>
          <a:solidFill>
            <a:srgbClr val="50BFE6"/>
          </a:solidFill>
          <a:ln w="19050">
            <a:solidFill>
              <a:srgbClr val="FFFFFF"/>
            </a:solidFill>
            <a:prstDash val="solid"/>
          </a:ln>
        </p:spPr>
      </p:sp>
      <p:sp>
        <p:nvSpPr>
          <p:cNvPr id="14" name="Text 12"/>
          <p:cNvSpPr txBox="1"/>
          <p:nvPr/>
        </p:nvSpPr>
        <p:spPr>
          <a:xfrm>
            <a:off x="8534644" y="1783080"/>
            <a:ext cx="2218334" cy="822960"/>
          </a:xfrm>
          <a:prstGeom prst="rect">
            <a:avLst/>
          </a:prstGeom>
          <a:noFill/>
          <a:ln/>
        </p:spPr>
        <p:txBody>
          <a:bodyPr wrap="square" lIns="0" tIns="0" rIns="0" bIns="0" rtlCol="0" anchor="ctr"/>
          <a:lstStyle/>
          <a:p>
            <a:pPr algn="ctr" indent="0" marL="0">
              <a:buNone/>
            </a:pPr>
            <a:r>
              <a:rPr lang="en-US" sz="1600" b="1" dirty="0">
                <a:solidFill>
                  <a:srgbClr val="22205D"/>
                </a:solidFill>
                <a:latin typeface="Arial" pitchFamily="34" charset="0"/>
                <a:ea typeface="Arial" pitchFamily="34" charset="-122"/>
                <a:cs typeface="Arial" pitchFamily="34" charset="-120"/>
              </a:rPr>
              <a:t>25h</a:t>
            </a:r>
            <a:endParaRPr lang="en-US" sz="1600" dirty="0"/>
          </a:p>
        </p:txBody>
      </p:sp>
      <p:sp>
        <p:nvSpPr>
          <p:cNvPr id="15" name="Text 13"/>
          <p:cNvSpPr txBox="1"/>
          <p:nvPr/>
        </p:nvSpPr>
        <p:spPr>
          <a:xfrm>
            <a:off x="8580364" y="2651760"/>
            <a:ext cx="2126894" cy="548640"/>
          </a:xfrm>
          <a:prstGeom prst="rect">
            <a:avLst/>
          </a:prstGeom>
          <a:noFill/>
          <a:ln/>
        </p:spPr>
        <p:txBody>
          <a:bodyPr wrap="square" lIns="0" tIns="0" rIns="0" bIns="0" rtlCol="0" anchor="t"/>
          <a:lstStyle/>
          <a:p>
            <a:pPr algn="ctr" indent="0" marL="0">
              <a:buNone/>
            </a:pPr>
            <a:r>
              <a:rPr lang="en-US" sz="1100" dirty="0">
                <a:solidFill>
                  <a:srgbClr val="22205D"/>
                </a:solidFill>
                <a:latin typeface="Arial" pitchFamily="34" charset="0"/>
                <a:ea typeface="Arial" pitchFamily="34" charset="-122"/>
                <a:cs typeface="Arial" pitchFamily="34" charset="-120"/>
              </a:rPr>
              <a:t>Urgent + other-team requests</a:t>
            </a:r>
            <a:endParaRPr lang="en-US" sz="1100" dirty="0"/>
          </a:p>
        </p:txBody>
      </p:sp>
      <p:sp>
        <p:nvSpPr>
          <p:cNvPr id="16" name="Shape 14"/>
          <p:cNvSpPr/>
          <p:nvPr/>
        </p:nvSpPr>
        <p:spPr>
          <a:xfrm>
            <a:off x="10752978" y="1783080"/>
            <a:ext cx="887334" cy="822960"/>
          </a:xfrm>
          <a:prstGeom prst="rect">
            <a:avLst/>
          </a:prstGeom>
          <a:solidFill>
            <a:srgbClr val="E6E6E6"/>
          </a:solidFill>
          <a:ln w="19050">
            <a:solidFill>
              <a:srgbClr val="FFFFFF"/>
            </a:solidFill>
            <a:prstDash val="solid"/>
          </a:ln>
        </p:spPr>
      </p:sp>
      <p:sp>
        <p:nvSpPr>
          <p:cNvPr id="17" name="Text 15"/>
          <p:cNvSpPr txBox="1"/>
          <p:nvPr/>
        </p:nvSpPr>
        <p:spPr>
          <a:xfrm>
            <a:off x="10752978" y="1783080"/>
            <a:ext cx="887334" cy="822960"/>
          </a:xfrm>
          <a:prstGeom prst="rect">
            <a:avLst/>
          </a:prstGeom>
          <a:noFill/>
          <a:ln/>
        </p:spPr>
        <p:txBody>
          <a:bodyPr wrap="square" lIns="0" tIns="0" rIns="0" bIns="0" rtlCol="0" anchor="ctr"/>
          <a:lstStyle/>
          <a:p>
            <a:pPr algn="ctr" indent="0" marL="0">
              <a:buNone/>
            </a:pPr>
            <a:r>
              <a:rPr lang="en-US" sz="1600" b="1" dirty="0">
                <a:solidFill>
                  <a:srgbClr val="22205D"/>
                </a:solidFill>
                <a:latin typeface="Arial" pitchFamily="34" charset="0"/>
                <a:ea typeface="Arial" pitchFamily="34" charset="-122"/>
                <a:cs typeface="Arial" pitchFamily="34" charset="-120"/>
              </a:rPr>
              <a:t>10h</a:t>
            </a:r>
            <a:endParaRPr lang="en-US" sz="1600" dirty="0"/>
          </a:p>
        </p:txBody>
      </p:sp>
      <p:sp>
        <p:nvSpPr>
          <p:cNvPr id="18" name="Text 16"/>
          <p:cNvSpPr txBox="1"/>
          <p:nvPr/>
        </p:nvSpPr>
        <p:spPr>
          <a:xfrm>
            <a:off x="10798698" y="2651760"/>
            <a:ext cx="795894" cy="548640"/>
          </a:xfrm>
          <a:prstGeom prst="rect">
            <a:avLst/>
          </a:prstGeom>
          <a:noFill/>
          <a:ln/>
        </p:spPr>
        <p:txBody>
          <a:bodyPr wrap="square" lIns="0" tIns="0" rIns="0" bIns="0" rtlCol="0" anchor="t"/>
          <a:lstStyle/>
          <a:p>
            <a:pPr algn="ctr" indent="0" marL="0">
              <a:buNone/>
            </a:pPr>
            <a:r>
              <a:rPr lang="en-US" sz="1100" dirty="0">
                <a:solidFill>
                  <a:srgbClr val="22205D"/>
                </a:solidFill>
                <a:latin typeface="Arial" pitchFamily="34" charset="0"/>
                <a:ea typeface="Arial" pitchFamily="34" charset="-122"/>
                <a:cs typeface="Arial" pitchFamily="34" charset="-120"/>
              </a:rPr>
              <a:t>Events, HR, video</a:t>
            </a:r>
            <a:endParaRPr lang="en-US" sz="1100" dirty="0"/>
          </a:p>
        </p:txBody>
      </p:sp>
      <p:sp>
        <p:nvSpPr>
          <p:cNvPr id="19" name="Text 17"/>
          <p:cNvSpPr txBox="1"/>
          <p:nvPr/>
        </p:nvSpPr>
        <p:spPr>
          <a:xfrm>
            <a:off x="548640" y="1371600"/>
            <a:ext cx="4436669" cy="347472"/>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Sana covers ~50h</a:t>
            </a:r>
            <a:endParaRPr lang="en-US" sz="1300" dirty="0"/>
          </a:p>
        </p:txBody>
      </p:sp>
      <p:sp>
        <p:nvSpPr>
          <p:cNvPr id="20" name="Text 18"/>
          <p:cNvSpPr txBox="1"/>
          <p:nvPr/>
        </p:nvSpPr>
        <p:spPr>
          <a:xfrm>
            <a:off x="4985309" y="1371600"/>
            <a:ext cx="6655003" cy="347472"/>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Not covered: ~75h a month</a:t>
            </a:r>
            <a:endParaRPr lang="en-US" sz="1300" dirty="0"/>
          </a:p>
        </p:txBody>
      </p:sp>
      <p:sp>
        <p:nvSpPr>
          <p:cNvPr id="21" name="Shape 19"/>
          <p:cNvSpPr/>
          <p:nvPr/>
        </p:nvSpPr>
        <p:spPr>
          <a:xfrm>
            <a:off x="548640" y="3429000"/>
            <a:ext cx="3514344" cy="2103120"/>
          </a:xfrm>
          <a:prstGeom prst="roundRect">
            <a:avLst>
              <a:gd name="adj" fmla="val 3478"/>
            </a:avLst>
          </a:prstGeom>
          <a:solidFill>
            <a:srgbClr val="FFFFFF"/>
          </a:solidFill>
          <a:ln w="9525">
            <a:solidFill>
              <a:srgbClr val="E6E6E6"/>
            </a:solidFill>
            <a:prstDash val="solid"/>
          </a:ln>
        </p:spPr>
      </p:sp>
      <p:sp>
        <p:nvSpPr>
          <p:cNvPr id="22" name="Shape 20"/>
          <p:cNvSpPr/>
          <p:nvPr/>
        </p:nvSpPr>
        <p:spPr>
          <a:xfrm>
            <a:off x="777240" y="3657600"/>
            <a:ext cx="384048" cy="384048"/>
          </a:xfrm>
          <a:prstGeom prst="ellipse">
            <a:avLst/>
          </a:prstGeom>
          <a:solidFill>
            <a:srgbClr val="5CC3AE"/>
          </a:solidFill>
          <a:ln w="12700">
            <a:solidFill>
              <a:srgbClr val="5CC3AE"/>
            </a:solidFill>
            <a:prstDash val="solid"/>
          </a:ln>
        </p:spPr>
      </p:sp>
      <p:sp>
        <p:nvSpPr>
          <p:cNvPr id="23" name="Text 21"/>
          <p:cNvSpPr txBox="1"/>
          <p:nvPr/>
        </p:nvSpPr>
        <p:spPr>
          <a:xfrm>
            <a:off x="777240" y="3657600"/>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A</a:t>
            </a:r>
            <a:endParaRPr lang="en-US" sz="1400" dirty="0"/>
          </a:p>
        </p:txBody>
      </p:sp>
      <p:sp>
        <p:nvSpPr>
          <p:cNvPr id="24" name="Text 22"/>
          <p:cNvSpPr txBox="1"/>
          <p:nvPr/>
        </p:nvSpPr>
        <p:spPr>
          <a:xfrm>
            <a:off x="1280160" y="3611880"/>
            <a:ext cx="2599944" cy="50292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Full-time Marketing Executive</a:t>
            </a:r>
            <a:endParaRPr lang="en-US" sz="1400" dirty="0"/>
          </a:p>
        </p:txBody>
      </p:sp>
      <p:sp>
        <p:nvSpPr>
          <p:cNvPr id="25" name="Text 23"/>
          <p:cNvSpPr txBox="1"/>
          <p:nvPr/>
        </p:nvSpPr>
        <p:spPr>
          <a:xfrm>
            <a:off x="1280160" y="4114800"/>
            <a:ext cx="2599944" cy="274320"/>
          </a:xfrm>
          <a:prstGeom prst="rect">
            <a:avLst/>
          </a:prstGeom>
          <a:noFill/>
          <a:ln/>
        </p:spPr>
        <p:txBody>
          <a:bodyPr wrap="square" lIns="0" tIns="0" rIns="0" bIns="0" rtlCol="0" anchor="ctr"/>
          <a:lstStyle/>
          <a:p>
            <a:pPr indent="0" marL="0">
              <a:buNone/>
            </a:pPr>
            <a:r>
              <a:rPr lang="en-US" sz="1000" b="1" spc="200" kern="0" dirty="0">
                <a:solidFill>
                  <a:srgbClr val="0061F6"/>
                </a:solidFill>
                <a:latin typeface="Arial" pitchFamily="34" charset="0"/>
                <a:ea typeface="Arial" pitchFamily="34" charset="-122"/>
                <a:cs typeface="Arial" pitchFamily="34" charset="-120"/>
              </a:rPr>
              <a:t>RECOMMENDED</a:t>
            </a:r>
            <a:endParaRPr lang="en-US" sz="1000" dirty="0"/>
          </a:p>
        </p:txBody>
      </p:sp>
      <p:sp>
        <p:nvSpPr>
          <p:cNvPr id="26" name="Text 24"/>
          <p:cNvSpPr txBox="1"/>
          <p:nvPr/>
        </p:nvSpPr>
        <p:spPr>
          <a:xfrm>
            <a:off x="777240" y="4480560"/>
            <a:ext cx="3057144" cy="146304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Covers execution and urgent requests. Full plan delivered.</a:t>
            </a:r>
            <a:endParaRPr lang="en-US" sz="1300" dirty="0"/>
          </a:p>
        </p:txBody>
      </p:sp>
      <p:sp>
        <p:nvSpPr>
          <p:cNvPr id="27" name="Shape 25"/>
          <p:cNvSpPr/>
          <p:nvPr/>
        </p:nvSpPr>
        <p:spPr>
          <a:xfrm>
            <a:off x="4337304" y="3429000"/>
            <a:ext cx="3514344" cy="2103120"/>
          </a:xfrm>
          <a:prstGeom prst="roundRect">
            <a:avLst>
              <a:gd name="adj" fmla="val 3478"/>
            </a:avLst>
          </a:prstGeom>
          <a:solidFill>
            <a:srgbClr val="FFFFFF"/>
          </a:solidFill>
          <a:ln w="9525">
            <a:solidFill>
              <a:srgbClr val="E6E6E6"/>
            </a:solidFill>
            <a:prstDash val="solid"/>
          </a:ln>
        </p:spPr>
      </p:sp>
      <p:sp>
        <p:nvSpPr>
          <p:cNvPr id="28" name="Shape 26"/>
          <p:cNvSpPr/>
          <p:nvPr/>
        </p:nvSpPr>
        <p:spPr>
          <a:xfrm>
            <a:off x="4565904" y="3657600"/>
            <a:ext cx="384048" cy="384048"/>
          </a:xfrm>
          <a:prstGeom prst="ellipse">
            <a:avLst/>
          </a:prstGeom>
          <a:solidFill>
            <a:srgbClr val="50BFE6"/>
          </a:solidFill>
          <a:ln w="12700">
            <a:solidFill>
              <a:srgbClr val="50BFE6"/>
            </a:solidFill>
            <a:prstDash val="solid"/>
          </a:ln>
        </p:spPr>
      </p:sp>
      <p:sp>
        <p:nvSpPr>
          <p:cNvPr id="29" name="Text 27"/>
          <p:cNvSpPr txBox="1"/>
          <p:nvPr/>
        </p:nvSpPr>
        <p:spPr>
          <a:xfrm>
            <a:off x="4565904" y="3657600"/>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B</a:t>
            </a:r>
            <a:endParaRPr lang="en-US" sz="1400" dirty="0"/>
          </a:p>
        </p:txBody>
      </p:sp>
      <p:sp>
        <p:nvSpPr>
          <p:cNvPr id="30" name="Text 28"/>
          <p:cNvSpPr txBox="1"/>
          <p:nvPr/>
        </p:nvSpPr>
        <p:spPr>
          <a:xfrm>
            <a:off x="5068824" y="3611880"/>
            <a:ext cx="2599944" cy="50292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Part-time or intern (~80h a month)</a:t>
            </a:r>
            <a:endParaRPr lang="en-US" sz="1400" dirty="0"/>
          </a:p>
        </p:txBody>
      </p:sp>
      <p:sp>
        <p:nvSpPr>
          <p:cNvPr id="31" name="Text 29"/>
          <p:cNvSpPr txBox="1"/>
          <p:nvPr/>
        </p:nvSpPr>
        <p:spPr>
          <a:xfrm>
            <a:off x="4565904" y="4480560"/>
            <a:ext cx="3057144" cy="146304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Covers execution. Slower on urgent requests.</a:t>
            </a:r>
            <a:endParaRPr lang="en-US" sz="1300" dirty="0"/>
          </a:p>
        </p:txBody>
      </p:sp>
      <p:sp>
        <p:nvSpPr>
          <p:cNvPr id="32" name="Shape 30"/>
          <p:cNvSpPr/>
          <p:nvPr/>
        </p:nvSpPr>
        <p:spPr>
          <a:xfrm>
            <a:off x="8125968" y="3429000"/>
            <a:ext cx="3514344" cy="2103120"/>
          </a:xfrm>
          <a:prstGeom prst="roundRect">
            <a:avLst>
              <a:gd name="adj" fmla="val 3478"/>
            </a:avLst>
          </a:prstGeom>
          <a:solidFill>
            <a:srgbClr val="FFFFFF"/>
          </a:solidFill>
          <a:ln w="9525">
            <a:solidFill>
              <a:srgbClr val="E6E6E6"/>
            </a:solidFill>
            <a:prstDash val="solid"/>
          </a:ln>
        </p:spPr>
      </p:sp>
      <p:sp>
        <p:nvSpPr>
          <p:cNvPr id="33" name="Shape 31"/>
          <p:cNvSpPr/>
          <p:nvPr/>
        </p:nvSpPr>
        <p:spPr>
          <a:xfrm>
            <a:off x="8354568" y="3657600"/>
            <a:ext cx="384048" cy="384048"/>
          </a:xfrm>
          <a:prstGeom prst="ellipse">
            <a:avLst/>
          </a:prstGeom>
          <a:solidFill>
            <a:srgbClr val="E6E6E6"/>
          </a:solidFill>
          <a:ln w="12700">
            <a:solidFill>
              <a:srgbClr val="E6E6E6"/>
            </a:solidFill>
            <a:prstDash val="solid"/>
          </a:ln>
        </p:spPr>
      </p:sp>
      <p:sp>
        <p:nvSpPr>
          <p:cNvPr id="34" name="Text 32"/>
          <p:cNvSpPr txBox="1"/>
          <p:nvPr/>
        </p:nvSpPr>
        <p:spPr>
          <a:xfrm>
            <a:off x="8354568" y="3657600"/>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C</a:t>
            </a:r>
            <a:endParaRPr lang="en-US" sz="1400" dirty="0"/>
          </a:p>
        </p:txBody>
      </p:sp>
      <p:sp>
        <p:nvSpPr>
          <p:cNvPr id="35" name="Text 33"/>
          <p:cNvSpPr txBox="1"/>
          <p:nvPr/>
        </p:nvSpPr>
        <p:spPr>
          <a:xfrm>
            <a:off x="8857488" y="3611880"/>
            <a:ext cx="2599944" cy="502920"/>
          </a:xfrm>
          <a:prstGeom prst="rect">
            <a:avLst/>
          </a:prstGeom>
          <a:noFill/>
          <a:ln/>
        </p:spPr>
        <p:txBody>
          <a:bodyPr wrap="square" lIns="0" tIns="0" rIns="0" bIns="0" rtlCol="0" anchor="ctr"/>
          <a:lstStyle/>
          <a:p>
            <a:pPr indent="0" marL="0">
              <a:buNone/>
            </a:pPr>
            <a:r>
              <a:rPr lang="en-US" sz="1400" b="1" dirty="0">
                <a:solidFill>
                  <a:srgbClr val="22205D"/>
                </a:solidFill>
                <a:latin typeface="Arial" pitchFamily="34" charset="0"/>
                <a:ea typeface="Arial" pitchFamily="34" charset="-122"/>
                <a:cs typeface="Arial" pitchFamily="34" charset="-120"/>
              </a:rPr>
              <a:t>No new resource</a:t>
            </a:r>
            <a:endParaRPr lang="en-US" sz="1400" dirty="0"/>
          </a:p>
        </p:txBody>
      </p:sp>
      <p:sp>
        <p:nvSpPr>
          <p:cNvPr id="36" name="Text 34"/>
          <p:cNvSpPr txBox="1"/>
          <p:nvPr/>
        </p:nvSpPr>
        <p:spPr>
          <a:xfrm>
            <a:off x="8354568" y="4480560"/>
            <a:ext cx="3057144" cy="1463040"/>
          </a:xfrm>
          <a:prstGeom prst="rect">
            <a:avLst/>
          </a:prstGeom>
          <a:noFill/>
          <a:ln/>
        </p:spPr>
        <p:txBody>
          <a:bodyPr wrap="square" lIns="0" tIns="0" rIns="0" bIns="0" rtlCol="0" anchor="t"/>
          <a:lstStyle/>
          <a:p>
            <a:pPr indent="0" marL="0">
              <a:buNone/>
            </a:pPr>
            <a:r>
              <a:rPr lang="en-US" sz="1300" dirty="0">
                <a:solidFill>
                  <a:srgbClr val="22205D"/>
                </a:solidFill>
                <a:latin typeface="Arial" pitchFamily="34" charset="0"/>
                <a:ea typeface="Arial" pitchFamily="34" charset="-122"/>
                <a:cs typeface="Arial" pitchFamily="34" charset="-120"/>
              </a:rPr>
              <a:t>Strategy, content, SEO and website releases continue. Social posting, urgent and other-team requests, and event support stop.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2205D"/>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Decisions needed today</a:t>
            </a:r>
            <a:endParaRPr lang="en-US" sz="3400" dirty="0"/>
          </a:p>
        </p:txBody>
      </p:sp>
      <p:sp>
        <p:nvSpPr>
          <p:cNvPr id="3" name="Shape 1"/>
          <p:cNvSpPr/>
          <p:nvPr/>
        </p:nvSpPr>
        <p:spPr>
          <a:xfrm>
            <a:off x="548640" y="1536192"/>
            <a:ext cx="384048" cy="384048"/>
          </a:xfrm>
          <a:prstGeom prst="ellipse">
            <a:avLst/>
          </a:prstGeom>
          <a:solidFill>
            <a:srgbClr val="5CC3AE"/>
          </a:solidFill>
          <a:ln w="12700">
            <a:solidFill>
              <a:srgbClr val="5CC3AE"/>
            </a:solidFill>
            <a:prstDash val="solid"/>
          </a:ln>
        </p:spPr>
      </p:sp>
      <p:sp>
        <p:nvSpPr>
          <p:cNvPr id="4" name="Text 2"/>
          <p:cNvSpPr txBox="1"/>
          <p:nvPr/>
        </p:nvSpPr>
        <p:spPr>
          <a:xfrm>
            <a:off x="548640" y="153619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1188720" y="1463040"/>
            <a:ext cx="10451592"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Approve the HR brand video</a:t>
            </a:r>
            <a:endParaRPr lang="en-US" sz="1800" dirty="0"/>
          </a:p>
        </p:txBody>
      </p:sp>
      <p:sp>
        <p:nvSpPr>
          <p:cNvPr id="6" name="Shape 4"/>
          <p:cNvSpPr/>
          <p:nvPr/>
        </p:nvSpPr>
        <p:spPr>
          <a:xfrm>
            <a:off x="548640" y="2313432"/>
            <a:ext cx="384048" cy="384048"/>
          </a:xfrm>
          <a:prstGeom prst="ellipse">
            <a:avLst/>
          </a:prstGeom>
          <a:solidFill>
            <a:srgbClr val="5CC3AE"/>
          </a:solidFill>
          <a:ln w="12700">
            <a:solidFill>
              <a:srgbClr val="5CC3AE"/>
            </a:solidFill>
            <a:prstDash val="solid"/>
          </a:ln>
        </p:spPr>
      </p:sp>
      <p:sp>
        <p:nvSpPr>
          <p:cNvPr id="7" name="Text 5"/>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2</a:t>
            </a:r>
            <a:endParaRPr lang="en-US" sz="1400" dirty="0"/>
          </a:p>
        </p:txBody>
      </p:sp>
      <p:sp>
        <p:nvSpPr>
          <p:cNvPr id="8" name="Text 6"/>
          <p:cNvSpPr txBox="1"/>
          <p:nvPr/>
        </p:nvSpPr>
        <p:spPr>
          <a:xfrm>
            <a:off x="1188720" y="2240280"/>
            <a:ext cx="10451592"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Resource: option A, B or C</a:t>
            </a:r>
            <a:endParaRPr lang="en-US" sz="1800" dirty="0"/>
          </a:p>
        </p:txBody>
      </p:sp>
      <p:sp>
        <p:nvSpPr>
          <p:cNvPr id="9" name="Shape 7"/>
          <p:cNvSpPr/>
          <p:nvPr/>
        </p:nvSpPr>
        <p:spPr>
          <a:xfrm>
            <a:off x="548640" y="3090672"/>
            <a:ext cx="384048" cy="384048"/>
          </a:xfrm>
          <a:prstGeom prst="ellipse">
            <a:avLst/>
          </a:prstGeom>
          <a:solidFill>
            <a:srgbClr val="5CC3AE"/>
          </a:solidFill>
          <a:ln w="12700">
            <a:solidFill>
              <a:srgbClr val="5CC3AE"/>
            </a:solidFill>
            <a:prstDash val="solid"/>
          </a:ln>
        </p:spPr>
      </p:sp>
      <p:sp>
        <p:nvSpPr>
          <p:cNvPr id="10" name="Text 8"/>
          <p:cNvSpPr txBox="1"/>
          <p:nvPr/>
        </p:nvSpPr>
        <p:spPr>
          <a:xfrm>
            <a:off x="548640" y="309067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3</a:t>
            </a:r>
            <a:endParaRPr lang="en-US" sz="1400" dirty="0"/>
          </a:p>
        </p:txBody>
      </p:sp>
      <p:sp>
        <p:nvSpPr>
          <p:cNvPr id="11" name="Text 9"/>
          <p:cNvSpPr txBox="1"/>
          <p:nvPr/>
        </p:nvSpPr>
        <p:spPr>
          <a:xfrm>
            <a:off x="1188720" y="3017520"/>
            <a:ext cx="10451592"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Production dev time for Release 1 (October) and Release 2 (November)</a:t>
            </a:r>
            <a:endParaRPr lang="en-US" sz="1800" dirty="0"/>
          </a:p>
        </p:txBody>
      </p:sp>
      <p:sp>
        <p:nvSpPr>
          <p:cNvPr id="12" name="Shape 10"/>
          <p:cNvSpPr/>
          <p:nvPr/>
        </p:nvSpPr>
        <p:spPr>
          <a:xfrm>
            <a:off x="548640" y="3867912"/>
            <a:ext cx="384048" cy="384048"/>
          </a:xfrm>
          <a:prstGeom prst="ellipse">
            <a:avLst/>
          </a:prstGeom>
          <a:solidFill>
            <a:srgbClr val="5CC3AE"/>
          </a:solidFill>
          <a:ln w="12700">
            <a:solidFill>
              <a:srgbClr val="5CC3AE"/>
            </a:solidFill>
            <a:prstDash val="solid"/>
          </a:ln>
        </p:spPr>
      </p:sp>
      <p:sp>
        <p:nvSpPr>
          <p:cNvPr id="13" name="Text 11"/>
          <p:cNvSpPr txBox="1"/>
          <p:nvPr/>
        </p:nvSpPr>
        <p:spPr>
          <a:xfrm>
            <a:off x="548640" y="386791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4</a:t>
            </a:r>
            <a:endParaRPr lang="en-US" sz="1400" dirty="0"/>
          </a:p>
        </p:txBody>
      </p:sp>
      <p:sp>
        <p:nvSpPr>
          <p:cNvPr id="14" name="Text 12"/>
          <p:cNvSpPr txBox="1"/>
          <p:nvPr/>
        </p:nvSpPr>
        <p:spPr>
          <a:xfrm>
            <a:off x="1188720" y="3794760"/>
            <a:ext cx="10451592"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Client naming in decks vs on the website: HBL, MAF, Kayali / Huda Beauty, Harmony Gold</a:t>
            </a:r>
            <a:endParaRPr lang="en-US" sz="1800" dirty="0"/>
          </a:p>
        </p:txBody>
      </p:sp>
      <p:sp>
        <p:nvSpPr>
          <p:cNvPr id="15" name="Shape 13"/>
          <p:cNvSpPr/>
          <p:nvPr/>
        </p:nvSpPr>
        <p:spPr>
          <a:xfrm>
            <a:off x="548640" y="4645152"/>
            <a:ext cx="384048" cy="384048"/>
          </a:xfrm>
          <a:prstGeom prst="ellipse">
            <a:avLst/>
          </a:prstGeom>
          <a:solidFill>
            <a:srgbClr val="5CC3AE"/>
          </a:solidFill>
          <a:ln w="12700">
            <a:solidFill>
              <a:srgbClr val="5CC3AE"/>
            </a:solidFill>
            <a:prstDash val="solid"/>
          </a:ln>
        </p:spPr>
      </p:sp>
      <p:sp>
        <p:nvSpPr>
          <p:cNvPr id="16" name="Text 14"/>
          <p:cNvSpPr txBox="1"/>
          <p:nvPr/>
        </p:nvSpPr>
        <p:spPr>
          <a:xfrm>
            <a:off x="548640" y="464515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5</a:t>
            </a:r>
            <a:endParaRPr lang="en-US" sz="1400" dirty="0"/>
          </a:p>
        </p:txBody>
      </p:sp>
      <p:sp>
        <p:nvSpPr>
          <p:cNvPr id="17" name="Text 15"/>
          <p:cNvSpPr txBox="1"/>
          <p:nvPr/>
        </p:nvSpPr>
        <p:spPr>
          <a:xfrm>
            <a:off x="1188720" y="4572000"/>
            <a:ext cx="10451592"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Request rule: 2 working days' notice for content. Design-only goes straight to Omais</a:t>
            </a:r>
            <a:endParaRPr lang="en-US" sz="1800" dirty="0"/>
          </a:p>
        </p:txBody>
      </p:sp>
      <p:sp>
        <p:nvSpPr>
          <p:cNvPr id="18" name="Shape 16"/>
          <p:cNvSpPr/>
          <p:nvPr/>
        </p:nvSpPr>
        <p:spPr>
          <a:xfrm>
            <a:off x="548640" y="5422392"/>
            <a:ext cx="384048" cy="384048"/>
          </a:xfrm>
          <a:prstGeom prst="ellipse">
            <a:avLst/>
          </a:prstGeom>
          <a:solidFill>
            <a:srgbClr val="5CC3AE"/>
          </a:solidFill>
          <a:ln w="12700">
            <a:solidFill>
              <a:srgbClr val="5CC3AE"/>
            </a:solidFill>
            <a:prstDash val="solid"/>
          </a:ln>
        </p:spPr>
      </p:sp>
      <p:sp>
        <p:nvSpPr>
          <p:cNvPr id="19" name="Text 17"/>
          <p:cNvSpPr txBox="1"/>
          <p:nvPr/>
        </p:nvSpPr>
        <p:spPr>
          <a:xfrm>
            <a:off x="548640" y="5422392"/>
            <a:ext cx="384048" cy="384048"/>
          </a:xfrm>
          <a:prstGeom prst="rect">
            <a:avLst/>
          </a:prstGeom>
          <a:noFill/>
          <a:ln/>
        </p:spPr>
        <p:txBody>
          <a:bodyPr wrap="square" lIns="0" tIns="0" rIns="0" bIns="0" rtlCol="0" anchor="ctr"/>
          <a:lstStyle/>
          <a:p>
            <a:pPr algn="ctr" indent="0" marL="0">
              <a:buNone/>
            </a:pPr>
            <a:r>
              <a:rPr lang="en-US" sz="1400" b="1" dirty="0">
                <a:solidFill>
                  <a:srgbClr val="22205D"/>
                </a:solidFill>
                <a:latin typeface="Arial" pitchFamily="34" charset="0"/>
                <a:ea typeface="Arial" pitchFamily="34" charset="-122"/>
                <a:cs typeface="Arial" pitchFamily="34" charset="-120"/>
              </a:rPr>
              <a:t>6</a:t>
            </a:r>
            <a:endParaRPr lang="en-US" sz="1400" dirty="0"/>
          </a:p>
        </p:txBody>
      </p:sp>
      <p:sp>
        <p:nvSpPr>
          <p:cNvPr id="20" name="Text 18"/>
          <p:cNvSpPr txBox="1"/>
          <p:nvPr/>
        </p:nvSpPr>
        <p:spPr>
          <a:xfrm>
            <a:off x="1188720" y="5349240"/>
            <a:ext cx="10451592"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An owner to connect analytics to the live site in week 1</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xLoop Marketing Plan Q2-Q3</dc:title>
  <dc:subject>PptxGenJS Presentation</dc:subject>
  <dc:creator>PptxGenJS</dc:creator>
  <cp:lastModifiedBy>PptxGenJS</cp:lastModifiedBy>
  <cp:revision>1</cp:revision>
  <dcterms:created xsi:type="dcterms:W3CDTF">2026-09-23T08:34:44Z</dcterms:created>
  <dcterms:modified xsi:type="dcterms:W3CDTF">2026-09-23T08:34:44Z</dcterms:modified>
</cp:coreProperties>
</file>