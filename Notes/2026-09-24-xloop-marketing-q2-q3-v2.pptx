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Numbers: Mari (Meta ads, 1,500 applications vs a 1,000 target), NEPRA (87 letters to CEO-level recipients), Search Console Jun 21 – Sep 20 (24.4K impressions, 1.9K clicks). Website items are content-complete and in design or build. See the next slides for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MAF and Kayali are internal-only for now. The case study slides are for sales use until naming is confirmed. The Figma homepage still shows the old layout and gets updated before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Website dates depend on production scheduling the two developers. Release 1 is due Oct 31 (homepage, Data &amp; AI tool, AI Security tool). Release 2 is due Nov 30 (service group pages, Mining, case study pages). Videos take about a week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Sana's hours: 2–3 a day, about 45–65 a month, averaged at 50. Estimate of the work: content and search 35h, strategy/briefs/reviews/report 15h, publishing/social/coordination 40h, urgent and cross-team requests 25h, events/HR/video 10h.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0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0B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SCRUM · 25 SEP 2026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Marketing: Q2–Q3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delivered · What changed · Where we go next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period: October 2026 – March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marketing delivered this year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by a team of three, alongside support for sales, HR, training and partnerships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17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C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 bootcamp applications against a 1,000 target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138" y="1554480"/>
            <a:ext cx="256717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8738" y="1691640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618738" y="242316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CEOs reached in the NEPRA compliance campaign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1554480"/>
            <a:ext cx="256717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0236" y="1691640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460236" y="242316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case studies for sales: HBL, MAF, Wefi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3134" y="1554480"/>
            <a:ext cx="256717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1734" y="1691640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24.4K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301734" y="242316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xLoop appeared in Google search in 3 months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2567178" cy="288036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630168"/>
            <a:ext cx="2109978" cy="365760"/>
          </a:xfrm>
          <a:prstGeom prst="roundRect">
            <a:avLst>
              <a:gd name="adj" fmla="val 20000"/>
            </a:avLst>
          </a:prstGeom>
          <a:solidFill>
            <a:srgbClr val="22205D"/>
          </a:solidFill>
          <a:ln w="12700">
            <a:solidFill>
              <a:srgbClr val="2220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630168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brand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160520"/>
            <a:ext cx="215569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corporate deck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HBL, MAF and Wefi case studies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augmentation proposal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intro video script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90138" y="3429000"/>
            <a:ext cx="2567178" cy="288036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8738" y="3630168"/>
            <a:ext cx="2109978" cy="365760"/>
          </a:xfrm>
          <a:prstGeom prst="roundRect">
            <a:avLst>
              <a:gd name="adj" fmla="val 20000"/>
            </a:avLst>
          </a:prstGeom>
          <a:solidFill>
            <a:srgbClr val="0061F6"/>
          </a:solidFill>
          <a:ln w="12700">
            <a:solidFill>
              <a:srgbClr val="0061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8738" y="3630168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&amp; digital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18738" y="4160520"/>
            <a:ext cx="215569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homepage, signed off by sales + CTO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page content written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tool designed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articles live on the blog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31636" y="3429000"/>
            <a:ext cx="2567178" cy="288036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0236" y="3630168"/>
            <a:ext cx="2109978" cy="365760"/>
          </a:xfrm>
          <a:prstGeom prst="roundRect">
            <a:avLst>
              <a:gd name="adj" fmla="val 20000"/>
            </a:avLst>
          </a:prstGeom>
          <a:solidFill>
            <a:srgbClr val="0098D8"/>
          </a:solidFill>
          <a:ln w="12700">
            <a:solidFill>
              <a:srgbClr val="0098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60236" y="3630168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 &amp; events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60236" y="4160520"/>
            <a:ext cx="215569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 bootcamp + graduation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NEPRA letters, page, follow-ups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Townhall PR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Geshidocon booth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73134" y="3429000"/>
            <a:ext cx="2567178" cy="288036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01734" y="3630168"/>
            <a:ext cx="2109978" cy="365760"/>
          </a:xfrm>
          <a:prstGeom prst="roundRect">
            <a:avLst>
              <a:gd name="adj" fmla="val 20000"/>
            </a:avLst>
          </a:prstGeom>
          <a:solidFill>
            <a:srgbClr val="5CC3AE"/>
          </a:solidFill>
          <a:ln w="12700">
            <a:solidFill>
              <a:srgbClr val="5CC3A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01734" y="3630168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&amp; people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301734" y="4160520"/>
            <a:ext cx="215569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applications: Pipedrive, monday.com, UiPath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Kore.ai one-pager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brand video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New-employee posts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274320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132320" y="1234440"/>
            <a:ext cx="4507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1672" cy="6858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645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named after technologies, a general AI message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6459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64592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groups built around client problems. Homepage leads with data and AI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enquiries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4231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"Book a call" was the only option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4231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42316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self-assessment tools: AI Security and Data &amp; AI Readiness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11091672" cy="6858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00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32004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case studies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2004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20040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for sales with named clients: HBL, MAF, Wefi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977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3977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awareness posts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977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97764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campaigns with results: Mari 50% over target, NEPRA to 87 CEOs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11091672" cy="6858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754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brand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0" y="4754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made for new recruits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754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475488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brand video now. Life at xLoop video next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532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743200" y="5532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facts differed across decks and site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55321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553212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approved set of facts, claims and client names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things stand today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645920"/>
                <a:gridCol w="50566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deck + HBL, MAF, Wefi case studies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3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use by sales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brand video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approval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 to HR, website, LinkedIn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Homepage (new version)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3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signed off by sales and CTO. Into build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Security Assessment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3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Designed. Goes on the security pages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&amp; AI Readiness Assessment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review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Farrukh. Launches with the homepage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service group pages + Mining page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B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written. Design and build next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Kayali / Huda Beauty case study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from the account team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need to be: Q2 and Q3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62956" cy="4343400"/>
          </a:xfrm>
          <a:prstGeom prst="roundRect">
            <a:avLst>
              <a:gd name="adj" fmla="val 1684"/>
            </a:avLst>
          </a:prstGeom>
          <a:solidFill>
            <a:srgbClr val="F4F6FB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2205D"/>
          </a:solidFill>
          <a:ln w="12700">
            <a:solidFill>
              <a:srgbClr val="2220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· Oct–Dec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463040"/>
            <a:ext cx="2894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057400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homepage live with the Data &amp; AI Readiness tool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243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24328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tool live on the security pages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912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91256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brand video + Life at xLoop video released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7581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758184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service group pages, Mining page and case study pages live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251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325112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kit: final deck, Kayali case study, one-pager per service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92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892040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report + Q3 plan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77356" y="1234440"/>
            <a:ext cx="5362956" cy="4343400"/>
          </a:xfrm>
          <a:prstGeom prst="roundRect">
            <a:avLst>
              <a:gd name="adj" fmla="val 1684"/>
            </a:avLst>
          </a:prstGeom>
          <a:solidFill>
            <a:srgbClr val="F4F6FB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1676" y="146304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061F6"/>
          </a:solidFill>
          <a:ln w="12700">
            <a:solidFill>
              <a:srgbClr val="0061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1676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· Jan–Mar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71916" y="1463040"/>
            <a:ext cx="2894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551676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37476" y="2057400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both tools through LinkedIn and leadership posts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51676" y="26243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237476" y="2624328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joint piece each with Microsoft, Kore.ai and Emeritus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51676" y="31912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237476" y="3191256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new case studies, with client permission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51676" y="37581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37476" y="3758184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video cuts for LinkedIn and careers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51676" y="43251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237476" y="4325112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 and PR submissions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51676" y="4892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237476" y="4892040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review + Q4 plan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7607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week, both quarters: 1 article + 2–3 LinkedIn posts, each linked to a service. Site fixes so search engines and AI assistants find us.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get there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309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417320"/>
            <a:ext cx="384048" cy="384048"/>
          </a:xfrm>
          <a:prstGeom prst="ellipse">
            <a:avLst/>
          </a:prstGeom>
          <a:solidFill>
            <a:srgbClr val="22205D"/>
          </a:solidFill>
          <a:ln w="12700">
            <a:solidFill>
              <a:srgbClr val="2220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2984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27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Consultant, flexible hours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28930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content, search, briefs, reviews, monthly report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6309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286000"/>
            <a:ext cx="384048" cy="384048"/>
          </a:xfrm>
          <a:prstGeom prst="ellipse">
            <a:avLst/>
          </a:prstGeom>
          <a:solidFill>
            <a:srgbClr val="0061F6"/>
          </a:solidFill>
          <a:ln w="12700">
            <a:solidFill>
              <a:srgbClr val="0061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21671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96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lead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1579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video, social creative, sales material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6309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154680"/>
            <a:ext cx="384048" cy="384048"/>
          </a:xfrm>
          <a:prstGeom prst="ellipse">
            <a:avLst/>
          </a:prstGeom>
          <a:solidFill>
            <a:srgbClr val="0098D8"/>
          </a:solidFill>
          <a:ln w="12700">
            <a:solidFill>
              <a:srgbClr val="0098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0160" y="30358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364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UI/UX, shared with client work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02666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and tool design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6309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023360"/>
            <a:ext cx="384048" cy="384048"/>
          </a:xfrm>
          <a:prstGeom prst="ellipse">
            <a:avLst/>
          </a:prstGeom>
          <a:solidFill>
            <a:srgbClr val="5A5A7A"/>
          </a:solidFill>
          <a:ln w="12700">
            <a:solidFill>
              <a:srgbClr val="5A5A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80160" y="39044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devs (2)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233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8953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build and releases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6309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892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requests come in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285232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content: to Sana, 2 working days' notice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ready, needs design: straight to Omais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Urgent, same-day: the new Marketing Executive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78040" y="1234440"/>
            <a:ext cx="4462272" cy="5074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52360" y="137160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needed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18105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a month to deliver this plan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52360" y="2194560"/>
            <a:ext cx="1565453" cy="548640"/>
          </a:xfrm>
          <a:prstGeom prst="rect">
            <a:avLst/>
          </a:prstGeom>
          <a:solidFill>
            <a:srgbClr val="2220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17813" y="2194560"/>
            <a:ext cx="2348179" cy="548640"/>
          </a:xfrm>
          <a:prstGeom prst="rect">
            <a:avLst/>
          </a:prstGeom>
          <a:solidFill>
            <a:srgbClr val="5CC3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360" y="2194560"/>
            <a:ext cx="1565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50h covered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017813" y="2194560"/>
            <a:ext cx="23481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75h not covered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283464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covered: publishing, social, coordination with devs and sales, urgent and cross-team requests, events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52360" y="3611880"/>
            <a:ext cx="384048" cy="384048"/>
          </a:xfrm>
          <a:prstGeom prst="ellipse">
            <a:avLst/>
          </a:prstGeom>
          <a:solidFill>
            <a:srgbClr val="5CC3AE"/>
          </a:solidFill>
          <a:ln w="12700">
            <a:solidFill>
              <a:srgbClr val="5CC3A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36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001000" y="356616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Full-time Marketing Executive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001000" y="388620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Recommended. Full plan, urgent requests covered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52360" y="4480560"/>
            <a:ext cx="384048" cy="384048"/>
          </a:xfrm>
          <a:prstGeom prst="ellipse">
            <a:avLst/>
          </a:prstGeom>
          <a:solidFill>
            <a:srgbClr val="50BFE6"/>
          </a:solidFill>
          <a:ln w="12700">
            <a:solidFill>
              <a:srgbClr val="50BF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36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001000" y="44348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Part-time or intern (~80h)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001000" y="475488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covered, slower on urgent requests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52360" y="5349240"/>
            <a:ext cx="384048" cy="384048"/>
          </a:xfrm>
          <a:prstGeom prst="ellips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5236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001000" y="530352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resource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001000" y="562356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Website, tools, videos only. Social, events and urgent requests stop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20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 today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73936"/>
            <a:ext cx="384048" cy="384048"/>
          </a:xfrm>
          <a:prstGeom prst="ellipse">
            <a:avLst/>
          </a:prstGeom>
          <a:solidFill>
            <a:srgbClr val="5CC3AE"/>
          </a:solidFill>
          <a:ln w="12700">
            <a:solidFill>
              <a:srgbClr val="5CC3A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916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HR brand video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42616"/>
            <a:ext cx="384048" cy="384048"/>
          </a:xfrm>
          <a:prstGeom prst="ellipse">
            <a:avLst/>
          </a:prstGeom>
          <a:solidFill>
            <a:srgbClr val="5CC3AE"/>
          </a:solidFill>
          <a:ln w="12700">
            <a:solidFill>
              <a:srgbClr val="5CC3A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56032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Resource: option A, B or C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511296"/>
            <a:ext cx="384048" cy="384048"/>
          </a:xfrm>
          <a:prstGeom prst="ellipse">
            <a:avLst/>
          </a:prstGeom>
          <a:solidFill>
            <a:srgbClr val="5CC3AE"/>
          </a:solidFill>
          <a:ln w="12700">
            <a:solidFill>
              <a:srgbClr val="5CC3A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4290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dev time for the October and November website releases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79976"/>
            <a:ext cx="384048" cy="384048"/>
          </a:xfrm>
          <a:prstGeom prst="ellipse">
            <a:avLst/>
          </a:prstGeom>
          <a:solidFill>
            <a:srgbClr val="5CC3AE"/>
          </a:solidFill>
          <a:ln w="12700">
            <a:solidFill>
              <a:srgbClr val="5CC3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2976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names we can use in decks and on the website: HBL, MAF, Kayali / Huda Beauty, Harmony Gold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248656"/>
            <a:ext cx="384048" cy="384048"/>
          </a:xfrm>
          <a:prstGeom prst="ellipse">
            <a:avLst/>
          </a:prstGeom>
          <a:solidFill>
            <a:srgbClr val="5CC3AE"/>
          </a:solidFill>
          <a:ln w="12700">
            <a:solidFill>
              <a:srgbClr val="5CC3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51663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rule: 2 working days' notice for content. Design-only goes straight to Omais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xLoop Marketing: Q2-Q3</dc:title>
  <dc:subject>PptxGenJS Presentation</dc:subject>
  <dc:creator>PptxGenJS</dc:creator>
  <cp:lastModifiedBy>PptxGenJS</cp:lastModifiedBy>
  <cp:revision>1</cp:revision>
  <dcterms:created xsi:type="dcterms:W3CDTF">2026-09-24T05:29:23Z</dcterms:created>
  <dcterms:modified xsi:type="dcterms:W3CDTF">2026-09-24T05:29:23Z</dcterms:modified>
</cp:coreProperties>
</file>