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Mari: paid Meta campaign for xCelerate, target 1,000 applications. Testimonials came through Jafri. The careers form was added at Hunaina's request. The NEPRA case study (ACT Wind) is named here for internal use; publicly it stays 'a 30 MW wind IPP' unless the client approves.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Console, company account, Jun 21–Sep 20 vs Mar 22–Jun 20: clicks 1.9K vs about 1.46K; CTR 7.8% vs about 3.1%; 124 pages indexed. AI assistants in GA4 Aug 24–Sep 23: ChatGPT 18, Perplexity 4, Gemini 1 visits. Many long, persona-style queries (for example 'I work at a company with 250–1k employees. What is the ROI of intelligent document processing?') are how AI assistants search Google for answers; our articles rank in the top 5 for several. GA4 missed Jul 28–Aug 24 because a code change removed the tracking script (dev team confirmed, now fixed); ask devs to add GA annotations for both dates. One website link points to an old LinkedIn page (linkedin.com/company/xloop-digital) instead of the main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LinkedIn page analytics, Jun 25–Sep 22: 39,350 impressions, all organic; 1,277 new followers, all organic; 622 reactions; 14,564 followers. Pakistan share: the top Pakistani cities alone add up to about 61% of followers. Engagement rates are LinkedIn's figures for posts from Sep 9–23. Ad benchmarks: LinkedIn Sponsored Content CPC is typically $6–16 in 2026, so $300–600 a month is a test budget, not a scale budget. PKR at about 280 to the dollar.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need about 3 months of data before judging them, so the review lands in mid-January. Rafay is on 2 client projects (Qaiti and Tiba). Mobbin is only needed if that grows to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checked 24 Sep 2026: GITEX Global Dec 7–11 at Dubai Exhibition Centre (moved from October); Black Hat MEA Dec 1–3, Riyadh; AI Expo Africa Oct 28–29, Sandton Convention Centre; LEAP 2027 Apr 12–15, Riyadh; GISEC Global May 4–6, 2027. Securetech Pakistan and Indus AI Week 2027 dates are not confirmed. ITCN Asia ran Sep 22–24, so it's already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205D"/>
        </a:solidFill>
      </p:bgPr>
    </p:bg>
    <p:spTree>
      <p:nvGrpSpPr>
        <p:cNvPr id="1" name=""/>
        <p:cNvGrpSpPr/>
        <p:nvPr/>
      </p:nvGrpSpPr>
      <p:grpSpPr>
        <a:xfrm>
          <a:off x="0" y="0"/>
          <a:ext cx="0" cy="0"/>
          <a:chOff x="0" y="0"/>
          <a:chExt cx="0" cy="0"/>
        </a:xfrm>
      </p:grpSpPr>
      <p:sp>
        <p:nvSpPr>
          <p:cNvPr id="2" name="Text 0"/>
          <p:cNvSpPr txBox="1"/>
          <p:nvPr/>
        </p:nvSpPr>
        <p:spPr>
          <a:xfrm>
            <a:off x="548640" y="1554480"/>
            <a:ext cx="7315200" cy="365760"/>
          </a:xfrm>
          <a:prstGeom prst="rect">
            <a:avLst/>
          </a:prstGeom>
          <a:noFill/>
          <a:ln/>
        </p:spPr>
        <p:txBody>
          <a:bodyPr wrap="square" lIns="0" tIns="0" rIns="0" bIns="0" rtlCol="0" anchor="ctr"/>
          <a:lstStyle/>
          <a:p>
            <a:pPr indent="0" marL="0">
              <a:buNone/>
            </a:pPr>
            <a:r>
              <a:rPr lang="en-US" sz="1300" b="1" spc="300" kern="0" dirty="0">
                <a:solidFill>
                  <a:srgbClr val="50BFE6"/>
                </a:solidFill>
                <a:latin typeface="Arial" pitchFamily="34" charset="0"/>
                <a:ea typeface="Arial" pitchFamily="34" charset="-122"/>
                <a:cs typeface="Arial" pitchFamily="34" charset="-120"/>
              </a:rPr>
              <a:t>MARKETING SCRUM · 25 SEP 2026</a:t>
            </a:r>
            <a:endParaRPr lang="en-US" sz="1300" dirty="0"/>
          </a:p>
        </p:txBody>
      </p:sp>
      <p:sp>
        <p:nvSpPr>
          <p:cNvPr id="3" name="Text 1"/>
          <p:cNvSpPr txBox="1"/>
          <p:nvPr/>
        </p:nvSpPr>
        <p:spPr>
          <a:xfrm>
            <a:off x="548640" y="2011680"/>
            <a:ext cx="10058400" cy="100584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Marketing: Q2–Q3</a:t>
            </a:r>
            <a:endParaRPr lang="en-US" sz="4800" dirty="0"/>
          </a:p>
        </p:txBody>
      </p:sp>
      <p:sp>
        <p:nvSpPr>
          <p:cNvPr id="4" name="Text 2"/>
          <p:cNvSpPr txBox="1"/>
          <p:nvPr/>
        </p:nvSpPr>
        <p:spPr>
          <a:xfrm>
            <a:off x="548640" y="3063240"/>
            <a:ext cx="10058400" cy="54864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What we delivered · Where we stand · What's next</a:t>
            </a:r>
            <a:endParaRPr lang="en-US" sz="2200" dirty="0"/>
          </a:p>
        </p:txBody>
      </p:sp>
      <p:sp>
        <p:nvSpPr>
          <p:cNvPr id="5" name="Text 3"/>
          <p:cNvSpPr txBox="1"/>
          <p:nvPr/>
        </p:nvSpPr>
        <p:spPr>
          <a:xfrm>
            <a:off x="548640" y="3931920"/>
            <a:ext cx="7315200" cy="457200"/>
          </a:xfrm>
          <a:prstGeom prst="rect">
            <a:avLst/>
          </a:prstGeom>
          <a:noFill/>
          <a:ln/>
        </p:spPr>
        <p:txBody>
          <a:bodyPr wrap="square" lIns="0" tIns="0" rIns="0" bIns="0" rtlCol="0" anchor="ctr"/>
          <a:lstStyle/>
          <a:p>
            <a:pPr indent="0" marL="0">
              <a:buNone/>
            </a:pPr>
            <a:r>
              <a:rPr lang="en-US" sz="1600" dirty="0">
                <a:solidFill>
                  <a:srgbClr val="5CC3AE"/>
                </a:solidFill>
                <a:latin typeface="Arial" pitchFamily="34" charset="0"/>
                <a:ea typeface="Arial" pitchFamily="34" charset="-122"/>
                <a:cs typeface="Arial" pitchFamily="34" charset="-120"/>
              </a:rPr>
              <a:t>Plan period: October 2026 – March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594360"/>
          </a:xfrm>
          <a:prstGeom prst="rect">
            <a:avLst/>
          </a:prstGeom>
          <a:noFill/>
          <a:ln/>
        </p:spPr>
        <p:txBody>
          <a:bodyPr wrap="square" lIns="0" tIns="0" rIns="0" bIns="0" rtlCol="0" anchor="ctr"/>
          <a:lstStyle/>
          <a:p>
            <a:pPr indent="0" marL="0">
              <a:buNone/>
            </a:pPr>
            <a:r>
              <a:rPr lang="en-US" sz="2800" b="1" dirty="0">
                <a:solidFill>
                  <a:srgbClr val="22205D"/>
                </a:solidFill>
                <a:latin typeface="Arial" pitchFamily="34" charset="0"/>
                <a:ea typeface="Arial" pitchFamily="34" charset="-122"/>
                <a:cs typeface="Arial" pitchFamily="34" charset="-120"/>
              </a:rPr>
              <a:t>What marketing delivered this year</a:t>
            </a:r>
            <a:endParaRPr lang="en-US" sz="2800" dirty="0"/>
          </a:p>
        </p:txBody>
      </p:sp>
      <p:sp>
        <p:nvSpPr>
          <p:cNvPr id="3" name="Shape 1"/>
          <p:cNvSpPr/>
          <p:nvPr/>
        </p:nvSpPr>
        <p:spPr>
          <a:xfrm>
            <a:off x="548640" y="1188720"/>
            <a:ext cx="2567178" cy="1463040"/>
          </a:xfrm>
          <a:prstGeom prst="roundRect">
            <a:avLst>
              <a:gd name="adj" fmla="val 5000"/>
            </a:avLst>
          </a:prstGeom>
          <a:solidFill>
            <a:srgbClr val="FFFFFF"/>
          </a:solidFill>
          <a:ln w="9525">
            <a:solidFill>
              <a:srgbClr val="E6E6E6"/>
            </a:solidFill>
            <a:prstDash val="solid"/>
          </a:ln>
        </p:spPr>
      </p:sp>
      <p:sp>
        <p:nvSpPr>
          <p:cNvPr id="4" name="Text 2"/>
          <p:cNvSpPr txBox="1"/>
          <p:nvPr/>
        </p:nvSpPr>
        <p:spPr>
          <a:xfrm>
            <a:off x="777240" y="1325880"/>
            <a:ext cx="2109978" cy="566928"/>
          </a:xfrm>
          <a:prstGeom prst="rect">
            <a:avLst/>
          </a:prstGeom>
          <a:noFill/>
          <a:ln/>
        </p:spPr>
        <p:txBody>
          <a:bodyPr wrap="square" lIns="0" tIns="0" rIns="0" bIns="0" rtlCol="0" anchor="ctr"/>
          <a:lstStyle/>
          <a:p>
            <a:pPr indent="0" marL="0">
              <a:buNone/>
            </a:pPr>
            <a:r>
              <a:rPr lang="en-US" sz="3200" b="1" dirty="0">
                <a:solidFill>
                  <a:srgbClr val="5CC3AE"/>
                </a:solidFill>
                <a:latin typeface="Arial" pitchFamily="34" charset="0"/>
                <a:ea typeface="Arial" pitchFamily="34" charset="-122"/>
                <a:cs typeface="Arial" pitchFamily="34" charset="-120"/>
              </a:rPr>
              <a:t>1,500+</a:t>
            </a:r>
            <a:endParaRPr lang="en-US" sz="3200" dirty="0"/>
          </a:p>
        </p:txBody>
      </p:sp>
      <p:sp>
        <p:nvSpPr>
          <p:cNvPr id="5" name="Text 3"/>
          <p:cNvSpPr txBox="1"/>
          <p:nvPr/>
        </p:nvSpPr>
        <p:spPr>
          <a:xfrm>
            <a:off x="777240" y="1892808"/>
            <a:ext cx="2109978" cy="45720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Mari applications through xCelerate, against a 1,000 target</a:t>
            </a:r>
            <a:endParaRPr lang="en-US" sz="1100" dirty="0"/>
          </a:p>
        </p:txBody>
      </p:sp>
      <p:sp>
        <p:nvSpPr>
          <p:cNvPr id="6" name="Shape 4"/>
          <p:cNvSpPr/>
          <p:nvPr/>
        </p:nvSpPr>
        <p:spPr>
          <a:xfrm>
            <a:off x="3390138" y="1188720"/>
            <a:ext cx="2567178" cy="1463040"/>
          </a:xfrm>
          <a:prstGeom prst="roundRect">
            <a:avLst>
              <a:gd name="adj" fmla="val 5000"/>
            </a:avLst>
          </a:prstGeom>
          <a:solidFill>
            <a:srgbClr val="FFFFFF"/>
          </a:solidFill>
          <a:ln w="9525">
            <a:solidFill>
              <a:srgbClr val="E6E6E6"/>
            </a:solidFill>
            <a:prstDash val="solid"/>
          </a:ln>
        </p:spPr>
      </p:sp>
      <p:sp>
        <p:nvSpPr>
          <p:cNvPr id="7" name="Text 5"/>
          <p:cNvSpPr txBox="1"/>
          <p:nvPr/>
        </p:nvSpPr>
        <p:spPr>
          <a:xfrm>
            <a:off x="3618738" y="1325880"/>
            <a:ext cx="2109978" cy="566928"/>
          </a:xfrm>
          <a:prstGeom prst="rect">
            <a:avLst/>
          </a:prstGeom>
          <a:noFill/>
          <a:ln/>
        </p:spPr>
        <p:txBody>
          <a:bodyPr wrap="square" lIns="0" tIns="0" rIns="0" bIns="0" rtlCol="0" anchor="ctr"/>
          <a:lstStyle/>
          <a:p>
            <a:pPr indent="0" marL="0">
              <a:buNone/>
            </a:pPr>
            <a:r>
              <a:rPr lang="en-US" sz="3200" b="1" dirty="0">
                <a:solidFill>
                  <a:srgbClr val="0061F6"/>
                </a:solidFill>
                <a:latin typeface="Arial" pitchFamily="34" charset="0"/>
                <a:ea typeface="Arial" pitchFamily="34" charset="-122"/>
                <a:cs typeface="Arial" pitchFamily="34" charset="-120"/>
              </a:rPr>
              <a:t>87</a:t>
            </a:r>
            <a:endParaRPr lang="en-US" sz="3200" dirty="0"/>
          </a:p>
        </p:txBody>
      </p:sp>
      <p:sp>
        <p:nvSpPr>
          <p:cNvPr id="8" name="Text 6"/>
          <p:cNvSpPr txBox="1"/>
          <p:nvPr/>
        </p:nvSpPr>
        <p:spPr>
          <a:xfrm>
            <a:off x="3618738" y="1892808"/>
            <a:ext cx="2109978" cy="45720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CEOs reached with the NEPRA compliance campaign</a:t>
            </a:r>
            <a:endParaRPr lang="en-US" sz="1100" dirty="0"/>
          </a:p>
        </p:txBody>
      </p:sp>
      <p:sp>
        <p:nvSpPr>
          <p:cNvPr id="9" name="Shape 7"/>
          <p:cNvSpPr/>
          <p:nvPr/>
        </p:nvSpPr>
        <p:spPr>
          <a:xfrm>
            <a:off x="6231636" y="1188720"/>
            <a:ext cx="2567178" cy="1463040"/>
          </a:xfrm>
          <a:prstGeom prst="roundRect">
            <a:avLst>
              <a:gd name="adj" fmla="val 5000"/>
            </a:avLst>
          </a:prstGeom>
          <a:solidFill>
            <a:srgbClr val="FFFFFF"/>
          </a:solidFill>
          <a:ln w="9525">
            <a:solidFill>
              <a:srgbClr val="E6E6E6"/>
            </a:solidFill>
            <a:prstDash val="solid"/>
          </a:ln>
        </p:spPr>
      </p:sp>
      <p:sp>
        <p:nvSpPr>
          <p:cNvPr id="10" name="Text 8"/>
          <p:cNvSpPr txBox="1"/>
          <p:nvPr/>
        </p:nvSpPr>
        <p:spPr>
          <a:xfrm>
            <a:off x="6460236" y="1325880"/>
            <a:ext cx="2109978" cy="566928"/>
          </a:xfrm>
          <a:prstGeom prst="rect">
            <a:avLst/>
          </a:prstGeom>
          <a:noFill/>
          <a:ln/>
        </p:spPr>
        <p:txBody>
          <a:bodyPr wrap="square" lIns="0" tIns="0" rIns="0" bIns="0" rtlCol="0" anchor="ctr"/>
          <a:lstStyle/>
          <a:p>
            <a:pPr indent="0" marL="0">
              <a:buNone/>
            </a:pPr>
            <a:r>
              <a:rPr lang="en-US" sz="3200" b="1" dirty="0">
                <a:solidFill>
                  <a:srgbClr val="0061F6"/>
                </a:solidFill>
                <a:latin typeface="Arial" pitchFamily="34" charset="0"/>
                <a:ea typeface="Arial" pitchFamily="34" charset="-122"/>
                <a:cs typeface="Arial" pitchFamily="34" charset="-120"/>
              </a:rPr>
              <a:t>3</a:t>
            </a:r>
            <a:endParaRPr lang="en-US" sz="3200" dirty="0"/>
          </a:p>
        </p:txBody>
      </p:sp>
      <p:sp>
        <p:nvSpPr>
          <p:cNvPr id="11" name="Text 9"/>
          <p:cNvSpPr txBox="1"/>
          <p:nvPr/>
        </p:nvSpPr>
        <p:spPr>
          <a:xfrm>
            <a:off x="6460236" y="1892808"/>
            <a:ext cx="2109978" cy="45720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New case studies for sales: HBL, MAF, Wefi</a:t>
            </a:r>
            <a:endParaRPr lang="en-US" sz="1100" dirty="0"/>
          </a:p>
        </p:txBody>
      </p:sp>
      <p:sp>
        <p:nvSpPr>
          <p:cNvPr id="12" name="Shape 10"/>
          <p:cNvSpPr/>
          <p:nvPr/>
        </p:nvSpPr>
        <p:spPr>
          <a:xfrm>
            <a:off x="9073134" y="1188720"/>
            <a:ext cx="2567178" cy="1463040"/>
          </a:xfrm>
          <a:prstGeom prst="roundRect">
            <a:avLst>
              <a:gd name="adj" fmla="val 5000"/>
            </a:avLst>
          </a:prstGeom>
          <a:solidFill>
            <a:srgbClr val="FFFFFF"/>
          </a:solidFill>
          <a:ln w="9525">
            <a:solidFill>
              <a:srgbClr val="E6E6E6"/>
            </a:solidFill>
            <a:prstDash val="solid"/>
          </a:ln>
        </p:spPr>
      </p:sp>
      <p:sp>
        <p:nvSpPr>
          <p:cNvPr id="13" name="Text 11"/>
          <p:cNvSpPr txBox="1"/>
          <p:nvPr/>
        </p:nvSpPr>
        <p:spPr>
          <a:xfrm>
            <a:off x="9301734" y="1325880"/>
            <a:ext cx="2109978" cy="566928"/>
          </a:xfrm>
          <a:prstGeom prst="rect">
            <a:avLst/>
          </a:prstGeom>
          <a:noFill/>
          <a:ln/>
        </p:spPr>
        <p:txBody>
          <a:bodyPr wrap="square" lIns="0" tIns="0" rIns="0" bIns="0" rtlCol="0" anchor="ctr"/>
          <a:lstStyle/>
          <a:p>
            <a:pPr indent="0" marL="0">
              <a:buNone/>
            </a:pPr>
            <a:r>
              <a:rPr lang="en-US" sz="3200" b="1" dirty="0">
                <a:solidFill>
                  <a:srgbClr val="0098D8"/>
                </a:solidFill>
                <a:latin typeface="Arial" pitchFamily="34" charset="0"/>
                <a:ea typeface="Arial" pitchFamily="34" charset="-122"/>
                <a:cs typeface="Arial" pitchFamily="34" charset="-120"/>
              </a:rPr>
              <a:t>2</a:t>
            </a:r>
            <a:endParaRPr lang="en-US" sz="3200" dirty="0"/>
          </a:p>
        </p:txBody>
      </p:sp>
      <p:sp>
        <p:nvSpPr>
          <p:cNvPr id="14" name="Text 12"/>
          <p:cNvSpPr txBox="1"/>
          <p:nvPr/>
        </p:nvSpPr>
        <p:spPr>
          <a:xfrm>
            <a:off x="9301734" y="1892808"/>
            <a:ext cx="2109978" cy="45720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Events delivered: Geshidocon and Mari Cohort I graduation</a:t>
            </a:r>
            <a:endParaRPr lang="en-US" sz="1100" dirty="0"/>
          </a:p>
        </p:txBody>
      </p:sp>
      <p:sp>
        <p:nvSpPr>
          <p:cNvPr id="15" name="Shape 13"/>
          <p:cNvSpPr/>
          <p:nvPr/>
        </p:nvSpPr>
        <p:spPr>
          <a:xfrm>
            <a:off x="548640" y="2880360"/>
            <a:ext cx="2567178" cy="3429000"/>
          </a:xfrm>
          <a:prstGeom prst="roundRect">
            <a:avLst>
              <a:gd name="adj" fmla="val 2850"/>
            </a:avLst>
          </a:prstGeom>
          <a:solidFill>
            <a:srgbClr val="FFFFFF"/>
          </a:solidFill>
          <a:ln w="9525">
            <a:solidFill>
              <a:srgbClr val="E6E6E6"/>
            </a:solidFill>
            <a:prstDash val="solid"/>
          </a:ln>
        </p:spPr>
      </p:sp>
      <p:sp>
        <p:nvSpPr>
          <p:cNvPr id="16" name="Shape 14"/>
          <p:cNvSpPr/>
          <p:nvPr/>
        </p:nvSpPr>
        <p:spPr>
          <a:xfrm>
            <a:off x="777240" y="3081528"/>
            <a:ext cx="2109978" cy="347472"/>
          </a:xfrm>
          <a:prstGeom prst="roundRect">
            <a:avLst>
              <a:gd name="adj" fmla="val 18421"/>
            </a:avLst>
          </a:prstGeom>
          <a:solidFill>
            <a:srgbClr val="22205D"/>
          </a:solidFill>
          <a:ln w="12700">
            <a:solidFill>
              <a:srgbClr val="22205D"/>
            </a:solidFill>
            <a:prstDash val="solid"/>
          </a:ln>
        </p:spPr>
      </p:sp>
      <p:sp>
        <p:nvSpPr>
          <p:cNvPr id="17" name="Text 15"/>
          <p:cNvSpPr txBox="1"/>
          <p:nvPr/>
        </p:nvSpPr>
        <p:spPr>
          <a:xfrm>
            <a:off x="777240" y="3081528"/>
            <a:ext cx="210997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Services</a:t>
            </a:r>
            <a:endParaRPr lang="en-US" sz="1100" dirty="0"/>
          </a:p>
        </p:txBody>
      </p:sp>
      <p:sp>
        <p:nvSpPr>
          <p:cNvPr id="18" name="Text 16"/>
          <p:cNvSpPr txBox="1"/>
          <p:nvPr/>
        </p:nvSpPr>
        <p:spPr>
          <a:xfrm>
            <a:off x="777240" y="3611880"/>
            <a:ext cx="2155698" cy="256032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22205D"/>
                </a:solidFill>
                <a:latin typeface="Arial" pitchFamily="34" charset="0"/>
                <a:ea typeface="Arial" pitchFamily="34" charset="-122"/>
                <a:cs typeface="Arial" pitchFamily="34" charset="-120"/>
              </a:rPr>
              <a:t>Repositioned from "AI and digital engineering" to data and AI working together</a:t>
            </a:r>
            <a:endParaRPr lang="en-US" sz="1250" dirty="0"/>
          </a:p>
          <a:p>
            <a:pPr marL="342900" indent="-342900">
              <a:spcAft>
                <a:spcPts val="800"/>
              </a:spcAft>
              <a:buSzPct val="100000"/>
              <a:buChar char="•"/>
            </a:pPr>
            <a:r>
              <a:rPr lang="en-US" sz="1250" dirty="0">
                <a:solidFill>
                  <a:srgbClr val="22205D"/>
                </a:solidFill>
                <a:latin typeface="Arial" pitchFamily="34" charset="0"/>
                <a:ea typeface="Arial" pitchFamily="34" charset="-122"/>
                <a:cs typeface="Arial" pitchFamily="34" charset="-120"/>
              </a:rPr>
              <a:t>AI Security push: NEPRA landing page and website banner</a:t>
            </a:r>
            <a:endParaRPr lang="en-US" sz="1250" dirty="0"/>
          </a:p>
          <a:p>
            <a:pPr marL="342900" indent="-342900">
              <a:spcAft>
                <a:spcPts val="800"/>
              </a:spcAft>
              <a:buSzPct val="100000"/>
              <a:buChar char="•"/>
            </a:pPr>
            <a:r>
              <a:rPr lang="en-US" sz="1250" dirty="0">
                <a:solidFill>
                  <a:srgbClr val="22205D"/>
                </a:solidFill>
                <a:latin typeface="Arial" pitchFamily="34" charset="0"/>
                <a:ea typeface="Arial" pitchFamily="34" charset="-122"/>
                <a:cs typeface="Arial" pitchFamily="34" charset="-120"/>
              </a:rPr>
              <a:t>NEPRA case study: ACT Wind</a:t>
            </a:r>
            <a:endParaRPr lang="en-US" sz="1250" dirty="0"/>
          </a:p>
        </p:txBody>
      </p:sp>
      <p:sp>
        <p:nvSpPr>
          <p:cNvPr id="19" name="Shape 17"/>
          <p:cNvSpPr/>
          <p:nvPr/>
        </p:nvSpPr>
        <p:spPr>
          <a:xfrm>
            <a:off x="3390138" y="2880360"/>
            <a:ext cx="2567178" cy="3429000"/>
          </a:xfrm>
          <a:prstGeom prst="roundRect">
            <a:avLst>
              <a:gd name="adj" fmla="val 2850"/>
            </a:avLst>
          </a:prstGeom>
          <a:solidFill>
            <a:srgbClr val="FFFFFF"/>
          </a:solidFill>
          <a:ln w="9525">
            <a:solidFill>
              <a:srgbClr val="E6E6E6"/>
            </a:solidFill>
            <a:prstDash val="solid"/>
          </a:ln>
        </p:spPr>
      </p:sp>
      <p:sp>
        <p:nvSpPr>
          <p:cNvPr id="20" name="Shape 18"/>
          <p:cNvSpPr/>
          <p:nvPr/>
        </p:nvSpPr>
        <p:spPr>
          <a:xfrm>
            <a:off x="3618738" y="3081528"/>
            <a:ext cx="2109978" cy="347472"/>
          </a:xfrm>
          <a:prstGeom prst="roundRect">
            <a:avLst>
              <a:gd name="adj" fmla="val 18421"/>
            </a:avLst>
          </a:prstGeom>
          <a:solidFill>
            <a:srgbClr val="0061F6"/>
          </a:solidFill>
          <a:ln w="12700">
            <a:solidFill>
              <a:srgbClr val="0061F6"/>
            </a:solidFill>
            <a:prstDash val="solid"/>
          </a:ln>
        </p:spPr>
      </p:sp>
      <p:sp>
        <p:nvSpPr>
          <p:cNvPr id="21" name="Text 19"/>
          <p:cNvSpPr txBox="1"/>
          <p:nvPr/>
        </p:nvSpPr>
        <p:spPr>
          <a:xfrm>
            <a:off x="3618738" y="3081528"/>
            <a:ext cx="210997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Sales deck</a:t>
            </a:r>
            <a:endParaRPr lang="en-US" sz="1100" dirty="0"/>
          </a:p>
        </p:txBody>
      </p:sp>
      <p:sp>
        <p:nvSpPr>
          <p:cNvPr id="22" name="Text 20"/>
          <p:cNvSpPr txBox="1"/>
          <p:nvPr/>
        </p:nvSpPr>
        <p:spPr>
          <a:xfrm>
            <a:off x="3618738" y="3611880"/>
            <a:ext cx="2155698" cy="256032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22205D"/>
                </a:solidFill>
                <a:latin typeface="Arial" pitchFamily="34" charset="0"/>
                <a:ea typeface="Arial" pitchFamily="34" charset="-122"/>
                <a:cs typeface="Arial" pitchFamily="34" charset="-120"/>
              </a:rPr>
              <a:t>New company intro</a:t>
            </a:r>
            <a:endParaRPr lang="en-US" sz="1250" dirty="0"/>
          </a:p>
          <a:p>
            <a:pPr marL="342900" indent="-342900">
              <a:spcAft>
                <a:spcPts val="800"/>
              </a:spcAft>
              <a:buSzPct val="100000"/>
              <a:buChar char="•"/>
            </a:pPr>
            <a:r>
              <a:rPr lang="en-US" sz="1250" dirty="0">
                <a:solidFill>
                  <a:srgbClr val="22205D"/>
                </a:solidFill>
                <a:latin typeface="Arial" pitchFamily="34" charset="0"/>
                <a:ea typeface="Arial" pitchFamily="34" charset="-122"/>
                <a:cs typeface="Arial" pitchFamily="34" charset="-120"/>
              </a:rPr>
              <a:t>Leadership team</a:t>
            </a:r>
            <a:endParaRPr lang="en-US" sz="1250" dirty="0"/>
          </a:p>
          <a:p>
            <a:pPr marL="342900" indent="-342900">
              <a:spcAft>
                <a:spcPts val="800"/>
              </a:spcAft>
              <a:buSzPct val="100000"/>
              <a:buChar char="•"/>
            </a:pPr>
            <a:r>
              <a:rPr lang="en-US" sz="1250" dirty="0">
                <a:solidFill>
                  <a:srgbClr val="22205D"/>
                </a:solidFill>
                <a:latin typeface="Arial" pitchFamily="34" charset="0"/>
                <a:ea typeface="Arial" pitchFamily="34" charset="-122"/>
                <a:cs typeface="Arial" pitchFamily="34" charset="-120"/>
              </a:rPr>
              <a:t>3 new case studies</a:t>
            </a:r>
            <a:endParaRPr lang="en-US" sz="1250" dirty="0"/>
          </a:p>
          <a:p>
            <a:pPr marL="342900" indent="-342900">
              <a:spcAft>
                <a:spcPts val="800"/>
              </a:spcAft>
              <a:buSzPct val="100000"/>
              <a:buChar char="•"/>
            </a:pPr>
            <a:r>
              <a:rPr lang="en-US" sz="1250" dirty="0">
                <a:solidFill>
                  <a:srgbClr val="22205D"/>
                </a:solidFill>
                <a:latin typeface="Arial" pitchFamily="34" charset="0"/>
                <a:ea typeface="Arial" pitchFamily="34" charset="-122"/>
                <a:cs typeface="Arial" pitchFamily="34" charset="-120"/>
              </a:rPr>
              <a:t>Our agentic AI process</a:t>
            </a:r>
            <a:endParaRPr lang="en-US" sz="1250" dirty="0"/>
          </a:p>
        </p:txBody>
      </p:sp>
      <p:sp>
        <p:nvSpPr>
          <p:cNvPr id="23" name="Shape 21"/>
          <p:cNvSpPr/>
          <p:nvPr/>
        </p:nvSpPr>
        <p:spPr>
          <a:xfrm>
            <a:off x="6231636" y="2880360"/>
            <a:ext cx="2567178" cy="3429000"/>
          </a:xfrm>
          <a:prstGeom prst="roundRect">
            <a:avLst>
              <a:gd name="adj" fmla="val 2850"/>
            </a:avLst>
          </a:prstGeom>
          <a:solidFill>
            <a:srgbClr val="FFFFFF"/>
          </a:solidFill>
          <a:ln w="9525">
            <a:solidFill>
              <a:srgbClr val="E6E6E6"/>
            </a:solidFill>
            <a:prstDash val="solid"/>
          </a:ln>
        </p:spPr>
      </p:sp>
      <p:sp>
        <p:nvSpPr>
          <p:cNvPr id="24" name="Shape 22"/>
          <p:cNvSpPr/>
          <p:nvPr/>
        </p:nvSpPr>
        <p:spPr>
          <a:xfrm>
            <a:off x="6460236" y="3081528"/>
            <a:ext cx="2109978" cy="347472"/>
          </a:xfrm>
          <a:prstGeom prst="roundRect">
            <a:avLst>
              <a:gd name="adj" fmla="val 18421"/>
            </a:avLst>
          </a:prstGeom>
          <a:solidFill>
            <a:srgbClr val="0098D8"/>
          </a:solidFill>
          <a:ln w="12700">
            <a:solidFill>
              <a:srgbClr val="0098D8"/>
            </a:solidFill>
            <a:prstDash val="solid"/>
          </a:ln>
        </p:spPr>
      </p:sp>
      <p:sp>
        <p:nvSpPr>
          <p:cNvPr id="25" name="Text 23"/>
          <p:cNvSpPr txBox="1"/>
          <p:nvPr/>
        </p:nvSpPr>
        <p:spPr>
          <a:xfrm>
            <a:off x="6460236" y="3081528"/>
            <a:ext cx="210997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xCelerate &amp; events</a:t>
            </a:r>
            <a:endParaRPr lang="en-US" sz="1100" dirty="0"/>
          </a:p>
        </p:txBody>
      </p:sp>
      <p:sp>
        <p:nvSpPr>
          <p:cNvPr id="26" name="Text 24"/>
          <p:cNvSpPr txBox="1"/>
          <p:nvPr/>
        </p:nvSpPr>
        <p:spPr>
          <a:xfrm>
            <a:off x="6460236" y="3611880"/>
            <a:ext cx="2155698" cy="256032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22205D"/>
                </a:solidFill>
                <a:latin typeface="Arial" pitchFamily="34" charset="0"/>
                <a:ea typeface="Arial" pitchFamily="34" charset="-122"/>
                <a:cs typeface="Arial" pitchFamily="34" charset="-120"/>
              </a:rPr>
              <a:t>Mari campaign: 1,500+ applications</a:t>
            </a:r>
            <a:endParaRPr lang="en-US" sz="1250" dirty="0"/>
          </a:p>
          <a:p>
            <a:pPr marL="342900" indent="-342900">
              <a:spcAft>
                <a:spcPts val="800"/>
              </a:spcAft>
              <a:buSzPct val="100000"/>
              <a:buChar char="•"/>
            </a:pPr>
            <a:r>
              <a:rPr lang="en-US" sz="1250" dirty="0">
                <a:solidFill>
                  <a:srgbClr val="22205D"/>
                </a:solidFill>
                <a:latin typeface="Arial" pitchFamily="34" charset="0"/>
                <a:ea typeface="Arial" pitchFamily="34" charset="-122"/>
                <a:cs typeface="Arial" pitchFamily="34" charset="-120"/>
              </a:rPr>
              <a:t>Mari Cohort I graduation</a:t>
            </a:r>
            <a:endParaRPr lang="en-US" sz="1250" dirty="0"/>
          </a:p>
          <a:p>
            <a:pPr marL="342900" indent="-342900">
              <a:spcAft>
                <a:spcPts val="800"/>
              </a:spcAft>
              <a:buSzPct val="100000"/>
              <a:buChar char="•"/>
            </a:pPr>
            <a:r>
              <a:rPr lang="en-US" sz="1250" dirty="0">
                <a:solidFill>
                  <a:srgbClr val="22205D"/>
                </a:solidFill>
                <a:latin typeface="Arial" pitchFamily="34" charset="0"/>
                <a:ea typeface="Arial" pitchFamily="34" charset="-122"/>
                <a:cs typeface="Arial" pitchFamily="34" charset="-120"/>
              </a:rPr>
              <a:t>Geshidocon</a:t>
            </a:r>
            <a:endParaRPr lang="en-US" sz="1250" dirty="0"/>
          </a:p>
        </p:txBody>
      </p:sp>
      <p:sp>
        <p:nvSpPr>
          <p:cNvPr id="27" name="Shape 25"/>
          <p:cNvSpPr/>
          <p:nvPr/>
        </p:nvSpPr>
        <p:spPr>
          <a:xfrm>
            <a:off x="9073134" y="2880360"/>
            <a:ext cx="2567178" cy="3429000"/>
          </a:xfrm>
          <a:prstGeom prst="roundRect">
            <a:avLst>
              <a:gd name="adj" fmla="val 2850"/>
            </a:avLst>
          </a:prstGeom>
          <a:solidFill>
            <a:srgbClr val="FFFFFF"/>
          </a:solidFill>
          <a:ln w="9525">
            <a:solidFill>
              <a:srgbClr val="E6E6E6"/>
            </a:solidFill>
            <a:prstDash val="solid"/>
          </a:ln>
        </p:spPr>
      </p:sp>
      <p:sp>
        <p:nvSpPr>
          <p:cNvPr id="28" name="Shape 26"/>
          <p:cNvSpPr/>
          <p:nvPr/>
        </p:nvSpPr>
        <p:spPr>
          <a:xfrm>
            <a:off x="9301734" y="3081528"/>
            <a:ext cx="2109978" cy="347472"/>
          </a:xfrm>
          <a:prstGeom prst="roundRect">
            <a:avLst>
              <a:gd name="adj" fmla="val 18421"/>
            </a:avLst>
          </a:prstGeom>
          <a:solidFill>
            <a:srgbClr val="5CC3AE"/>
          </a:solidFill>
          <a:ln w="12700">
            <a:solidFill>
              <a:srgbClr val="5CC3AE"/>
            </a:solidFill>
            <a:prstDash val="solid"/>
          </a:ln>
        </p:spPr>
      </p:sp>
      <p:sp>
        <p:nvSpPr>
          <p:cNvPr id="29" name="Text 27"/>
          <p:cNvSpPr txBox="1"/>
          <p:nvPr/>
        </p:nvSpPr>
        <p:spPr>
          <a:xfrm>
            <a:off x="9301734" y="3081528"/>
            <a:ext cx="2109978" cy="347472"/>
          </a:xfrm>
          <a:prstGeom prst="rect">
            <a:avLst/>
          </a:prstGeom>
          <a:noFill/>
          <a:ln/>
        </p:spPr>
        <p:txBody>
          <a:bodyPr wrap="square" lIns="0" tIns="0" rIns="0" bIns="0" rtlCol="0" anchor="ctr"/>
          <a:lstStyle/>
          <a:p>
            <a:pPr algn="ctr" indent="0" marL="0">
              <a:buNone/>
            </a:pPr>
            <a:r>
              <a:rPr lang="en-US" sz="1100" b="1" dirty="0">
                <a:solidFill>
                  <a:srgbClr val="22205D"/>
                </a:solidFill>
                <a:latin typeface="Arial" pitchFamily="34" charset="0"/>
                <a:ea typeface="Arial" pitchFamily="34" charset="-122"/>
                <a:cs typeface="Arial" pitchFamily="34" charset="-120"/>
              </a:rPr>
              <a:t>People &amp; brand</a:t>
            </a:r>
            <a:endParaRPr lang="en-US" sz="1100" dirty="0"/>
          </a:p>
        </p:txBody>
      </p:sp>
      <p:sp>
        <p:nvSpPr>
          <p:cNvPr id="30" name="Text 28"/>
          <p:cNvSpPr txBox="1"/>
          <p:nvPr/>
        </p:nvSpPr>
        <p:spPr>
          <a:xfrm>
            <a:off x="9301734" y="3611880"/>
            <a:ext cx="2155698" cy="256032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22205D"/>
                </a:solidFill>
                <a:latin typeface="Arial" pitchFamily="34" charset="0"/>
                <a:ea typeface="Arial" pitchFamily="34" charset="-122"/>
                <a:cs typeface="Arial" pitchFamily="34" charset="-120"/>
              </a:rPr>
              <a:t>HR brand video, ready for approval</a:t>
            </a:r>
            <a:endParaRPr lang="en-US" sz="1250" dirty="0"/>
          </a:p>
          <a:p>
            <a:pPr marL="342900" indent="-342900">
              <a:spcAft>
                <a:spcPts val="800"/>
              </a:spcAft>
              <a:buSzPct val="100000"/>
              <a:buChar char="•"/>
            </a:pPr>
            <a:r>
              <a:rPr lang="en-US" sz="1250" dirty="0">
                <a:solidFill>
                  <a:srgbClr val="22205D"/>
                </a:solidFill>
                <a:latin typeface="Arial" pitchFamily="34" charset="0"/>
                <a:ea typeface="Arial" pitchFamily="34" charset="-122"/>
                <a:cs typeface="Arial" pitchFamily="34" charset="-120"/>
              </a:rPr>
              <a:t>Full application form on the careers page (for HR)</a:t>
            </a:r>
            <a:endParaRPr lang="en-US" sz="1250" dirty="0"/>
          </a:p>
          <a:p>
            <a:pPr marL="342900" indent="-342900">
              <a:spcAft>
                <a:spcPts val="800"/>
              </a:spcAft>
              <a:buSzPct val="100000"/>
              <a:buChar char="•"/>
            </a:pPr>
            <a:r>
              <a:rPr lang="en-US" sz="1250" dirty="0">
                <a:solidFill>
                  <a:srgbClr val="22205D"/>
                </a:solidFill>
                <a:latin typeface="Arial" pitchFamily="34" charset="0"/>
                <a:ea typeface="Arial" pitchFamily="34" charset="-122"/>
                <a:cs typeface="Arial" pitchFamily="34" charset="-120"/>
              </a:rPr>
              <a:t>New client testimonials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594360"/>
          </a:xfrm>
          <a:prstGeom prst="rect">
            <a:avLst/>
          </a:prstGeom>
          <a:noFill/>
          <a:ln/>
        </p:spPr>
        <p:txBody>
          <a:bodyPr wrap="square" lIns="0" tIns="0" rIns="0" bIns="0" rtlCol="0" anchor="ctr"/>
          <a:lstStyle/>
          <a:p>
            <a:pPr indent="0" marL="0">
              <a:buNone/>
            </a:pPr>
            <a:r>
              <a:rPr lang="en-US" sz="2800" b="1" dirty="0">
                <a:solidFill>
                  <a:srgbClr val="22205D"/>
                </a:solidFill>
                <a:latin typeface="Arial" pitchFamily="34" charset="0"/>
                <a:ea typeface="Arial" pitchFamily="34" charset="-122"/>
                <a:cs typeface="Arial" pitchFamily="34" charset="-120"/>
              </a:rPr>
              <a:t>Website: what's new, and how search and AI find us</a:t>
            </a:r>
            <a:endParaRPr lang="en-US" sz="2800" dirty="0"/>
          </a:p>
        </p:txBody>
      </p:sp>
      <p:sp>
        <p:nvSpPr>
          <p:cNvPr id="3" name="Shape 1"/>
          <p:cNvSpPr/>
          <p:nvPr/>
        </p:nvSpPr>
        <p:spPr>
          <a:xfrm>
            <a:off x="548640" y="1143000"/>
            <a:ext cx="6400800" cy="502920"/>
          </a:xfrm>
          <a:prstGeom prst="roundRect">
            <a:avLst>
              <a:gd name="adj" fmla="val 14545"/>
            </a:avLst>
          </a:prstGeom>
          <a:solidFill>
            <a:srgbClr val="22205D"/>
          </a:solidFill>
          <a:ln w="12700">
            <a:solidFill>
              <a:srgbClr val="22205D"/>
            </a:solidFill>
            <a:prstDash val="solid"/>
          </a:ln>
        </p:spPr>
      </p:sp>
      <p:sp>
        <p:nvSpPr>
          <p:cNvPr id="4" name="Text 2"/>
          <p:cNvSpPr txBox="1"/>
          <p:nvPr/>
        </p:nvSpPr>
        <p:spPr>
          <a:xfrm>
            <a:off x="777240" y="1143000"/>
            <a:ext cx="5943600" cy="5029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Homepage  </a:t>
            </a:r>
            <a:pPr indent="0" marL="0">
              <a:buNone/>
            </a:pPr>
            <a:r>
              <a:rPr lang="en-US" sz="1400" dirty="0">
                <a:solidFill>
                  <a:srgbClr val="FFFFFF"/>
                </a:solidFill>
                <a:latin typeface="Arial" pitchFamily="34" charset="0"/>
                <a:ea typeface="Arial" pitchFamily="34" charset="-122"/>
                <a:cs typeface="Arial" pitchFamily="34" charset="-120"/>
              </a:rPr>
              <a:t>now leads with data and AI</a:t>
            </a:r>
            <a:endParaRPr lang="en-US" sz="1400" dirty="0"/>
          </a:p>
        </p:txBody>
      </p:sp>
      <p:sp>
        <p:nvSpPr>
          <p:cNvPr id="5" name="Shape 3"/>
          <p:cNvSpPr/>
          <p:nvPr/>
        </p:nvSpPr>
        <p:spPr>
          <a:xfrm>
            <a:off x="548640" y="1810512"/>
            <a:ext cx="2011680" cy="1325880"/>
          </a:xfrm>
          <a:prstGeom prst="roundRect">
            <a:avLst>
              <a:gd name="adj" fmla="val 5517"/>
            </a:avLst>
          </a:prstGeom>
          <a:solidFill>
            <a:srgbClr val="EAF7F4"/>
          </a:solidFill>
          <a:ln w="9525">
            <a:solidFill>
              <a:srgbClr val="E6E6E6"/>
            </a:solidFill>
            <a:prstDash val="solid"/>
          </a:ln>
        </p:spPr>
      </p:sp>
      <p:sp>
        <p:nvSpPr>
          <p:cNvPr id="6" name="Text 4"/>
          <p:cNvSpPr txBox="1"/>
          <p:nvPr/>
        </p:nvSpPr>
        <p:spPr>
          <a:xfrm>
            <a:off x="685800" y="1901952"/>
            <a:ext cx="1188720" cy="320040"/>
          </a:xfrm>
          <a:prstGeom prst="rect">
            <a:avLst/>
          </a:prstGeom>
          <a:noFill/>
          <a:ln/>
        </p:spPr>
        <p:txBody>
          <a:bodyPr wrap="square" lIns="0" tIns="0" rIns="0" bIns="0" rtlCol="0" anchor="ctr"/>
          <a:lstStyle/>
          <a:p>
            <a:pPr indent="0" marL="0">
              <a:buNone/>
            </a:pPr>
            <a:r>
              <a:rPr lang="en-US" sz="1300" b="1" dirty="0">
                <a:solidFill>
                  <a:srgbClr val="22205D"/>
                </a:solidFill>
                <a:latin typeface="Arial" pitchFamily="34" charset="0"/>
                <a:ea typeface="Arial" pitchFamily="34" charset="-122"/>
                <a:cs typeface="Arial" pitchFamily="34" charset="-120"/>
              </a:rPr>
              <a:t>Services</a:t>
            </a:r>
            <a:endParaRPr lang="en-US" sz="1300" dirty="0"/>
          </a:p>
        </p:txBody>
      </p:sp>
      <p:sp>
        <p:nvSpPr>
          <p:cNvPr id="7" name="Shape 5"/>
          <p:cNvSpPr/>
          <p:nvPr/>
        </p:nvSpPr>
        <p:spPr>
          <a:xfrm>
            <a:off x="1901952" y="1920240"/>
            <a:ext cx="530352" cy="256032"/>
          </a:xfrm>
          <a:prstGeom prst="roundRect">
            <a:avLst>
              <a:gd name="adj" fmla="val 25000"/>
            </a:avLst>
          </a:prstGeom>
          <a:solidFill>
            <a:srgbClr val="5CC3AE"/>
          </a:solidFill>
          <a:ln w="12700">
            <a:solidFill>
              <a:srgbClr val="5CC3AE"/>
            </a:solidFill>
            <a:prstDash val="solid"/>
          </a:ln>
        </p:spPr>
      </p:sp>
      <p:sp>
        <p:nvSpPr>
          <p:cNvPr id="8" name="Text 6"/>
          <p:cNvSpPr txBox="1"/>
          <p:nvPr/>
        </p:nvSpPr>
        <p:spPr>
          <a:xfrm>
            <a:off x="1901952" y="1920240"/>
            <a:ext cx="530352" cy="256032"/>
          </a:xfrm>
          <a:prstGeom prst="rect">
            <a:avLst/>
          </a:prstGeom>
          <a:noFill/>
          <a:ln/>
        </p:spPr>
        <p:txBody>
          <a:bodyPr wrap="square" lIns="0" tIns="0" rIns="0" bIns="0" rtlCol="0" anchor="ctr"/>
          <a:lstStyle/>
          <a:p>
            <a:pPr algn="ctr" indent="0" marL="0">
              <a:buNone/>
            </a:pPr>
            <a:r>
              <a:rPr lang="en-US" sz="1100" b="1" dirty="0">
                <a:solidFill>
                  <a:srgbClr val="22205D"/>
                </a:solidFill>
                <a:latin typeface="Arial" pitchFamily="34" charset="0"/>
                <a:ea typeface="Arial" pitchFamily="34" charset="-122"/>
                <a:cs typeface="Arial" pitchFamily="34" charset="-120"/>
              </a:rPr>
              <a:t>NEW</a:t>
            </a:r>
            <a:endParaRPr lang="en-US" sz="1100" dirty="0"/>
          </a:p>
        </p:txBody>
      </p:sp>
      <p:sp>
        <p:nvSpPr>
          <p:cNvPr id="9" name="Text 7"/>
          <p:cNvSpPr txBox="1"/>
          <p:nvPr/>
        </p:nvSpPr>
        <p:spPr>
          <a:xfrm>
            <a:off x="685800" y="2267712"/>
            <a:ext cx="1737360" cy="77724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4 service groups: AI Consulting, Applied AI, AI Security, Digital Transformation</a:t>
            </a:r>
            <a:endParaRPr lang="en-US" sz="1100" dirty="0"/>
          </a:p>
        </p:txBody>
      </p:sp>
      <p:sp>
        <p:nvSpPr>
          <p:cNvPr id="10" name="Shape 8"/>
          <p:cNvSpPr/>
          <p:nvPr/>
        </p:nvSpPr>
        <p:spPr>
          <a:xfrm>
            <a:off x="2743200" y="1810512"/>
            <a:ext cx="2011680" cy="1325880"/>
          </a:xfrm>
          <a:prstGeom prst="roundRect">
            <a:avLst>
              <a:gd name="adj" fmla="val 5517"/>
            </a:avLst>
          </a:prstGeom>
          <a:solidFill>
            <a:srgbClr val="EAF7F4"/>
          </a:solidFill>
          <a:ln w="9525">
            <a:solidFill>
              <a:srgbClr val="E6E6E6"/>
            </a:solidFill>
            <a:prstDash val="solid"/>
          </a:ln>
        </p:spPr>
      </p:sp>
      <p:sp>
        <p:nvSpPr>
          <p:cNvPr id="11" name="Text 9"/>
          <p:cNvSpPr txBox="1"/>
          <p:nvPr/>
        </p:nvSpPr>
        <p:spPr>
          <a:xfrm>
            <a:off x="2880360" y="1901952"/>
            <a:ext cx="1188720" cy="320040"/>
          </a:xfrm>
          <a:prstGeom prst="rect">
            <a:avLst/>
          </a:prstGeom>
          <a:noFill/>
          <a:ln/>
        </p:spPr>
        <p:txBody>
          <a:bodyPr wrap="square" lIns="0" tIns="0" rIns="0" bIns="0" rtlCol="0" anchor="ctr"/>
          <a:lstStyle/>
          <a:p>
            <a:pPr indent="0" marL="0">
              <a:buNone/>
            </a:pPr>
            <a:r>
              <a:rPr lang="en-US" sz="1300" b="1" dirty="0">
                <a:solidFill>
                  <a:srgbClr val="22205D"/>
                </a:solidFill>
                <a:latin typeface="Arial" pitchFamily="34" charset="0"/>
                <a:ea typeface="Arial" pitchFamily="34" charset="-122"/>
                <a:cs typeface="Arial" pitchFamily="34" charset="-120"/>
              </a:rPr>
              <a:t>Industries</a:t>
            </a:r>
            <a:endParaRPr lang="en-US" sz="1300" dirty="0"/>
          </a:p>
        </p:txBody>
      </p:sp>
      <p:sp>
        <p:nvSpPr>
          <p:cNvPr id="12" name="Shape 10"/>
          <p:cNvSpPr/>
          <p:nvPr/>
        </p:nvSpPr>
        <p:spPr>
          <a:xfrm>
            <a:off x="4096512" y="1920240"/>
            <a:ext cx="530352" cy="256032"/>
          </a:xfrm>
          <a:prstGeom prst="roundRect">
            <a:avLst>
              <a:gd name="adj" fmla="val 25000"/>
            </a:avLst>
          </a:prstGeom>
          <a:solidFill>
            <a:srgbClr val="5CC3AE"/>
          </a:solidFill>
          <a:ln w="12700">
            <a:solidFill>
              <a:srgbClr val="5CC3AE"/>
            </a:solidFill>
            <a:prstDash val="solid"/>
          </a:ln>
        </p:spPr>
      </p:sp>
      <p:sp>
        <p:nvSpPr>
          <p:cNvPr id="13" name="Text 11"/>
          <p:cNvSpPr txBox="1"/>
          <p:nvPr/>
        </p:nvSpPr>
        <p:spPr>
          <a:xfrm>
            <a:off x="4096512" y="1920240"/>
            <a:ext cx="530352" cy="256032"/>
          </a:xfrm>
          <a:prstGeom prst="rect">
            <a:avLst/>
          </a:prstGeom>
          <a:noFill/>
          <a:ln/>
        </p:spPr>
        <p:txBody>
          <a:bodyPr wrap="square" lIns="0" tIns="0" rIns="0" bIns="0" rtlCol="0" anchor="ctr"/>
          <a:lstStyle/>
          <a:p>
            <a:pPr algn="ctr" indent="0" marL="0">
              <a:buNone/>
            </a:pPr>
            <a:r>
              <a:rPr lang="en-US" sz="1100" b="1" dirty="0">
                <a:solidFill>
                  <a:srgbClr val="22205D"/>
                </a:solidFill>
                <a:latin typeface="Arial" pitchFamily="34" charset="0"/>
                <a:ea typeface="Arial" pitchFamily="34" charset="-122"/>
                <a:cs typeface="Arial" pitchFamily="34" charset="-120"/>
              </a:rPr>
              <a:t>NEW</a:t>
            </a:r>
            <a:endParaRPr lang="en-US" sz="1100" dirty="0"/>
          </a:p>
        </p:txBody>
      </p:sp>
      <p:sp>
        <p:nvSpPr>
          <p:cNvPr id="14" name="Text 12"/>
          <p:cNvSpPr txBox="1"/>
          <p:nvPr/>
        </p:nvSpPr>
        <p:spPr>
          <a:xfrm>
            <a:off x="2880360" y="2267712"/>
            <a:ext cx="1737360" cy="77724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6 industries, including the new Mining page</a:t>
            </a:r>
            <a:endParaRPr lang="en-US" sz="1100" dirty="0"/>
          </a:p>
        </p:txBody>
      </p:sp>
      <p:sp>
        <p:nvSpPr>
          <p:cNvPr id="15" name="Shape 13"/>
          <p:cNvSpPr/>
          <p:nvPr/>
        </p:nvSpPr>
        <p:spPr>
          <a:xfrm>
            <a:off x="4937760" y="1810512"/>
            <a:ext cx="2011680" cy="1325880"/>
          </a:xfrm>
          <a:prstGeom prst="roundRect">
            <a:avLst>
              <a:gd name="adj" fmla="val 5517"/>
            </a:avLst>
          </a:prstGeom>
          <a:solidFill>
            <a:srgbClr val="EAF7F4"/>
          </a:solidFill>
          <a:ln w="9525">
            <a:solidFill>
              <a:srgbClr val="E6E6E6"/>
            </a:solidFill>
            <a:prstDash val="solid"/>
          </a:ln>
        </p:spPr>
      </p:sp>
      <p:sp>
        <p:nvSpPr>
          <p:cNvPr id="16" name="Text 14"/>
          <p:cNvSpPr txBox="1"/>
          <p:nvPr/>
        </p:nvSpPr>
        <p:spPr>
          <a:xfrm>
            <a:off x="5074920" y="1901952"/>
            <a:ext cx="1188720" cy="320040"/>
          </a:xfrm>
          <a:prstGeom prst="rect">
            <a:avLst/>
          </a:prstGeom>
          <a:noFill/>
          <a:ln/>
        </p:spPr>
        <p:txBody>
          <a:bodyPr wrap="square" lIns="0" tIns="0" rIns="0" bIns="0" rtlCol="0" anchor="ctr"/>
          <a:lstStyle/>
          <a:p>
            <a:pPr indent="0" marL="0">
              <a:buNone/>
            </a:pPr>
            <a:r>
              <a:rPr lang="en-US" sz="1300" b="1" dirty="0">
                <a:solidFill>
                  <a:srgbClr val="22205D"/>
                </a:solidFill>
                <a:latin typeface="Arial" pitchFamily="34" charset="0"/>
                <a:ea typeface="Arial" pitchFamily="34" charset="-122"/>
                <a:cs typeface="Arial" pitchFamily="34" charset="-120"/>
              </a:rPr>
              <a:t>Case studies</a:t>
            </a:r>
            <a:endParaRPr lang="en-US" sz="1300" dirty="0"/>
          </a:p>
        </p:txBody>
      </p:sp>
      <p:sp>
        <p:nvSpPr>
          <p:cNvPr id="17" name="Shape 15"/>
          <p:cNvSpPr/>
          <p:nvPr/>
        </p:nvSpPr>
        <p:spPr>
          <a:xfrm>
            <a:off x="6291072" y="1920240"/>
            <a:ext cx="530352" cy="256032"/>
          </a:xfrm>
          <a:prstGeom prst="roundRect">
            <a:avLst>
              <a:gd name="adj" fmla="val 25000"/>
            </a:avLst>
          </a:prstGeom>
          <a:solidFill>
            <a:srgbClr val="5CC3AE"/>
          </a:solidFill>
          <a:ln w="12700">
            <a:solidFill>
              <a:srgbClr val="5CC3AE"/>
            </a:solidFill>
            <a:prstDash val="solid"/>
          </a:ln>
        </p:spPr>
      </p:sp>
      <p:sp>
        <p:nvSpPr>
          <p:cNvPr id="18" name="Text 16"/>
          <p:cNvSpPr txBox="1"/>
          <p:nvPr/>
        </p:nvSpPr>
        <p:spPr>
          <a:xfrm>
            <a:off x="6291072" y="1920240"/>
            <a:ext cx="530352" cy="256032"/>
          </a:xfrm>
          <a:prstGeom prst="rect">
            <a:avLst/>
          </a:prstGeom>
          <a:noFill/>
          <a:ln/>
        </p:spPr>
        <p:txBody>
          <a:bodyPr wrap="square" lIns="0" tIns="0" rIns="0" bIns="0" rtlCol="0" anchor="ctr"/>
          <a:lstStyle/>
          <a:p>
            <a:pPr algn="ctr" indent="0" marL="0">
              <a:buNone/>
            </a:pPr>
            <a:r>
              <a:rPr lang="en-US" sz="1100" b="1" dirty="0">
                <a:solidFill>
                  <a:srgbClr val="22205D"/>
                </a:solidFill>
                <a:latin typeface="Arial" pitchFamily="34" charset="0"/>
                <a:ea typeface="Arial" pitchFamily="34" charset="-122"/>
                <a:cs typeface="Arial" pitchFamily="34" charset="-120"/>
              </a:rPr>
              <a:t>NEW</a:t>
            </a:r>
            <a:endParaRPr lang="en-US" sz="1100" dirty="0"/>
          </a:p>
        </p:txBody>
      </p:sp>
      <p:sp>
        <p:nvSpPr>
          <p:cNvPr id="19" name="Text 17"/>
          <p:cNvSpPr txBox="1"/>
          <p:nvPr/>
        </p:nvSpPr>
        <p:spPr>
          <a:xfrm>
            <a:off x="5074920" y="2267712"/>
            <a:ext cx="1737360" cy="77724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Updated case study cards</a:t>
            </a:r>
            <a:endParaRPr lang="en-US" sz="1100" dirty="0"/>
          </a:p>
        </p:txBody>
      </p:sp>
      <p:sp>
        <p:nvSpPr>
          <p:cNvPr id="20" name="Shape 18"/>
          <p:cNvSpPr/>
          <p:nvPr/>
        </p:nvSpPr>
        <p:spPr>
          <a:xfrm>
            <a:off x="548640" y="3291840"/>
            <a:ext cx="2011680" cy="1325880"/>
          </a:xfrm>
          <a:prstGeom prst="roundRect">
            <a:avLst>
              <a:gd name="adj" fmla="val 5517"/>
            </a:avLst>
          </a:prstGeom>
          <a:solidFill>
            <a:srgbClr val="EAF7F4"/>
          </a:solidFill>
          <a:ln w="9525">
            <a:solidFill>
              <a:srgbClr val="E6E6E6"/>
            </a:solidFill>
            <a:prstDash val="solid"/>
          </a:ln>
        </p:spPr>
      </p:sp>
      <p:sp>
        <p:nvSpPr>
          <p:cNvPr id="21" name="Text 19"/>
          <p:cNvSpPr txBox="1"/>
          <p:nvPr/>
        </p:nvSpPr>
        <p:spPr>
          <a:xfrm>
            <a:off x="685800" y="3383280"/>
            <a:ext cx="1188720" cy="320040"/>
          </a:xfrm>
          <a:prstGeom prst="rect">
            <a:avLst/>
          </a:prstGeom>
          <a:noFill/>
          <a:ln/>
        </p:spPr>
        <p:txBody>
          <a:bodyPr wrap="square" lIns="0" tIns="0" rIns="0" bIns="0" rtlCol="0" anchor="ctr"/>
          <a:lstStyle/>
          <a:p>
            <a:pPr indent="0" marL="0">
              <a:buNone/>
            </a:pPr>
            <a:r>
              <a:rPr lang="en-US" sz="1300" b="1" dirty="0">
                <a:solidFill>
                  <a:srgbClr val="22205D"/>
                </a:solidFill>
                <a:latin typeface="Arial" pitchFamily="34" charset="0"/>
                <a:ea typeface="Arial" pitchFamily="34" charset="-122"/>
                <a:cs typeface="Arial" pitchFamily="34" charset="-120"/>
              </a:rPr>
              <a:t>Tools</a:t>
            </a:r>
            <a:endParaRPr lang="en-US" sz="1300" dirty="0"/>
          </a:p>
        </p:txBody>
      </p:sp>
      <p:sp>
        <p:nvSpPr>
          <p:cNvPr id="22" name="Shape 20"/>
          <p:cNvSpPr/>
          <p:nvPr/>
        </p:nvSpPr>
        <p:spPr>
          <a:xfrm>
            <a:off x="1901952" y="3401568"/>
            <a:ext cx="530352" cy="256032"/>
          </a:xfrm>
          <a:prstGeom prst="roundRect">
            <a:avLst>
              <a:gd name="adj" fmla="val 25000"/>
            </a:avLst>
          </a:prstGeom>
          <a:solidFill>
            <a:srgbClr val="5CC3AE"/>
          </a:solidFill>
          <a:ln w="12700">
            <a:solidFill>
              <a:srgbClr val="5CC3AE"/>
            </a:solidFill>
            <a:prstDash val="solid"/>
          </a:ln>
        </p:spPr>
      </p:sp>
      <p:sp>
        <p:nvSpPr>
          <p:cNvPr id="23" name="Text 21"/>
          <p:cNvSpPr txBox="1"/>
          <p:nvPr/>
        </p:nvSpPr>
        <p:spPr>
          <a:xfrm>
            <a:off x="1901952" y="3401568"/>
            <a:ext cx="530352" cy="256032"/>
          </a:xfrm>
          <a:prstGeom prst="rect">
            <a:avLst/>
          </a:prstGeom>
          <a:noFill/>
          <a:ln/>
        </p:spPr>
        <p:txBody>
          <a:bodyPr wrap="square" lIns="0" tIns="0" rIns="0" bIns="0" rtlCol="0" anchor="ctr"/>
          <a:lstStyle/>
          <a:p>
            <a:pPr algn="ctr" indent="0" marL="0">
              <a:buNone/>
            </a:pPr>
            <a:r>
              <a:rPr lang="en-US" sz="1100" b="1" dirty="0">
                <a:solidFill>
                  <a:srgbClr val="22205D"/>
                </a:solidFill>
                <a:latin typeface="Arial" pitchFamily="34" charset="0"/>
                <a:ea typeface="Arial" pitchFamily="34" charset="-122"/>
                <a:cs typeface="Arial" pitchFamily="34" charset="-120"/>
              </a:rPr>
              <a:t>NEW</a:t>
            </a:r>
            <a:endParaRPr lang="en-US" sz="1100" dirty="0"/>
          </a:p>
        </p:txBody>
      </p:sp>
      <p:sp>
        <p:nvSpPr>
          <p:cNvPr id="24" name="Text 22"/>
          <p:cNvSpPr txBox="1"/>
          <p:nvPr/>
        </p:nvSpPr>
        <p:spPr>
          <a:xfrm>
            <a:off x="685800" y="3749040"/>
            <a:ext cx="1737360" cy="77724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AI Security and Data &amp; AI Readiness assessments</a:t>
            </a:r>
            <a:endParaRPr lang="en-US" sz="1100" dirty="0"/>
          </a:p>
        </p:txBody>
      </p:sp>
      <p:sp>
        <p:nvSpPr>
          <p:cNvPr id="25" name="Shape 23"/>
          <p:cNvSpPr/>
          <p:nvPr/>
        </p:nvSpPr>
        <p:spPr>
          <a:xfrm>
            <a:off x="2743200" y="3291840"/>
            <a:ext cx="2011680" cy="1325880"/>
          </a:xfrm>
          <a:prstGeom prst="roundRect">
            <a:avLst>
              <a:gd name="adj" fmla="val 5517"/>
            </a:avLst>
          </a:prstGeom>
          <a:solidFill>
            <a:srgbClr val="EAF7F4"/>
          </a:solidFill>
          <a:ln w="9525">
            <a:solidFill>
              <a:srgbClr val="E6E6E6"/>
            </a:solidFill>
            <a:prstDash val="solid"/>
          </a:ln>
        </p:spPr>
      </p:sp>
      <p:sp>
        <p:nvSpPr>
          <p:cNvPr id="26" name="Text 24"/>
          <p:cNvSpPr txBox="1"/>
          <p:nvPr/>
        </p:nvSpPr>
        <p:spPr>
          <a:xfrm>
            <a:off x="2880360" y="3383280"/>
            <a:ext cx="1188720" cy="320040"/>
          </a:xfrm>
          <a:prstGeom prst="rect">
            <a:avLst/>
          </a:prstGeom>
          <a:noFill/>
          <a:ln/>
        </p:spPr>
        <p:txBody>
          <a:bodyPr wrap="square" lIns="0" tIns="0" rIns="0" bIns="0" rtlCol="0" anchor="ctr"/>
          <a:lstStyle/>
          <a:p>
            <a:pPr indent="0" marL="0">
              <a:buNone/>
            </a:pPr>
            <a:r>
              <a:rPr lang="en-US" sz="1300" b="1" dirty="0">
                <a:solidFill>
                  <a:srgbClr val="22205D"/>
                </a:solidFill>
                <a:latin typeface="Arial" pitchFamily="34" charset="0"/>
                <a:ea typeface="Arial" pitchFamily="34" charset="-122"/>
                <a:cs typeface="Arial" pitchFamily="34" charset="-120"/>
              </a:rPr>
              <a:t>Locations</a:t>
            </a:r>
            <a:endParaRPr lang="en-US" sz="1300" dirty="0"/>
          </a:p>
        </p:txBody>
      </p:sp>
      <p:sp>
        <p:nvSpPr>
          <p:cNvPr id="27" name="Shape 25"/>
          <p:cNvSpPr/>
          <p:nvPr/>
        </p:nvSpPr>
        <p:spPr>
          <a:xfrm>
            <a:off x="4096512" y="3401568"/>
            <a:ext cx="530352" cy="256032"/>
          </a:xfrm>
          <a:prstGeom prst="roundRect">
            <a:avLst>
              <a:gd name="adj" fmla="val 25000"/>
            </a:avLst>
          </a:prstGeom>
          <a:solidFill>
            <a:srgbClr val="5CC3AE"/>
          </a:solidFill>
          <a:ln w="12700">
            <a:solidFill>
              <a:srgbClr val="5CC3AE"/>
            </a:solidFill>
            <a:prstDash val="solid"/>
          </a:ln>
        </p:spPr>
      </p:sp>
      <p:sp>
        <p:nvSpPr>
          <p:cNvPr id="28" name="Text 26"/>
          <p:cNvSpPr txBox="1"/>
          <p:nvPr/>
        </p:nvSpPr>
        <p:spPr>
          <a:xfrm>
            <a:off x="4096512" y="3401568"/>
            <a:ext cx="530352" cy="256032"/>
          </a:xfrm>
          <a:prstGeom prst="rect">
            <a:avLst/>
          </a:prstGeom>
          <a:noFill/>
          <a:ln/>
        </p:spPr>
        <p:txBody>
          <a:bodyPr wrap="square" lIns="0" tIns="0" rIns="0" bIns="0" rtlCol="0" anchor="ctr"/>
          <a:lstStyle/>
          <a:p>
            <a:pPr algn="ctr" indent="0" marL="0">
              <a:buNone/>
            </a:pPr>
            <a:r>
              <a:rPr lang="en-US" sz="1100" b="1" dirty="0">
                <a:solidFill>
                  <a:srgbClr val="22205D"/>
                </a:solidFill>
                <a:latin typeface="Arial" pitchFamily="34" charset="0"/>
                <a:ea typeface="Arial" pitchFamily="34" charset="-122"/>
                <a:cs typeface="Arial" pitchFamily="34" charset="-120"/>
              </a:rPr>
              <a:t>NEW</a:t>
            </a:r>
            <a:endParaRPr lang="en-US" sz="1100" dirty="0"/>
          </a:p>
        </p:txBody>
      </p:sp>
      <p:sp>
        <p:nvSpPr>
          <p:cNvPr id="29" name="Text 27"/>
          <p:cNvSpPr txBox="1"/>
          <p:nvPr/>
        </p:nvSpPr>
        <p:spPr>
          <a:xfrm>
            <a:off x="2880360" y="3749040"/>
            <a:ext cx="1737360" cy="77724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Qatar, Hungary, South Africa</a:t>
            </a:r>
            <a:endParaRPr lang="en-US" sz="1100" dirty="0"/>
          </a:p>
        </p:txBody>
      </p:sp>
      <p:sp>
        <p:nvSpPr>
          <p:cNvPr id="30" name="Shape 28"/>
          <p:cNvSpPr/>
          <p:nvPr/>
        </p:nvSpPr>
        <p:spPr>
          <a:xfrm>
            <a:off x="4937760" y="3291840"/>
            <a:ext cx="2011680" cy="1325880"/>
          </a:xfrm>
          <a:prstGeom prst="roundRect">
            <a:avLst>
              <a:gd name="adj" fmla="val 5517"/>
            </a:avLst>
          </a:prstGeom>
          <a:solidFill>
            <a:srgbClr val="EAF7F4"/>
          </a:solidFill>
          <a:ln w="9525">
            <a:solidFill>
              <a:srgbClr val="E6E6E6"/>
            </a:solidFill>
            <a:prstDash val="solid"/>
          </a:ln>
        </p:spPr>
      </p:sp>
      <p:sp>
        <p:nvSpPr>
          <p:cNvPr id="31" name="Text 29"/>
          <p:cNvSpPr txBox="1"/>
          <p:nvPr/>
        </p:nvSpPr>
        <p:spPr>
          <a:xfrm>
            <a:off x="5074920" y="3383280"/>
            <a:ext cx="1188720" cy="320040"/>
          </a:xfrm>
          <a:prstGeom prst="rect">
            <a:avLst/>
          </a:prstGeom>
          <a:noFill/>
          <a:ln/>
        </p:spPr>
        <p:txBody>
          <a:bodyPr wrap="square" lIns="0" tIns="0" rIns="0" bIns="0" rtlCol="0" anchor="ctr"/>
          <a:lstStyle/>
          <a:p>
            <a:pPr indent="0" marL="0">
              <a:buNone/>
            </a:pPr>
            <a:r>
              <a:rPr lang="en-US" sz="1300" b="1" dirty="0">
                <a:solidFill>
                  <a:srgbClr val="22205D"/>
                </a:solidFill>
                <a:latin typeface="Arial" pitchFamily="34" charset="0"/>
                <a:ea typeface="Arial" pitchFamily="34" charset="-122"/>
                <a:cs typeface="Arial" pitchFamily="34" charset="-120"/>
              </a:rPr>
              <a:t>Careers</a:t>
            </a:r>
            <a:endParaRPr lang="en-US" sz="1300" dirty="0"/>
          </a:p>
        </p:txBody>
      </p:sp>
      <p:sp>
        <p:nvSpPr>
          <p:cNvPr id="32" name="Shape 30"/>
          <p:cNvSpPr/>
          <p:nvPr/>
        </p:nvSpPr>
        <p:spPr>
          <a:xfrm>
            <a:off x="6291072" y="3401568"/>
            <a:ext cx="530352" cy="256032"/>
          </a:xfrm>
          <a:prstGeom prst="roundRect">
            <a:avLst>
              <a:gd name="adj" fmla="val 25000"/>
            </a:avLst>
          </a:prstGeom>
          <a:solidFill>
            <a:srgbClr val="5CC3AE"/>
          </a:solidFill>
          <a:ln w="12700">
            <a:solidFill>
              <a:srgbClr val="5CC3AE"/>
            </a:solidFill>
            <a:prstDash val="solid"/>
          </a:ln>
        </p:spPr>
      </p:sp>
      <p:sp>
        <p:nvSpPr>
          <p:cNvPr id="33" name="Text 31"/>
          <p:cNvSpPr txBox="1"/>
          <p:nvPr/>
        </p:nvSpPr>
        <p:spPr>
          <a:xfrm>
            <a:off x="6291072" y="3401568"/>
            <a:ext cx="530352" cy="256032"/>
          </a:xfrm>
          <a:prstGeom prst="rect">
            <a:avLst/>
          </a:prstGeom>
          <a:noFill/>
          <a:ln/>
        </p:spPr>
        <p:txBody>
          <a:bodyPr wrap="square" lIns="0" tIns="0" rIns="0" bIns="0" rtlCol="0" anchor="ctr"/>
          <a:lstStyle/>
          <a:p>
            <a:pPr algn="ctr" indent="0" marL="0">
              <a:buNone/>
            </a:pPr>
            <a:r>
              <a:rPr lang="en-US" sz="1100" b="1" dirty="0">
                <a:solidFill>
                  <a:srgbClr val="22205D"/>
                </a:solidFill>
                <a:latin typeface="Arial" pitchFamily="34" charset="0"/>
                <a:ea typeface="Arial" pitchFamily="34" charset="-122"/>
                <a:cs typeface="Arial" pitchFamily="34" charset="-120"/>
              </a:rPr>
              <a:t>NEW</a:t>
            </a:r>
            <a:endParaRPr lang="en-US" sz="1100" dirty="0"/>
          </a:p>
        </p:txBody>
      </p:sp>
      <p:sp>
        <p:nvSpPr>
          <p:cNvPr id="34" name="Text 32"/>
          <p:cNvSpPr txBox="1"/>
          <p:nvPr/>
        </p:nvSpPr>
        <p:spPr>
          <a:xfrm>
            <a:off x="5074920" y="3749040"/>
            <a:ext cx="1737360" cy="77724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Full application form for HR</a:t>
            </a:r>
            <a:endParaRPr lang="en-US" sz="1100" dirty="0"/>
          </a:p>
        </p:txBody>
      </p:sp>
      <p:sp>
        <p:nvSpPr>
          <p:cNvPr id="35" name="Shape 33"/>
          <p:cNvSpPr/>
          <p:nvPr/>
        </p:nvSpPr>
        <p:spPr>
          <a:xfrm>
            <a:off x="548640" y="4773168"/>
            <a:ext cx="2011680" cy="1325880"/>
          </a:xfrm>
          <a:prstGeom prst="roundRect">
            <a:avLst>
              <a:gd name="adj" fmla="val 5517"/>
            </a:avLst>
          </a:prstGeom>
          <a:solidFill>
            <a:srgbClr val="EAF7F4"/>
          </a:solidFill>
          <a:ln w="9525">
            <a:solidFill>
              <a:srgbClr val="E6E6E6"/>
            </a:solidFill>
            <a:prstDash val="solid"/>
          </a:ln>
        </p:spPr>
      </p:sp>
      <p:sp>
        <p:nvSpPr>
          <p:cNvPr id="36" name="Text 34"/>
          <p:cNvSpPr txBox="1"/>
          <p:nvPr/>
        </p:nvSpPr>
        <p:spPr>
          <a:xfrm>
            <a:off x="685800" y="4864608"/>
            <a:ext cx="1188720" cy="320040"/>
          </a:xfrm>
          <a:prstGeom prst="rect">
            <a:avLst/>
          </a:prstGeom>
          <a:noFill/>
          <a:ln/>
        </p:spPr>
        <p:txBody>
          <a:bodyPr wrap="square" lIns="0" tIns="0" rIns="0" bIns="0" rtlCol="0" anchor="ctr"/>
          <a:lstStyle/>
          <a:p>
            <a:pPr indent="0" marL="0">
              <a:buNone/>
            </a:pPr>
            <a:r>
              <a:rPr lang="en-US" sz="1300" b="1" dirty="0">
                <a:solidFill>
                  <a:srgbClr val="22205D"/>
                </a:solidFill>
                <a:latin typeface="Arial" pitchFamily="34" charset="0"/>
                <a:ea typeface="Arial" pitchFamily="34" charset="-122"/>
                <a:cs typeface="Arial" pitchFamily="34" charset="-120"/>
              </a:rPr>
              <a:t>Testimonials</a:t>
            </a:r>
            <a:endParaRPr lang="en-US" sz="1300" dirty="0"/>
          </a:p>
        </p:txBody>
      </p:sp>
      <p:sp>
        <p:nvSpPr>
          <p:cNvPr id="37" name="Shape 35"/>
          <p:cNvSpPr/>
          <p:nvPr/>
        </p:nvSpPr>
        <p:spPr>
          <a:xfrm>
            <a:off x="1901952" y="4882896"/>
            <a:ext cx="530352" cy="256032"/>
          </a:xfrm>
          <a:prstGeom prst="roundRect">
            <a:avLst>
              <a:gd name="adj" fmla="val 25000"/>
            </a:avLst>
          </a:prstGeom>
          <a:solidFill>
            <a:srgbClr val="5CC3AE"/>
          </a:solidFill>
          <a:ln w="12700">
            <a:solidFill>
              <a:srgbClr val="5CC3AE"/>
            </a:solidFill>
            <a:prstDash val="solid"/>
          </a:ln>
        </p:spPr>
      </p:sp>
      <p:sp>
        <p:nvSpPr>
          <p:cNvPr id="38" name="Text 36"/>
          <p:cNvSpPr txBox="1"/>
          <p:nvPr/>
        </p:nvSpPr>
        <p:spPr>
          <a:xfrm>
            <a:off x="1901952" y="4882896"/>
            <a:ext cx="530352" cy="256032"/>
          </a:xfrm>
          <a:prstGeom prst="rect">
            <a:avLst/>
          </a:prstGeom>
          <a:noFill/>
          <a:ln/>
        </p:spPr>
        <p:txBody>
          <a:bodyPr wrap="square" lIns="0" tIns="0" rIns="0" bIns="0" rtlCol="0" anchor="ctr"/>
          <a:lstStyle/>
          <a:p>
            <a:pPr algn="ctr" indent="0" marL="0">
              <a:buNone/>
            </a:pPr>
            <a:r>
              <a:rPr lang="en-US" sz="1100" b="1" dirty="0">
                <a:solidFill>
                  <a:srgbClr val="22205D"/>
                </a:solidFill>
                <a:latin typeface="Arial" pitchFamily="34" charset="0"/>
                <a:ea typeface="Arial" pitchFamily="34" charset="-122"/>
                <a:cs typeface="Arial" pitchFamily="34" charset="-120"/>
              </a:rPr>
              <a:t>NEW</a:t>
            </a:r>
            <a:endParaRPr lang="en-US" sz="1100" dirty="0"/>
          </a:p>
        </p:txBody>
      </p:sp>
      <p:sp>
        <p:nvSpPr>
          <p:cNvPr id="39" name="Text 37"/>
          <p:cNvSpPr txBox="1"/>
          <p:nvPr/>
        </p:nvSpPr>
        <p:spPr>
          <a:xfrm>
            <a:off x="685800" y="5230368"/>
            <a:ext cx="1737360" cy="77724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New client testimonials</a:t>
            </a:r>
            <a:endParaRPr lang="en-US" sz="1100" dirty="0"/>
          </a:p>
        </p:txBody>
      </p:sp>
      <p:sp>
        <p:nvSpPr>
          <p:cNvPr id="40" name="Shape 38"/>
          <p:cNvSpPr/>
          <p:nvPr/>
        </p:nvSpPr>
        <p:spPr>
          <a:xfrm>
            <a:off x="2743200" y="4773168"/>
            <a:ext cx="2011680" cy="1325880"/>
          </a:xfrm>
          <a:prstGeom prst="roundRect">
            <a:avLst>
              <a:gd name="adj" fmla="val 5517"/>
            </a:avLst>
          </a:prstGeom>
          <a:solidFill>
            <a:srgbClr val="F4F6FB"/>
          </a:solidFill>
          <a:ln w="9525">
            <a:solidFill>
              <a:srgbClr val="E6E6E6"/>
            </a:solidFill>
            <a:prstDash val="solid"/>
          </a:ln>
        </p:spPr>
      </p:sp>
      <p:sp>
        <p:nvSpPr>
          <p:cNvPr id="41" name="Text 39"/>
          <p:cNvSpPr txBox="1"/>
          <p:nvPr/>
        </p:nvSpPr>
        <p:spPr>
          <a:xfrm>
            <a:off x="2880360" y="4864608"/>
            <a:ext cx="1737360" cy="320040"/>
          </a:xfrm>
          <a:prstGeom prst="rect">
            <a:avLst/>
          </a:prstGeom>
          <a:noFill/>
          <a:ln/>
        </p:spPr>
        <p:txBody>
          <a:bodyPr wrap="square" lIns="0" tIns="0" rIns="0" bIns="0" rtlCol="0" anchor="ctr"/>
          <a:lstStyle/>
          <a:p>
            <a:pPr indent="0" marL="0">
              <a:buNone/>
            </a:pPr>
            <a:r>
              <a:rPr lang="en-US" sz="1300" b="1" dirty="0">
                <a:solidFill>
                  <a:srgbClr val="22205D"/>
                </a:solidFill>
                <a:latin typeface="Arial" pitchFamily="34" charset="0"/>
                <a:ea typeface="Arial" pitchFamily="34" charset="-122"/>
                <a:cs typeface="Arial" pitchFamily="34" charset="-120"/>
              </a:rPr>
              <a:t>Insights</a:t>
            </a:r>
            <a:endParaRPr lang="en-US" sz="1300" dirty="0"/>
          </a:p>
        </p:txBody>
      </p:sp>
      <p:sp>
        <p:nvSpPr>
          <p:cNvPr id="42" name="Text 40"/>
          <p:cNvSpPr txBox="1"/>
          <p:nvPr/>
        </p:nvSpPr>
        <p:spPr>
          <a:xfrm>
            <a:off x="2880360" y="5230368"/>
            <a:ext cx="1737360" cy="77724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82 articles</a:t>
            </a:r>
            <a:endParaRPr lang="en-US" sz="1100" dirty="0"/>
          </a:p>
        </p:txBody>
      </p:sp>
      <p:sp>
        <p:nvSpPr>
          <p:cNvPr id="43" name="Shape 41"/>
          <p:cNvSpPr/>
          <p:nvPr/>
        </p:nvSpPr>
        <p:spPr>
          <a:xfrm>
            <a:off x="4937760" y="4773168"/>
            <a:ext cx="2011680" cy="1325880"/>
          </a:xfrm>
          <a:prstGeom prst="roundRect">
            <a:avLst>
              <a:gd name="adj" fmla="val 5517"/>
            </a:avLst>
          </a:prstGeom>
          <a:solidFill>
            <a:srgbClr val="F4F6FB"/>
          </a:solidFill>
          <a:ln w="9525">
            <a:solidFill>
              <a:srgbClr val="E6E6E6"/>
            </a:solidFill>
            <a:prstDash val="solid"/>
          </a:ln>
        </p:spPr>
      </p:sp>
      <p:sp>
        <p:nvSpPr>
          <p:cNvPr id="44" name="Text 42"/>
          <p:cNvSpPr txBox="1"/>
          <p:nvPr/>
        </p:nvSpPr>
        <p:spPr>
          <a:xfrm>
            <a:off x="5074920" y="4864608"/>
            <a:ext cx="1737360" cy="320040"/>
          </a:xfrm>
          <a:prstGeom prst="rect">
            <a:avLst/>
          </a:prstGeom>
          <a:noFill/>
          <a:ln/>
        </p:spPr>
        <p:txBody>
          <a:bodyPr wrap="square" lIns="0" tIns="0" rIns="0" bIns="0" rtlCol="0" anchor="ctr"/>
          <a:lstStyle/>
          <a:p>
            <a:pPr indent="0" marL="0">
              <a:buNone/>
            </a:pPr>
            <a:r>
              <a:rPr lang="en-US" sz="1300" b="1" dirty="0">
                <a:solidFill>
                  <a:srgbClr val="22205D"/>
                </a:solidFill>
                <a:latin typeface="Arial" pitchFamily="34" charset="0"/>
                <a:ea typeface="Arial" pitchFamily="34" charset="-122"/>
                <a:cs typeface="Arial" pitchFamily="34" charset="-120"/>
              </a:rPr>
              <a:t>xLab + xCelerate</a:t>
            </a:r>
            <a:endParaRPr lang="en-US" sz="1300" dirty="0"/>
          </a:p>
        </p:txBody>
      </p:sp>
      <p:sp>
        <p:nvSpPr>
          <p:cNvPr id="45" name="Text 43"/>
          <p:cNvSpPr txBox="1"/>
          <p:nvPr/>
        </p:nvSpPr>
        <p:spPr>
          <a:xfrm>
            <a:off x="5074920" y="5230368"/>
            <a:ext cx="1737360" cy="77724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Products and training</a:t>
            </a:r>
            <a:endParaRPr lang="en-US" sz="1100" dirty="0"/>
          </a:p>
        </p:txBody>
      </p:sp>
      <p:sp>
        <p:nvSpPr>
          <p:cNvPr id="46" name="Shape 44"/>
          <p:cNvSpPr/>
          <p:nvPr/>
        </p:nvSpPr>
        <p:spPr>
          <a:xfrm>
            <a:off x="7269480" y="1143000"/>
            <a:ext cx="4370832" cy="5166360"/>
          </a:xfrm>
          <a:prstGeom prst="roundRect">
            <a:avLst>
              <a:gd name="adj" fmla="val 1674"/>
            </a:avLst>
          </a:prstGeom>
          <a:solidFill>
            <a:srgbClr val="F4F6FB"/>
          </a:solidFill>
          <a:ln w="9525">
            <a:solidFill>
              <a:srgbClr val="E6E6E6"/>
            </a:solidFill>
            <a:prstDash val="solid"/>
          </a:ln>
        </p:spPr>
      </p:sp>
      <p:sp>
        <p:nvSpPr>
          <p:cNvPr id="47" name="Text 45"/>
          <p:cNvSpPr txBox="1"/>
          <p:nvPr/>
        </p:nvSpPr>
        <p:spPr>
          <a:xfrm>
            <a:off x="7498080" y="1261872"/>
            <a:ext cx="3913632" cy="365760"/>
          </a:xfrm>
          <a:prstGeom prst="rect">
            <a:avLst/>
          </a:prstGeom>
          <a:noFill/>
          <a:ln/>
        </p:spPr>
        <p:txBody>
          <a:bodyPr wrap="square" lIns="0" tIns="0" rIns="0" bIns="0" rtlCol="0" anchor="ctr"/>
          <a:lstStyle/>
          <a:p>
            <a:pPr indent="0" marL="0">
              <a:buNone/>
            </a:pPr>
            <a:r>
              <a:rPr lang="en-US" sz="1500" b="1" dirty="0">
                <a:solidFill>
                  <a:srgbClr val="0061F6"/>
                </a:solidFill>
                <a:latin typeface="Arial" pitchFamily="34" charset="0"/>
                <a:ea typeface="Arial" pitchFamily="34" charset="-122"/>
                <a:cs typeface="Arial" pitchFamily="34" charset="-120"/>
              </a:rPr>
              <a:t>Search and AI: last 3 months</a:t>
            </a:r>
            <a:endParaRPr lang="en-US" sz="1500" dirty="0"/>
          </a:p>
        </p:txBody>
      </p:sp>
      <p:sp>
        <p:nvSpPr>
          <p:cNvPr id="48" name="Text 46"/>
          <p:cNvSpPr txBox="1"/>
          <p:nvPr/>
        </p:nvSpPr>
        <p:spPr>
          <a:xfrm>
            <a:off x="7498080" y="1737360"/>
            <a:ext cx="1143000" cy="457200"/>
          </a:xfrm>
          <a:prstGeom prst="rect">
            <a:avLst/>
          </a:prstGeom>
          <a:noFill/>
          <a:ln/>
        </p:spPr>
        <p:txBody>
          <a:bodyPr wrap="square" lIns="0" tIns="0" rIns="0" bIns="0" rtlCol="0" anchor="ctr"/>
          <a:lstStyle/>
          <a:p>
            <a:pPr indent="0" marL="0">
              <a:buNone/>
            </a:pPr>
            <a:r>
              <a:rPr lang="en-US" sz="2200" b="1" dirty="0">
                <a:solidFill>
                  <a:srgbClr val="22205D"/>
                </a:solidFill>
                <a:latin typeface="Arial" pitchFamily="34" charset="0"/>
                <a:ea typeface="Arial" pitchFamily="34" charset="-122"/>
                <a:cs typeface="Arial" pitchFamily="34" charset="-120"/>
              </a:rPr>
              <a:t>+30%</a:t>
            </a:r>
            <a:endParaRPr lang="en-US" sz="2200" dirty="0"/>
          </a:p>
        </p:txBody>
      </p:sp>
      <p:sp>
        <p:nvSpPr>
          <p:cNvPr id="49" name="Text 47"/>
          <p:cNvSpPr txBox="1"/>
          <p:nvPr/>
        </p:nvSpPr>
        <p:spPr>
          <a:xfrm>
            <a:off x="8686800" y="1755648"/>
            <a:ext cx="2724912" cy="77724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Google clicks vs the previous 3 months (1.9K vs 1.46K)</a:t>
            </a:r>
            <a:endParaRPr lang="en-US" sz="1100" dirty="0"/>
          </a:p>
        </p:txBody>
      </p:sp>
      <p:sp>
        <p:nvSpPr>
          <p:cNvPr id="50" name="Text 48"/>
          <p:cNvSpPr txBox="1"/>
          <p:nvPr/>
        </p:nvSpPr>
        <p:spPr>
          <a:xfrm>
            <a:off x="7498080" y="2606040"/>
            <a:ext cx="1143000" cy="457200"/>
          </a:xfrm>
          <a:prstGeom prst="rect">
            <a:avLst/>
          </a:prstGeom>
          <a:noFill/>
          <a:ln/>
        </p:spPr>
        <p:txBody>
          <a:bodyPr wrap="square" lIns="0" tIns="0" rIns="0" bIns="0" rtlCol="0" anchor="ctr"/>
          <a:lstStyle/>
          <a:p>
            <a:pPr indent="0" marL="0">
              <a:buNone/>
            </a:pPr>
            <a:r>
              <a:rPr lang="en-US" sz="2200" b="1" dirty="0">
                <a:solidFill>
                  <a:srgbClr val="22205D"/>
                </a:solidFill>
                <a:latin typeface="Arial" pitchFamily="34" charset="0"/>
                <a:ea typeface="Arial" pitchFamily="34" charset="-122"/>
                <a:cs typeface="Arial" pitchFamily="34" charset="-120"/>
              </a:rPr>
              <a:t>2.5×</a:t>
            </a:r>
            <a:endParaRPr lang="en-US" sz="2200" dirty="0"/>
          </a:p>
        </p:txBody>
      </p:sp>
      <p:sp>
        <p:nvSpPr>
          <p:cNvPr id="51" name="Text 49"/>
          <p:cNvSpPr txBox="1"/>
          <p:nvPr/>
        </p:nvSpPr>
        <p:spPr>
          <a:xfrm>
            <a:off x="8686800" y="2624328"/>
            <a:ext cx="2724912" cy="77724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Click-through rate from Google (7.8% vs 3.1%)</a:t>
            </a:r>
            <a:endParaRPr lang="en-US" sz="1100" dirty="0"/>
          </a:p>
        </p:txBody>
      </p:sp>
      <p:sp>
        <p:nvSpPr>
          <p:cNvPr id="52" name="Text 50"/>
          <p:cNvSpPr txBox="1"/>
          <p:nvPr/>
        </p:nvSpPr>
        <p:spPr>
          <a:xfrm>
            <a:off x="7498080" y="3474720"/>
            <a:ext cx="1143000" cy="457200"/>
          </a:xfrm>
          <a:prstGeom prst="rect">
            <a:avLst/>
          </a:prstGeom>
          <a:noFill/>
          <a:ln/>
        </p:spPr>
        <p:txBody>
          <a:bodyPr wrap="square" lIns="0" tIns="0" rIns="0" bIns="0" rtlCol="0" anchor="ctr"/>
          <a:lstStyle/>
          <a:p>
            <a:pPr indent="0" marL="0">
              <a:buNone/>
            </a:pPr>
            <a:r>
              <a:rPr lang="en-US" sz="2200" b="1" dirty="0">
                <a:solidFill>
                  <a:srgbClr val="22205D"/>
                </a:solidFill>
                <a:latin typeface="Arial" pitchFamily="34" charset="0"/>
                <a:ea typeface="Arial" pitchFamily="34" charset="-122"/>
                <a:cs typeface="Arial" pitchFamily="34" charset="-120"/>
              </a:rPr>
              <a:t>3</a:t>
            </a:r>
            <a:endParaRPr lang="en-US" sz="2200" dirty="0"/>
          </a:p>
        </p:txBody>
      </p:sp>
      <p:sp>
        <p:nvSpPr>
          <p:cNvPr id="53" name="Text 51"/>
          <p:cNvSpPr txBox="1"/>
          <p:nvPr/>
        </p:nvSpPr>
        <p:spPr>
          <a:xfrm>
            <a:off x="8686800" y="3493008"/>
            <a:ext cx="2724912" cy="77724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AI assistants sending visitors: ChatGPT, Perplexity, Gemini</a:t>
            </a:r>
            <a:endParaRPr lang="en-US" sz="1100" dirty="0"/>
          </a:p>
        </p:txBody>
      </p:sp>
      <p:sp>
        <p:nvSpPr>
          <p:cNvPr id="54" name="Text 52"/>
          <p:cNvSpPr txBox="1"/>
          <p:nvPr/>
        </p:nvSpPr>
        <p:spPr>
          <a:xfrm>
            <a:off x="7498080" y="4343400"/>
            <a:ext cx="1143000" cy="457200"/>
          </a:xfrm>
          <a:prstGeom prst="rect">
            <a:avLst/>
          </a:prstGeom>
          <a:noFill/>
          <a:ln/>
        </p:spPr>
        <p:txBody>
          <a:bodyPr wrap="square" lIns="0" tIns="0" rIns="0" bIns="0" rtlCol="0" anchor="ctr"/>
          <a:lstStyle/>
          <a:p>
            <a:pPr indent="0" marL="0">
              <a:buNone/>
            </a:pPr>
            <a:r>
              <a:rPr lang="en-US" sz="2200" b="1" dirty="0">
                <a:solidFill>
                  <a:srgbClr val="22205D"/>
                </a:solidFill>
                <a:latin typeface="Arial" pitchFamily="34" charset="0"/>
                <a:ea typeface="Arial" pitchFamily="34" charset="-122"/>
                <a:cs typeface="Arial" pitchFamily="34" charset="-120"/>
              </a:rPr>
              <a:t>Top 5</a:t>
            </a:r>
            <a:endParaRPr lang="en-US" sz="2200" dirty="0"/>
          </a:p>
        </p:txBody>
      </p:sp>
      <p:sp>
        <p:nvSpPr>
          <p:cNvPr id="55" name="Text 53"/>
          <p:cNvSpPr txBox="1"/>
          <p:nvPr/>
        </p:nvSpPr>
        <p:spPr>
          <a:xfrm>
            <a:off x="8686800" y="4361688"/>
            <a:ext cx="2724912" cy="77724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Google rank for questions AI assistants ask, e.g. document processing ROI, small vs large language models, AI stuck in pilot</a:t>
            </a:r>
            <a:endParaRPr lang="en-US" sz="1100" dirty="0"/>
          </a:p>
        </p:txBody>
      </p:sp>
      <p:sp>
        <p:nvSpPr>
          <p:cNvPr id="56" name="Text 54"/>
          <p:cNvSpPr txBox="1"/>
          <p:nvPr/>
        </p:nvSpPr>
        <p:spPr>
          <a:xfrm>
            <a:off x="7498080" y="5230368"/>
            <a:ext cx="3913632" cy="274320"/>
          </a:xfrm>
          <a:prstGeom prst="rect">
            <a:avLst/>
          </a:prstGeom>
          <a:noFill/>
          <a:ln/>
        </p:spPr>
        <p:txBody>
          <a:bodyPr wrap="square" lIns="0" tIns="0" rIns="0" bIns="0" rtlCol="0" anchor="ctr"/>
          <a:lstStyle/>
          <a:p>
            <a:pPr indent="0" marL="0">
              <a:buNone/>
            </a:pPr>
            <a:r>
              <a:rPr lang="en-US" sz="1200" b="1" dirty="0">
                <a:solidFill>
                  <a:srgbClr val="0061F6"/>
                </a:solidFill>
                <a:latin typeface="Arial" pitchFamily="34" charset="0"/>
                <a:ea typeface="Arial" pitchFamily="34" charset="-122"/>
                <a:cs typeface="Arial" pitchFamily="34" charset="-120"/>
              </a:rPr>
              <a:t>Next</a:t>
            </a:r>
            <a:endParaRPr lang="en-US" sz="1200" dirty="0"/>
          </a:p>
        </p:txBody>
      </p:sp>
      <p:sp>
        <p:nvSpPr>
          <p:cNvPr id="57" name="Text 55"/>
          <p:cNvSpPr txBox="1"/>
          <p:nvPr/>
        </p:nvSpPr>
        <p:spPr>
          <a:xfrm>
            <a:off x="7498080" y="5504688"/>
            <a:ext cx="3913632" cy="73152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Both tools live by Oct 14 · service and Mining pages live · page refreshes · point all links to our main LinkedIn page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B"/>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594360"/>
          </a:xfrm>
          <a:prstGeom prst="rect">
            <a:avLst/>
          </a:prstGeom>
          <a:noFill/>
          <a:ln/>
        </p:spPr>
        <p:txBody>
          <a:bodyPr wrap="square" lIns="0" tIns="0" rIns="0" bIns="0" rtlCol="0" anchor="ctr"/>
          <a:lstStyle/>
          <a:p>
            <a:pPr indent="0" marL="0">
              <a:buNone/>
            </a:pPr>
            <a:r>
              <a:rPr lang="en-US" sz="2800" b="1" dirty="0">
                <a:solidFill>
                  <a:srgbClr val="22205D"/>
                </a:solidFill>
                <a:latin typeface="Arial" pitchFamily="34" charset="0"/>
                <a:ea typeface="Arial" pitchFamily="34" charset="-122"/>
                <a:cs typeface="Arial" pitchFamily="34" charset="-120"/>
              </a:rPr>
              <a:t>LinkedIn: last 90 days, and where ad spend should go</a:t>
            </a:r>
            <a:endParaRPr lang="en-US" sz="2800" dirty="0"/>
          </a:p>
        </p:txBody>
      </p:sp>
      <p:sp>
        <p:nvSpPr>
          <p:cNvPr id="3" name="Shape 1"/>
          <p:cNvSpPr/>
          <p:nvPr/>
        </p:nvSpPr>
        <p:spPr>
          <a:xfrm>
            <a:off x="548640" y="1143000"/>
            <a:ext cx="6035040" cy="5166360"/>
          </a:xfrm>
          <a:prstGeom prst="roundRect">
            <a:avLst>
              <a:gd name="adj" fmla="val 1416"/>
            </a:avLst>
          </a:prstGeom>
          <a:solidFill>
            <a:srgbClr val="FFFFFF"/>
          </a:solidFill>
          <a:ln w="9525">
            <a:solidFill>
              <a:srgbClr val="E6E6E6"/>
            </a:solidFill>
            <a:prstDash val="solid"/>
          </a:ln>
        </p:spPr>
      </p:sp>
      <p:sp>
        <p:nvSpPr>
          <p:cNvPr id="4" name="Text 2"/>
          <p:cNvSpPr txBox="1"/>
          <p:nvPr/>
        </p:nvSpPr>
        <p:spPr>
          <a:xfrm>
            <a:off x="822960" y="1280160"/>
            <a:ext cx="5486400" cy="365760"/>
          </a:xfrm>
          <a:prstGeom prst="rect">
            <a:avLst/>
          </a:prstGeom>
          <a:noFill/>
          <a:ln/>
        </p:spPr>
        <p:txBody>
          <a:bodyPr wrap="square" lIns="0" tIns="0" rIns="0" bIns="0" rtlCol="0" anchor="ctr"/>
          <a:lstStyle/>
          <a:p>
            <a:pPr indent="0" marL="0">
              <a:buNone/>
            </a:pPr>
            <a:r>
              <a:rPr lang="en-US" sz="1500" b="1" dirty="0">
                <a:solidFill>
                  <a:srgbClr val="0061F6"/>
                </a:solidFill>
                <a:latin typeface="Arial" pitchFamily="34" charset="0"/>
                <a:ea typeface="Arial" pitchFamily="34" charset="-122"/>
                <a:cs typeface="Arial" pitchFamily="34" charset="-120"/>
              </a:rPr>
              <a:t>LinkedIn performance, all organic</a:t>
            </a:r>
            <a:endParaRPr lang="en-US" sz="1500" dirty="0"/>
          </a:p>
        </p:txBody>
      </p:sp>
      <p:sp>
        <p:nvSpPr>
          <p:cNvPr id="5" name="Text 3"/>
          <p:cNvSpPr txBox="1"/>
          <p:nvPr/>
        </p:nvSpPr>
        <p:spPr>
          <a:xfrm>
            <a:off x="822960" y="1783080"/>
            <a:ext cx="1737360" cy="566928"/>
          </a:xfrm>
          <a:prstGeom prst="rect">
            <a:avLst/>
          </a:prstGeom>
          <a:noFill/>
          <a:ln/>
        </p:spPr>
        <p:txBody>
          <a:bodyPr wrap="square" lIns="0" tIns="0" rIns="0" bIns="0" rtlCol="0" anchor="ctr"/>
          <a:lstStyle/>
          <a:p>
            <a:pPr indent="0" marL="0">
              <a:buNone/>
            </a:pPr>
            <a:r>
              <a:rPr lang="en-US" sz="2800" b="1" dirty="0">
                <a:solidFill>
                  <a:srgbClr val="22205D"/>
                </a:solidFill>
                <a:latin typeface="Arial" pitchFamily="34" charset="0"/>
                <a:ea typeface="Arial" pitchFamily="34" charset="-122"/>
                <a:cs typeface="Arial" pitchFamily="34" charset="-120"/>
              </a:rPr>
              <a:t>39.4K</a:t>
            </a:r>
            <a:endParaRPr lang="en-US" sz="2800" dirty="0"/>
          </a:p>
        </p:txBody>
      </p:sp>
      <p:sp>
        <p:nvSpPr>
          <p:cNvPr id="6" name="Text 4"/>
          <p:cNvSpPr txBox="1"/>
          <p:nvPr/>
        </p:nvSpPr>
        <p:spPr>
          <a:xfrm>
            <a:off x="822960" y="2350008"/>
            <a:ext cx="1737360" cy="45720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impressions</a:t>
            </a:r>
            <a:endParaRPr lang="en-US" sz="1100" dirty="0"/>
          </a:p>
        </p:txBody>
      </p:sp>
      <p:sp>
        <p:nvSpPr>
          <p:cNvPr id="7" name="Text 5"/>
          <p:cNvSpPr txBox="1"/>
          <p:nvPr/>
        </p:nvSpPr>
        <p:spPr>
          <a:xfrm>
            <a:off x="2651760" y="1783080"/>
            <a:ext cx="1737360" cy="566928"/>
          </a:xfrm>
          <a:prstGeom prst="rect">
            <a:avLst/>
          </a:prstGeom>
          <a:noFill/>
          <a:ln/>
        </p:spPr>
        <p:txBody>
          <a:bodyPr wrap="square" lIns="0" tIns="0" rIns="0" bIns="0" rtlCol="0" anchor="ctr"/>
          <a:lstStyle/>
          <a:p>
            <a:pPr indent="0" marL="0">
              <a:buNone/>
            </a:pPr>
            <a:r>
              <a:rPr lang="en-US" sz="2800" b="1" dirty="0">
                <a:solidFill>
                  <a:srgbClr val="22205D"/>
                </a:solidFill>
                <a:latin typeface="Arial" pitchFamily="34" charset="0"/>
                <a:ea typeface="Arial" pitchFamily="34" charset="-122"/>
                <a:cs typeface="Arial" pitchFamily="34" charset="-120"/>
              </a:rPr>
              <a:t>1,277</a:t>
            </a:r>
            <a:endParaRPr lang="en-US" sz="2800" dirty="0"/>
          </a:p>
        </p:txBody>
      </p:sp>
      <p:sp>
        <p:nvSpPr>
          <p:cNvPr id="8" name="Text 6"/>
          <p:cNvSpPr txBox="1"/>
          <p:nvPr/>
        </p:nvSpPr>
        <p:spPr>
          <a:xfrm>
            <a:off x="2651760" y="2350008"/>
            <a:ext cx="1737360" cy="45720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new followers (14.6K total)</a:t>
            </a:r>
            <a:endParaRPr lang="en-US" sz="1100" dirty="0"/>
          </a:p>
        </p:txBody>
      </p:sp>
      <p:sp>
        <p:nvSpPr>
          <p:cNvPr id="9" name="Text 7"/>
          <p:cNvSpPr txBox="1"/>
          <p:nvPr/>
        </p:nvSpPr>
        <p:spPr>
          <a:xfrm>
            <a:off x="4480560" y="1783080"/>
            <a:ext cx="1737360" cy="566928"/>
          </a:xfrm>
          <a:prstGeom prst="rect">
            <a:avLst/>
          </a:prstGeom>
          <a:noFill/>
          <a:ln/>
        </p:spPr>
        <p:txBody>
          <a:bodyPr wrap="square" lIns="0" tIns="0" rIns="0" bIns="0" rtlCol="0" anchor="ctr"/>
          <a:lstStyle/>
          <a:p>
            <a:pPr indent="0" marL="0">
              <a:buNone/>
            </a:pPr>
            <a:r>
              <a:rPr lang="en-US" sz="2800" b="1" dirty="0">
                <a:solidFill>
                  <a:srgbClr val="22205D"/>
                </a:solidFill>
                <a:latin typeface="Arial" pitchFamily="34" charset="0"/>
                <a:ea typeface="Arial" pitchFamily="34" charset="-122"/>
                <a:cs typeface="Arial" pitchFamily="34" charset="-120"/>
              </a:rPr>
              <a:t>622</a:t>
            </a:r>
            <a:endParaRPr lang="en-US" sz="2800" dirty="0"/>
          </a:p>
        </p:txBody>
      </p:sp>
      <p:sp>
        <p:nvSpPr>
          <p:cNvPr id="10" name="Text 8"/>
          <p:cNvSpPr txBox="1"/>
          <p:nvPr/>
        </p:nvSpPr>
        <p:spPr>
          <a:xfrm>
            <a:off x="4480560" y="2350008"/>
            <a:ext cx="1737360" cy="457200"/>
          </a:xfrm>
          <a:prstGeom prst="rect">
            <a:avLst/>
          </a:prstGeom>
          <a:noFill/>
          <a:ln/>
        </p:spPr>
        <p:txBody>
          <a:bodyPr wrap="square" lIns="0" tIns="0" rIns="0" bIns="0" rtlCol="0" anchor="t"/>
          <a:lstStyle/>
          <a:p>
            <a:pPr indent="0" marL="0">
              <a:buNone/>
            </a:pPr>
            <a:r>
              <a:rPr lang="en-US" sz="1100" dirty="0">
                <a:solidFill>
                  <a:srgbClr val="22205D"/>
                </a:solidFill>
                <a:latin typeface="Arial" pitchFamily="34" charset="0"/>
                <a:ea typeface="Arial" pitchFamily="34" charset="-122"/>
                <a:cs typeface="Arial" pitchFamily="34" charset="-120"/>
              </a:rPr>
              <a:t>reactions</a:t>
            </a:r>
            <a:endParaRPr lang="en-US" sz="1100" dirty="0"/>
          </a:p>
        </p:txBody>
      </p:sp>
      <p:sp>
        <p:nvSpPr>
          <p:cNvPr id="11" name="Text 9"/>
          <p:cNvSpPr txBox="1"/>
          <p:nvPr/>
        </p:nvSpPr>
        <p:spPr>
          <a:xfrm>
            <a:off x="822960" y="3017520"/>
            <a:ext cx="5486400" cy="320040"/>
          </a:xfrm>
          <a:prstGeom prst="rect">
            <a:avLst/>
          </a:prstGeom>
          <a:noFill/>
          <a:ln/>
        </p:spPr>
        <p:txBody>
          <a:bodyPr wrap="square" lIns="0" tIns="0" rIns="0" bIns="0" rtlCol="0" anchor="ctr"/>
          <a:lstStyle/>
          <a:p>
            <a:pPr indent="0" marL="0">
              <a:buNone/>
            </a:pPr>
            <a:r>
              <a:rPr lang="en-US" sz="1300" b="1" dirty="0">
                <a:solidFill>
                  <a:srgbClr val="22205D"/>
                </a:solidFill>
                <a:latin typeface="Arial" pitchFamily="34" charset="0"/>
                <a:ea typeface="Arial" pitchFamily="34" charset="-122"/>
                <a:cs typeface="Arial" pitchFamily="34" charset="-120"/>
              </a:rPr>
              <a:t>What works: real people</a:t>
            </a:r>
            <a:endParaRPr lang="en-US" sz="1300" dirty="0"/>
          </a:p>
        </p:txBody>
      </p:sp>
      <p:sp>
        <p:nvSpPr>
          <p:cNvPr id="12" name="Text 10"/>
          <p:cNvSpPr txBox="1"/>
          <p:nvPr/>
        </p:nvSpPr>
        <p:spPr>
          <a:xfrm>
            <a:off x="822960" y="3401568"/>
            <a:ext cx="2651760" cy="365760"/>
          </a:xfrm>
          <a:prstGeom prst="rect">
            <a:avLst/>
          </a:prstGeom>
          <a:noFill/>
          <a:ln/>
        </p:spPr>
        <p:txBody>
          <a:bodyPr wrap="square" lIns="0" tIns="0" rIns="0" bIns="0" rtlCol="0" anchor="ctr"/>
          <a:lstStyle/>
          <a:p>
            <a:pPr indent="0" marL="0">
              <a:buNone/>
            </a:pPr>
            <a:r>
              <a:rPr lang="en-US" sz="1100" dirty="0">
                <a:solidFill>
                  <a:srgbClr val="22205D"/>
                </a:solidFill>
                <a:latin typeface="Arial" pitchFamily="34" charset="0"/>
                <a:ea typeface="Arial" pitchFamily="34" charset="-122"/>
                <a:cs typeface="Arial" pitchFamily="34" charset="-120"/>
              </a:rPr>
              <a:t>Islamabad team strategy session</a:t>
            </a:r>
            <a:endParaRPr lang="en-US" sz="1100" dirty="0"/>
          </a:p>
        </p:txBody>
      </p:sp>
      <p:sp>
        <p:nvSpPr>
          <p:cNvPr id="13" name="Shape 11"/>
          <p:cNvSpPr/>
          <p:nvPr/>
        </p:nvSpPr>
        <p:spPr>
          <a:xfrm>
            <a:off x="3474720" y="3474720"/>
            <a:ext cx="2286000" cy="237744"/>
          </a:xfrm>
          <a:prstGeom prst="rect">
            <a:avLst/>
          </a:prstGeom>
          <a:solidFill>
            <a:srgbClr val="5CC3AE"/>
          </a:solidFill>
          <a:ln w="12700">
            <a:solidFill>
              <a:srgbClr val="FFFFFF"/>
            </a:solidFill>
            <a:prstDash val="solid"/>
          </a:ln>
        </p:spPr>
      </p:sp>
      <p:sp>
        <p:nvSpPr>
          <p:cNvPr id="14" name="Text 12"/>
          <p:cNvSpPr txBox="1"/>
          <p:nvPr/>
        </p:nvSpPr>
        <p:spPr>
          <a:xfrm>
            <a:off x="5806440" y="3401568"/>
            <a:ext cx="731520" cy="365760"/>
          </a:xfrm>
          <a:prstGeom prst="rect">
            <a:avLst/>
          </a:prstGeom>
          <a:noFill/>
          <a:ln/>
        </p:spPr>
        <p:txBody>
          <a:bodyPr wrap="square" lIns="0" tIns="0" rIns="0" bIns="0" rtlCol="0" anchor="ctr"/>
          <a:lstStyle/>
          <a:p>
            <a:pPr indent="0" marL="0">
              <a:buNone/>
            </a:pPr>
            <a:r>
              <a:rPr lang="en-US" sz="1100" b="1" dirty="0">
                <a:solidFill>
                  <a:srgbClr val="22205D"/>
                </a:solidFill>
                <a:latin typeface="Arial" pitchFamily="34" charset="0"/>
                <a:ea typeface="Arial" pitchFamily="34" charset="-122"/>
                <a:cs typeface="Arial" pitchFamily="34" charset="-120"/>
              </a:rPr>
              <a:t>118%</a:t>
            </a:r>
            <a:endParaRPr lang="en-US" sz="1100" dirty="0"/>
          </a:p>
        </p:txBody>
      </p:sp>
      <p:sp>
        <p:nvSpPr>
          <p:cNvPr id="15" name="Text 13"/>
          <p:cNvSpPr txBox="1"/>
          <p:nvPr/>
        </p:nvSpPr>
        <p:spPr>
          <a:xfrm>
            <a:off x="822960" y="3858768"/>
            <a:ext cx="2651760" cy="365760"/>
          </a:xfrm>
          <a:prstGeom prst="rect">
            <a:avLst/>
          </a:prstGeom>
          <a:noFill/>
          <a:ln/>
        </p:spPr>
        <p:txBody>
          <a:bodyPr wrap="square" lIns="0" tIns="0" rIns="0" bIns="0" rtlCol="0" anchor="ctr"/>
          <a:lstStyle/>
          <a:p>
            <a:pPr indent="0" marL="0">
              <a:buNone/>
            </a:pPr>
            <a:r>
              <a:rPr lang="en-US" sz="1100" dirty="0">
                <a:solidFill>
                  <a:srgbClr val="22205D"/>
                </a:solidFill>
                <a:latin typeface="Arial" pitchFamily="34" charset="0"/>
                <a:ea typeface="Arial" pitchFamily="34" charset="-122"/>
                <a:cs typeface="Arial" pitchFamily="34" charset="-120"/>
              </a:rPr>
              <a:t>Townhall 2026 highlights</a:t>
            </a:r>
            <a:endParaRPr lang="en-US" sz="1100" dirty="0"/>
          </a:p>
        </p:txBody>
      </p:sp>
      <p:sp>
        <p:nvSpPr>
          <p:cNvPr id="16" name="Shape 14"/>
          <p:cNvSpPr/>
          <p:nvPr/>
        </p:nvSpPr>
        <p:spPr>
          <a:xfrm>
            <a:off x="3474720" y="3931920"/>
            <a:ext cx="1007390" cy="237744"/>
          </a:xfrm>
          <a:prstGeom prst="rect">
            <a:avLst/>
          </a:prstGeom>
          <a:solidFill>
            <a:srgbClr val="5CC3AE"/>
          </a:solidFill>
          <a:ln w="12700">
            <a:solidFill>
              <a:srgbClr val="FFFFFF"/>
            </a:solidFill>
            <a:prstDash val="solid"/>
          </a:ln>
        </p:spPr>
      </p:sp>
      <p:sp>
        <p:nvSpPr>
          <p:cNvPr id="17" name="Text 15"/>
          <p:cNvSpPr txBox="1"/>
          <p:nvPr/>
        </p:nvSpPr>
        <p:spPr>
          <a:xfrm>
            <a:off x="4527830" y="3858768"/>
            <a:ext cx="731520" cy="365760"/>
          </a:xfrm>
          <a:prstGeom prst="rect">
            <a:avLst/>
          </a:prstGeom>
          <a:noFill/>
          <a:ln/>
        </p:spPr>
        <p:txBody>
          <a:bodyPr wrap="square" lIns="0" tIns="0" rIns="0" bIns="0" rtlCol="0" anchor="ctr"/>
          <a:lstStyle/>
          <a:p>
            <a:pPr indent="0" marL="0">
              <a:buNone/>
            </a:pPr>
            <a:r>
              <a:rPr lang="en-US" sz="1100" b="1" dirty="0">
                <a:solidFill>
                  <a:srgbClr val="22205D"/>
                </a:solidFill>
                <a:latin typeface="Arial" pitchFamily="34" charset="0"/>
                <a:ea typeface="Arial" pitchFamily="34" charset="-122"/>
                <a:cs typeface="Arial" pitchFamily="34" charset="-120"/>
              </a:rPr>
              <a:t>52%</a:t>
            </a:r>
            <a:endParaRPr lang="en-US" sz="1100" dirty="0"/>
          </a:p>
        </p:txBody>
      </p:sp>
      <p:sp>
        <p:nvSpPr>
          <p:cNvPr id="18" name="Text 16"/>
          <p:cNvSpPr txBox="1"/>
          <p:nvPr/>
        </p:nvSpPr>
        <p:spPr>
          <a:xfrm>
            <a:off x="822960" y="4315968"/>
            <a:ext cx="2651760" cy="365760"/>
          </a:xfrm>
          <a:prstGeom prst="rect">
            <a:avLst/>
          </a:prstGeom>
          <a:noFill/>
          <a:ln/>
        </p:spPr>
        <p:txBody>
          <a:bodyPr wrap="square" lIns="0" tIns="0" rIns="0" bIns="0" rtlCol="0" anchor="ctr"/>
          <a:lstStyle/>
          <a:p>
            <a:pPr indent="0" marL="0">
              <a:buNone/>
            </a:pPr>
            <a:r>
              <a:rPr lang="en-US" sz="1100" dirty="0">
                <a:solidFill>
                  <a:srgbClr val="22205D"/>
                </a:solidFill>
                <a:latin typeface="Arial" pitchFamily="34" charset="0"/>
                <a:ea typeface="Arial" pitchFamily="34" charset="-122"/>
                <a:cs typeface="Arial" pitchFamily="34" charset="-120"/>
              </a:rPr>
              <a:t>Data engineering explainer video</a:t>
            </a:r>
            <a:endParaRPr lang="en-US" sz="1100" dirty="0"/>
          </a:p>
        </p:txBody>
      </p:sp>
      <p:sp>
        <p:nvSpPr>
          <p:cNvPr id="19" name="Shape 17"/>
          <p:cNvSpPr/>
          <p:nvPr/>
        </p:nvSpPr>
        <p:spPr>
          <a:xfrm>
            <a:off x="3474720" y="4389120"/>
            <a:ext cx="228600" cy="237744"/>
          </a:xfrm>
          <a:prstGeom prst="rect">
            <a:avLst/>
          </a:prstGeom>
          <a:solidFill>
            <a:srgbClr val="50BFE6"/>
          </a:solidFill>
          <a:ln w="12700">
            <a:solidFill>
              <a:srgbClr val="FFFFFF"/>
            </a:solidFill>
            <a:prstDash val="solid"/>
          </a:ln>
        </p:spPr>
      </p:sp>
      <p:sp>
        <p:nvSpPr>
          <p:cNvPr id="20" name="Text 18"/>
          <p:cNvSpPr txBox="1"/>
          <p:nvPr/>
        </p:nvSpPr>
        <p:spPr>
          <a:xfrm>
            <a:off x="3749040" y="4315968"/>
            <a:ext cx="731520" cy="365760"/>
          </a:xfrm>
          <a:prstGeom prst="rect">
            <a:avLst/>
          </a:prstGeom>
          <a:noFill/>
          <a:ln/>
        </p:spPr>
        <p:txBody>
          <a:bodyPr wrap="square" lIns="0" tIns="0" rIns="0" bIns="0" rtlCol="0" anchor="ctr"/>
          <a:lstStyle/>
          <a:p>
            <a:pPr indent="0" marL="0">
              <a:buNone/>
            </a:pPr>
            <a:r>
              <a:rPr lang="en-US" sz="1100" b="1" dirty="0">
                <a:solidFill>
                  <a:srgbClr val="22205D"/>
                </a:solidFill>
                <a:latin typeface="Arial" pitchFamily="34" charset="0"/>
                <a:ea typeface="Arial" pitchFamily="34" charset="-122"/>
                <a:cs typeface="Arial" pitchFamily="34" charset="-120"/>
              </a:rPr>
              <a:t>8%</a:t>
            </a:r>
            <a:endParaRPr lang="en-US" sz="1100" dirty="0"/>
          </a:p>
        </p:txBody>
      </p:sp>
      <p:sp>
        <p:nvSpPr>
          <p:cNvPr id="21" name="Text 19"/>
          <p:cNvSpPr txBox="1"/>
          <p:nvPr/>
        </p:nvSpPr>
        <p:spPr>
          <a:xfrm>
            <a:off x="822960" y="4754880"/>
            <a:ext cx="5486400" cy="228600"/>
          </a:xfrm>
          <a:prstGeom prst="rect">
            <a:avLst/>
          </a:prstGeom>
          <a:noFill/>
          <a:ln/>
        </p:spPr>
        <p:txBody>
          <a:bodyPr wrap="square" lIns="0" tIns="0" rIns="0" bIns="0" rtlCol="0" anchor="ctr"/>
          <a:lstStyle/>
          <a:p>
            <a:pPr indent="0" marL="0">
              <a:buNone/>
            </a:pPr>
            <a:r>
              <a:rPr lang="en-US" sz="900" i="1" dirty="0">
                <a:solidFill>
                  <a:srgbClr val="5A5A7A"/>
                </a:solidFill>
                <a:latin typeface="Arial" pitchFamily="34" charset="0"/>
                <a:ea typeface="Arial" pitchFamily="34" charset="-122"/>
                <a:cs typeface="Arial" pitchFamily="34" charset="-120"/>
              </a:rPr>
              <a:t>Engagement rate, recent posts</a:t>
            </a:r>
            <a:endParaRPr lang="en-US" sz="900" dirty="0"/>
          </a:p>
        </p:txBody>
      </p:sp>
      <p:sp>
        <p:nvSpPr>
          <p:cNvPr id="22" name="Text 20"/>
          <p:cNvSpPr txBox="1"/>
          <p:nvPr/>
        </p:nvSpPr>
        <p:spPr>
          <a:xfrm>
            <a:off x="822960" y="5120640"/>
            <a:ext cx="5486400" cy="822960"/>
          </a:xfrm>
          <a:prstGeom prst="rect">
            <a:avLst/>
          </a:prstGeom>
          <a:noFill/>
          <a:ln/>
        </p:spPr>
        <p:txBody>
          <a:bodyPr wrap="square" lIns="0" tIns="0" rIns="0" bIns="0" rtlCol="0" anchor="t"/>
          <a:lstStyle/>
          <a:p>
            <a:pPr indent="0" marL="0">
              <a:buNone/>
            </a:pPr>
            <a:r>
              <a:rPr lang="en-US" sz="1300" b="1" dirty="0">
                <a:solidFill>
                  <a:srgbClr val="22205D"/>
                </a:solidFill>
                <a:latin typeface="Arial" pitchFamily="34" charset="0"/>
                <a:ea typeface="Arial" pitchFamily="34" charset="-122"/>
                <a:cs typeface="Arial" pitchFamily="34" charset="-120"/>
              </a:rPr>
              <a:t>Going forward: real faces, case studies and more motion content, 3 posts a week</a:t>
            </a:r>
            <a:endParaRPr lang="en-US" sz="1300" dirty="0"/>
          </a:p>
        </p:txBody>
      </p:sp>
      <p:sp>
        <p:nvSpPr>
          <p:cNvPr id="23" name="Shape 21"/>
          <p:cNvSpPr/>
          <p:nvPr/>
        </p:nvSpPr>
        <p:spPr>
          <a:xfrm>
            <a:off x="6903720" y="1143000"/>
            <a:ext cx="4736592" cy="2331720"/>
          </a:xfrm>
          <a:prstGeom prst="roundRect">
            <a:avLst>
              <a:gd name="adj" fmla="val 3137"/>
            </a:avLst>
          </a:prstGeom>
          <a:solidFill>
            <a:srgbClr val="FFFFFF"/>
          </a:solidFill>
          <a:ln w="9525">
            <a:solidFill>
              <a:srgbClr val="E6E6E6"/>
            </a:solidFill>
            <a:prstDash val="solid"/>
          </a:ln>
        </p:spPr>
      </p:sp>
      <p:sp>
        <p:nvSpPr>
          <p:cNvPr id="24" name="Text 22"/>
          <p:cNvSpPr txBox="1"/>
          <p:nvPr/>
        </p:nvSpPr>
        <p:spPr>
          <a:xfrm>
            <a:off x="7178040" y="1280160"/>
            <a:ext cx="4187952" cy="365760"/>
          </a:xfrm>
          <a:prstGeom prst="rect">
            <a:avLst/>
          </a:prstGeom>
          <a:noFill/>
          <a:ln/>
        </p:spPr>
        <p:txBody>
          <a:bodyPr wrap="square" lIns="0" tIns="0" rIns="0" bIns="0" rtlCol="0" anchor="ctr"/>
          <a:lstStyle/>
          <a:p>
            <a:pPr indent="0" marL="0">
              <a:buNone/>
            </a:pPr>
            <a:r>
              <a:rPr lang="en-US" sz="1500" b="1" dirty="0">
                <a:solidFill>
                  <a:srgbClr val="0061F6"/>
                </a:solidFill>
                <a:latin typeface="Arial" pitchFamily="34" charset="0"/>
                <a:ea typeface="Arial" pitchFamily="34" charset="-122"/>
                <a:cs typeface="Arial" pitchFamily="34" charset="-120"/>
              </a:rPr>
              <a:t>The gap</a:t>
            </a:r>
            <a:endParaRPr lang="en-US" sz="1500" dirty="0"/>
          </a:p>
        </p:txBody>
      </p:sp>
      <p:sp>
        <p:nvSpPr>
          <p:cNvPr id="25" name="Text 23"/>
          <p:cNvSpPr txBox="1"/>
          <p:nvPr/>
        </p:nvSpPr>
        <p:spPr>
          <a:xfrm>
            <a:off x="7178040" y="1691640"/>
            <a:ext cx="4187952" cy="16916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22205D"/>
                </a:solidFill>
                <a:latin typeface="Arial" pitchFamily="34" charset="0"/>
                <a:ea typeface="Arial" pitchFamily="34" charset="-122"/>
                <a:cs typeface="Arial" pitchFamily="34" charset="-120"/>
              </a:rPr>
              <a:t>All paid promotion so far has been for training (Mari)</a:t>
            </a:r>
            <a:endParaRPr lang="en-US" sz="1200" dirty="0"/>
          </a:p>
          <a:p>
            <a:pPr marL="342900" indent="-342900">
              <a:spcAft>
                <a:spcPts val="500"/>
              </a:spcAft>
              <a:buSzPct val="100000"/>
              <a:buChar char="•"/>
            </a:pPr>
            <a:r>
              <a:rPr lang="en-US" sz="1200" dirty="0">
                <a:solidFill>
                  <a:srgbClr val="22205D"/>
                </a:solidFill>
                <a:latin typeface="Arial" pitchFamily="34" charset="0"/>
                <a:ea typeface="Arial" pitchFamily="34" charset="-122"/>
                <a:cs typeface="Arial" pitchFamily="34" charset="-120"/>
              </a:rPr>
              <a:t>So our audience skews local and career-focused: 6 in 10 LinkedIn followers are in Pakistan, and Careers is our 3rd most visited page</a:t>
            </a:r>
            <a:endParaRPr lang="en-US" sz="1200" dirty="0"/>
          </a:p>
          <a:p>
            <a:pPr marL="342900" indent="-342900">
              <a:spcAft>
                <a:spcPts val="500"/>
              </a:spcAft>
              <a:buSzPct val="100000"/>
              <a:buChar char="•"/>
            </a:pPr>
            <a:r>
              <a:rPr lang="en-US" sz="1200" dirty="0">
                <a:solidFill>
                  <a:srgbClr val="22205D"/>
                </a:solidFill>
                <a:latin typeface="Arial" pitchFamily="34" charset="0"/>
                <a:ea typeface="Arial" pitchFamily="34" charset="-122"/>
                <a:cs typeface="Arial" pitchFamily="34" charset="-120"/>
              </a:rPr>
              <a:t>Services, case studies and the new tools have had no paid push</a:t>
            </a:r>
            <a:endParaRPr lang="en-US" sz="1200" dirty="0"/>
          </a:p>
        </p:txBody>
      </p:sp>
      <p:sp>
        <p:nvSpPr>
          <p:cNvPr id="26" name="Shape 24"/>
          <p:cNvSpPr/>
          <p:nvPr/>
        </p:nvSpPr>
        <p:spPr>
          <a:xfrm>
            <a:off x="6903720" y="3657600"/>
            <a:ext cx="4736592" cy="2651760"/>
          </a:xfrm>
          <a:prstGeom prst="roundRect">
            <a:avLst>
              <a:gd name="adj" fmla="val 2759"/>
            </a:avLst>
          </a:prstGeom>
          <a:solidFill>
            <a:srgbClr val="EAF7F4"/>
          </a:solidFill>
          <a:ln w="9525">
            <a:solidFill>
              <a:srgbClr val="E6E6E6"/>
            </a:solidFill>
            <a:prstDash val="solid"/>
          </a:ln>
        </p:spPr>
      </p:sp>
      <p:sp>
        <p:nvSpPr>
          <p:cNvPr id="27" name="Text 25"/>
          <p:cNvSpPr txBox="1"/>
          <p:nvPr/>
        </p:nvSpPr>
        <p:spPr>
          <a:xfrm>
            <a:off x="7178040" y="3794760"/>
            <a:ext cx="4187952" cy="365760"/>
          </a:xfrm>
          <a:prstGeom prst="rect">
            <a:avLst/>
          </a:prstGeom>
          <a:noFill/>
          <a:ln/>
        </p:spPr>
        <p:txBody>
          <a:bodyPr wrap="square" lIns="0" tIns="0" rIns="0" bIns="0" rtlCol="0" anchor="ctr"/>
          <a:lstStyle/>
          <a:p>
            <a:pPr indent="0" marL="0">
              <a:buNone/>
            </a:pPr>
            <a:r>
              <a:rPr lang="en-US" sz="1500" b="1" dirty="0">
                <a:solidFill>
                  <a:srgbClr val="22205D"/>
                </a:solidFill>
                <a:latin typeface="Arial" pitchFamily="34" charset="0"/>
                <a:ea typeface="Arial" pitchFamily="34" charset="-122"/>
                <a:cs typeface="Arial" pitchFamily="34" charset="-120"/>
              </a:rPr>
              <a:t>Proposal: a small services ad budget</a:t>
            </a:r>
            <a:endParaRPr lang="en-US" sz="1500" dirty="0"/>
          </a:p>
        </p:txBody>
      </p:sp>
      <p:sp>
        <p:nvSpPr>
          <p:cNvPr id="28" name="Text 26"/>
          <p:cNvSpPr txBox="1"/>
          <p:nvPr/>
        </p:nvSpPr>
        <p:spPr>
          <a:xfrm>
            <a:off x="7178040" y="4206240"/>
            <a:ext cx="4187952" cy="548640"/>
          </a:xfrm>
          <a:prstGeom prst="rect">
            <a:avLst/>
          </a:prstGeom>
          <a:noFill/>
          <a:ln/>
        </p:spPr>
        <p:txBody>
          <a:bodyPr wrap="square" lIns="0" tIns="0" rIns="0" bIns="0" rtlCol="0" anchor="ctr"/>
          <a:lstStyle/>
          <a:p>
            <a:pPr indent="0" marL="0">
              <a:buNone/>
            </a:pPr>
            <a:r>
              <a:rPr lang="en-US" sz="2800" b="1" dirty="0">
                <a:solidFill>
                  <a:srgbClr val="0061F6"/>
                </a:solidFill>
                <a:latin typeface="Arial" pitchFamily="34" charset="0"/>
                <a:ea typeface="Arial" pitchFamily="34" charset="-122"/>
                <a:cs typeface="Arial" pitchFamily="34" charset="-120"/>
              </a:rPr>
              <a:t>$300–600 a month</a:t>
            </a:r>
            <a:endParaRPr lang="en-US" sz="2800" dirty="0"/>
          </a:p>
        </p:txBody>
      </p:sp>
      <p:sp>
        <p:nvSpPr>
          <p:cNvPr id="29" name="Text 27"/>
          <p:cNvSpPr txBox="1"/>
          <p:nvPr/>
        </p:nvSpPr>
        <p:spPr>
          <a:xfrm>
            <a:off x="7178040" y="4736592"/>
            <a:ext cx="4187952" cy="274320"/>
          </a:xfrm>
          <a:prstGeom prst="rect">
            <a:avLst/>
          </a:prstGeom>
          <a:noFill/>
          <a:ln/>
        </p:spPr>
        <p:txBody>
          <a:bodyPr wrap="square" lIns="0" tIns="0" rIns="0" bIns="0" rtlCol="0" anchor="ctr"/>
          <a:lstStyle/>
          <a:p>
            <a:pPr indent="0" marL="0">
              <a:buNone/>
            </a:pPr>
            <a:r>
              <a:rPr lang="en-US" sz="1100" dirty="0">
                <a:solidFill>
                  <a:srgbClr val="5A5A7A"/>
                </a:solidFill>
                <a:latin typeface="Arial" pitchFamily="34" charset="0"/>
                <a:ea typeface="Arial" pitchFamily="34" charset="-122"/>
                <a:cs typeface="Arial" pitchFamily="34" charset="-120"/>
              </a:rPr>
              <a:t>about PKR 85K–170K</a:t>
            </a:r>
            <a:endParaRPr lang="en-US" sz="1100" dirty="0"/>
          </a:p>
        </p:txBody>
      </p:sp>
      <p:sp>
        <p:nvSpPr>
          <p:cNvPr id="30" name="Text 28"/>
          <p:cNvSpPr txBox="1"/>
          <p:nvPr/>
        </p:nvSpPr>
        <p:spPr>
          <a:xfrm>
            <a:off x="7178040" y="5074920"/>
            <a:ext cx="4187952" cy="118872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22205D"/>
                </a:solidFill>
                <a:latin typeface="Arial" pitchFamily="34" charset="0"/>
                <a:ea typeface="Arial" pitchFamily="34" charset="-122"/>
                <a:cs typeface="Arial" pitchFamily="34" charset="-120"/>
              </a:rPr>
              <a:t>LinkedIn (about 70%) + Meta (about 30%)</a:t>
            </a:r>
            <a:endParaRPr lang="en-US" sz="1200" dirty="0"/>
          </a:p>
          <a:p>
            <a:pPr marL="342900" indent="-342900">
              <a:spcAft>
                <a:spcPts val="500"/>
              </a:spcAft>
              <a:buSzPct val="100000"/>
              <a:buChar char="•"/>
            </a:pPr>
            <a:r>
              <a:rPr lang="en-US" sz="1200" dirty="0">
                <a:solidFill>
                  <a:srgbClr val="22205D"/>
                </a:solidFill>
                <a:latin typeface="Arial" pitchFamily="34" charset="0"/>
                <a:ea typeface="Arial" pitchFamily="34" charset="-122"/>
                <a:cs typeface="Arial" pitchFamily="34" charset="-120"/>
              </a:rPr>
              <a:t>Promote the 2 tools, case studies and services</a:t>
            </a:r>
            <a:endParaRPr lang="en-US" sz="1200" dirty="0"/>
          </a:p>
          <a:p>
            <a:pPr marL="342900" indent="-342900">
              <a:spcAft>
                <a:spcPts val="500"/>
              </a:spcAft>
              <a:buSzPct val="100000"/>
              <a:buChar char="•"/>
            </a:pPr>
            <a:r>
              <a:rPr lang="en-US" sz="1200" dirty="0">
                <a:solidFill>
                  <a:srgbClr val="22205D"/>
                </a:solidFill>
                <a:latin typeface="Arial" pitchFamily="34" charset="0"/>
                <a:ea typeface="Arial" pitchFamily="34" charset="-122"/>
                <a:cs typeface="Arial" pitchFamily="34" charset="-120"/>
              </a:rPr>
              <a:t>3-month test from mid-October, review in January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594360"/>
          </a:xfrm>
          <a:prstGeom prst="rect">
            <a:avLst/>
          </a:prstGeom>
          <a:noFill/>
          <a:ln/>
        </p:spPr>
        <p:txBody>
          <a:bodyPr wrap="square" lIns="0" tIns="0" rIns="0" bIns="0" rtlCol="0" anchor="ctr"/>
          <a:lstStyle/>
          <a:p>
            <a:pPr indent="0" marL="0">
              <a:buNone/>
            </a:pPr>
            <a:r>
              <a:rPr lang="en-US" sz="2800" b="1" dirty="0">
                <a:solidFill>
                  <a:srgbClr val="22205D"/>
                </a:solidFill>
                <a:latin typeface="Arial" pitchFamily="34" charset="0"/>
                <a:ea typeface="Arial" pitchFamily="34" charset="-122"/>
                <a:cs typeface="Arial" pitchFamily="34" charset="-120"/>
              </a:rPr>
              <a:t>The plan: Q2 and Q3</a:t>
            </a:r>
            <a:endParaRPr lang="en-US" sz="2800" dirty="0"/>
          </a:p>
        </p:txBody>
      </p:sp>
      <p:sp>
        <p:nvSpPr>
          <p:cNvPr id="3" name="Shape 1"/>
          <p:cNvSpPr/>
          <p:nvPr/>
        </p:nvSpPr>
        <p:spPr>
          <a:xfrm>
            <a:off x="548640" y="1143000"/>
            <a:ext cx="5385816" cy="4526280"/>
          </a:xfrm>
          <a:prstGeom prst="roundRect">
            <a:avLst>
              <a:gd name="adj" fmla="val 1616"/>
            </a:avLst>
          </a:prstGeom>
          <a:solidFill>
            <a:srgbClr val="F4F6FB"/>
          </a:solidFill>
          <a:ln w="9525">
            <a:solidFill>
              <a:srgbClr val="E6E6E6"/>
            </a:solidFill>
            <a:prstDash val="solid"/>
          </a:ln>
        </p:spPr>
      </p:sp>
      <p:sp>
        <p:nvSpPr>
          <p:cNvPr id="4" name="Shape 2"/>
          <p:cNvSpPr/>
          <p:nvPr/>
        </p:nvSpPr>
        <p:spPr>
          <a:xfrm>
            <a:off x="822960" y="1371600"/>
            <a:ext cx="1737360" cy="365760"/>
          </a:xfrm>
          <a:prstGeom prst="roundRect">
            <a:avLst>
              <a:gd name="adj" fmla="val 17500"/>
            </a:avLst>
          </a:prstGeom>
          <a:solidFill>
            <a:srgbClr val="22205D"/>
          </a:solidFill>
          <a:ln w="12700">
            <a:solidFill>
              <a:srgbClr val="22205D"/>
            </a:solidFill>
            <a:prstDash val="solid"/>
          </a:ln>
        </p:spPr>
      </p:sp>
      <p:sp>
        <p:nvSpPr>
          <p:cNvPr id="5" name="Text 3"/>
          <p:cNvSpPr txBox="1"/>
          <p:nvPr/>
        </p:nvSpPr>
        <p:spPr>
          <a:xfrm>
            <a:off x="822960" y="1371600"/>
            <a:ext cx="17373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Q2 · Oct–Dec</a:t>
            </a:r>
            <a:endParaRPr lang="en-US" sz="1100" dirty="0"/>
          </a:p>
        </p:txBody>
      </p:sp>
      <p:sp>
        <p:nvSpPr>
          <p:cNvPr id="6" name="Text 4"/>
          <p:cNvSpPr txBox="1"/>
          <p:nvPr/>
        </p:nvSpPr>
        <p:spPr>
          <a:xfrm>
            <a:off x="2743200" y="1371600"/>
            <a:ext cx="2916936" cy="365760"/>
          </a:xfrm>
          <a:prstGeom prst="rect">
            <a:avLst/>
          </a:prstGeom>
          <a:noFill/>
          <a:ln/>
        </p:spPr>
        <p:txBody>
          <a:bodyPr wrap="square" lIns="0" tIns="0" rIns="0" bIns="0" rtlCol="0" anchor="ctr"/>
          <a:lstStyle/>
          <a:p>
            <a:pPr indent="0" marL="0">
              <a:buNone/>
            </a:pPr>
            <a:r>
              <a:rPr lang="en-US" sz="1700" b="1" dirty="0">
                <a:solidFill>
                  <a:srgbClr val="22205D"/>
                </a:solidFill>
                <a:latin typeface="Arial" pitchFamily="34" charset="0"/>
                <a:ea typeface="Arial" pitchFamily="34" charset="-122"/>
                <a:cs typeface="Arial" pitchFamily="34" charset="-120"/>
              </a:rPr>
              <a:t>Launch and support</a:t>
            </a:r>
            <a:endParaRPr lang="en-US" sz="1700" dirty="0"/>
          </a:p>
        </p:txBody>
      </p:sp>
      <p:sp>
        <p:nvSpPr>
          <p:cNvPr id="7" name="Text 5"/>
          <p:cNvSpPr txBox="1"/>
          <p:nvPr/>
        </p:nvSpPr>
        <p:spPr>
          <a:xfrm>
            <a:off x="822960" y="1965960"/>
            <a:ext cx="1097280" cy="502920"/>
          </a:xfrm>
          <a:prstGeom prst="rect">
            <a:avLst/>
          </a:prstGeom>
          <a:noFill/>
          <a:ln/>
        </p:spPr>
        <p:txBody>
          <a:bodyPr wrap="square" lIns="0" tIns="0" rIns="0" bIns="0" rtlCol="0" anchor="ctr"/>
          <a:lstStyle/>
          <a:p>
            <a:pPr indent="0" marL="0">
              <a:buNone/>
            </a:pPr>
            <a:r>
              <a:rPr lang="en-US" sz="1100" b="1" dirty="0">
                <a:solidFill>
                  <a:srgbClr val="0098D8"/>
                </a:solidFill>
                <a:latin typeface="Arial" pitchFamily="34" charset="0"/>
                <a:ea typeface="Arial" pitchFamily="34" charset="-122"/>
                <a:cs typeface="Arial" pitchFamily="34" charset="-120"/>
              </a:rPr>
              <a:t>By Oct 14</a:t>
            </a:r>
            <a:endParaRPr lang="en-US" sz="1100" dirty="0"/>
          </a:p>
        </p:txBody>
      </p:sp>
      <p:sp>
        <p:nvSpPr>
          <p:cNvPr id="8" name="Text 6"/>
          <p:cNvSpPr txBox="1"/>
          <p:nvPr/>
        </p:nvSpPr>
        <p:spPr>
          <a:xfrm>
            <a:off x="1965960" y="1965960"/>
            <a:ext cx="3694176" cy="502920"/>
          </a:xfrm>
          <a:prstGeom prst="rect">
            <a:avLst/>
          </a:prstGeom>
          <a:noFill/>
          <a:ln/>
        </p:spPr>
        <p:txBody>
          <a:bodyPr wrap="square" lIns="0" tIns="0" rIns="0" bIns="0" rtlCol="0" anchor="ctr"/>
          <a:lstStyle/>
          <a:p>
            <a:pPr indent="0" marL="0">
              <a:buNone/>
            </a:pPr>
            <a:r>
              <a:rPr lang="en-US" sz="1250" dirty="0">
                <a:solidFill>
                  <a:srgbClr val="22205D"/>
                </a:solidFill>
                <a:latin typeface="Arial" pitchFamily="34" charset="0"/>
                <a:ea typeface="Arial" pitchFamily="34" charset="-122"/>
                <a:cs typeface="Arial" pitchFamily="34" charset="-120"/>
              </a:rPr>
              <a:t>Both tools live: AI Security and Data &amp; AI Readiness</a:t>
            </a:r>
            <a:endParaRPr lang="en-US" sz="1250" dirty="0"/>
          </a:p>
        </p:txBody>
      </p:sp>
      <p:sp>
        <p:nvSpPr>
          <p:cNvPr id="9" name="Text 7"/>
          <p:cNvSpPr txBox="1"/>
          <p:nvPr/>
        </p:nvSpPr>
        <p:spPr>
          <a:xfrm>
            <a:off x="822960" y="2560320"/>
            <a:ext cx="1097280" cy="502920"/>
          </a:xfrm>
          <a:prstGeom prst="rect">
            <a:avLst/>
          </a:prstGeom>
          <a:noFill/>
          <a:ln/>
        </p:spPr>
        <p:txBody>
          <a:bodyPr wrap="square" lIns="0" tIns="0" rIns="0" bIns="0" rtlCol="0" anchor="ctr"/>
          <a:lstStyle/>
          <a:p>
            <a:pPr indent="0" marL="0">
              <a:buNone/>
            </a:pPr>
            <a:r>
              <a:rPr lang="en-US" sz="1100" b="1" dirty="0">
                <a:solidFill>
                  <a:srgbClr val="0098D8"/>
                </a:solidFill>
                <a:latin typeface="Arial" pitchFamily="34" charset="0"/>
                <a:ea typeface="Arial" pitchFamily="34" charset="-122"/>
                <a:cs typeface="Arial" pitchFamily="34" charset="-120"/>
              </a:rPr>
              <a:t>Oct</a:t>
            </a:r>
            <a:endParaRPr lang="en-US" sz="1100" dirty="0"/>
          </a:p>
        </p:txBody>
      </p:sp>
      <p:sp>
        <p:nvSpPr>
          <p:cNvPr id="10" name="Text 8"/>
          <p:cNvSpPr txBox="1"/>
          <p:nvPr/>
        </p:nvSpPr>
        <p:spPr>
          <a:xfrm>
            <a:off x="1965960" y="2560320"/>
            <a:ext cx="3694176" cy="502920"/>
          </a:xfrm>
          <a:prstGeom prst="rect">
            <a:avLst/>
          </a:prstGeom>
          <a:noFill/>
          <a:ln/>
        </p:spPr>
        <p:txBody>
          <a:bodyPr wrap="square" lIns="0" tIns="0" rIns="0" bIns="0" rtlCol="0" anchor="ctr"/>
          <a:lstStyle/>
          <a:p>
            <a:pPr indent="0" marL="0">
              <a:buNone/>
            </a:pPr>
            <a:r>
              <a:rPr lang="en-US" sz="1250" dirty="0">
                <a:solidFill>
                  <a:srgbClr val="22205D"/>
                </a:solidFill>
                <a:latin typeface="Arial" pitchFamily="34" charset="0"/>
                <a:ea typeface="Arial" pitchFamily="34" charset="-122"/>
                <a:cs typeface="Arial" pitchFamily="34" charset="-120"/>
              </a:rPr>
              <a:t>HR brand video out. Services ads start (if approved)</a:t>
            </a:r>
            <a:endParaRPr lang="en-US" sz="1250" dirty="0"/>
          </a:p>
        </p:txBody>
      </p:sp>
      <p:sp>
        <p:nvSpPr>
          <p:cNvPr id="11" name="Text 9"/>
          <p:cNvSpPr txBox="1"/>
          <p:nvPr/>
        </p:nvSpPr>
        <p:spPr>
          <a:xfrm>
            <a:off x="822960" y="3154680"/>
            <a:ext cx="1097280" cy="502920"/>
          </a:xfrm>
          <a:prstGeom prst="rect">
            <a:avLst/>
          </a:prstGeom>
          <a:noFill/>
          <a:ln/>
        </p:spPr>
        <p:txBody>
          <a:bodyPr wrap="square" lIns="0" tIns="0" rIns="0" bIns="0" rtlCol="0" anchor="ctr"/>
          <a:lstStyle/>
          <a:p>
            <a:pPr indent="0" marL="0">
              <a:buNone/>
            </a:pPr>
            <a:r>
              <a:rPr lang="en-US" sz="1100" b="1" dirty="0">
                <a:solidFill>
                  <a:srgbClr val="0098D8"/>
                </a:solidFill>
                <a:latin typeface="Arial" pitchFamily="34" charset="0"/>
                <a:ea typeface="Arial" pitchFamily="34" charset="-122"/>
                <a:cs typeface="Arial" pitchFamily="34" charset="-120"/>
              </a:rPr>
              <a:t>Oct–Dec</a:t>
            </a:r>
            <a:endParaRPr lang="en-US" sz="1100" dirty="0"/>
          </a:p>
        </p:txBody>
      </p:sp>
      <p:sp>
        <p:nvSpPr>
          <p:cNvPr id="12" name="Text 10"/>
          <p:cNvSpPr txBox="1"/>
          <p:nvPr/>
        </p:nvSpPr>
        <p:spPr>
          <a:xfrm>
            <a:off x="1965960" y="3154680"/>
            <a:ext cx="3694176" cy="502920"/>
          </a:xfrm>
          <a:prstGeom prst="rect">
            <a:avLst/>
          </a:prstGeom>
          <a:noFill/>
          <a:ln/>
        </p:spPr>
        <p:txBody>
          <a:bodyPr wrap="square" lIns="0" tIns="0" rIns="0" bIns="0" rtlCol="0" anchor="ctr"/>
          <a:lstStyle/>
          <a:p>
            <a:pPr indent="0" marL="0">
              <a:buNone/>
            </a:pPr>
            <a:r>
              <a:rPr lang="en-US" sz="1250" dirty="0">
                <a:solidFill>
                  <a:srgbClr val="22205D"/>
                </a:solidFill>
                <a:latin typeface="Arial" pitchFamily="34" charset="0"/>
                <a:ea typeface="Arial" pitchFamily="34" charset="-122"/>
                <a:cs typeface="Arial" pitchFamily="34" charset="-120"/>
              </a:rPr>
              <a:t>Alternate weeks: update existing pages / publish new content</a:t>
            </a:r>
            <a:endParaRPr lang="en-US" sz="1250" dirty="0"/>
          </a:p>
        </p:txBody>
      </p:sp>
      <p:sp>
        <p:nvSpPr>
          <p:cNvPr id="13" name="Text 11"/>
          <p:cNvSpPr txBox="1"/>
          <p:nvPr/>
        </p:nvSpPr>
        <p:spPr>
          <a:xfrm>
            <a:off x="822960" y="3749040"/>
            <a:ext cx="1097280" cy="502920"/>
          </a:xfrm>
          <a:prstGeom prst="rect">
            <a:avLst/>
          </a:prstGeom>
          <a:noFill/>
          <a:ln/>
        </p:spPr>
        <p:txBody>
          <a:bodyPr wrap="square" lIns="0" tIns="0" rIns="0" bIns="0" rtlCol="0" anchor="ctr"/>
          <a:lstStyle/>
          <a:p>
            <a:pPr indent="0" marL="0">
              <a:buNone/>
            </a:pPr>
            <a:r>
              <a:rPr lang="en-US" sz="1100" b="1" dirty="0">
                <a:solidFill>
                  <a:srgbClr val="0098D8"/>
                </a:solidFill>
                <a:latin typeface="Arial" pitchFamily="34" charset="0"/>
                <a:ea typeface="Arial" pitchFamily="34" charset="-122"/>
                <a:cs typeface="Arial" pitchFamily="34" charset="-120"/>
              </a:rPr>
              <a:t>Nov</a:t>
            </a:r>
            <a:endParaRPr lang="en-US" sz="1100" dirty="0"/>
          </a:p>
        </p:txBody>
      </p:sp>
      <p:sp>
        <p:nvSpPr>
          <p:cNvPr id="14" name="Text 12"/>
          <p:cNvSpPr txBox="1"/>
          <p:nvPr/>
        </p:nvSpPr>
        <p:spPr>
          <a:xfrm>
            <a:off x="1965960" y="3749040"/>
            <a:ext cx="3694176" cy="502920"/>
          </a:xfrm>
          <a:prstGeom prst="rect">
            <a:avLst/>
          </a:prstGeom>
          <a:noFill/>
          <a:ln/>
        </p:spPr>
        <p:txBody>
          <a:bodyPr wrap="square" lIns="0" tIns="0" rIns="0" bIns="0" rtlCol="0" anchor="ctr"/>
          <a:lstStyle/>
          <a:p>
            <a:pPr indent="0" marL="0">
              <a:buNone/>
            </a:pPr>
            <a:r>
              <a:rPr lang="en-US" sz="1250" dirty="0">
                <a:solidFill>
                  <a:srgbClr val="22205D"/>
                </a:solidFill>
                <a:latin typeface="Arial" pitchFamily="34" charset="0"/>
                <a:ea typeface="Arial" pitchFamily="34" charset="-122"/>
                <a:cs typeface="Arial" pitchFamily="34" charset="-120"/>
              </a:rPr>
              <a:t>Service group pages and Mining page live</a:t>
            </a:r>
            <a:endParaRPr lang="en-US" sz="1250" dirty="0"/>
          </a:p>
        </p:txBody>
      </p:sp>
      <p:sp>
        <p:nvSpPr>
          <p:cNvPr id="15" name="Text 13"/>
          <p:cNvSpPr txBox="1"/>
          <p:nvPr/>
        </p:nvSpPr>
        <p:spPr>
          <a:xfrm>
            <a:off x="822960" y="4343400"/>
            <a:ext cx="1097280" cy="502920"/>
          </a:xfrm>
          <a:prstGeom prst="rect">
            <a:avLst/>
          </a:prstGeom>
          <a:noFill/>
          <a:ln/>
        </p:spPr>
        <p:txBody>
          <a:bodyPr wrap="square" lIns="0" tIns="0" rIns="0" bIns="0" rtlCol="0" anchor="ctr"/>
          <a:lstStyle/>
          <a:p>
            <a:pPr indent="0" marL="0">
              <a:buNone/>
            </a:pPr>
            <a:r>
              <a:rPr lang="en-US" sz="1100" b="1" dirty="0">
                <a:solidFill>
                  <a:srgbClr val="0098D8"/>
                </a:solidFill>
                <a:latin typeface="Arial" pitchFamily="34" charset="0"/>
                <a:ea typeface="Arial" pitchFamily="34" charset="-122"/>
                <a:cs typeface="Arial" pitchFamily="34" charset="-120"/>
              </a:rPr>
              <a:t>As needed</a:t>
            </a:r>
            <a:endParaRPr lang="en-US" sz="1100" dirty="0"/>
          </a:p>
        </p:txBody>
      </p:sp>
      <p:sp>
        <p:nvSpPr>
          <p:cNvPr id="16" name="Text 14"/>
          <p:cNvSpPr txBox="1"/>
          <p:nvPr/>
        </p:nvSpPr>
        <p:spPr>
          <a:xfrm>
            <a:off x="1965960" y="4343400"/>
            <a:ext cx="3694176" cy="502920"/>
          </a:xfrm>
          <a:prstGeom prst="rect">
            <a:avLst/>
          </a:prstGeom>
          <a:noFill/>
          <a:ln/>
        </p:spPr>
        <p:txBody>
          <a:bodyPr wrap="square" lIns="0" tIns="0" rIns="0" bIns="0" rtlCol="0" anchor="ctr"/>
          <a:lstStyle/>
          <a:p>
            <a:pPr indent="0" marL="0">
              <a:buNone/>
            </a:pPr>
            <a:r>
              <a:rPr lang="en-US" sz="1250" dirty="0">
                <a:solidFill>
                  <a:srgbClr val="22205D"/>
                </a:solidFill>
                <a:latin typeface="Arial" pitchFamily="34" charset="0"/>
                <a:ea typeface="Arial" pitchFamily="34" charset="-122"/>
                <a:cs typeface="Arial" pitchFamily="34" charset="-120"/>
              </a:rPr>
              <a:t>Event collateral for sales: deck, one-pagers, case studies</a:t>
            </a:r>
            <a:endParaRPr lang="en-US" sz="1250" dirty="0"/>
          </a:p>
        </p:txBody>
      </p:sp>
      <p:sp>
        <p:nvSpPr>
          <p:cNvPr id="17" name="Text 15"/>
          <p:cNvSpPr txBox="1"/>
          <p:nvPr/>
        </p:nvSpPr>
        <p:spPr>
          <a:xfrm>
            <a:off x="822960" y="4937760"/>
            <a:ext cx="1097280" cy="502920"/>
          </a:xfrm>
          <a:prstGeom prst="rect">
            <a:avLst/>
          </a:prstGeom>
          <a:noFill/>
          <a:ln/>
        </p:spPr>
        <p:txBody>
          <a:bodyPr wrap="square" lIns="0" tIns="0" rIns="0" bIns="0" rtlCol="0" anchor="ctr"/>
          <a:lstStyle/>
          <a:p>
            <a:pPr indent="0" marL="0">
              <a:buNone/>
            </a:pPr>
            <a:r>
              <a:rPr lang="en-US" sz="1100" b="1" dirty="0">
                <a:solidFill>
                  <a:srgbClr val="0098D8"/>
                </a:solidFill>
                <a:latin typeface="Arial" pitchFamily="34" charset="0"/>
                <a:ea typeface="Arial" pitchFamily="34" charset="-122"/>
                <a:cs typeface="Arial" pitchFamily="34" charset="-120"/>
              </a:rPr>
              <a:t>If needed</a:t>
            </a:r>
            <a:endParaRPr lang="en-US" sz="1100" dirty="0"/>
          </a:p>
        </p:txBody>
      </p:sp>
      <p:sp>
        <p:nvSpPr>
          <p:cNvPr id="18" name="Text 16"/>
          <p:cNvSpPr txBox="1"/>
          <p:nvPr/>
        </p:nvSpPr>
        <p:spPr>
          <a:xfrm>
            <a:off x="1965960" y="4937760"/>
            <a:ext cx="3694176" cy="502920"/>
          </a:xfrm>
          <a:prstGeom prst="rect">
            <a:avLst/>
          </a:prstGeom>
          <a:noFill/>
          <a:ln/>
        </p:spPr>
        <p:txBody>
          <a:bodyPr wrap="square" lIns="0" tIns="0" rIns="0" bIns="0" rtlCol="0" anchor="ctr"/>
          <a:lstStyle/>
          <a:p>
            <a:pPr indent="0" marL="0">
              <a:buNone/>
            </a:pPr>
            <a:r>
              <a:rPr lang="en-US" sz="1250" dirty="0">
                <a:solidFill>
                  <a:srgbClr val="22205D"/>
                </a:solidFill>
                <a:latin typeface="Arial" pitchFamily="34" charset="0"/>
                <a:ea typeface="Arial" pitchFamily="34" charset="-122"/>
                <a:cs typeface="Arial" pitchFamily="34" charset="-120"/>
              </a:rPr>
              <a:t>Mobbin for Rafay if his client projects reach 4–5</a:t>
            </a:r>
            <a:endParaRPr lang="en-US" sz="1250" dirty="0"/>
          </a:p>
        </p:txBody>
      </p:sp>
      <p:sp>
        <p:nvSpPr>
          <p:cNvPr id="19" name="Shape 17"/>
          <p:cNvSpPr/>
          <p:nvPr/>
        </p:nvSpPr>
        <p:spPr>
          <a:xfrm>
            <a:off x="6254496" y="1143000"/>
            <a:ext cx="5385816" cy="4526280"/>
          </a:xfrm>
          <a:prstGeom prst="roundRect">
            <a:avLst>
              <a:gd name="adj" fmla="val 1616"/>
            </a:avLst>
          </a:prstGeom>
          <a:solidFill>
            <a:srgbClr val="F4F6FB"/>
          </a:solidFill>
          <a:ln w="9525">
            <a:solidFill>
              <a:srgbClr val="E6E6E6"/>
            </a:solidFill>
            <a:prstDash val="solid"/>
          </a:ln>
        </p:spPr>
      </p:sp>
      <p:sp>
        <p:nvSpPr>
          <p:cNvPr id="20" name="Shape 18"/>
          <p:cNvSpPr/>
          <p:nvPr/>
        </p:nvSpPr>
        <p:spPr>
          <a:xfrm>
            <a:off x="6528816" y="1371600"/>
            <a:ext cx="1737360" cy="365760"/>
          </a:xfrm>
          <a:prstGeom prst="roundRect">
            <a:avLst>
              <a:gd name="adj" fmla="val 17500"/>
            </a:avLst>
          </a:prstGeom>
          <a:solidFill>
            <a:srgbClr val="0061F6"/>
          </a:solidFill>
          <a:ln w="12700">
            <a:solidFill>
              <a:srgbClr val="0061F6"/>
            </a:solidFill>
            <a:prstDash val="solid"/>
          </a:ln>
        </p:spPr>
      </p:sp>
      <p:sp>
        <p:nvSpPr>
          <p:cNvPr id="21" name="Text 19"/>
          <p:cNvSpPr txBox="1"/>
          <p:nvPr/>
        </p:nvSpPr>
        <p:spPr>
          <a:xfrm>
            <a:off x="6528816" y="1371600"/>
            <a:ext cx="17373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Q3 · Jan–Mar</a:t>
            </a:r>
            <a:endParaRPr lang="en-US" sz="1100" dirty="0"/>
          </a:p>
        </p:txBody>
      </p:sp>
      <p:sp>
        <p:nvSpPr>
          <p:cNvPr id="22" name="Text 20"/>
          <p:cNvSpPr txBox="1"/>
          <p:nvPr/>
        </p:nvSpPr>
        <p:spPr>
          <a:xfrm>
            <a:off x="8449056" y="1371600"/>
            <a:ext cx="2916936" cy="365760"/>
          </a:xfrm>
          <a:prstGeom prst="rect">
            <a:avLst/>
          </a:prstGeom>
          <a:noFill/>
          <a:ln/>
        </p:spPr>
        <p:txBody>
          <a:bodyPr wrap="square" lIns="0" tIns="0" rIns="0" bIns="0" rtlCol="0" anchor="ctr"/>
          <a:lstStyle/>
          <a:p>
            <a:pPr indent="0" marL="0">
              <a:buNone/>
            </a:pPr>
            <a:r>
              <a:rPr lang="en-US" sz="1700" b="1" dirty="0">
                <a:solidFill>
                  <a:srgbClr val="0061F6"/>
                </a:solidFill>
                <a:latin typeface="Arial" pitchFamily="34" charset="0"/>
                <a:ea typeface="Arial" pitchFamily="34" charset="-122"/>
                <a:cs typeface="Arial" pitchFamily="34" charset="-120"/>
              </a:rPr>
              <a:t>Evaluate and decide</a:t>
            </a:r>
            <a:endParaRPr lang="en-US" sz="1700" dirty="0"/>
          </a:p>
        </p:txBody>
      </p:sp>
      <p:sp>
        <p:nvSpPr>
          <p:cNvPr id="23" name="Text 21"/>
          <p:cNvSpPr txBox="1"/>
          <p:nvPr/>
        </p:nvSpPr>
        <p:spPr>
          <a:xfrm>
            <a:off x="6528816" y="1965960"/>
            <a:ext cx="1097280" cy="502920"/>
          </a:xfrm>
          <a:prstGeom prst="rect">
            <a:avLst/>
          </a:prstGeom>
          <a:noFill/>
          <a:ln/>
        </p:spPr>
        <p:txBody>
          <a:bodyPr wrap="square" lIns="0" tIns="0" rIns="0" bIns="0" rtlCol="0" anchor="ctr"/>
          <a:lstStyle/>
          <a:p>
            <a:pPr indent="0" marL="0">
              <a:buNone/>
            </a:pPr>
            <a:r>
              <a:rPr lang="en-US" sz="1100" b="1" dirty="0">
                <a:solidFill>
                  <a:srgbClr val="0098D8"/>
                </a:solidFill>
                <a:latin typeface="Arial" pitchFamily="34" charset="0"/>
                <a:ea typeface="Arial" pitchFamily="34" charset="-122"/>
                <a:cs typeface="Arial" pitchFamily="34" charset="-120"/>
              </a:rPr>
              <a:t>Mid-Jan</a:t>
            </a:r>
            <a:endParaRPr lang="en-US" sz="1100" dirty="0"/>
          </a:p>
        </p:txBody>
      </p:sp>
      <p:sp>
        <p:nvSpPr>
          <p:cNvPr id="24" name="Text 22"/>
          <p:cNvSpPr txBox="1"/>
          <p:nvPr/>
        </p:nvSpPr>
        <p:spPr>
          <a:xfrm>
            <a:off x="7671816" y="1965960"/>
            <a:ext cx="3694176" cy="502920"/>
          </a:xfrm>
          <a:prstGeom prst="rect">
            <a:avLst/>
          </a:prstGeom>
          <a:noFill/>
          <a:ln/>
        </p:spPr>
        <p:txBody>
          <a:bodyPr wrap="square" lIns="0" tIns="0" rIns="0" bIns="0" rtlCol="0" anchor="ctr"/>
          <a:lstStyle/>
          <a:p>
            <a:pPr indent="0" marL="0">
              <a:buNone/>
            </a:pPr>
            <a:r>
              <a:rPr lang="en-US" sz="1250" dirty="0">
                <a:solidFill>
                  <a:srgbClr val="22205D"/>
                </a:solidFill>
                <a:latin typeface="Arial" pitchFamily="34" charset="0"/>
                <a:ea typeface="Arial" pitchFamily="34" charset="-122"/>
                <a:cs typeface="Arial" pitchFamily="34" charset="-120"/>
              </a:rPr>
              <a:t>Review 3 months of tool data: completions and enquiries</a:t>
            </a:r>
            <a:endParaRPr lang="en-US" sz="1250" dirty="0"/>
          </a:p>
        </p:txBody>
      </p:sp>
      <p:sp>
        <p:nvSpPr>
          <p:cNvPr id="25" name="Text 23"/>
          <p:cNvSpPr txBox="1"/>
          <p:nvPr/>
        </p:nvSpPr>
        <p:spPr>
          <a:xfrm>
            <a:off x="6528816" y="2560320"/>
            <a:ext cx="1097280" cy="502920"/>
          </a:xfrm>
          <a:prstGeom prst="rect">
            <a:avLst/>
          </a:prstGeom>
          <a:noFill/>
          <a:ln/>
        </p:spPr>
        <p:txBody>
          <a:bodyPr wrap="square" lIns="0" tIns="0" rIns="0" bIns="0" rtlCol="0" anchor="ctr"/>
          <a:lstStyle/>
          <a:p>
            <a:pPr indent="0" marL="0">
              <a:buNone/>
            </a:pPr>
            <a:r>
              <a:rPr lang="en-US" sz="1100" b="1" dirty="0">
                <a:solidFill>
                  <a:srgbClr val="0098D8"/>
                </a:solidFill>
                <a:latin typeface="Arial" pitchFamily="34" charset="0"/>
                <a:ea typeface="Arial" pitchFamily="34" charset="-122"/>
                <a:cs typeface="Arial" pitchFamily="34" charset="-120"/>
              </a:rPr>
              <a:t>Jan</a:t>
            </a:r>
            <a:endParaRPr lang="en-US" sz="1100" dirty="0"/>
          </a:p>
        </p:txBody>
      </p:sp>
      <p:sp>
        <p:nvSpPr>
          <p:cNvPr id="26" name="Text 24"/>
          <p:cNvSpPr txBox="1"/>
          <p:nvPr/>
        </p:nvSpPr>
        <p:spPr>
          <a:xfrm>
            <a:off x="7671816" y="2560320"/>
            <a:ext cx="3694176" cy="502920"/>
          </a:xfrm>
          <a:prstGeom prst="rect">
            <a:avLst/>
          </a:prstGeom>
          <a:noFill/>
          <a:ln/>
        </p:spPr>
        <p:txBody>
          <a:bodyPr wrap="square" lIns="0" tIns="0" rIns="0" bIns="0" rtlCol="0" anchor="ctr"/>
          <a:lstStyle/>
          <a:p>
            <a:pPr indent="0" marL="0">
              <a:buNone/>
            </a:pPr>
            <a:r>
              <a:rPr lang="en-US" sz="1250" dirty="0">
                <a:solidFill>
                  <a:srgbClr val="22205D"/>
                </a:solidFill>
                <a:latin typeface="Arial" pitchFamily="34" charset="0"/>
                <a:ea typeface="Arial" pitchFamily="34" charset="-122"/>
                <a:cs typeface="Arial" pitchFamily="34" charset="-120"/>
              </a:rPr>
              <a:t>Review ad results: keep, scale or stop</a:t>
            </a:r>
            <a:endParaRPr lang="en-US" sz="1250" dirty="0"/>
          </a:p>
        </p:txBody>
      </p:sp>
      <p:sp>
        <p:nvSpPr>
          <p:cNvPr id="27" name="Text 25"/>
          <p:cNvSpPr txBox="1"/>
          <p:nvPr/>
        </p:nvSpPr>
        <p:spPr>
          <a:xfrm>
            <a:off x="6528816" y="3154680"/>
            <a:ext cx="1097280" cy="502920"/>
          </a:xfrm>
          <a:prstGeom prst="rect">
            <a:avLst/>
          </a:prstGeom>
          <a:noFill/>
          <a:ln/>
        </p:spPr>
        <p:txBody>
          <a:bodyPr wrap="square" lIns="0" tIns="0" rIns="0" bIns="0" rtlCol="0" anchor="ctr"/>
          <a:lstStyle/>
          <a:p>
            <a:pPr indent="0" marL="0">
              <a:buNone/>
            </a:pPr>
            <a:r>
              <a:rPr lang="en-US" sz="1100" b="1" dirty="0">
                <a:solidFill>
                  <a:srgbClr val="0098D8"/>
                </a:solidFill>
                <a:latin typeface="Arial" pitchFamily="34" charset="0"/>
                <a:ea typeface="Arial" pitchFamily="34" charset="-122"/>
                <a:cs typeface="Arial" pitchFamily="34" charset="-120"/>
              </a:rPr>
              <a:t>Feb</a:t>
            </a:r>
            <a:endParaRPr lang="en-US" sz="1100" dirty="0"/>
          </a:p>
        </p:txBody>
      </p:sp>
      <p:sp>
        <p:nvSpPr>
          <p:cNvPr id="28" name="Text 26"/>
          <p:cNvSpPr txBox="1"/>
          <p:nvPr/>
        </p:nvSpPr>
        <p:spPr>
          <a:xfrm>
            <a:off x="7671816" y="3154680"/>
            <a:ext cx="3694176" cy="502920"/>
          </a:xfrm>
          <a:prstGeom prst="rect">
            <a:avLst/>
          </a:prstGeom>
          <a:noFill/>
          <a:ln/>
        </p:spPr>
        <p:txBody>
          <a:bodyPr wrap="square" lIns="0" tIns="0" rIns="0" bIns="0" rtlCol="0" anchor="ctr"/>
          <a:lstStyle/>
          <a:p>
            <a:pPr indent="0" marL="0">
              <a:buNone/>
            </a:pPr>
            <a:r>
              <a:rPr lang="en-US" sz="1250" dirty="0">
                <a:solidFill>
                  <a:srgbClr val="22205D"/>
                </a:solidFill>
                <a:latin typeface="Arial" pitchFamily="34" charset="0"/>
                <a:ea typeface="Arial" pitchFamily="34" charset="-122"/>
                <a:cs typeface="Arial" pitchFamily="34" charset="-120"/>
              </a:rPr>
              <a:t>Review events: which ones led to meetings</a:t>
            </a:r>
            <a:endParaRPr lang="en-US" sz="1250" dirty="0"/>
          </a:p>
        </p:txBody>
      </p:sp>
      <p:sp>
        <p:nvSpPr>
          <p:cNvPr id="29" name="Text 27"/>
          <p:cNvSpPr txBox="1"/>
          <p:nvPr/>
        </p:nvSpPr>
        <p:spPr>
          <a:xfrm>
            <a:off x="6528816" y="3749040"/>
            <a:ext cx="1097280" cy="502920"/>
          </a:xfrm>
          <a:prstGeom prst="rect">
            <a:avLst/>
          </a:prstGeom>
          <a:noFill/>
          <a:ln/>
        </p:spPr>
        <p:txBody>
          <a:bodyPr wrap="square" lIns="0" tIns="0" rIns="0" bIns="0" rtlCol="0" anchor="ctr"/>
          <a:lstStyle/>
          <a:p>
            <a:pPr indent="0" marL="0">
              <a:buNone/>
            </a:pPr>
            <a:r>
              <a:rPr lang="en-US" sz="1100" b="1" dirty="0">
                <a:solidFill>
                  <a:srgbClr val="0098D8"/>
                </a:solidFill>
                <a:latin typeface="Arial" pitchFamily="34" charset="0"/>
                <a:ea typeface="Arial" pitchFamily="34" charset="-122"/>
                <a:cs typeface="Arial" pitchFamily="34" charset="-120"/>
              </a:rPr>
              <a:t>Feb</a:t>
            </a:r>
            <a:endParaRPr lang="en-US" sz="1100" dirty="0"/>
          </a:p>
        </p:txBody>
      </p:sp>
      <p:sp>
        <p:nvSpPr>
          <p:cNvPr id="30" name="Text 28"/>
          <p:cNvSpPr txBox="1"/>
          <p:nvPr/>
        </p:nvSpPr>
        <p:spPr>
          <a:xfrm>
            <a:off x="7671816" y="3749040"/>
            <a:ext cx="3694176" cy="502920"/>
          </a:xfrm>
          <a:prstGeom prst="rect">
            <a:avLst/>
          </a:prstGeom>
          <a:noFill/>
          <a:ln/>
        </p:spPr>
        <p:txBody>
          <a:bodyPr wrap="square" lIns="0" tIns="0" rIns="0" bIns="0" rtlCol="0" anchor="ctr"/>
          <a:lstStyle/>
          <a:p>
            <a:pPr indent="0" marL="0">
              <a:buNone/>
            </a:pPr>
            <a:r>
              <a:rPr lang="en-US" sz="1250" dirty="0">
                <a:solidFill>
                  <a:srgbClr val="22205D"/>
                </a:solidFill>
                <a:latin typeface="Arial" pitchFamily="34" charset="0"/>
                <a:ea typeface="Arial" pitchFamily="34" charset="-122"/>
                <a:cs typeface="Arial" pitchFamily="34" charset="-120"/>
              </a:rPr>
              <a:t>New case studies, including Kayali / Huda Beauty</a:t>
            </a:r>
            <a:endParaRPr lang="en-US" sz="1250" dirty="0"/>
          </a:p>
        </p:txBody>
      </p:sp>
      <p:sp>
        <p:nvSpPr>
          <p:cNvPr id="31" name="Text 29"/>
          <p:cNvSpPr txBox="1"/>
          <p:nvPr/>
        </p:nvSpPr>
        <p:spPr>
          <a:xfrm>
            <a:off x="6528816" y="4343400"/>
            <a:ext cx="1097280" cy="502920"/>
          </a:xfrm>
          <a:prstGeom prst="rect">
            <a:avLst/>
          </a:prstGeom>
          <a:noFill/>
          <a:ln/>
        </p:spPr>
        <p:txBody>
          <a:bodyPr wrap="square" lIns="0" tIns="0" rIns="0" bIns="0" rtlCol="0" anchor="ctr"/>
          <a:lstStyle/>
          <a:p>
            <a:pPr indent="0" marL="0">
              <a:buNone/>
            </a:pPr>
            <a:r>
              <a:rPr lang="en-US" sz="1100" b="1" dirty="0">
                <a:solidFill>
                  <a:srgbClr val="0098D8"/>
                </a:solidFill>
                <a:latin typeface="Arial" pitchFamily="34" charset="0"/>
                <a:ea typeface="Arial" pitchFamily="34" charset="-122"/>
                <a:cs typeface="Arial" pitchFamily="34" charset="-120"/>
              </a:rPr>
              <a:t>Mar</a:t>
            </a:r>
            <a:endParaRPr lang="en-US" sz="1100" dirty="0"/>
          </a:p>
        </p:txBody>
      </p:sp>
      <p:sp>
        <p:nvSpPr>
          <p:cNvPr id="32" name="Text 30"/>
          <p:cNvSpPr txBox="1"/>
          <p:nvPr/>
        </p:nvSpPr>
        <p:spPr>
          <a:xfrm>
            <a:off x="7671816" y="4343400"/>
            <a:ext cx="3694176" cy="502920"/>
          </a:xfrm>
          <a:prstGeom prst="rect">
            <a:avLst/>
          </a:prstGeom>
          <a:noFill/>
          <a:ln/>
        </p:spPr>
        <p:txBody>
          <a:bodyPr wrap="square" lIns="0" tIns="0" rIns="0" bIns="0" rtlCol="0" anchor="ctr"/>
          <a:lstStyle/>
          <a:p>
            <a:pPr indent="0" marL="0">
              <a:buNone/>
            </a:pPr>
            <a:r>
              <a:rPr lang="en-US" sz="1250" dirty="0">
                <a:solidFill>
                  <a:srgbClr val="22205D"/>
                </a:solidFill>
                <a:latin typeface="Arial" pitchFamily="34" charset="0"/>
                <a:ea typeface="Arial" pitchFamily="34" charset="-122"/>
                <a:cs typeface="Arial" pitchFamily="34" charset="-120"/>
              </a:rPr>
              <a:t>Book Q4 events (LEAP in April, GISEC in May)</a:t>
            </a:r>
            <a:endParaRPr lang="en-US" sz="1250" dirty="0"/>
          </a:p>
        </p:txBody>
      </p:sp>
      <p:sp>
        <p:nvSpPr>
          <p:cNvPr id="33" name="Text 31"/>
          <p:cNvSpPr txBox="1"/>
          <p:nvPr/>
        </p:nvSpPr>
        <p:spPr>
          <a:xfrm>
            <a:off x="6528816" y="4937760"/>
            <a:ext cx="1097280" cy="502920"/>
          </a:xfrm>
          <a:prstGeom prst="rect">
            <a:avLst/>
          </a:prstGeom>
          <a:noFill/>
          <a:ln/>
        </p:spPr>
        <p:txBody>
          <a:bodyPr wrap="square" lIns="0" tIns="0" rIns="0" bIns="0" rtlCol="0" anchor="ctr"/>
          <a:lstStyle/>
          <a:p>
            <a:pPr indent="0" marL="0">
              <a:buNone/>
            </a:pPr>
            <a:r>
              <a:rPr lang="en-US" sz="1100" b="1" dirty="0">
                <a:solidFill>
                  <a:srgbClr val="0098D8"/>
                </a:solidFill>
                <a:latin typeface="Arial" pitchFamily="34" charset="0"/>
                <a:ea typeface="Arial" pitchFamily="34" charset="-122"/>
                <a:cs typeface="Arial" pitchFamily="34" charset="-120"/>
              </a:rPr>
              <a:t>Mar</a:t>
            </a:r>
            <a:endParaRPr lang="en-US" sz="1100" dirty="0"/>
          </a:p>
        </p:txBody>
      </p:sp>
      <p:sp>
        <p:nvSpPr>
          <p:cNvPr id="34" name="Text 32"/>
          <p:cNvSpPr txBox="1"/>
          <p:nvPr/>
        </p:nvSpPr>
        <p:spPr>
          <a:xfrm>
            <a:off x="7671816" y="4937760"/>
            <a:ext cx="3694176" cy="502920"/>
          </a:xfrm>
          <a:prstGeom prst="rect">
            <a:avLst/>
          </a:prstGeom>
          <a:noFill/>
          <a:ln/>
        </p:spPr>
        <p:txBody>
          <a:bodyPr wrap="square" lIns="0" tIns="0" rIns="0" bIns="0" rtlCol="0" anchor="ctr"/>
          <a:lstStyle/>
          <a:p>
            <a:pPr indent="0" marL="0">
              <a:buNone/>
            </a:pPr>
            <a:r>
              <a:rPr lang="en-US" sz="1250" dirty="0">
                <a:solidFill>
                  <a:srgbClr val="22205D"/>
                </a:solidFill>
                <a:latin typeface="Arial" pitchFamily="34" charset="0"/>
                <a:ea typeface="Arial" pitchFamily="34" charset="-122"/>
                <a:cs typeface="Arial" pitchFamily="34" charset="-120"/>
              </a:rPr>
              <a:t>Q3 review and Q4 plan</a:t>
            </a:r>
            <a:endParaRPr lang="en-US" sz="1250" dirty="0"/>
          </a:p>
        </p:txBody>
      </p:sp>
      <p:sp>
        <p:nvSpPr>
          <p:cNvPr id="35" name="Text 33"/>
          <p:cNvSpPr txBox="1"/>
          <p:nvPr/>
        </p:nvSpPr>
        <p:spPr>
          <a:xfrm>
            <a:off x="548640" y="5852160"/>
            <a:ext cx="11091672" cy="548640"/>
          </a:xfrm>
          <a:prstGeom prst="rect">
            <a:avLst/>
          </a:prstGeom>
          <a:noFill/>
          <a:ln/>
        </p:spPr>
        <p:txBody>
          <a:bodyPr wrap="square" lIns="0" tIns="0" rIns="0" bIns="0" rtlCol="0" anchor="ctr"/>
          <a:lstStyle/>
          <a:p>
            <a:pPr indent="0" marL="0">
              <a:buNone/>
            </a:pPr>
            <a:r>
              <a:rPr lang="en-US" sz="1300" b="1" dirty="0">
                <a:solidFill>
                  <a:srgbClr val="22205D"/>
                </a:solidFill>
                <a:latin typeface="Arial" pitchFamily="34" charset="0"/>
                <a:ea typeface="Arial" pitchFamily="34" charset="-122"/>
                <a:cs typeface="Arial" pitchFamily="34" charset="-120"/>
              </a:rPr>
              <a:t>Both quarters: LinkedIn 3 times a week with real faces, case studies and motion content. Technical content with Irfan.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B"/>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594360"/>
          </a:xfrm>
          <a:prstGeom prst="rect">
            <a:avLst/>
          </a:prstGeom>
          <a:noFill/>
          <a:ln/>
        </p:spPr>
        <p:txBody>
          <a:bodyPr wrap="square" lIns="0" tIns="0" rIns="0" bIns="0" rtlCol="0" anchor="ctr"/>
          <a:lstStyle/>
          <a:p>
            <a:pPr indent="0" marL="0">
              <a:buNone/>
            </a:pPr>
            <a:r>
              <a:rPr lang="en-US" sz="2800" b="1" dirty="0">
                <a:solidFill>
                  <a:srgbClr val="22205D"/>
                </a:solidFill>
                <a:latin typeface="Arial" pitchFamily="34" charset="0"/>
                <a:ea typeface="Arial" pitchFamily="34" charset="-122"/>
                <a:cs typeface="Arial" pitchFamily="34" charset="-120"/>
              </a:rPr>
              <a:t>Events for sales: Q2–Q3 shortlist</a:t>
            </a:r>
            <a:endParaRPr lang="en-US" sz="2800" dirty="0"/>
          </a:p>
        </p:txBody>
      </p:sp>
      <p:sp>
        <p:nvSpPr>
          <p:cNvPr id="3" name="Text 1"/>
          <p:cNvSpPr txBox="1"/>
          <p:nvPr/>
        </p:nvSpPr>
        <p:spPr>
          <a:xfrm>
            <a:off x="548640" y="896112"/>
            <a:ext cx="11091672" cy="320040"/>
          </a:xfrm>
          <a:prstGeom prst="rect">
            <a:avLst/>
          </a:prstGeom>
          <a:noFill/>
          <a:ln/>
        </p:spPr>
        <p:txBody>
          <a:bodyPr wrap="square" lIns="0" tIns="0" rIns="0" bIns="0" rtlCol="0" anchor="ctr"/>
          <a:lstStyle/>
          <a:p>
            <a:pPr indent="0" marL="0">
              <a:buNone/>
            </a:pPr>
            <a:r>
              <a:rPr lang="en-US" sz="1300" dirty="0">
                <a:solidFill>
                  <a:srgbClr val="5A5A7A"/>
                </a:solidFill>
                <a:latin typeface="Arial" pitchFamily="34" charset="0"/>
                <a:ea typeface="Arial" pitchFamily="34" charset="-122"/>
                <a:cs typeface="Arial" pitchFamily="34" charset="-120"/>
              </a:rPr>
              <a:t>Data, AI and security events. Marketing supplies the deck, one-pagers and case studies for each</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286000"/>
                <a:gridCol w="2011680"/>
                <a:gridCol w="1645920"/>
                <a:gridCol w="1828800"/>
                <a:gridCol w="3319272"/>
              </a:tblGrid>
              <a:tr h="512064">
                <a:tc>
                  <a:txBody>
                    <a:bodyPr/>
                    <a:lstStyle/>
                    <a:p>
                      <a:pPr indent="0" marL="0">
                        <a:buNone/>
                      </a:pPr>
                      <a:r>
                        <a:rPr lang="en-US" sz="1200" b="1" dirty="0">
                          <a:solidFill>
                            <a:srgbClr val="FFFFFF"/>
                          </a:solidFill>
                          <a:latin typeface="Arial" pitchFamily="34" charset="0"/>
                          <a:ea typeface="Arial" pitchFamily="34" charset="-122"/>
                          <a:cs typeface="Arial" pitchFamily="34" charset="-120"/>
                        </a:rPr>
                        <a:t>Event</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22205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When</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22205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Where</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22205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Focus</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22205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Why</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22205D"/>
                    </a:solidFill>
                  </a:tcPr>
                </a:tc>
              </a:tr>
              <a:tr h="512064">
                <a:tc>
                  <a:txBody>
                    <a:bodyPr/>
                    <a:lstStyle/>
                    <a:p>
                      <a:pPr indent="0" marL="0">
                        <a:buNone/>
                      </a:pPr>
                      <a:r>
                        <a:rPr lang="en-US" sz="1200" b="1" dirty="0">
                          <a:solidFill>
                            <a:srgbClr val="22205D"/>
                          </a:solidFill>
                          <a:latin typeface="Arial" pitchFamily="34" charset="0"/>
                          <a:ea typeface="Arial" pitchFamily="34" charset="-122"/>
                          <a:cs typeface="Arial" pitchFamily="34" charset="-120"/>
                        </a:rPr>
                        <a:t>AI Expo Africa</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Oct 28–29</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Johannesburg</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Enterprise AI</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Supports our South Africa presence</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22205D"/>
                          </a:solidFill>
                          <a:latin typeface="Arial" pitchFamily="34" charset="0"/>
                          <a:ea typeface="Arial" pitchFamily="34" charset="-122"/>
                          <a:cs typeface="Arial" pitchFamily="34" charset="-120"/>
                        </a:rPr>
                        <a:t>Securetech Pakistan</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Nov (dates to confirm)</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Islamabad</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Security</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NEPRA and AI security buyers</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22205D"/>
                          </a:solidFill>
                          <a:latin typeface="Arial" pitchFamily="34" charset="0"/>
                          <a:ea typeface="Arial" pitchFamily="34" charset="-122"/>
                          <a:cs typeface="Arial" pitchFamily="34" charset="-120"/>
                        </a:rPr>
                        <a:t>Black Hat MEA</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Dec 1–3</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Riyadh</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Security</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Top regional security event</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22205D"/>
                          </a:solidFill>
                          <a:latin typeface="Arial" pitchFamily="34" charset="0"/>
                          <a:ea typeface="Arial" pitchFamily="34" charset="-122"/>
                          <a:cs typeface="Arial" pitchFamily="34" charset="-120"/>
                        </a:rPr>
                        <a:t>GITEX Global</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Dec 7–11</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Dubai</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AI, data, security</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Biggest tech show in the region</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22205D"/>
                          </a:solidFill>
                          <a:latin typeface="Arial" pitchFamily="34" charset="0"/>
                          <a:ea typeface="Arial" pitchFamily="34" charset="-122"/>
                          <a:cs typeface="Arial" pitchFamily="34" charset="-120"/>
                        </a:rPr>
                        <a:t>Indus AI Week</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Feb (to confirm)</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Pakistan</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AI</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National AI week, first held Feb 2026</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22205D"/>
                          </a:solidFill>
                          <a:latin typeface="Arial" pitchFamily="34" charset="0"/>
                          <a:ea typeface="Arial" pitchFamily="34" charset="-122"/>
                          <a:cs typeface="Arial" pitchFamily="34" charset="-120"/>
                        </a:rPr>
                        <a:t>LEAP</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F0F6"/>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Apr 12–15, 2027</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F0F6"/>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Riyadh</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F0F6"/>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AI, tech</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F0F6"/>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Decide in Q3</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F0F6"/>
                    </a:solidFill>
                  </a:tcPr>
                </a:tc>
              </a:tr>
              <a:tr h="512064">
                <a:tc>
                  <a:txBody>
                    <a:bodyPr/>
                    <a:lstStyle/>
                    <a:p>
                      <a:pPr indent="0" marL="0">
                        <a:buNone/>
                      </a:pPr>
                      <a:r>
                        <a:rPr lang="en-US" sz="1200" b="1" dirty="0">
                          <a:solidFill>
                            <a:srgbClr val="22205D"/>
                          </a:solidFill>
                          <a:latin typeface="Arial" pitchFamily="34" charset="0"/>
                          <a:ea typeface="Arial" pitchFamily="34" charset="-122"/>
                          <a:cs typeface="Arial" pitchFamily="34" charset="-120"/>
                        </a:rPr>
                        <a:t>GISEC Global</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F0F6"/>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May 4–6, 2027</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F0F6"/>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Dubai</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F0F6"/>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Cybersecurity</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F0F6"/>
                    </a:solidFill>
                  </a:tcPr>
                </a:tc>
                <a:tc>
                  <a:txBody>
                    <a:bodyPr/>
                    <a:lstStyle/>
                    <a:p>
                      <a:pPr indent="0" marL="0">
                        <a:buNone/>
                      </a:pPr>
                      <a:r>
                        <a:rPr lang="en-US" sz="1200" dirty="0">
                          <a:solidFill>
                            <a:srgbClr val="22205D"/>
                          </a:solidFill>
                          <a:latin typeface="Arial" pitchFamily="34" charset="0"/>
                          <a:ea typeface="Arial" pitchFamily="34" charset="-122"/>
                          <a:cs typeface="Arial" pitchFamily="34" charset="-120"/>
                        </a:rPr>
                        <a:t>Decide in Q3</a:t>
                      </a:r>
                      <a:endParaRPr lang="en-US" sz="1200" dirty="0">
                        <a:latin typeface="Arial" charset="0"/>
                        <a:ea typeface="Arial" charset="0"/>
                        <a:cs typeface="Arial" charset="0"/>
                      </a:endParaRPr>
                    </a:p>
                  </a:txBody>
                  <a:tcPr marL="109728" marR="109728" marT="0" marB="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F0F6"/>
                    </a:solidFill>
                  </a:tcPr>
                </a:tc>
              </a:tr>
            </a:tbl>
          </a:graphicData>
        </a:graphic>
      </p:graphicFrame>
      <p:sp>
        <p:nvSpPr>
          <p:cNvPr id="5" name="Text 2"/>
          <p:cNvSpPr txBox="1"/>
          <p:nvPr/>
        </p:nvSpPr>
        <p:spPr>
          <a:xfrm>
            <a:off x="548640" y="5715000"/>
            <a:ext cx="11091672" cy="457200"/>
          </a:xfrm>
          <a:prstGeom prst="rect">
            <a:avLst/>
          </a:prstGeom>
          <a:noFill/>
          <a:ln/>
        </p:spPr>
        <p:txBody>
          <a:bodyPr wrap="square" lIns="0" tIns="0" rIns="0" bIns="0" rtlCol="0" anchor="ctr"/>
          <a:lstStyle/>
          <a:p>
            <a:pPr indent="0" marL="0">
              <a:buNone/>
            </a:pPr>
            <a:r>
              <a:rPr lang="en-US" sz="1300" b="1" dirty="0">
                <a:solidFill>
                  <a:srgbClr val="22205D"/>
                </a:solidFill>
                <a:latin typeface="Arial" pitchFamily="34" charset="0"/>
                <a:ea typeface="Arial" pitchFamily="34" charset="-122"/>
                <a:cs typeface="Arial" pitchFamily="34" charset="-120"/>
              </a:rPr>
              <a:t>Suggested: visit GITEX and Black Hat MEA with sales. Visiting costs far less than a stand.</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594360"/>
          </a:xfrm>
          <a:prstGeom prst="rect">
            <a:avLst/>
          </a:prstGeom>
          <a:noFill/>
          <a:ln/>
        </p:spPr>
        <p:txBody>
          <a:bodyPr wrap="square" lIns="0" tIns="0" rIns="0" bIns="0" rtlCol="0" anchor="ctr"/>
          <a:lstStyle/>
          <a:p>
            <a:pPr indent="0" marL="0">
              <a:buNone/>
            </a:pPr>
            <a:r>
              <a:rPr lang="en-US" sz="2800" b="1" dirty="0">
                <a:solidFill>
                  <a:srgbClr val="22205D"/>
                </a:solidFill>
                <a:latin typeface="Arial" pitchFamily="34" charset="0"/>
                <a:ea typeface="Arial" pitchFamily="34" charset="-122"/>
                <a:cs typeface="Arial" pitchFamily="34" charset="-120"/>
              </a:rPr>
              <a:t>How we work, and what we need</a:t>
            </a:r>
            <a:endParaRPr lang="en-US" sz="2800" dirty="0"/>
          </a:p>
        </p:txBody>
      </p:sp>
      <p:sp>
        <p:nvSpPr>
          <p:cNvPr id="3" name="Shape 1"/>
          <p:cNvSpPr/>
          <p:nvPr/>
        </p:nvSpPr>
        <p:spPr>
          <a:xfrm>
            <a:off x="548640" y="1143000"/>
            <a:ext cx="5760720" cy="640080"/>
          </a:xfrm>
          <a:prstGeom prst="roundRect">
            <a:avLst>
              <a:gd name="adj" fmla="val 11429"/>
            </a:avLst>
          </a:prstGeom>
          <a:solidFill>
            <a:srgbClr val="FFFFFF"/>
          </a:solidFill>
          <a:ln w="9525">
            <a:solidFill>
              <a:srgbClr val="E6E6E6"/>
            </a:solidFill>
            <a:prstDash val="solid"/>
          </a:ln>
        </p:spPr>
      </p:sp>
      <p:sp>
        <p:nvSpPr>
          <p:cNvPr id="4" name="Shape 2"/>
          <p:cNvSpPr/>
          <p:nvPr/>
        </p:nvSpPr>
        <p:spPr>
          <a:xfrm>
            <a:off x="731520" y="1280160"/>
            <a:ext cx="365760" cy="365760"/>
          </a:xfrm>
          <a:prstGeom prst="ellipse">
            <a:avLst/>
          </a:prstGeom>
          <a:solidFill>
            <a:srgbClr val="22205D"/>
          </a:solidFill>
          <a:ln w="12700">
            <a:solidFill>
              <a:srgbClr val="22205D"/>
            </a:solidFill>
            <a:prstDash val="solid"/>
          </a:ln>
        </p:spPr>
      </p:sp>
      <p:sp>
        <p:nvSpPr>
          <p:cNvPr id="5" name="Text 3"/>
          <p:cNvSpPr txBox="1"/>
          <p:nvPr/>
        </p:nvSpPr>
        <p:spPr>
          <a:xfrm>
            <a:off x="1234440" y="1188720"/>
            <a:ext cx="2103120" cy="292608"/>
          </a:xfrm>
          <a:prstGeom prst="rect">
            <a:avLst/>
          </a:prstGeom>
          <a:noFill/>
          <a:ln/>
        </p:spPr>
        <p:txBody>
          <a:bodyPr wrap="square" lIns="0" tIns="0" rIns="0" bIns="0" rtlCol="0" anchor="ctr"/>
          <a:lstStyle/>
          <a:p>
            <a:pPr indent="0" marL="0">
              <a:buNone/>
            </a:pPr>
            <a:r>
              <a:rPr lang="en-US" sz="1300" b="1" dirty="0">
                <a:solidFill>
                  <a:srgbClr val="22205D"/>
                </a:solidFill>
                <a:latin typeface="Arial" pitchFamily="34" charset="0"/>
                <a:ea typeface="Arial" pitchFamily="34" charset="-122"/>
                <a:cs typeface="Arial" pitchFamily="34" charset="-120"/>
              </a:rPr>
              <a:t>Sana</a:t>
            </a:r>
            <a:endParaRPr lang="en-US" sz="1300" dirty="0"/>
          </a:p>
        </p:txBody>
      </p:sp>
      <p:sp>
        <p:nvSpPr>
          <p:cNvPr id="6" name="Text 4"/>
          <p:cNvSpPr txBox="1"/>
          <p:nvPr/>
        </p:nvSpPr>
        <p:spPr>
          <a:xfrm>
            <a:off x="1234440" y="1472184"/>
            <a:ext cx="2194560" cy="256032"/>
          </a:xfrm>
          <a:prstGeom prst="rect">
            <a:avLst/>
          </a:prstGeom>
          <a:noFill/>
          <a:ln/>
        </p:spPr>
        <p:txBody>
          <a:bodyPr wrap="square" lIns="0" tIns="0" rIns="0" bIns="0" rtlCol="0" anchor="ctr"/>
          <a:lstStyle/>
          <a:p>
            <a:pPr indent="0" marL="0">
              <a:buNone/>
            </a:pPr>
            <a:r>
              <a:rPr lang="en-US" sz="1000" dirty="0">
                <a:solidFill>
                  <a:srgbClr val="5A5A7A"/>
                </a:solidFill>
                <a:latin typeface="Arial" pitchFamily="34" charset="0"/>
                <a:ea typeface="Arial" pitchFamily="34" charset="-122"/>
                <a:cs typeface="Arial" pitchFamily="34" charset="-120"/>
              </a:rPr>
              <a:t>2–3 hours a day, mornings</a:t>
            </a:r>
            <a:endParaRPr lang="en-US" sz="1000" dirty="0"/>
          </a:p>
        </p:txBody>
      </p:sp>
      <p:sp>
        <p:nvSpPr>
          <p:cNvPr id="7" name="Text 5"/>
          <p:cNvSpPr txBox="1"/>
          <p:nvPr/>
        </p:nvSpPr>
        <p:spPr>
          <a:xfrm>
            <a:off x="3474720" y="1188720"/>
            <a:ext cx="2697480" cy="548640"/>
          </a:xfrm>
          <a:prstGeom prst="rect">
            <a:avLst/>
          </a:prstGeom>
          <a:noFill/>
          <a:ln/>
        </p:spPr>
        <p:txBody>
          <a:bodyPr wrap="square" lIns="0" tIns="0" rIns="0" bIns="0" rtlCol="0" anchor="ctr"/>
          <a:lstStyle/>
          <a:p>
            <a:pPr indent="0" marL="0">
              <a:buNone/>
            </a:pPr>
            <a:r>
              <a:rPr lang="en-US" sz="1100" dirty="0">
                <a:solidFill>
                  <a:srgbClr val="22205D"/>
                </a:solidFill>
                <a:latin typeface="Arial" pitchFamily="34" charset="0"/>
                <a:ea typeface="Arial" pitchFamily="34" charset="-122"/>
                <a:cs typeface="Arial" pitchFamily="34" charset="-120"/>
              </a:rPr>
              <a:t>Strategy, content, reviews, reporting</a:t>
            </a:r>
            <a:endParaRPr lang="en-US" sz="1100" dirty="0"/>
          </a:p>
        </p:txBody>
      </p:sp>
      <p:sp>
        <p:nvSpPr>
          <p:cNvPr id="8" name="Shape 6"/>
          <p:cNvSpPr/>
          <p:nvPr/>
        </p:nvSpPr>
        <p:spPr>
          <a:xfrm>
            <a:off x="548640" y="1892808"/>
            <a:ext cx="5760720" cy="640080"/>
          </a:xfrm>
          <a:prstGeom prst="roundRect">
            <a:avLst>
              <a:gd name="adj" fmla="val 11429"/>
            </a:avLst>
          </a:prstGeom>
          <a:solidFill>
            <a:srgbClr val="FFFFFF"/>
          </a:solidFill>
          <a:ln w="9525">
            <a:solidFill>
              <a:srgbClr val="E6E6E6"/>
            </a:solidFill>
            <a:prstDash val="solid"/>
          </a:ln>
        </p:spPr>
      </p:sp>
      <p:sp>
        <p:nvSpPr>
          <p:cNvPr id="9" name="Shape 7"/>
          <p:cNvSpPr/>
          <p:nvPr/>
        </p:nvSpPr>
        <p:spPr>
          <a:xfrm>
            <a:off x="731520" y="2029968"/>
            <a:ext cx="365760" cy="365760"/>
          </a:xfrm>
          <a:prstGeom prst="ellipse">
            <a:avLst/>
          </a:prstGeom>
          <a:solidFill>
            <a:srgbClr val="0061F6"/>
          </a:solidFill>
          <a:ln w="12700">
            <a:solidFill>
              <a:srgbClr val="0061F6"/>
            </a:solidFill>
            <a:prstDash val="solid"/>
          </a:ln>
        </p:spPr>
      </p:sp>
      <p:sp>
        <p:nvSpPr>
          <p:cNvPr id="10" name="Text 8"/>
          <p:cNvSpPr txBox="1"/>
          <p:nvPr/>
        </p:nvSpPr>
        <p:spPr>
          <a:xfrm>
            <a:off x="1234440" y="1938528"/>
            <a:ext cx="2103120" cy="292608"/>
          </a:xfrm>
          <a:prstGeom prst="rect">
            <a:avLst/>
          </a:prstGeom>
          <a:noFill/>
          <a:ln/>
        </p:spPr>
        <p:txBody>
          <a:bodyPr wrap="square" lIns="0" tIns="0" rIns="0" bIns="0" rtlCol="0" anchor="ctr"/>
          <a:lstStyle/>
          <a:p>
            <a:pPr indent="0" marL="0">
              <a:buNone/>
            </a:pPr>
            <a:r>
              <a:rPr lang="en-US" sz="1300" b="1" dirty="0">
                <a:solidFill>
                  <a:srgbClr val="22205D"/>
                </a:solidFill>
                <a:latin typeface="Arial" pitchFamily="34" charset="0"/>
                <a:ea typeface="Arial" pitchFamily="34" charset="-122"/>
                <a:cs typeface="Arial" pitchFamily="34" charset="-120"/>
              </a:rPr>
              <a:t>Omais</a:t>
            </a:r>
            <a:endParaRPr lang="en-US" sz="1300" dirty="0"/>
          </a:p>
        </p:txBody>
      </p:sp>
      <p:sp>
        <p:nvSpPr>
          <p:cNvPr id="11" name="Text 9"/>
          <p:cNvSpPr txBox="1"/>
          <p:nvPr/>
        </p:nvSpPr>
        <p:spPr>
          <a:xfrm>
            <a:off x="1234440" y="2221992"/>
            <a:ext cx="2194560" cy="256032"/>
          </a:xfrm>
          <a:prstGeom prst="rect">
            <a:avLst/>
          </a:prstGeom>
          <a:noFill/>
          <a:ln/>
        </p:spPr>
        <p:txBody>
          <a:bodyPr wrap="square" lIns="0" tIns="0" rIns="0" bIns="0" rtlCol="0" anchor="ctr"/>
          <a:lstStyle/>
          <a:p>
            <a:pPr indent="0" marL="0">
              <a:buNone/>
            </a:pPr>
            <a:r>
              <a:rPr lang="en-US" sz="1000" dirty="0">
                <a:solidFill>
                  <a:srgbClr val="5A5A7A"/>
                </a:solidFill>
                <a:latin typeface="Arial" pitchFamily="34" charset="0"/>
                <a:ea typeface="Arial" pitchFamily="34" charset="-122"/>
                <a:cs typeface="Arial" pitchFamily="34" charset="-120"/>
              </a:rPr>
              <a:t>Contact directly for design</a:t>
            </a:r>
            <a:endParaRPr lang="en-US" sz="1000" dirty="0"/>
          </a:p>
        </p:txBody>
      </p:sp>
      <p:sp>
        <p:nvSpPr>
          <p:cNvPr id="12" name="Text 10"/>
          <p:cNvSpPr txBox="1"/>
          <p:nvPr/>
        </p:nvSpPr>
        <p:spPr>
          <a:xfrm>
            <a:off x="3474720" y="1938528"/>
            <a:ext cx="2697480" cy="548640"/>
          </a:xfrm>
          <a:prstGeom prst="rect">
            <a:avLst/>
          </a:prstGeom>
          <a:noFill/>
          <a:ln/>
        </p:spPr>
        <p:txBody>
          <a:bodyPr wrap="square" lIns="0" tIns="0" rIns="0" bIns="0" rtlCol="0" anchor="ctr"/>
          <a:lstStyle/>
          <a:p>
            <a:pPr indent="0" marL="0">
              <a:buNone/>
            </a:pPr>
            <a:r>
              <a:rPr lang="en-US" sz="1100" dirty="0">
                <a:solidFill>
                  <a:srgbClr val="22205D"/>
                </a:solidFill>
                <a:latin typeface="Arial" pitchFamily="34" charset="0"/>
                <a:ea typeface="Arial" pitchFamily="34" charset="-122"/>
                <a:cs typeface="Arial" pitchFamily="34" charset="-120"/>
              </a:rPr>
              <a:t>Design, video, social creative</a:t>
            </a:r>
            <a:endParaRPr lang="en-US" sz="1100" dirty="0"/>
          </a:p>
        </p:txBody>
      </p:sp>
      <p:sp>
        <p:nvSpPr>
          <p:cNvPr id="13" name="Shape 11"/>
          <p:cNvSpPr/>
          <p:nvPr/>
        </p:nvSpPr>
        <p:spPr>
          <a:xfrm>
            <a:off x="548640" y="2642616"/>
            <a:ext cx="5760720" cy="640080"/>
          </a:xfrm>
          <a:prstGeom prst="roundRect">
            <a:avLst>
              <a:gd name="adj" fmla="val 11429"/>
            </a:avLst>
          </a:prstGeom>
          <a:solidFill>
            <a:srgbClr val="FFFFFF"/>
          </a:solidFill>
          <a:ln w="9525">
            <a:solidFill>
              <a:srgbClr val="E6E6E6"/>
            </a:solidFill>
            <a:prstDash val="solid"/>
          </a:ln>
        </p:spPr>
      </p:sp>
      <p:sp>
        <p:nvSpPr>
          <p:cNvPr id="14" name="Shape 12"/>
          <p:cNvSpPr/>
          <p:nvPr/>
        </p:nvSpPr>
        <p:spPr>
          <a:xfrm>
            <a:off x="731520" y="2779776"/>
            <a:ext cx="365760" cy="365760"/>
          </a:xfrm>
          <a:prstGeom prst="ellipse">
            <a:avLst/>
          </a:prstGeom>
          <a:solidFill>
            <a:srgbClr val="0098D8"/>
          </a:solidFill>
          <a:ln w="12700">
            <a:solidFill>
              <a:srgbClr val="0098D8"/>
            </a:solidFill>
            <a:prstDash val="solid"/>
          </a:ln>
        </p:spPr>
      </p:sp>
      <p:sp>
        <p:nvSpPr>
          <p:cNvPr id="15" name="Text 13"/>
          <p:cNvSpPr txBox="1"/>
          <p:nvPr/>
        </p:nvSpPr>
        <p:spPr>
          <a:xfrm>
            <a:off x="1234440" y="2688336"/>
            <a:ext cx="2103120" cy="292608"/>
          </a:xfrm>
          <a:prstGeom prst="rect">
            <a:avLst/>
          </a:prstGeom>
          <a:noFill/>
          <a:ln/>
        </p:spPr>
        <p:txBody>
          <a:bodyPr wrap="square" lIns="0" tIns="0" rIns="0" bIns="0" rtlCol="0" anchor="ctr"/>
          <a:lstStyle/>
          <a:p>
            <a:pPr indent="0" marL="0">
              <a:buNone/>
            </a:pPr>
            <a:r>
              <a:rPr lang="en-US" sz="1300" b="1" dirty="0">
                <a:solidFill>
                  <a:srgbClr val="22205D"/>
                </a:solidFill>
                <a:latin typeface="Arial" pitchFamily="34" charset="0"/>
                <a:ea typeface="Arial" pitchFamily="34" charset="-122"/>
                <a:cs typeface="Arial" pitchFamily="34" charset="-120"/>
              </a:rPr>
              <a:t>Rafay</a:t>
            </a:r>
            <a:endParaRPr lang="en-US" sz="1300" dirty="0"/>
          </a:p>
        </p:txBody>
      </p:sp>
      <p:sp>
        <p:nvSpPr>
          <p:cNvPr id="16" name="Text 14"/>
          <p:cNvSpPr txBox="1"/>
          <p:nvPr/>
        </p:nvSpPr>
        <p:spPr>
          <a:xfrm>
            <a:off x="1234440" y="2971800"/>
            <a:ext cx="2194560" cy="256032"/>
          </a:xfrm>
          <a:prstGeom prst="rect">
            <a:avLst/>
          </a:prstGeom>
          <a:noFill/>
          <a:ln/>
        </p:spPr>
        <p:txBody>
          <a:bodyPr wrap="square" lIns="0" tIns="0" rIns="0" bIns="0" rtlCol="0" anchor="ctr"/>
          <a:lstStyle/>
          <a:p>
            <a:pPr indent="0" marL="0">
              <a:buNone/>
            </a:pPr>
            <a:r>
              <a:rPr lang="en-US" sz="1000" dirty="0">
                <a:solidFill>
                  <a:srgbClr val="5A5A7A"/>
                </a:solidFill>
                <a:latin typeface="Arial" pitchFamily="34" charset="0"/>
                <a:ea typeface="Arial" pitchFamily="34" charset="-122"/>
                <a:cs typeface="Arial" pitchFamily="34" charset="-120"/>
              </a:rPr>
              <a:t>Contact directly for UI/UX</a:t>
            </a:r>
            <a:endParaRPr lang="en-US" sz="1000" dirty="0"/>
          </a:p>
        </p:txBody>
      </p:sp>
      <p:sp>
        <p:nvSpPr>
          <p:cNvPr id="17" name="Text 15"/>
          <p:cNvSpPr txBox="1"/>
          <p:nvPr/>
        </p:nvSpPr>
        <p:spPr>
          <a:xfrm>
            <a:off x="3474720" y="2688336"/>
            <a:ext cx="2697480" cy="548640"/>
          </a:xfrm>
          <a:prstGeom prst="rect">
            <a:avLst/>
          </a:prstGeom>
          <a:noFill/>
          <a:ln/>
        </p:spPr>
        <p:txBody>
          <a:bodyPr wrap="square" lIns="0" tIns="0" rIns="0" bIns="0" rtlCol="0" anchor="ctr"/>
          <a:lstStyle/>
          <a:p>
            <a:pPr indent="0" marL="0">
              <a:buNone/>
            </a:pPr>
            <a:r>
              <a:rPr lang="en-US" sz="1100" dirty="0">
                <a:solidFill>
                  <a:srgbClr val="22205D"/>
                </a:solidFill>
                <a:latin typeface="Arial" pitchFamily="34" charset="0"/>
                <a:ea typeface="Arial" pitchFamily="34" charset="-122"/>
                <a:cs typeface="Arial" pitchFamily="34" charset="-120"/>
              </a:rPr>
              <a:t>Website and tools. On 2 client projects</a:t>
            </a:r>
            <a:endParaRPr lang="en-US" sz="1100" dirty="0"/>
          </a:p>
        </p:txBody>
      </p:sp>
      <p:sp>
        <p:nvSpPr>
          <p:cNvPr id="18" name="Shape 16"/>
          <p:cNvSpPr/>
          <p:nvPr/>
        </p:nvSpPr>
        <p:spPr>
          <a:xfrm>
            <a:off x="548640" y="3392424"/>
            <a:ext cx="5760720" cy="640080"/>
          </a:xfrm>
          <a:prstGeom prst="roundRect">
            <a:avLst>
              <a:gd name="adj" fmla="val 11429"/>
            </a:avLst>
          </a:prstGeom>
          <a:solidFill>
            <a:srgbClr val="FFFFFF"/>
          </a:solidFill>
          <a:ln w="9525">
            <a:solidFill>
              <a:srgbClr val="E6E6E6"/>
            </a:solidFill>
            <a:prstDash val="solid"/>
          </a:ln>
        </p:spPr>
      </p:sp>
      <p:sp>
        <p:nvSpPr>
          <p:cNvPr id="19" name="Shape 17"/>
          <p:cNvSpPr/>
          <p:nvPr/>
        </p:nvSpPr>
        <p:spPr>
          <a:xfrm>
            <a:off x="731520" y="3529584"/>
            <a:ext cx="365760" cy="365760"/>
          </a:xfrm>
          <a:prstGeom prst="ellipse">
            <a:avLst/>
          </a:prstGeom>
          <a:solidFill>
            <a:srgbClr val="5CC3AE"/>
          </a:solidFill>
          <a:ln w="12700">
            <a:solidFill>
              <a:srgbClr val="5CC3AE"/>
            </a:solidFill>
            <a:prstDash val="solid"/>
          </a:ln>
        </p:spPr>
      </p:sp>
      <p:sp>
        <p:nvSpPr>
          <p:cNvPr id="20" name="Text 18"/>
          <p:cNvSpPr txBox="1"/>
          <p:nvPr/>
        </p:nvSpPr>
        <p:spPr>
          <a:xfrm>
            <a:off x="1234440" y="3438144"/>
            <a:ext cx="2103120" cy="292608"/>
          </a:xfrm>
          <a:prstGeom prst="rect">
            <a:avLst/>
          </a:prstGeom>
          <a:noFill/>
          <a:ln/>
        </p:spPr>
        <p:txBody>
          <a:bodyPr wrap="square" lIns="0" tIns="0" rIns="0" bIns="0" rtlCol="0" anchor="ctr"/>
          <a:lstStyle/>
          <a:p>
            <a:pPr indent="0" marL="0">
              <a:buNone/>
            </a:pPr>
            <a:r>
              <a:rPr lang="en-US" sz="1300" b="1" dirty="0">
                <a:solidFill>
                  <a:srgbClr val="22205D"/>
                </a:solidFill>
                <a:latin typeface="Arial" pitchFamily="34" charset="0"/>
                <a:ea typeface="Arial" pitchFamily="34" charset="-122"/>
                <a:cs typeface="Arial" pitchFamily="34" charset="-120"/>
              </a:rPr>
              <a:t>Irfan</a:t>
            </a:r>
            <a:endParaRPr lang="en-US" sz="1300" dirty="0"/>
          </a:p>
        </p:txBody>
      </p:sp>
      <p:sp>
        <p:nvSpPr>
          <p:cNvPr id="21" name="Text 19"/>
          <p:cNvSpPr txBox="1"/>
          <p:nvPr/>
        </p:nvSpPr>
        <p:spPr>
          <a:xfrm>
            <a:off x="1234440" y="3721608"/>
            <a:ext cx="2194560" cy="256032"/>
          </a:xfrm>
          <a:prstGeom prst="rect">
            <a:avLst/>
          </a:prstGeom>
          <a:noFill/>
          <a:ln/>
        </p:spPr>
        <p:txBody>
          <a:bodyPr wrap="square" lIns="0" tIns="0" rIns="0" bIns="0" rtlCol="0" anchor="ctr"/>
          <a:lstStyle/>
          <a:p>
            <a:pPr indent="0" marL="0">
              <a:buNone/>
            </a:pPr>
            <a:r>
              <a:rPr lang="en-US" sz="1000" dirty="0">
                <a:solidFill>
                  <a:srgbClr val="5A5A7A"/>
                </a:solidFill>
                <a:latin typeface="Arial" pitchFamily="34" charset="0"/>
                <a:ea typeface="Arial" pitchFamily="34" charset="-122"/>
                <a:cs typeface="Arial" pitchFamily="34" charset="-120"/>
              </a:rPr>
              <a:t>Technical content</a:t>
            </a:r>
            <a:endParaRPr lang="en-US" sz="1000" dirty="0"/>
          </a:p>
        </p:txBody>
      </p:sp>
      <p:sp>
        <p:nvSpPr>
          <p:cNvPr id="22" name="Text 20"/>
          <p:cNvSpPr txBox="1"/>
          <p:nvPr/>
        </p:nvSpPr>
        <p:spPr>
          <a:xfrm>
            <a:off x="3474720" y="3438144"/>
            <a:ext cx="2697480" cy="548640"/>
          </a:xfrm>
          <a:prstGeom prst="rect">
            <a:avLst/>
          </a:prstGeom>
          <a:noFill/>
          <a:ln/>
        </p:spPr>
        <p:txBody>
          <a:bodyPr wrap="square" lIns="0" tIns="0" rIns="0" bIns="0" rtlCol="0" anchor="ctr"/>
          <a:lstStyle/>
          <a:p>
            <a:pPr indent="0" marL="0">
              <a:buNone/>
            </a:pPr>
            <a:r>
              <a:rPr lang="en-US" sz="1100" dirty="0">
                <a:solidFill>
                  <a:srgbClr val="22205D"/>
                </a:solidFill>
                <a:latin typeface="Arial" pitchFamily="34" charset="0"/>
                <a:ea typeface="Arial" pitchFamily="34" charset="-122"/>
                <a:cs typeface="Arial" pitchFamily="34" charset="-120"/>
              </a:rPr>
              <a:t>Articles and technical accuracy</a:t>
            </a:r>
            <a:endParaRPr lang="en-US" sz="1100" dirty="0"/>
          </a:p>
        </p:txBody>
      </p:sp>
      <p:sp>
        <p:nvSpPr>
          <p:cNvPr id="23" name="Shape 21"/>
          <p:cNvSpPr/>
          <p:nvPr/>
        </p:nvSpPr>
        <p:spPr>
          <a:xfrm>
            <a:off x="548640" y="4142232"/>
            <a:ext cx="5760720" cy="640080"/>
          </a:xfrm>
          <a:prstGeom prst="roundRect">
            <a:avLst>
              <a:gd name="adj" fmla="val 11429"/>
            </a:avLst>
          </a:prstGeom>
          <a:solidFill>
            <a:srgbClr val="FFFFFF"/>
          </a:solidFill>
          <a:ln w="9525">
            <a:solidFill>
              <a:srgbClr val="E6E6E6"/>
            </a:solidFill>
            <a:prstDash val="solid"/>
          </a:ln>
        </p:spPr>
      </p:sp>
      <p:sp>
        <p:nvSpPr>
          <p:cNvPr id="24" name="Shape 22"/>
          <p:cNvSpPr/>
          <p:nvPr/>
        </p:nvSpPr>
        <p:spPr>
          <a:xfrm>
            <a:off x="731520" y="4279392"/>
            <a:ext cx="365760" cy="365760"/>
          </a:xfrm>
          <a:prstGeom prst="ellipse">
            <a:avLst/>
          </a:prstGeom>
          <a:solidFill>
            <a:srgbClr val="5A5A7A"/>
          </a:solidFill>
          <a:ln w="12700">
            <a:solidFill>
              <a:srgbClr val="5A5A7A"/>
            </a:solidFill>
            <a:prstDash val="solid"/>
          </a:ln>
        </p:spPr>
      </p:sp>
      <p:sp>
        <p:nvSpPr>
          <p:cNvPr id="25" name="Text 23"/>
          <p:cNvSpPr txBox="1"/>
          <p:nvPr/>
        </p:nvSpPr>
        <p:spPr>
          <a:xfrm>
            <a:off x="1234440" y="4187952"/>
            <a:ext cx="2103120" cy="292608"/>
          </a:xfrm>
          <a:prstGeom prst="rect">
            <a:avLst/>
          </a:prstGeom>
          <a:noFill/>
          <a:ln/>
        </p:spPr>
        <p:txBody>
          <a:bodyPr wrap="square" lIns="0" tIns="0" rIns="0" bIns="0" rtlCol="0" anchor="ctr"/>
          <a:lstStyle/>
          <a:p>
            <a:pPr indent="0" marL="0">
              <a:buNone/>
            </a:pPr>
            <a:r>
              <a:rPr lang="en-US" sz="1300" b="1" dirty="0">
                <a:solidFill>
                  <a:srgbClr val="22205D"/>
                </a:solidFill>
                <a:latin typeface="Arial" pitchFamily="34" charset="0"/>
                <a:ea typeface="Arial" pitchFamily="34" charset="-122"/>
                <a:cs typeface="Arial" pitchFamily="34" charset="-120"/>
              </a:rPr>
              <a:t>Production devs</a:t>
            </a:r>
            <a:endParaRPr lang="en-US" sz="1300" dirty="0"/>
          </a:p>
        </p:txBody>
      </p:sp>
      <p:sp>
        <p:nvSpPr>
          <p:cNvPr id="26" name="Text 24"/>
          <p:cNvSpPr txBox="1"/>
          <p:nvPr/>
        </p:nvSpPr>
        <p:spPr>
          <a:xfrm>
            <a:off x="1234440" y="4471416"/>
            <a:ext cx="2194560" cy="256032"/>
          </a:xfrm>
          <a:prstGeom prst="rect">
            <a:avLst/>
          </a:prstGeom>
          <a:noFill/>
          <a:ln/>
        </p:spPr>
        <p:txBody>
          <a:bodyPr wrap="square" lIns="0" tIns="0" rIns="0" bIns="0" rtlCol="0" anchor="ctr"/>
          <a:lstStyle/>
          <a:p>
            <a:pPr indent="0" marL="0">
              <a:buNone/>
            </a:pPr>
            <a:r>
              <a:rPr lang="en-US" sz="1000" dirty="0">
                <a:solidFill>
                  <a:srgbClr val="5A5A7A"/>
                </a:solidFill>
                <a:latin typeface="Arial" pitchFamily="34" charset="0"/>
                <a:ea typeface="Arial" pitchFamily="34" charset="-122"/>
                <a:cs typeface="Arial" pitchFamily="34" charset="-120"/>
              </a:rPr>
              <a:t>Website build</a:t>
            </a:r>
            <a:endParaRPr lang="en-US" sz="1000" dirty="0"/>
          </a:p>
        </p:txBody>
      </p:sp>
      <p:sp>
        <p:nvSpPr>
          <p:cNvPr id="27" name="Text 25"/>
          <p:cNvSpPr txBox="1"/>
          <p:nvPr/>
        </p:nvSpPr>
        <p:spPr>
          <a:xfrm>
            <a:off x="3474720" y="4187952"/>
            <a:ext cx="2697480" cy="548640"/>
          </a:xfrm>
          <a:prstGeom prst="rect">
            <a:avLst/>
          </a:prstGeom>
          <a:noFill/>
          <a:ln/>
        </p:spPr>
        <p:txBody>
          <a:bodyPr wrap="square" lIns="0" tIns="0" rIns="0" bIns="0" rtlCol="0" anchor="ctr"/>
          <a:lstStyle/>
          <a:p>
            <a:pPr indent="0" marL="0">
              <a:buNone/>
            </a:pPr>
            <a:r>
              <a:rPr lang="en-US" sz="1100" dirty="0">
                <a:solidFill>
                  <a:srgbClr val="22205D"/>
                </a:solidFill>
                <a:latin typeface="Arial" pitchFamily="34" charset="0"/>
                <a:ea typeface="Arial" pitchFamily="34" charset="-122"/>
                <a:cs typeface="Arial" pitchFamily="34" charset="-120"/>
              </a:rPr>
              <a:t>Releases and fixes</a:t>
            </a:r>
            <a:endParaRPr lang="en-US" sz="1100" dirty="0"/>
          </a:p>
        </p:txBody>
      </p:sp>
      <p:sp>
        <p:nvSpPr>
          <p:cNvPr id="28" name="Shape 26"/>
          <p:cNvSpPr/>
          <p:nvPr/>
        </p:nvSpPr>
        <p:spPr>
          <a:xfrm>
            <a:off x="548640" y="4983480"/>
            <a:ext cx="5760720" cy="1325880"/>
          </a:xfrm>
          <a:prstGeom prst="roundRect">
            <a:avLst>
              <a:gd name="adj" fmla="val 5517"/>
            </a:avLst>
          </a:prstGeom>
          <a:solidFill>
            <a:srgbClr val="F4F6FB"/>
          </a:solidFill>
          <a:ln w="9525">
            <a:solidFill>
              <a:srgbClr val="E6E6E6"/>
            </a:solidFill>
            <a:prstDash val="solid"/>
          </a:ln>
        </p:spPr>
      </p:sp>
      <p:sp>
        <p:nvSpPr>
          <p:cNvPr id="29" name="Text 27"/>
          <p:cNvSpPr txBox="1"/>
          <p:nvPr/>
        </p:nvSpPr>
        <p:spPr>
          <a:xfrm>
            <a:off x="777240" y="5074920"/>
            <a:ext cx="5303520" cy="320040"/>
          </a:xfrm>
          <a:prstGeom prst="rect">
            <a:avLst/>
          </a:prstGeom>
          <a:noFill/>
          <a:ln/>
        </p:spPr>
        <p:txBody>
          <a:bodyPr wrap="square" lIns="0" tIns="0" rIns="0" bIns="0" rtlCol="0" anchor="ctr"/>
          <a:lstStyle/>
          <a:p>
            <a:pPr indent="0" marL="0">
              <a:buNone/>
            </a:pPr>
            <a:r>
              <a:rPr lang="en-US" sz="1300" b="1" dirty="0">
                <a:solidFill>
                  <a:srgbClr val="0061F6"/>
                </a:solidFill>
                <a:latin typeface="Arial" pitchFamily="34" charset="0"/>
                <a:ea typeface="Arial" pitchFamily="34" charset="-122"/>
                <a:cs typeface="Arial" pitchFamily="34" charset="-120"/>
              </a:rPr>
              <a:t>Lead times</a:t>
            </a:r>
            <a:endParaRPr lang="en-US" sz="1300" dirty="0"/>
          </a:p>
        </p:txBody>
      </p:sp>
      <p:sp>
        <p:nvSpPr>
          <p:cNvPr id="30" name="Text 28"/>
          <p:cNvSpPr txBox="1"/>
          <p:nvPr/>
        </p:nvSpPr>
        <p:spPr>
          <a:xfrm>
            <a:off x="777240" y="5413248"/>
            <a:ext cx="5303520" cy="8686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22205D"/>
                </a:solidFill>
                <a:latin typeface="Arial" pitchFamily="34" charset="0"/>
                <a:ea typeface="Arial" pitchFamily="34" charset="-122"/>
                <a:cs typeface="Arial" pitchFamily="34" charset="-120"/>
              </a:rPr>
              <a:t>A good design needs at least 2 working days of focused time</a:t>
            </a:r>
            <a:endParaRPr lang="en-US" sz="1150" dirty="0"/>
          </a:p>
          <a:p>
            <a:pPr marL="342900" indent="-342900">
              <a:spcAft>
                <a:spcPts val="300"/>
              </a:spcAft>
              <a:buSzPct val="100000"/>
              <a:buChar char="•"/>
            </a:pPr>
            <a:r>
              <a:rPr lang="en-US" sz="1150" dirty="0">
                <a:solidFill>
                  <a:srgbClr val="22205D"/>
                </a:solidFill>
                <a:latin typeface="Arial" pitchFamily="34" charset="0"/>
                <a:ea typeface="Arial" pitchFamily="34" charset="-122"/>
                <a:cs typeface="Arial" pitchFamily="34" charset="-120"/>
              </a:rPr>
              <a:t>Content requests: 2 working days' notice</a:t>
            </a:r>
            <a:endParaRPr lang="en-US" sz="1150" dirty="0"/>
          </a:p>
          <a:p>
            <a:pPr marL="342900" indent="-342900">
              <a:spcAft>
                <a:spcPts val="300"/>
              </a:spcAft>
              <a:buSzPct val="100000"/>
              <a:buChar char="•"/>
            </a:pPr>
            <a:r>
              <a:rPr lang="en-US" sz="1150" dirty="0">
                <a:solidFill>
                  <a:srgbClr val="22205D"/>
                </a:solidFill>
                <a:latin typeface="Arial" pitchFamily="34" charset="0"/>
                <a:ea typeface="Arial" pitchFamily="34" charset="-122"/>
                <a:cs typeface="Arial" pitchFamily="34" charset="-120"/>
              </a:rPr>
              <a:t>Same-day requests need a day-to-day marketing resource</a:t>
            </a:r>
            <a:endParaRPr lang="en-US" sz="1150" dirty="0"/>
          </a:p>
        </p:txBody>
      </p:sp>
      <p:sp>
        <p:nvSpPr>
          <p:cNvPr id="31" name="Shape 29"/>
          <p:cNvSpPr/>
          <p:nvPr/>
        </p:nvSpPr>
        <p:spPr>
          <a:xfrm>
            <a:off x="6675120" y="1143000"/>
            <a:ext cx="4965192" cy="5166360"/>
          </a:xfrm>
          <a:prstGeom prst="roundRect">
            <a:avLst>
              <a:gd name="adj" fmla="val 1473"/>
            </a:avLst>
          </a:prstGeom>
          <a:solidFill>
            <a:srgbClr val="22205D"/>
          </a:solidFill>
          <a:ln w="12700">
            <a:solidFill>
              <a:srgbClr val="22205D"/>
            </a:solidFill>
            <a:prstDash val="solid"/>
          </a:ln>
        </p:spPr>
      </p:sp>
      <p:sp>
        <p:nvSpPr>
          <p:cNvPr id="32" name="Text 30"/>
          <p:cNvSpPr txBox="1"/>
          <p:nvPr/>
        </p:nvSpPr>
        <p:spPr>
          <a:xfrm>
            <a:off x="6995160" y="1325880"/>
            <a:ext cx="4325112"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Decisions needed today</a:t>
            </a:r>
            <a:endParaRPr lang="en-US" sz="2000" dirty="0"/>
          </a:p>
        </p:txBody>
      </p:sp>
      <p:sp>
        <p:nvSpPr>
          <p:cNvPr id="33" name="Shape 31"/>
          <p:cNvSpPr/>
          <p:nvPr/>
        </p:nvSpPr>
        <p:spPr>
          <a:xfrm>
            <a:off x="6995160" y="2057400"/>
            <a:ext cx="365760" cy="365760"/>
          </a:xfrm>
          <a:prstGeom prst="ellipse">
            <a:avLst/>
          </a:prstGeom>
          <a:solidFill>
            <a:srgbClr val="5CC3AE"/>
          </a:solidFill>
          <a:ln w="12700">
            <a:solidFill>
              <a:srgbClr val="5CC3AE"/>
            </a:solidFill>
            <a:prstDash val="solid"/>
          </a:ln>
        </p:spPr>
      </p:sp>
      <p:sp>
        <p:nvSpPr>
          <p:cNvPr id="34" name="Text 32"/>
          <p:cNvSpPr txBox="1"/>
          <p:nvPr/>
        </p:nvSpPr>
        <p:spPr>
          <a:xfrm>
            <a:off x="6995160" y="2057400"/>
            <a:ext cx="365760" cy="365760"/>
          </a:xfrm>
          <a:prstGeom prst="rect">
            <a:avLst/>
          </a:prstGeom>
          <a:noFill/>
          <a:ln/>
        </p:spPr>
        <p:txBody>
          <a:bodyPr wrap="square" lIns="0" tIns="0" rIns="0" bIns="0" rtlCol="0" anchor="ctr"/>
          <a:lstStyle/>
          <a:p>
            <a:pPr algn="ctr" indent="0" marL="0">
              <a:buNone/>
            </a:pPr>
            <a:r>
              <a:rPr lang="en-US" sz="1300" b="1" dirty="0">
                <a:solidFill>
                  <a:srgbClr val="22205D"/>
                </a:solidFill>
                <a:latin typeface="Arial" pitchFamily="34" charset="0"/>
                <a:ea typeface="Arial" pitchFamily="34" charset="-122"/>
                <a:cs typeface="Arial" pitchFamily="34" charset="-120"/>
              </a:rPr>
              <a:t>1</a:t>
            </a:r>
            <a:endParaRPr lang="en-US" sz="1300" dirty="0"/>
          </a:p>
        </p:txBody>
      </p:sp>
      <p:sp>
        <p:nvSpPr>
          <p:cNvPr id="35" name="Text 33"/>
          <p:cNvSpPr txBox="1"/>
          <p:nvPr/>
        </p:nvSpPr>
        <p:spPr>
          <a:xfrm>
            <a:off x="7543800" y="1965960"/>
            <a:ext cx="3822192" cy="59436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Approve the HR brand video</a:t>
            </a:r>
            <a:endParaRPr lang="en-US" sz="1400" dirty="0"/>
          </a:p>
        </p:txBody>
      </p:sp>
      <p:sp>
        <p:nvSpPr>
          <p:cNvPr id="36" name="Shape 34"/>
          <p:cNvSpPr/>
          <p:nvPr/>
        </p:nvSpPr>
        <p:spPr>
          <a:xfrm>
            <a:off x="6995160" y="2880360"/>
            <a:ext cx="365760" cy="365760"/>
          </a:xfrm>
          <a:prstGeom prst="ellipse">
            <a:avLst/>
          </a:prstGeom>
          <a:solidFill>
            <a:srgbClr val="5CC3AE"/>
          </a:solidFill>
          <a:ln w="12700">
            <a:solidFill>
              <a:srgbClr val="5CC3AE"/>
            </a:solidFill>
            <a:prstDash val="solid"/>
          </a:ln>
        </p:spPr>
      </p:sp>
      <p:sp>
        <p:nvSpPr>
          <p:cNvPr id="37" name="Text 35"/>
          <p:cNvSpPr txBox="1"/>
          <p:nvPr/>
        </p:nvSpPr>
        <p:spPr>
          <a:xfrm>
            <a:off x="6995160" y="2880360"/>
            <a:ext cx="365760" cy="365760"/>
          </a:xfrm>
          <a:prstGeom prst="rect">
            <a:avLst/>
          </a:prstGeom>
          <a:noFill/>
          <a:ln/>
        </p:spPr>
        <p:txBody>
          <a:bodyPr wrap="square" lIns="0" tIns="0" rIns="0" bIns="0" rtlCol="0" anchor="ctr"/>
          <a:lstStyle/>
          <a:p>
            <a:pPr algn="ctr" indent="0" marL="0">
              <a:buNone/>
            </a:pPr>
            <a:r>
              <a:rPr lang="en-US" sz="1300" b="1" dirty="0">
                <a:solidFill>
                  <a:srgbClr val="22205D"/>
                </a:solidFill>
                <a:latin typeface="Arial" pitchFamily="34" charset="0"/>
                <a:ea typeface="Arial" pitchFamily="34" charset="-122"/>
                <a:cs typeface="Arial" pitchFamily="34" charset="-120"/>
              </a:rPr>
              <a:t>2</a:t>
            </a:r>
            <a:endParaRPr lang="en-US" sz="1300" dirty="0"/>
          </a:p>
        </p:txBody>
      </p:sp>
      <p:sp>
        <p:nvSpPr>
          <p:cNvPr id="38" name="Text 36"/>
          <p:cNvSpPr txBox="1"/>
          <p:nvPr/>
        </p:nvSpPr>
        <p:spPr>
          <a:xfrm>
            <a:off x="7543800" y="2788920"/>
            <a:ext cx="3822192" cy="59436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Approve a services ad budget: $300–600 a month for 3 months</a:t>
            </a:r>
            <a:endParaRPr lang="en-US" sz="1400" dirty="0"/>
          </a:p>
        </p:txBody>
      </p:sp>
      <p:sp>
        <p:nvSpPr>
          <p:cNvPr id="39" name="Shape 37"/>
          <p:cNvSpPr/>
          <p:nvPr/>
        </p:nvSpPr>
        <p:spPr>
          <a:xfrm>
            <a:off x="6995160" y="3703320"/>
            <a:ext cx="365760" cy="365760"/>
          </a:xfrm>
          <a:prstGeom prst="ellipse">
            <a:avLst/>
          </a:prstGeom>
          <a:solidFill>
            <a:srgbClr val="5CC3AE"/>
          </a:solidFill>
          <a:ln w="12700">
            <a:solidFill>
              <a:srgbClr val="5CC3AE"/>
            </a:solidFill>
            <a:prstDash val="solid"/>
          </a:ln>
        </p:spPr>
      </p:sp>
      <p:sp>
        <p:nvSpPr>
          <p:cNvPr id="40" name="Text 38"/>
          <p:cNvSpPr txBox="1"/>
          <p:nvPr/>
        </p:nvSpPr>
        <p:spPr>
          <a:xfrm>
            <a:off x="6995160" y="3703320"/>
            <a:ext cx="365760" cy="365760"/>
          </a:xfrm>
          <a:prstGeom prst="rect">
            <a:avLst/>
          </a:prstGeom>
          <a:noFill/>
          <a:ln/>
        </p:spPr>
        <p:txBody>
          <a:bodyPr wrap="square" lIns="0" tIns="0" rIns="0" bIns="0" rtlCol="0" anchor="ctr"/>
          <a:lstStyle/>
          <a:p>
            <a:pPr algn="ctr" indent="0" marL="0">
              <a:buNone/>
            </a:pPr>
            <a:r>
              <a:rPr lang="en-US" sz="1300" b="1" dirty="0">
                <a:solidFill>
                  <a:srgbClr val="22205D"/>
                </a:solidFill>
                <a:latin typeface="Arial" pitchFamily="34" charset="0"/>
                <a:ea typeface="Arial" pitchFamily="34" charset="-122"/>
                <a:cs typeface="Arial" pitchFamily="34" charset="-120"/>
              </a:rPr>
              <a:t>3</a:t>
            </a:r>
            <a:endParaRPr lang="en-US" sz="1300" dirty="0"/>
          </a:p>
        </p:txBody>
      </p:sp>
      <p:sp>
        <p:nvSpPr>
          <p:cNvPr id="41" name="Text 39"/>
          <p:cNvSpPr txBox="1"/>
          <p:nvPr/>
        </p:nvSpPr>
        <p:spPr>
          <a:xfrm>
            <a:off x="7543800" y="3611880"/>
            <a:ext cx="3822192" cy="59436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Choose events for sales from the shortlist</a:t>
            </a:r>
            <a:endParaRPr lang="en-US" sz="1400" dirty="0"/>
          </a:p>
        </p:txBody>
      </p:sp>
      <p:sp>
        <p:nvSpPr>
          <p:cNvPr id="42" name="Shape 40"/>
          <p:cNvSpPr/>
          <p:nvPr/>
        </p:nvSpPr>
        <p:spPr>
          <a:xfrm>
            <a:off x="6995160" y="4526280"/>
            <a:ext cx="365760" cy="365760"/>
          </a:xfrm>
          <a:prstGeom prst="ellipse">
            <a:avLst/>
          </a:prstGeom>
          <a:solidFill>
            <a:srgbClr val="5CC3AE"/>
          </a:solidFill>
          <a:ln w="12700">
            <a:solidFill>
              <a:srgbClr val="5CC3AE"/>
            </a:solidFill>
            <a:prstDash val="solid"/>
          </a:ln>
        </p:spPr>
      </p:sp>
      <p:sp>
        <p:nvSpPr>
          <p:cNvPr id="43" name="Text 41"/>
          <p:cNvSpPr txBox="1"/>
          <p:nvPr/>
        </p:nvSpPr>
        <p:spPr>
          <a:xfrm>
            <a:off x="6995160" y="4526280"/>
            <a:ext cx="365760" cy="365760"/>
          </a:xfrm>
          <a:prstGeom prst="rect">
            <a:avLst/>
          </a:prstGeom>
          <a:noFill/>
          <a:ln/>
        </p:spPr>
        <p:txBody>
          <a:bodyPr wrap="square" lIns="0" tIns="0" rIns="0" bIns="0" rtlCol="0" anchor="ctr"/>
          <a:lstStyle/>
          <a:p>
            <a:pPr algn="ctr" indent="0" marL="0">
              <a:buNone/>
            </a:pPr>
            <a:r>
              <a:rPr lang="en-US" sz="1300" b="1" dirty="0">
                <a:solidFill>
                  <a:srgbClr val="22205D"/>
                </a:solidFill>
                <a:latin typeface="Arial" pitchFamily="34" charset="0"/>
                <a:ea typeface="Arial" pitchFamily="34" charset="-122"/>
                <a:cs typeface="Arial" pitchFamily="34" charset="-120"/>
              </a:rPr>
              <a:t>4</a:t>
            </a:r>
            <a:endParaRPr lang="en-US" sz="1300" dirty="0"/>
          </a:p>
        </p:txBody>
      </p:sp>
      <p:sp>
        <p:nvSpPr>
          <p:cNvPr id="44" name="Text 42"/>
          <p:cNvSpPr txBox="1"/>
          <p:nvPr/>
        </p:nvSpPr>
        <p:spPr>
          <a:xfrm>
            <a:off x="7543800" y="4434840"/>
            <a:ext cx="3822192" cy="59436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Dev time to launch both tools by Oct 14</a:t>
            </a:r>
            <a:endParaRPr lang="en-US" sz="1400" dirty="0"/>
          </a:p>
        </p:txBody>
      </p:sp>
      <p:sp>
        <p:nvSpPr>
          <p:cNvPr id="45" name="Shape 43"/>
          <p:cNvSpPr/>
          <p:nvPr/>
        </p:nvSpPr>
        <p:spPr>
          <a:xfrm>
            <a:off x="6995160" y="5349240"/>
            <a:ext cx="365760" cy="365760"/>
          </a:xfrm>
          <a:prstGeom prst="ellipse">
            <a:avLst/>
          </a:prstGeom>
          <a:solidFill>
            <a:srgbClr val="5CC3AE"/>
          </a:solidFill>
          <a:ln w="12700">
            <a:solidFill>
              <a:srgbClr val="5CC3AE"/>
            </a:solidFill>
            <a:prstDash val="solid"/>
          </a:ln>
        </p:spPr>
      </p:sp>
      <p:sp>
        <p:nvSpPr>
          <p:cNvPr id="46" name="Text 44"/>
          <p:cNvSpPr txBox="1"/>
          <p:nvPr/>
        </p:nvSpPr>
        <p:spPr>
          <a:xfrm>
            <a:off x="6995160" y="5349240"/>
            <a:ext cx="365760" cy="365760"/>
          </a:xfrm>
          <a:prstGeom prst="rect">
            <a:avLst/>
          </a:prstGeom>
          <a:noFill/>
          <a:ln/>
        </p:spPr>
        <p:txBody>
          <a:bodyPr wrap="square" lIns="0" tIns="0" rIns="0" bIns="0" rtlCol="0" anchor="ctr"/>
          <a:lstStyle/>
          <a:p>
            <a:pPr algn="ctr" indent="0" marL="0">
              <a:buNone/>
            </a:pPr>
            <a:r>
              <a:rPr lang="en-US" sz="1300" b="1" dirty="0">
                <a:solidFill>
                  <a:srgbClr val="22205D"/>
                </a:solidFill>
                <a:latin typeface="Arial" pitchFamily="34" charset="0"/>
                <a:ea typeface="Arial" pitchFamily="34" charset="-122"/>
                <a:cs typeface="Arial" pitchFamily="34" charset="-120"/>
              </a:rPr>
              <a:t>5</a:t>
            </a:r>
            <a:endParaRPr lang="en-US" sz="1300" dirty="0"/>
          </a:p>
        </p:txBody>
      </p:sp>
      <p:sp>
        <p:nvSpPr>
          <p:cNvPr id="47" name="Text 45"/>
          <p:cNvSpPr txBox="1"/>
          <p:nvPr/>
        </p:nvSpPr>
        <p:spPr>
          <a:xfrm>
            <a:off x="7543800" y="5257800"/>
            <a:ext cx="3822192" cy="59436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A day-to-day marketing resource for urgent and same-day work</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xLoop Marketing: Q2-Q3</dc:title>
  <dc:subject>PptxGenJS Presentation</dc:subject>
  <dc:creator>PptxGenJS</dc:creator>
  <cp:lastModifiedBy>PptxGenJS</cp:lastModifiedBy>
  <cp:revision>1</cp:revision>
  <dcterms:created xsi:type="dcterms:W3CDTF">2026-09-25T03:29:20Z</dcterms:created>
  <dcterms:modified xsi:type="dcterms:W3CDTF">2026-09-25T03:29:20Z</dcterms:modified>
</cp:coreProperties>
</file>