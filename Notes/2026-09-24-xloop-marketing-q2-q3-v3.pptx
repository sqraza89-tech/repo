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1" r:id="rId6"/>
    <p:sldId id="262"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10"/>
  </p:normalViewPr>
  <p:slideViewPr>
    <p:cSldViewPr snapToGrid="0" snapToObjects="1">
      <p:cViewPr varScale="1">
        <p:scale>
          <a:sx n="97" d="100"/>
          <a:sy n="97" d="100"/>
        </p:scale>
        <p:origin x="90"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1021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paid Meta campaign for xCelerate, target 1,000 applications. Testimonials came through Jafri. The careers form was added at Hunaina's request. The NEPRA case study (ACT Wind) is named here for internal use; publicly it stays 'a 30 MW wind IPP' unless the client approves.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Console, company account, Jun 21–Sep 20 vs Mar 22–Jun 20: clicks 1.9K vs about 1.46K; CTR 7.8% vs about 3.1%; 124 pages indexed. AI assistants in GA4 Aug 24–Sep 23: ChatGPT 18, Perplexity 4, Gemini 1 visits. Many long, persona-style queries (for example 'I work at a company with 250–1k employees. What is the ROI of intelligent document processing?') are how AI assistants search Google for answers; our articles rank in the top 5 for several. GA4 missed Jul 28–Aug 24 because a code change removed the tracking script (dev team confirmed, now fixed); ask devs to add GA annotations for both dates. One website link points to an old LinkedIn page (linkedin.com/company/xloop-digital) instead of the main page.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page analytics, Jun 25–Sep 22: 39,350 impressions, all organic; 1,277 new followers, all organic; 622 reactions; 14,564 followers. Pakistan share: the top Pakistani cities alone add up to about 61% of followers. Engagement rates are LinkedIn's figures for posts from Sep 9–23. Ad benchmarks: LinkedIn Sponsored Content CPC is typically $6–16 in 2026, so $300–600 a month is a test budget, not a scale budget. PKR at about 280 to the dollar.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checked 24 Sep 2026: GITEX Global Dec 7–11 at Dubai Exhibition Centre (moved from October); Black Hat MEA Dec 1–3, Riyadh; AI Expo Africa Oct 28–29, Sandton Convention Centre; LEAP 2027 Apr 12–15, Riyadh; GISEC Global May 4–6, 2027. Securetech Pakistan and Indus AI Week 2027 dates are not confirmed. ITCN Asia ran Sep 22–24, so it's already past.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05D"/>
        </a:solidFill>
        <a:effectLst/>
      </p:bgPr>
    </p:bg>
    <p:spTree>
      <p:nvGrpSpPr>
        <p:cNvPr id="1" name=""/>
        <p:cNvGrpSpPr/>
        <p:nvPr/>
      </p:nvGrpSpPr>
      <p:grpSpPr>
        <a:xfrm>
          <a:off x="0" y="0"/>
          <a:ext cx="0" cy="0"/>
          <a:chOff x="0" y="0"/>
          <a:chExt cx="0" cy="0"/>
        </a:xfrm>
      </p:grpSpPr>
      <p:sp>
        <p:nvSpPr>
          <p:cNvPr id="3" name="Text 1"/>
          <p:cNvSpPr txBox="1"/>
          <p:nvPr/>
        </p:nvSpPr>
        <p:spPr>
          <a:xfrm>
            <a:off x="548640" y="2011680"/>
            <a:ext cx="10058400" cy="100584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Marketing: Q2–Q3</a:t>
            </a:r>
            <a:endParaRPr lang="en-US" sz="4800" dirty="0"/>
          </a:p>
        </p:txBody>
      </p:sp>
      <p:sp>
        <p:nvSpPr>
          <p:cNvPr id="5" name="Text 3"/>
          <p:cNvSpPr txBox="1"/>
          <p:nvPr/>
        </p:nvSpPr>
        <p:spPr>
          <a:xfrm>
            <a:off x="548640" y="2950029"/>
            <a:ext cx="7315200" cy="457200"/>
          </a:xfrm>
          <a:prstGeom prst="rect">
            <a:avLst/>
          </a:prstGeom>
          <a:noFill/>
          <a:ln/>
        </p:spPr>
        <p:txBody>
          <a:bodyPr wrap="square" lIns="0" tIns="0" rIns="0" bIns="0" rtlCol="0" anchor="ctr"/>
          <a:lstStyle/>
          <a:p>
            <a:pPr marL="0" indent="0">
              <a:buNone/>
            </a:pPr>
            <a:r>
              <a:rPr lang="en-US" sz="1600" dirty="0">
                <a:solidFill>
                  <a:srgbClr val="5CC3AE"/>
                </a:solidFill>
                <a:latin typeface="Arial" pitchFamily="34" charset="0"/>
                <a:ea typeface="Arial" pitchFamily="34" charset="-122"/>
                <a:cs typeface="Arial" pitchFamily="34" charset="-120"/>
              </a:rPr>
              <a:t>Plan period: October 2026 – March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What’s Changing</a:t>
            </a:r>
            <a:endParaRPr lang="en-US" sz="2800" dirty="0"/>
          </a:p>
        </p:txBody>
      </p:sp>
      <p:grpSp>
        <p:nvGrpSpPr>
          <p:cNvPr id="31" name="Group 30">
            <a:extLst>
              <a:ext uri="{FF2B5EF4-FFF2-40B4-BE49-F238E27FC236}">
                <a16:creationId xmlns:a16="http://schemas.microsoft.com/office/drawing/2014/main" id="{AFF3317C-BE24-43ED-9E89-E424FDB702C6}"/>
              </a:ext>
            </a:extLst>
          </p:cNvPr>
          <p:cNvGrpSpPr/>
          <p:nvPr/>
        </p:nvGrpSpPr>
        <p:grpSpPr>
          <a:xfrm>
            <a:off x="548640" y="1521817"/>
            <a:ext cx="11091672" cy="3429000"/>
            <a:chOff x="548640" y="2880360"/>
            <a:chExt cx="11091672" cy="3429000"/>
          </a:xfrm>
        </p:grpSpPr>
        <p:sp>
          <p:nvSpPr>
            <p:cNvPr id="15" name="Shape 13"/>
            <p:cNvSpPr/>
            <p:nvPr/>
          </p:nvSpPr>
          <p:spPr>
            <a:xfrm>
              <a:off x="548640" y="2880360"/>
              <a:ext cx="2567178" cy="3429000"/>
            </a:xfrm>
            <a:prstGeom prst="roundRect">
              <a:avLst>
                <a:gd name="adj" fmla="val 2850"/>
              </a:avLst>
            </a:prstGeom>
            <a:solidFill>
              <a:srgbClr val="FFFFFF"/>
            </a:solidFill>
            <a:ln w="9525">
              <a:solidFill>
                <a:srgbClr val="E6E6E6"/>
              </a:solidFill>
              <a:prstDash val="solid"/>
            </a:ln>
          </p:spPr>
        </p:sp>
        <p:sp>
          <p:nvSpPr>
            <p:cNvPr id="16" name="Shape 14"/>
            <p:cNvSpPr/>
            <p:nvPr/>
          </p:nvSpPr>
          <p:spPr>
            <a:xfrm>
              <a:off x="777240" y="3081528"/>
              <a:ext cx="2109978" cy="347472"/>
            </a:xfrm>
            <a:prstGeom prst="roundRect">
              <a:avLst>
                <a:gd name="adj" fmla="val 18421"/>
              </a:avLst>
            </a:prstGeom>
            <a:solidFill>
              <a:srgbClr val="22205D"/>
            </a:solidFill>
            <a:ln w="12700">
              <a:solidFill>
                <a:srgbClr val="22205D"/>
              </a:solidFill>
              <a:prstDash val="solid"/>
            </a:ln>
          </p:spPr>
        </p:sp>
        <p:sp>
          <p:nvSpPr>
            <p:cNvPr id="17" name="Text 15"/>
            <p:cNvSpPr txBox="1"/>
            <p:nvPr/>
          </p:nvSpPr>
          <p:spPr>
            <a:xfrm>
              <a:off x="777240" y="3081528"/>
              <a:ext cx="210997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Services</a:t>
              </a:r>
              <a:endParaRPr lang="en-US" sz="1100" dirty="0"/>
            </a:p>
          </p:txBody>
        </p:sp>
        <p:sp>
          <p:nvSpPr>
            <p:cNvPr id="18" name="Text 16"/>
            <p:cNvSpPr txBox="1"/>
            <p:nvPr/>
          </p:nvSpPr>
          <p:spPr>
            <a:xfrm>
              <a:off x="777240" y="3611880"/>
              <a:ext cx="2155698" cy="2560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Repositioned from "AI and digital engineering" to Data &amp; AI working together</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AI Security push: NEPRA landing page and website banner</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NEPRA case study: ACT Wind</a:t>
              </a:r>
              <a:endParaRPr lang="en-US" sz="1250" dirty="0"/>
            </a:p>
          </p:txBody>
        </p:sp>
        <p:sp>
          <p:nvSpPr>
            <p:cNvPr id="19" name="Shape 17"/>
            <p:cNvSpPr/>
            <p:nvPr/>
          </p:nvSpPr>
          <p:spPr>
            <a:xfrm>
              <a:off x="3390138" y="2880360"/>
              <a:ext cx="2567178" cy="3429000"/>
            </a:xfrm>
            <a:prstGeom prst="roundRect">
              <a:avLst>
                <a:gd name="adj" fmla="val 2850"/>
              </a:avLst>
            </a:prstGeom>
            <a:solidFill>
              <a:srgbClr val="FFFFFF"/>
            </a:solidFill>
            <a:ln w="9525">
              <a:solidFill>
                <a:srgbClr val="E6E6E6"/>
              </a:solidFill>
              <a:prstDash val="solid"/>
            </a:ln>
          </p:spPr>
        </p:sp>
        <p:sp>
          <p:nvSpPr>
            <p:cNvPr id="20" name="Shape 18"/>
            <p:cNvSpPr/>
            <p:nvPr/>
          </p:nvSpPr>
          <p:spPr>
            <a:xfrm>
              <a:off x="3618738" y="3081528"/>
              <a:ext cx="2109978" cy="347472"/>
            </a:xfrm>
            <a:prstGeom prst="roundRect">
              <a:avLst>
                <a:gd name="adj" fmla="val 18421"/>
              </a:avLst>
            </a:prstGeom>
            <a:solidFill>
              <a:srgbClr val="0061F6"/>
            </a:solidFill>
            <a:ln w="12700">
              <a:solidFill>
                <a:srgbClr val="0061F6"/>
              </a:solidFill>
              <a:prstDash val="solid"/>
            </a:ln>
          </p:spPr>
        </p:sp>
        <p:sp>
          <p:nvSpPr>
            <p:cNvPr id="21" name="Text 19"/>
            <p:cNvSpPr txBox="1"/>
            <p:nvPr/>
          </p:nvSpPr>
          <p:spPr>
            <a:xfrm>
              <a:off x="3618738" y="3081528"/>
              <a:ext cx="210997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Sales deck</a:t>
              </a:r>
              <a:endParaRPr lang="en-US" sz="1100" dirty="0"/>
            </a:p>
          </p:txBody>
        </p:sp>
        <p:sp>
          <p:nvSpPr>
            <p:cNvPr id="22" name="Text 20"/>
            <p:cNvSpPr txBox="1"/>
            <p:nvPr/>
          </p:nvSpPr>
          <p:spPr>
            <a:xfrm>
              <a:off x="3618738" y="3611880"/>
              <a:ext cx="2155698" cy="2560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New company intro</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Leadership team</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3 new case studies</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Our agentic AI process</a:t>
              </a:r>
              <a:endParaRPr lang="en-US" sz="1250" dirty="0"/>
            </a:p>
          </p:txBody>
        </p:sp>
        <p:sp>
          <p:nvSpPr>
            <p:cNvPr id="23" name="Shape 21"/>
            <p:cNvSpPr/>
            <p:nvPr/>
          </p:nvSpPr>
          <p:spPr>
            <a:xfrm>
              <a:off x="6231636" y="2880360"/>
              <a:ext cx="2567178" cy="3429000"/>
            </a:xfrm>
            <a:prstGeom prst="roundRect">
              <a:avLst>
                <a:gd name="adj" fmla="val 2850"/>
              </a:avLst>
            </a:prstGeom>
            <a:solidFill>
              <a:srgbClr val="FFFFFF"/>
            </a:solidFill>
            <a:ln w="9525">
              <a:solidFill>
                <a:srgbClr val="E6E6E6"/>
              </a:solidFill>
              <a:prstDash val="solid"/>
            </a:ln>
          </p:spPr>
        </p:sp>
        <p:sp>
          <p:nvSpPr>
            <p:cNvPr id="24" name="Shape 22"/>
            <p:cNvSpPr/>
            <p:nvPr/>
          </p:nvSpPr>
          <p:spPr>
            <a:xfrm>
              <a:off x="6460236" y="3081528"/>
              <a:ext cx="2109978" cy="347472"/>
            </a:xfrm>
            <a:prstGeom prst="roundRect">
              <a:avLst>
                <a:gd name="adj" fmla="val 18421"/>
              </a:avLst>
            </a:prstGeom>
            <a:solidFill>
              <a:srgbClr val="0098D8"/>
            </a:solidFill>
            <a:ln w="12700">
              <a:solidFill>
                <a:srgbClr val="0098D8"/>
              </a:solidFill>
              <a:prstDash val="solid"/>
            </a:ln>
          </p:spPr>
        </p:sp>
        <p:sp>
          <p:nvSpPr>
            <p:cNvPr id="25" name="Text 23"/>
            <p:cNvSpPr txBox="1"/>
            <p:nvPr/>
          </p:nvSpPr>
          <p:spPr>
            <a:xfrm>
              <a:off x="6460236" y="3081528"/>
              <a:ext cx="210997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xCelerate &amp; events</a:t>
              </a:r>
              <a:endParaRPr lang="en-US" sz="1100" dirty="0"/>
            </a:p>
          </p:txBody>
        </p:sp>
        <p:sp>
          <p:nvSpPr>
            <p:cNvPr id="26" name="Text 24"/>
            <p:cNvSpPr txBox="1"/>
            <p:nvPr/>
          </p:nvSpPr>
          <p:spPr>
            <a:xfrm>
              <a:off x="6460236" y="3611880"/>
              <a:ext cx="2155698" cy="2560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Mari campaign: 1,500+ applications</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Mari Cohort I graduation</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Geshidocon</a:t>
              </a:r>
              <a:endParaRPr lang="en-US" sz="1250" dirty="0"/>
            </a:p>
          </p:txBody>
        </p:sp>
        <p:sp>
          <p:nvSpPr>
            <p:cNvPr id="27" name="Shape 25"/>
            <p:cNvSpPr/>
            <p:nvPr/>
          </p:nvSpPr>
          <p:spPr>
            <a:xfrm>
              <a:off x="9073134" y="2880360"/>
              <a:ext cx="2567178" cy="3429000"/>
            </a:xfrm>
            <a:prstGeom prst="roundRect">
              <a:avLst>
                <a:gd name="adj" fmla="val 2850"/>
              </a:avLst>
            </a:prstGeom>
            <a:solidFill>
              <a:srgbClr val="FFFFFF"/>
            </a:solidFill>
            <a:ln w="9525">
              <a:solidFill>
                <a:srgbClr val="E6E6E6"/>
              </a:solidFill>
              <a:prstDash val="solid"/>
            </a:ln>
          </p:spPr>
        </p:sp>
        <p:sp>
          <p:nvSpPr>
            <p:cNvPr id="28" name="Shape 26"/>
            <p:cNvSpPr/>
            <p:nvPr/>
          </p:nvSpPr>
          <p:spPr>
            <a:xfrm>
              <a:off x="9301734" y="3081528"/>
              <a:ext cx="2109978" cy="347472"/>
            </a:xfrm>
            <a:prstGeom prst="roundRect">
              <a:avLst>
                <a:gd name="adj" fmla="val 18421"/>
              </a:avLst>
            </a:prstGeom>
            <a:solidFill>
              <a:srgbClr val="5CC3AE"/>
            </a:solidFill>
            <a:ln w="12700">
              <a:solidFill>
                <a:srgbClr val="5CC3AE"/>
              </a:solidFill>
              <a:prstDash val="solid"/>
            </a:ln>
          </p:spPr>
        </p:sp>
        <p:sp>
          <p:nvSpPr>
            <p:cNvPr id="29" name="Text 27"/>
            <p:cNvSpPr txBox="1"/>
            <p:nvPr/>
          </p:nvSpPr>
          <p:spPr>
            <a:xfrm>
              <a:off x="9301734" y="3081528"/>
              <a:ext cx="2109978" cy="347472"/>
            </a:xfrm>
            <a:prstGeom prst="rect">
              <a:avLst/>
            </a:prstGeom>
            <a:noFill/>
            <a:ln/>
          </p:spPr>
          <p:txBody>
            <a:bodyPr wrap="square" lIns="0" tIns="0" rIns="0" bIns="0" rtlCol="0" anchor="ctr"/>
            <a:lstStyle/>
            <a:p>
              <a:pPr marL="0" indent="0" algn="ctr">
                <a:buNone/>
              </a:pPr>
              <a:r>
                <a:rPr lang="en-US" sz="1100" b="1" dirty="0">
                  <a:solidFill>
                    <a:srgbClr val="22205D"/>
                  </a:solidFill>
                  <a:latin typeface="Arial" pitchFamily="34" charset="0"/>
                  <a:ea typeface="Arial" pitchFamily="34" charset="-122"/>
                  <a:cs typeface="Arial" pitchFamily="34" charset="-120"/>
                </a:rPr>
                <a:t>People &amp; brand</a:t>
              </a:r>
              <a:endParaRPr lang="en-US" sz="1100" dirty="0"/>
            </a:p>
          </p:txBody>
        </p:sp>
        <p:sp>
          <p:nvSpPr>
            <p:cNvPr id="30" name="Text 28"/>
            <p:cNvSpPr txBox="1"/>
            <p:nvPr/>
          </p:nvSpPr>
          <p:spPr>
            <a:xfrm>
              <a:off x="9301734" y="3611880"/>
              <a:ext cx="2155698" cy="2560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HR brand video, ready for approval</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Full application form on the careers page (for HR)</a:t>
              </a:r>
              <a:endParaRPr lang="en-US" sz="1250" dirty="0"/>
            </a:p>
            <a:p>
              <a:pPr marL="342900" indent="-342900">
                <a:spcAft>
                  <a:spcPts val="800"/>
                </a:spcAft>
                <a:buSzPct val="100000"/>
                <a:buChar char="•"/>
              </a:pPr>
              <a:r>
                <a:rPr lang="en-US" sz="1250" dirty="0">
                  <a:solidFill>
                    <a:srgbClr val="22205D"/>
                  </a:solidFill>
                  <a:latin typeface="Arial" pitchFamily="34" charset="0"/>
                  <a:ea typeface="Arial" pitchFamily="34" charset="-122"/>
                  <a:cs typeface="Arial" pitchFamily="34" charset="-120"/>
                </a:rPr>
                <a:t>New client testimonials</a:t>
              </a:r>
              <a:endParaRPr lang="en-US" sz="125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Website: what's new, and how search and AI find us</a:t>
            </a:r>
            <a:endParaRPr lang="en-US" sz="2800" dirty="0"/>
          </a:p>
        </p:txBody>
      </p:sp>
      <p:sp>
        <p:nvSpPr>
          <p:cNvPr id="3" name="Shape 1"/>
          <p:cNvSpPr/>
          <p:nvPr/>
        </p:nvSpPr>
        <p:spPr>
          <a:xfrm>
            <a:off x="548640" y="1143000"/>
            <a:ext cx="6400800" cy="502920"/>
          </a:xfrm>
          <a:prstGeom prst="roundRect">
            <a:avLst>
              <a:gd name="adj" fmla="val 14545"/>
            </a:avLst>
          </a:prstGeom>
          <a:solidFill>
            <a:srgbClr val="22205D"/>
          </a:solidFill>
          <a:ln w="12700">
            <a:solidFill>
              <a:srgbClr val="22205D"/>
            </a:solidFill>
            <a:prstDash val="solid"/>
          </a:ln>
        </p:spPr>
      </p:sp>
      <p:sp>
        <p:nvSpPr>
          <p:cNvPr id="4" name="Text 2"/>
          <p:cNvSpPr txBox="1"/>
          <p:nvPr/>
        </p:nvSpPr>
        <p:spPr>
          <a:xfrm>
            <a:off x="777240" y="1143000"/>
            <a:ext cx="5943600" cy="5029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Homepage  </a:t>
            </a:r>
            <a:r>
              <a:rPr lang="en-US" sz="1400" dirty="0">
                <a:solidFill>
                  <a:srgbClr val="FFFFFF"/>
                </a:solidFill>
                <a:latin typeface="Arial" pitchFamily="34" charset="0"/>
                <a:ea typeface="Arial" pitchFamily="34" charset="-122"/>
                <a:cs typeface="Arial" pitchFamily="34" charset="-120"/>
              </a:rPr>
              <a:t>now leads with data and AI</a:t>
            </a:r>
            <a:endParaRPr lang="en-US" sz="1400" dirty="0"/>
          </a:p>
        </p:txBody>
      </p:sp>
      <p:sp>
        <p:nvSpPr>
          <p:cNvPr id="5" name="Shape 3"/>
          <p:cNvSpPr/>
          <p:nvPr/>
        </p:nvSpPr>
        <p:spPr>
          <a:xfrm>
            <a:off x="548640" y="1810512"/>
            <a:ext cx="2011680" cy="1325880"/>
          </a:xfrm>
          <a:prstGeom prst="roundRect">
            <a:avLst>
              <a:gd name="adj" fmla="val 5517"/>
            </a:avLst>
          </a:prstGeom>
          <a:solidFill>
            <a:srgbClr val="EAF7F4"/>
          </a:solidFill>
          <a:ln w="9525">
            <a:solidFill>
              <a:srgbClr val="E6E6E6"/>
            </a:solidFill>
            <a:prstDash val="solid"/>
          </a:ln>
        </p:spPr>
      </p:sp>
      <p:sp>
        <p:nvSpPr>
          <p:cNvPr id="6" name="Text 4"/>
          <p:cNvSpPr txBox="1"/>
          <p:nvPr/>
        </p:nvSpPr>
        <p:spPr>
          <a:xfrm>
            <a:off x="685800" y="1901952"/>
            <a:ext cx="1188720" cy="320040"/>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Services</a:t>
            </a:r>
            <a:endParaRPr lang="en-US" sz="1300" dirty="0"/>
          </a:p>
        </p:txBody>
      </p:sp>
      <p:sp>
        <p:nvSpPr>
          <p:cNvPr id="7" name="Shape 5"/>
          <p:cNvSpPr/>
          <p:nvPr/>
        </p:nvSpPr>
        <p:spPr>
          <a:xfrm>
            <a:off x="1901952" y="1920240"/>
            <a:ext cx="530352" cy="256032"/>
          </a:xfrm>
          <a:prstGeom prst="roundRect">
            <a:avLst>
              <a:gd name="adj" fmla="val 25000"/>
            </a:avLst>
          </a:prstGeom>
          <a:solidFill>
            <a:srgbClr val="5CC3AE"/>
          </a:solidFill>
          <a:ln w="12700">
            <a:solidFill>
              <a:srgbClr val="5CC3AE"/>
            </a:solidFill>
            <a:prstDash val="solid"/>
          </a:ln>
        </p:spPr>
      </p:sp>
      <p:sp>
        <p:nvSpPr>
          <p:cNvPr id="8" name="Text 6"/>
          <p:cNvSpPr txBox="1"/>
          <p:nvPr/>
        </p:nvSpPr>
        <p:spPr>
          <a:xfrm>
            <a:off x="1901952" y="1920240"/>
            <a:ext cx="530352" cy="256032"/>
          </a:xfrm>
          <a:prstGeom prst="rect">
            <a:avLst/>
          </a:prstGeom>
          <a:noFill/>
          <a:ln/>
        </p:spPr>
        <p:txBody>
          <a:bodyPr wrap="square" lIns="0" tIns="0" rIns="0" bIns="0" rtlCol="0" anchor="ctr"/>
          <a:lstStyle/>
          <a:p>
            <a:pPr marL="0" indent="0" algn="ctr">
              <a:buNone/>
            </a:pPr>
            <a:r>
              <a:rPr lang="en-US" sz="1100" b="1" dirty="0">
                <a:solidFill>
                  <a:srgbClr val="22205D"/>
                </a:solidFill>
                <a:latin typeface="Arial" pitchFamily="34" charset="0"/>
                <a:ea typeface="Arial" pitchFamily="34" charset="-122"/>
                <a:cs typeface="Arial" pitchFamily="34" charset="-120"/>
              </a:rPr>
              <a:t>NEW</a:t>
            </a:r>
            <a:endParaRPr lang="en-US" sz="1100" dirty="0"/>
          </a:p>
        </p:txBody>
      </p:sp>
      <p:sp>
        <p:nvSpPr>
          <p:cNvPr id="9" name="Text 7"/>
          <p:cNvSpPr txBox="1"/>
          <p:nvPr/>
        </p:nvSpPr>
        <p:spPr>
          <a:xfrm>
            <a:off x="685800" y="2267712"/>
            <a:ext cx="1737360"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4 service groups: Data &amp; AI Consulting, Applied Data &amp; AI Solutions, AI Security, Digital Transformation</a:t>
            </a:r>
            <a:endParaRPr lang="en-US" sz="1100" dirty="0"/>
          </a:p>
        </p:txBody>
      </p:sp>
      <p:sp>
        <p:nvSpPr>
          <p:cNvPr id="10" name="Shape 8"/>
          <p:cNvSpPr/>
          <p:nvPr/>
        </p:nvSpPr>
        <p:spPr>
          <a:xfrm>
            <a:off x="2743200" y="1810512"/>
            <a:ext cx="2011680" cy="1325880"/>
          </a:xfrm>
          <a:prstGeom prst="roundRect">
            <a:avLst>
              <a:gd name="adj" fmla="val 5517"/>
            </a:avLst>
          </a:prstGeom>
          <a:solidFill>
            <a:srgbClr val="EAF7F4"/>
          </a:solidFill>
          <a:ln w="9525">
            <a:solidFill>
              <a:srgbClr val="E6E6E6"/>
            </a:solidFill>
            <a:prstDash val="solid"/>
          </a:ln>
        </p:spPr>
      </p:sp>
      <p:sp>
        <p:nvSpPr>
          <p:cNvPr id="11" name="Text 9"/>
          <p:cNvSpPr txBox="1"/>
          <p:nvPr/>
        </p:nvSpPr>
        <p:spPr>
          <a:xfrm>
            <a:off x="2880360" y="1901952"/>
            <a:ext cx="1188720" cy="320040"/>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Industries</a:t>
            </a:r>
            <a:endParaRPr lang="en-US" sz="1300" dirty="0"/>
          </a:p>
        </p:txBody>
      </p:sp>
      <p:sp>
        <p:nvSpPr>
          <p:cNvPr id="12" name="Shape 10"/>
          <p:cNvSpPr/>
          <p:nvPr/>
        </p:nvSpPr>
        <p:spPr>
          <a:xfrm>
            <a:off x="4096512" y="1920240"/>
            <a:ext cx="530352" cy="256032"/>
          </a:xfrm>
          <a:prstGeom prst="roundRect">
            <a:avLst>
              <a:gd name="adj" fmla="val 25000"/>
            </a:avLst>
          </a:prstGeom>
          <a:solidFill>
            <a:srgbClr val="5CC3AE"/>
          </a:solidFill>
          <a:ln w="12700">
            <a:solidFill>
              <a:srgbClr val="5CC3AE"/>
            </a:solidFill>
            <a:prstDash val="solid"/>
          </a:ln>
        </p:spPr>
      </p:sp>
      <p:sp>
        <p:nvSpPr>
          <p:cNvPr id="13" name="Text 11"/>
          <p:cNvSpPr txBox="1"/>
          <p:nvPr/>
        </p:nvSpPr>
        <p:spPr>
          <a:xfrm>
            <a:off x="4096512" y="1920240"/>
            <a:ext cx="530352" cy="256032"/>
          </a:xfrm>
          <a:prstGeom prst="rect">
            <a:avLst/>
          </a:prstGeom>
          <a:noFill/>
          <a:ln/>
        </p:spPr>
        <p:txBody>
          <a:bodyPr wrap="square" lIns="0" tIns="0" rIns="0" bIns="0" rtlCol="0" anchor="ctr"/>
          <a:lstStyle/>
          <a:p>
            <a:pPr marL="0" indent="0" algn="ctr">
              <a:buNone/>
            </a:pPr>
            <a:r>
              <a:rPr lang="en-US" sz="1100" b="1" dirty="0">
                <a:solidFill>
                  <a:srgbClr val="22205D"/>
                </a:solidFill>
                <a:latin typeface="Arial" pitchFamily="34" charset="0"/>
                <a:ea typeface="Arial" pitchFamily="34" charset="-122"/>
                <a:cs typeface="Arial" pitchFamily="34" charset="-120"/>
              </a:rPr>
              <a:t>NEW</a:t>
            </a:r>
            <a:endParaRPr lang="en-US" sz="1100" dirty="0"/>
          </a:p>
        </p:txBody>
      </p:sp>
      <p:sp>
        <p:nvSpPr>
          <p:cNvPr id="14" name="Text 12"/>
          <p:cNvSpPr txBox="1"/>
          <p:nvPr/>
        </p:nvSpPr>
        <p:spPr>
          <a:xfrm>
            <a:off x="2880360" y="2267712"/>
            <a:ext cx="1737360"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Mining page replacing the Manufacturing industry page</a:t>
            </a:r>
            <a:endParaRPr lang="en-US" sz="1100" dirty="0"/>
          </a:p>
        </p:txBody>
      </p:sp>
      <p:sp>
        <p:nvSpPr>
          <p:cNvPr id="15" name="Shape 13"/>
          <p:cNvSpPr/>
          <p:nvPr/>
        </p:nvSpPr>
        <p:spPr>
          <a:xfrm>
            <a:off x="4937760" y="1810512"/>
            <a:ext cx="2011680" cy="1325880"/>
          </a:xfrm>
          <a:prstGeom prst="roundRect">
            <a:avLst>
              <a:gd name="adj" fmla="val 5517"/>
            </a:avLst>
          </a:prstGeom>
          <a:solidFill>
            <a:srgbClr val="EAF7F4"/>
          </a:solidFill>
          <a:ln w="9525">
            <a:solidFill>
              <a:srgbClr val="E6E6E6"/>
            </a:solidFill>
            <a:prstDash val="solid"/>
          </a:ln>
        </p:spPr>
      </p:sp>
      <p:sp>
        <p:nvSpPr>
          <p:cNvPr id="16" name="Text 14"/>
          <p:cNvSpPr txBox="1"/>
          <p:nvPr/>
        </p:nvSpPr>
        <p:spPr>
          <a:xfrm>
            <a:off x="5074920" y="1901952"/>
            <a:ext cx="1188720" cy="320040"/>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Case studies</a:t>
            </a:r>
            <a:endParaRPr lang="en-US" sz="1300" dirty="0"/>
          </a:p>
        </p:txBody>
      </p:sp>
      <p:sp>
        <p:nvSpPr>
          <p:cNvPr id="17" name="Shape 15"/>
          <p:cNvSpPr/>
          <p:nvPr/>
        </p:nvSpPr>
        <p:spPr>
          <a:xfrm>
            <a:off x="6291072" y="1920240"/>
            <a:ext cx="530352" cy="256032"/>
          </a:xfrm>
          <a:prstGeom prst="roundRect">
            <a:avLst>
              <a:gd name="adj" fmla="val 25000"/>
            </a:avLst>
          </a:prstGeom>
          <a:solidFill>
            <a:srgbClr val="5CC3AE"/>
          </a:solidFill>
          <a:ln w="12700">
            <a:solidFill>
              <a:srgbClr val="5CC3AE"/>
            </a:solidFill>
            <a:prstDash val="solid"/>
          </a:ln>
        </p:spPr>
      </p:sp>
      <p:sp>
        <p:nvSpPr>
          <p:cNvPr id="18" name="Text 16"/>
          <p:cNvSpPr txBox="1"/>
          <p:nvPr/>
        </p:nvSpPr>
        <p:spPr>
          <a:xfrm>
            <a:off x="6291072" y="1920240"/>
            <a:ext cx="530352" cy="256032"/>
          </a:xfrm>
          <a:prstGeom prst="rect">
            <a:avLst/>
          </a:prstGeom>
          <a:noFill/>
          <a:ln/>
        </p:spPr>
        <p:txBody>
          <a:bodyPr wrap="square" lIns="0" tIns="0" rIns="0" bIns="0" rtlCol="0" anchor="ctr"/>
          <a:lstStyle/>
          <a:p>
            <a:pPr marL="0" indent="0" algn="ctr">
              <a:buNone/>
            </a:pPr>
            <a:r>
              <a:rPr lang="en-US" sz="1100" b="1" dirty="0">
                <a:solidFill>
                  <a:srgbClr val="22205D"/>
                </a:solidFill>
                <a:latin typeface="Arial" pitchFamily="34" charset="0"/>
                <a:ea typeface="Arial" pitchFamily="34" charset="-122"/>
                <a:cs typeface="Arial" pitchFamily="34" charset="-120"/>
              </a:rPr>
              <a:t>NEW</a:t>
            </a:r>
            <a:endParaRPr lang="en-US" sz="1100" dirty="0"/>
          </a:p>
        </p:txBody>
      </p:sp>
      <p:sp>
        <p:nvSpPr>
          <p:cNvPr id="19" name="Text 17"/>
          <p:cNvSpPr txBox="1"/>
          <p:nvPr/>
        </p:nvSpPr>
        <p:spPr>
          <a:xfrm>
            <a:off x="5074920" y="2267712"/>
            <a:ext cx="1737360"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Updated case study cards</a:t>
            </a:r>
            <a:br>
              <a:rPr lang="en-US" sz="1100" dirty="0">
                <a:solidFill>
                  <a:srgbClr val="22205D"/>
                </a:solidFill>
                <a:latin typeface="Arial" pitchFamily="34" charset="0"/>
                <a:ea typeface="Arial" pitchFamily="34" charset="-122"/>
                <a:cs typeface="Arial" pitchFamily="34" charset="-120"/>
              </a:rPr>
            </a:br>
            <a:r>
              <a:rPr lang="en-US" sz="1100" dirty="0">
                <a:solidFill>
                  <a:srgbClr val="22205D"/>
                </a:solidFill>
                <a:latin typeface="Arial" pitchFamily="34" charset="0"/>
                <a:ea typeface="Arial" pitchFamily="34" charset="-122"/>
                <a:cs typeface="Arial" pitchFamily="34" charset="-120"/>
              </a:rPr>
              <a:t>(</a:t>
            </a:r>
            <a:r>
              <a:rPr lang="en-US" sz="1100" dirty="0" err="1">
                <a:solidFill>
                  <a:srgbClr val="22205D"/>
                </a:solidFill>
                <a:latin typeface="Arial" pitchFamily="34" charset="0"/>
                <a:ea typeface="Arial" pitchFamily="34" charset="-122"/>
                <a:cs typeface="Arial" pitchFamily="34" charset="-120"/>
              </a:rPr>
              <a:t>Majidul</a:t>
            </a:r>
            <a:r>
              <a:rPr lang="en-US" sz="1100" dirty="0">
                <a:solidFill>
                  <a:srgbClr val="22205D"/>
                </a:solidFill>
                <a:latin typeface="Arial" pitchFamily="34" charset="0"/>
                <a:ea typeface="Arial" pitchFamily="34" charset="-122"/>
                <a:cs typeface="Arial" pitchFamily="34" charset="-120"/>
              </a:rPr>
              <a:t>, Futtaim, </a:t>
            </a:r>
            <a:r>
              <a:rPr lang="en-US" sz="1100" dirty="0" err="1">
                <a:solidFill>
                  <a:srgbClr val="22205D"/>
                </a:solidFill>
                <a:latin typeface="Arial" pitchFamily="34" charset="0"/>
                <a:ea typeface="Arial" pitchFamily="34" charset="-122"/>
                <a:cs typeface="Arial" pitchFamily="34" charset="-120"/>
              </a:rPr>
              <a:t>Wefi</a:t>
            </a:r>
            <a:r>
              <a:rPr lang="en-US" sz="1100" dirty="0">
                <a:solidFill>
                  <a:srgbClr val="22205D"/>
                </a:solidFill>
                <a:latin typeface="Arial" pitchFamily="34" charset="0"/>
                <a:ea typeface="Arial" pitchFamily="34" charset="-122"/>
                <a:cs typeface="Arial" pitchFamily="34" charset="-120"/>
              </a:rPr>
              <a:t> tech and HBL Asset Management, Huda Beauty)</a:t>
            </a:r>
            <a:endParaRPr lang="en-US" sz="1100" dirty="0"/>
          </a:p>
        </p:txBody>
      </p:sp>
      <p:sp>
        <p:nvSpPr>
          <p:cNvPr id="20" name="Shape 18"/>
          <p:cNvSpPr/>
          <p:nvPr/>
        </p:nvSpPr>
        <p:spPr>
          <a:xfrm>
            <a:off x="548640" y="3291840"/>
            <a:ext cx="2011680" cy="1325880"/>
          </a:xfrm>
          <a:prstGeom prst="roundRect">
            <a:avLst>
              <a:gd name="adj" fmla="val 5517"/>
            </a:avLst>
          </a:prstGeom>
          <a:solidFill>
            <a:srgbClr val="EAF7F4"/>
          </a:solidFill>
          <a:ln w="9525">
            <a:solidFill>
              <a:srgbClr val="E6E6E6"/>
            </a:solidFill>
            <a:prstDash val="solid"/>
          </a:ln>
        </p:spPr>
      </p:sp>
      <p:sp>
        <p:nvSpPr>
          <p:cNvPr id="21" name="Text 19"/>
          <p:cNvSpPr txBox="1"/>
          <p:nvPr/>
        </p:nvSpPr>
        <p:spPr>
          <a:xfrm>
            <a:off x="685800" y="3383280"/>
            <a:ext cx="1188720" cy="320040"/>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Tools</a:t>
            </a:r>
            <a:endParaRPr lang="en-US" sz="1300" dirty="0"/>
          </a:p>
        </p:txBody>
      </p:sp>
      <p:sp>
        <p:nvSpPr>
          <p:cNvPr id="22" name="Shape 20"/>
          <p:cNvSpPr/>
          <p:nvPr/>
        </p:nvSpPr>
        <p:spPr>
          <a:xfrm>
            <a:off x="1901952" y="3401568"/>
            <a:ext cx="530352" cy="256032"/>
          </a:xfrm>
          <a:prstGeom prst="roundRect">
            <a:avLst>
              <a:gd name="adj" fmla="val 25000"/>
            </a:avLst>
          </a:prstGeom>
          <a:solidFill>
            <a:srgbClr val="5CC3AE"/>
          </a:solidFill>
          <a:ln w="12700">
            <a:solidFill>
              <a:srgbClr val="5CC3AE"/>
            </a:solidFill>
            <a:prstDash val="solid"/>
          </a:ln>
        </p:spPr>
      </p:sp>
      <p:sp>
        <p:nvSpPr>
          <p:cNvPr id="23" name="Text 21"/>
          <p:cNvSpPr txBox="1"/>
          <p:nvPr/>
        </p:nvSpPr>
        <p:spPr>
          <a:xfrm>
            <a:off x="1901952" y="3401568"/>
            <a:ext cx="530352" cy="256032"/>
          </a:xfrm>
          <a:prstGeom prst="rect">
            <a:avLst/>
          </a:prstGeom>
          <a:noFill/>
          <a:ln/>
        </p:spPr>
        <p:txBody>
          <a:bodyPr wrap="square" lIns="0" tIns="0" rIns="0" bIns="0" rtlCol="0" anchor="ctr"/>
          <a:lstStyle/>
          <a:p>
            <a:pPr marL="0" indent="0" algn="ctr">
              <a:buNone/>
            </a:pPr>
            <a:r>
              <a:rPr lang="en-US" sz="1100" b="1" dirty="0">
                <a:solidFill>
                  <a:srgbClr val="22205D"/>
                </a:solidFill>
                <a:latin typeface="Arial" pitchFamily="34" charset="0"/>
                <a:ea typeface="Arial" pitchFamily="34" charset="-122"/>
                <a:cs typeface="Arial" pitchFamily="34" charset="-120"/>
              </a:rPr>
              <a:t>NEW</a:t>
            </a:r>
            <a:endParaRPr lang="en-US" sz="1100" dirty="0"/>
          </a:p>
        </p:txBody>
      </p:sp>
      <p:sp>
        <p:nvSpPr>
          <p:cNvPr id="24" name="Text 22"/>
          <p:cNvSpPr txBox="1"/>
          <p:nvPr/>
        </p:nvSpPr>
        <p:spPr>
          <a:xfrm>
            <a:off x="685800" y="3749040"/>
            <a:ext cx="1737360"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AI Security and Data &amp; AI Readiness assessments</a:t>
            </a:r>
            <a:endParaRPr lang="en-US" sz="1100" dirty="0"/>
          </a:p>
        </p:txBody>
      </p:sp>
      <p:sp>
        <p:nvSpPr>
          <p:cNvPr id="25" name="Shape 23"/>
          <p:cNvSpPr/>
          <p:nvPr/>
        </p:nvSpPr>
        <p:spPr>
          <a:xfrm>
            <a:off x="2743200" y="3291840"/>
            <a:ext cx="2011680" cy="1325880"/>
          </a:xfrm>
          <a:prstGeom prst="roundRect">
            <a:avLst>
              <a:gd name="adj" fmla="val 5517"/>
            </a:avLst>
          </a:prstGeom>
          <a:solidFill>
            <a:srgbClr val="EAF7F4"/>
          </a:solidFill>
          <a:ln w="9525">
            <a:solidFill>
              <a:srgbClr val="E6E6E6"/>
            </a:solidFill>
            <a:prstDash val="solid"/>
          </a:ln>
        </p:spPr>
      </p:sp>
      <p:sp>
        <p:nvSpPr>
          <p:cNvPr id="26" name="Text 24"/>
          <p:cNvSpPr txBox="1"/>
          <p:nvPr/>
        </p:nvSpPr>
        <p:spPr>
          <a:xfrm>
            <a:off x="2880360" y="3383280"/>
            <a:ext cx="1188720" cy="320040"/>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Locations</a:t>
            </a:r>
            <a:endParaRPr lang="en-US" sz="1300" dirty="0"/>
          </a:p>
        </p:txBody>
      </p:sp>
      <p:sp>
        <p:nvSpPr>
          <p:cNvPr id="27" name="Shape 25"/>
          <p:cNvSpPr/>
          <p:nvPr/>
        </p:nvSpPr>
        <p:spPr>
          <a:xfrm>
            <a:off x="4096512" y="3401568"/>
            <a:ext cx="530352" cy="256032"/>
          </a:xfrm>
          <a:prstGeom prst="roundRect">
            <a:avLst>
              <a:gd name="adj" fmla="val 25000"/>
            </a:avLst>
          </a:prstGeom>
          <a:solidFill>
            <a:srgbClr val="5CC3AE"/>
          </a:solidFill>
          <a:ln w="12700">
            <a:solidFill>
              <a:srgbClr val="5CC3AE"/>
            </a:solidFill>
            <a:prstDash val="solid"/>
          </a:ln>
        </p:spPr>
      </p:sp>
      <p:sp>
        <p:nvSpPr>
          <p:cNvPr id="28" name="Text 26"/>
          <p:cNvSpPr txBox="1"/>
          <p:nvPr/>
        </p:nvSpPr>
        <p:spPr>
          <a:xfrm>
            <a:off x="4096512" y="3401568"/>
            <a:ext cx="530352" cy="256032"/>
          </a:xfrm>
          <a:prstGeom prst="rect">
            <a:avLst/>
          </a:prstGeom>
          <a:noFill/>
          <a:ln/>
        </p:spPr>
        <p:txBody>
          <a:bodyPr wrap="square" lIns="0" tIns="0" rIns="0" bIns="0" rtlCol="0" anchor="ctr"/>
          <a:lstStyle/>
          <a:p>
            <a:pPr marL="0" indent="0" algn="ctr">
              <a:buNone/>
            </a:pPr>
            <a:r>
              <a:rPr lang="en-US" sz="1100" b="1" dirty="0">
                <a:solidFill>
                  <a:srgbClr val="22205D"/>
                </a:solidFill>
                <a:latin typeface="Arial" pitchFamily="34" charset="0"/>
                <a:ea typeface="Arial" pitchFamily="34" charset="-122"/>
                <a:cs typeface="Arial" pitchFamily="34" charset="-120"/>
              </a:rPr>
              <a:t>NEW</a:t>
            </a:r>
            <a:endParaRPr lang="en-US" sz="1100" dirty="0"/>
          </a:p>
        </p:txBody>
      </p:sp>
      <p:sp>
        <p:nvSpPr>
          <p:cNvPr id="29" name="Text 27"/>
          <p:cNvSpPr txBox="1"/>
          <p:nvPr/>
        </p:nvSpPr>
        <p:spPr>
          <a:xfrm>
            <a:off x="2880360" y="3749040"/>
            <a:ext cx="1737360"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Qatar, Hungary, South Africa</a:t>
            </a:r>
            <a:endParaRPr lang="en-US" sz="1100" dirty="0"/>
          </a:p>
        </p:txBody>
      </p:sp>
      <p:sp>
        <p:nvSpPr>
          <p:cNvPr id="40" name="Shape 38"/>
          <p:cNvSpPr/>
          <p:nvPr/>
        </p:nvSpPr>
        <p:spPr>
          <a:xfrm>
            <a:off x="4960838" y="3294453"/>
            <a:ext cx="2011680" cy="1325880"/>
          </a:xfrm>
          <a:prstGeom prst="roundRect">
            <a:avLst>
              <a:gd name="adj" fmla="val 5517"/>
            </a:avLst>
          </a:prstGeom>
          <a:solidFill>
            <a:srgbClr val="F4F6FB"/>
          </a:solidFill>
          <a:ln w="9525">
            <a:solidFill>
              <a:srgbClr val="E6E6E6"/>
            </a:solidFill>
            <a:prstDash val="solid"/>
          </a:ln>
        </p:spPr>
      </p:sp>
      <p:sp>
        <p:nvSpPr>
          <p:cNvPr id="41" name="Text 39"/>
          <p:cNvSpPr txBox="1"/>
          <p:nvPr/>
        </p:nvSpPr>
        <p:spPr>
          <a:xfrm>
            <a:off x="5097998" y="3385893"/>
            <a:ext cx="1737360" cy="320040"/>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Insights</a:t>
            </a:r>
            <a:endParaRPr lang="en-US" sz="1300" dirty="0"/>
          </a:p>
        </p:txBody>
      </p:sp>
      <p:sp>
        <p:nvSpPr>
          <p:cNvPr id="42" name="Text 40"/>
          <p:cNvSpPr txBox="1"/>
          <p:nvPr/>
        </p:nvSpPr>
        <p:spPr>
          <a:xfrm>
            <a:off x="5097998" y="3751653"/>
            <a:ext cx="1737360"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82 articles</a:t>
            </a:r>
            <a:endParaRPr lang="en-US" sz="1100" dirty="0"/>
          </a:p>
        </p:txBody>
      </p:sp>
      <p:grpSp>
        <p:nvGrpSpPr>
          <p:cNvPr id="58" name="Group 57">
            <a:extLst>
              <a:ext uri="{FF2B5EF4-FFF2-40B4-BE49-F238E27FC236}">
                <a16:creationId xmlns:a16="http://schemas.microsoft.com/office/drawing/2014/main" id="{A38B9D20-7BE8-44F6-9513-7AB38A82AF65}"/>
              </a:ext>
            </a:extLst>
          </p:cNvPr>
          <p:cNvGrpSpPr/>
          <p:nvPr/>
        </p:nvGrpSpPr>
        <p:grpSpPr>
          <a:xfrm>
            <a:off x="7150461" y="914400"/>
            <a:ext cx="4370832" cy="3995928"/>
            <a:chOff x="7269480" y="1143000"/>
            <a:chExt cx="4370832" cy="3995928"/>
          </a:xfrm>
        </p:grpSpPr>
        <p:sp>
          <p:nvSpPr>
            <p:cNvPr id="46" name="Shape 44"/>
            <p:cNvSpPr/>
            <p:nvPr/>
          </p:nvSpPr>
          <p:spPr>
            <a:xfrm>
              <a:off x="7269480" y="1143000"/>
              <a:ext cx="4370832" cy="3995928"/>
            </a:xfrm>
            <a:prstGeom prst="roundRect">
              <a:avLst>
                <a:gd name="adj" fmla="val 1674"/>
              </a:avLst>
            </a:prstGeom>
            <a:solidFill>
              <a:srgbClr val="F4F6FB"/>
            </a:solidFill>
            <a:ln w="9525">
              <a:solidFill>
                <a:srgbClr val="E6E6E6"/>
              </a:solidFill>
              <a:prstDash val="solid"/>
            </a:ln>
          </p:spPr>
        </p:sp>
        <p:sp>
          <p:nvSpPr>
            <p:cNvPr id="47" name="Text 45"/>
            <p:cNvSpPr txBox="1"/>
            <p:nvPr/>
          </p:nvSpPr>
          <p:spPr>
            <a:xfrm>
              <a:off x="7498080" y="1261872"/>
              <a:ext cx="3913632" cy="365760"/>
            </a:xfrm>
            <a:prstGeom prst="rect">
              <a:avLst/>
            </a:prstGeom>
            <a:noFill/>
            <a:ln/>
          </p:spPr>
          <p:txBody>
            <a:bodyPr wrap="square" lIns="0" tIns="0" rIns="0" bIns="0" rtlCol="0" anchor="ctr"/>
            <a:lstStyle/>
            <a:p>
              <a:pPr marL="0" indent="0">
                <a:buNone/>
              </a:pPr>
              <a:r>
                <a:rPr lang="en-US" sz="1500" b="1" dirty="0">
                  <a:solidFill>
                    <a:srgbClr val="0061F6"/>
                  </a:solidFill>
                  <a:latin typeface="Arial" pitchFamily="34" charset="0"/>
                  <a:ea typeface="Arial" pitchFamily="34" charset="-122"/>
                  <a:cs typeface="Arial" pitchFamily="34" charset="-120"/>
                </a:rPr>
                <a:t>Search and AI: last 3 months</a:t>
              </a:r>
              <a:endParaRPr lang="en-US" sz="1500" dirty="0"/>
            </a:p>
          </p:txBody>
        </p:sp>
        <p:sp>
          <p:nvSpPr>
            <p:cNvPr id="48" name="Text 46"/>
            <p:cNvSpPr txBox="1"/>
            <p:nvPr/>
          </p:nvSpPr>
          <p:spPr>
            <a:xfrm>
              <a:off x="7498080" y="1737360"/>
              <a:ext cx="1143000" cy="457200"/>
            </a:xfrm>
            <a:prstGeom prst="rect">
              <a:avLst/>
            </a:prstGeom>
            <a:noFill/>
            <a:ln/>
          </p:spPr>
          <p:txBody>
            <a:bodyPr wrap="square" lIns="0" tIns="0" rIns="0" bIns="0" rtlCol="0" anchor="ctr"/>
            <a:lstStyle/>
            <a:p>
              <a:pPr marL="0" indent="0">
                <a:buNone/>
              </a:pPr>
              <a:r>
                <a:rPr lang="en-US" sz="2200" b="1" dirty="0">
                  <a:solidFill>
                    <a:srgbClr val="22205D"/>
                  </a:solidFill>
                  <a:latin typeface="Arial" pitchFamily="34" charset="0"/>
                  <a:ea typeface="Arial" pitchFamily="34" charset="-122"/>
                  <a:cs typeface="Arial" pitchFamily="34" charset="-120"/>
                </a:rPr>
                <a:t>+30%</a:t>
              </a:r>
              <a:endParaRPr lang="en-US" sz="2200" dirty="0"/>
            </a:p>
          </p:txBody>
        </p:sp>
        <p:sp>
          <p:nvSpPr>
            <p:cNvPr id="49" name="Text 47"/>
            <p:cNvSpPr txBox="1"/>
            <p:nvPr/>
          </p:nvSpPr>
          <p:spPr>
            <a:xfrm>
              <a:off x="8686800" y="1755648"/>
              <a:ext cx="2724912"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Google clicks vs the previous 3 months (1.9K vs 1.46K)</a:t>
              </a:r>
              <a:endParaRPr lang="en-US" sz="1100" dirty="0"/>
            </a:p>
          </p:txBody>
        </p:sp>
        <p:sp>
          <p:nvSpPr>
            <p:cNvPr id="50" name="Text 48"/>
            <p:cNvSpPr txBox="1"/>
            <p:nvPr/>
          </p:nvSpPr>
          <p:spPr>
            <a:xfrm>
              <a:off x="7498080" y="2606040"/>
              <a:ext cx="1143000" cy="457200"/>
            </a:xfrm>
            <a:prstGeom prst="rect">
              <a:avLst/>
            </a:prstGeom>
            <a:noFill/>
            <a:ln/>
          </p:spPr>
          <p:txBody>
            <a:bodyPr wrap="square" lIns="0" tIns="0" rIns="0" bIns="0" rtlCol="0" anchor="ctr"/>
            <a:lstStyle/>
            <a:p>
              <a:pPr marL="0" indent="0">
                <a:buNone/>
              </a:pPr>
              <a:r>
                <a:rPr lang="en-US" sz="2200" b="1" dirty="0">
                  <a:solidFill>
                    <a:srgbClr val="22205D"/>
                  </a:solidFill>
                  <a:latin typeface="Arial" pitchFamily="34" charset="0"/>
                  <a:ea typeface="Arial" pitchFamily="34" charset="-122"/>
                  <a:cs typeface="Arial" pitchFamily="34" charset="-120"/>
                </a:rPr>
                <a:t>2.5×</a:t>
              </a:r>
              <a:endParaRPr lang="en-US" sz="2200" dirty="0"/>
            </a:p>
          </p:txBody>
        </p:sp>
        <p:sp>
          <p:nvSpPr>
            <p:cNvPr id="51" name="Text 49"/>
            <p:cNvSpPr txBox="1"/>
            <p:nvPr/>
          </p:nvSpPr>
          <p:spPr>
            <a:xfrm>
              <a:off x="8686800" y="2624328"/>
              <a:ext cx="2724912"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Click-through rate from Google (7.8% vs 3.1%)</a:t>
              </a:r>
              <a:endParaRPr lang="en-US" sz="1100" dirty="0"/>
            </a:p>
          </p:txBody>
        </p:sp>
        <p:sp>
          <p:nvSpPr>
            <p:cNvPr id="52" name="Text 50"/>
            <p:cNvSpPr txBox="1"/>
            <p:nvPr/>
          </p:nvSpPr>
          <p:spPr>
            <a:xfrm>
              <a:off x="7498080" y="3474720"/>
              <a:ext cx="1143000" cy="457200"/>
            </a:xfrm>
            <a:prstGeom prst="rect">
              <a:avLst/>
            </a:prstGeom>
            <a:noFill/>
            <a:ln/>
          </p:spPr>
          <p:txBody>
            <a:bodyPr wrap="square" lIns="0" tIns="0" rIns="0" bIns="0" rtlCol="0" anchor="ctr"/>
            <a:lstStyle/>
            <a:p>
              <a:pPr marL="0" indent="0">
                <a:buNone/>
              </a:pPr>
              <a:r>
                <a:rPr lang="en-US" sz="2200" b="1" dirty="0">
                  <a:solidFill>
                    <a:srgbClr val="22205D"/>
                  </a:solidFill>
                  <a:latin typeface="Arial" pitchFamily="34" charset="0"/>
                  <a:ea typeface="Arial" pitchFamily="34" charset="-122"/>
                  <a:cs typeface="Arial" pitchFamily="34" charset="-120"/>
                </a:rPr>
                <a:t>3</a:t>
              </a:r>
              <a:endParaRPr lang="en-US" sz="2200" dirty="0"/>
            </a:p>
          </p:txBody>
        </p:sp>
        <p:sp>
          <p:nvSpPr>
            <p:cNvPr id="53" name="Text 51"/>
            <p:cNvSpPr txBox="1"/>
            <p:nvPr/>
          </p:nvSpPr>
          <p:spPr>
            <a:xfrm>
              <a:off x="8686800" y="3493008"/>
              <a:ext cx="2724912"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AI assistants sending visitors: ChatGPT, Perplexity, Gemini</a:t>
              </a:r>
              <a:endParaRPr lang="en-US" sz="1100" dirty="0"/>
            </a:p>
          </p:txBody>
        </p:sp>
        <p:sp>
          <p:nvSpPr>
            <p:cNvPr id="54" name="Text 52"/>
            <p:cNvSpPr txBox="1"/>
            <p:nvPr/>
          </p:nvSpPr>
          <p:spPr>
            <a:xfrm>
              <a:off x="7498080" y="4343400"/>
              <a:ext cx="1143000" cy="457200"/>
            </a:xfrm>
            <a:prstGeom prst="rect">
              <a:avLst/>
            </a:prstGeom>
            <a:noFill/>
            <a:ln/>
          </p:spPr>
          <p:txBody>
            <a:bodyPr wrap="square" lIns="0" tIns="0" rIns="0" bIns="0" rtlCol="0" anchor="ctr"/>
            <a:lstStyle/>
            <a:p>
              <a:pPr marL="0" indent="0">
                <a:buNone/>
              </a:pPr>
              <a:r>
                <a:rPr lang="en-US" sz="2200" b="1" dirty="0">
                  <a:solidFill>
                    <a:srgbClr val="22205D"/>
                  </a:solidFill>
                  <a:latin typeface="Arial" pitchFamily="34" charset="0"/>
                  <a:ea typeface="Arial" pitchFamily="34" charset="-122"/>
                  <a:cs typeface="Arial" pitchFamily="34" charset="-120"/>
                </a:rPr>
                <a:t>Top 5</a:t>
              </a:r>
              <a:endParaRPr lang="en-US" sz="2200" dirty="0"/>
            </a:p>
          </p:txBody>
        </p:sp>
        <p:sp>
          <p:nvSpPr>
            <p:cNvPr id="55" name="Text 53"/>
            <p:cNvSpPr txBox="1"/>
            <p:nvPr/>
          </p:nvSpPr>
          <p:spPr>
            <a:xfrm>
              <a:off x="8686800" y="4361688"/>
              <a:ext cx="2724912" cy="77724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Google rank for questions AI assistants ask, e.g. document processing ROI, small vs large language models, AI stuck in pilot</a:t>
              </a:r>
              <a:endParaRPr lang="en-US" sz="1100" dirty="0"/>
            </a:p>
          </p:txBody>
        </p:sp>
      </p:grpSp>
      <p:pic>
        <p:nvPicPr>
          <p:cNvPr id="59" name="Picture 58">
            <a:extLst>
              <a:ext uri="{FF2B5EF4-FFF2-40B4-BE49-F238E27FC236}">
                <a16:creationId xmlns:a16="http://schemas.microsoft.com/office/drawing/2014/main" id="{4C5230DC-B4BF-4126-BD53-B7CCE953CE77}"/>
              </a:ext>
            </a:extLst>
          </p:cNvPr>
          <p:cNvPicPr>
            <a:picLocks noChangeAspect="1"/>
          </p:cNvPicPr>
          <p:nvPr/>
        </p:nvPicPr>
        <p:blipFill>
          <a:blip r:embed="rId3"/>
          <a:stretch>
            <a:fillRect/>
          </a:stretch>
        </p:blipFill>
        <p:spPr>
          <a:xfrm>
            <a:off x="452342" y="4088202"/>
            <a:ext cx="4165378" cy="27697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LinkedIn: last 90 days, and where ad spend should go</a:t>
            </a:r>
            <a:endParaRPr lang="en-US" sz="2800" dirty="0"/>
          </a:p>
        </p:txBody>
      </p:sp>
      <p:sp>
        <p:nvSpPr>
          <p:cNvPr id="3" name="Shape 1"/>
          <p:cNvSpPr/>
          <p:nvPr/>
        </p:nvSpPr>
        <p:spPr>
          <a:xfrm>
            <a:off x="548640" y="1143000"/>
            <a:ext cx="6035040" cy="5166360"/>
          </a:xfrm>
          <a:prstGeom prst="roundRect">
            <a:avLst>
              <a:gd name="adj" fmla="val 1416"/>
            </a:avLst>
          </a:prstGeom>
          <a:solidFill>
            <a:srgbClr val="FFFFFF"/>
          </a:solidFill>
          <a:ln w="9525">
            <a:solidFill>
              <a:srgbClr val="E6E6E6"/>
            </a:solidFill>
            <a:prstDash val="solid"/>
          </a:ln>
        </p:spPr>
      </p:sp>
      <p:sp>
        <p:nvSpPr>
          <p:cNvPr id="4" name="Text 2"/>
          <p:cNvSpPr txBox="1"/>
          <p:nvPr/>
        </p:nvSpPr>
        <p:spPr>
          <a:xfrm>
            <a:off x="822960" y="1280160"/>
            <a:ext cx="5486400" cy="365760"/>
          </a:xfrm>
          <a:prstGeom prst="rect">
            <a:avLst/>
          </a:prstGeom>
          <a:noFill/>
          <a:ln/>
        </p:spPr>
        <p:txBody>
          <a:bodyPr wrap="square" lIns="0" tIns="0" rIns="0" bIns="0" rtlCol="0" anchor="ctr"/>
          <a:lstStyle/>
          <a:p>
            <a:pPr marL="0" indent="0">
              <a:buNone/>
            </a:pPr>
            <a:r>
              <a:rPr lang="en-US" sz="1500" b="1" dirty="0">
                <a:solidFill>
                  <a:srgbClr val="0061F6"/>
                </a:solidFill>
                <a:latin typeface="Arial" pitchFamily="34" charset="0"/>
                <a:ea typeface="Arial" pitchFamily="34" charset="-122"/>
                <a:cs typeface="Arial" pitchFamily="34" charset="-120"/>
              </a:rPr>
              <a:t>LinkedIn performance, all organic</a:t>
            </a:r>
            <a:endParaRPr lang="en-US" sz="1500" dirty="0"/>
          </a:p>
        </p:txBody>
      </p:sp>
      <p:sp>
        <p:nvSpPr>
          <p:cNvPr id="5" name="Text 3"/>
          <p:cNvSpPr txBox="1"/>
          <p:nvPr/>
        </p:nvSpPr>
        <p:spPr>
          <a:xfrm>
            <a:off x="822960" y="1783080"/>
            <a:ext cx="1737360" cy="566928"/>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39.4K</a:t>
            </a:r>
            <a:endParaRPr lang="en-US" sz="2800" dirty="0"/>
          </a:p>
        </p:txBody>
      </p:sp>
      <p:sp>
        <p:nvSpPr>
          <p:cNvPr id="6" name="Text 4"/>
          <p:cNvSpPr txBox="1"/>
          <p:nvPr/>
        </p:nvSpPr>
        <p:spPr>
          <a:xfrm>
            <a:off x="822960" y="2350008"/>
            <a:ext cx="1737360" cy="45720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impressions</a:t>
            </a:r>
            <a:endParaRPr lang="en-US" sz="1100" dirty="0"/>
          </a:p>
        </p:txBody>
      </p:sp>
      <p:sp>
        <p:nvSpPr>
          <p:cNvPr id="7" name="Text 5"/>
          <p:cNvSpPr txBox="1"/>
          <p:nvPr/>
        </p:nvSpPr>
        <p:spPr>
          <a:xfrm>
            <a:off x="2651760" y="1783080"/>
            <a:ext cx="1737360" cy="566928"/>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1,277</a:t>
            </a:r>
            <a:endParaRPr lang="en-US" sz="2800" dirty="0"/>
          </a:p>
        </p:txBody>
      </p:sp>
      <p:sp>
        <p:nvSpPr>
          <p:cNvPr id="8" name="Text 6"/>
          <p:cNvSpPr txBox="1"/>
          <p:nvPr/>
        </p:nvSpPr>
        <p:spPr>
          <a:xfrm>
            <a:off x="2651760" y="2350008"/>
            <a:ext cx="1737360" cy="45720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new followers (14.6K total)</a:t>
            </a:r>
            <a:endParaRPr lang="en-US" sz="1100" dirty="0"/>
          </a:p>
        </p:txBody>
      </p:sp>
      <p:sp>
        <p:nvSpPr>
          <p:cNvPr id="9" name="Text 7"/>
          <p:cNvSpPr txBox="1"/>
          <p:nvPr/>
        </p:nvSpPr>
        <p:spPr>
          <a:xfrm>
            <a:off x="4480560" y="1783080"/>
            <a:ext cx="1737360" cy="566928"/>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622</a:t>
            </a:r>
            <a:endParaRPr lang="en-US" sz="2800" dirty="0"/>
          </a:p>
        </p:txBody>
      </p:sp>
      <p:sp>
        <p:nvSpPr>
          <p:cNvPr id="10" name="Text 8"/>
          <p:cNvSpPr txBox="1"/>
          <p:nvPr/>
        </p:nvSpPr>
        <p:spPr>
          <a:xfrm>
            <a:off x="4480560" y="2350008"/>
            <a:ext cx="1737360" cy="457200"/>
          </a:xfrm>
          <a:prstGeom prst="rect">
            <a:avLst/>
          </a:prstGeom>
          <a:noFill/>
          <a:ln/>
        </p:spPr>
        <p:txBody>
          <a:bodyPr wrap="square" lIns="0" tIns="0" rIns="0" bIns="0" rtlCol="0" anchor="t"/>
          <a:lstStyle/>
          <a:p>
            <a:pPr marL="0" indent="0">
              <a:buNone/>
            </a:pPr>
            <a:r>
              <a:rPr lang="en-US" sz="1100" dirty="0">
                <a:solidFill>
                  <a:srgbClr val="22205D"/>
                </a:solidFill>
                <a:latin typeface="Arial" pitchFamily="34" charset="0"/>
                <a:ea typeface="Arial" pitchFamily="34" charset="-122"/>
                <a:cs typeface="Arial" pitchFamily="34" charset="-120"/>
              </a:rPr>
              <a:t>reactions</a:t>
            </a:r>
            <a:endParaRPr lang="en-US" sz="1100" dirty="0"/>
          </a:p>
        </p:txBody>
      </p:sp>
      <p:sp>
        <p:nvSpPr>
          <p:cNvPr id="11" name="Text 9"/>
          <p:cNvSpPr txBox="1"/>
          <p:nvPr/>
        </p:nvSpPr>
        <p:spPr>
          <a:xfrm>
            <a:off x="822960" y="3017520"/>
            <a:ext cx="5486400" cy="320040"/>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What works: real people</a:t>
            </a:r>
            <a:endParaRPr lang="en-US" sz="1300" dirty="0"/>
          </a:p>
        </p:txBody>
      </p:sp>
      <p:sp>
        <p:nvSpPr>
          <p:cNvPr id="12" name="Text 10"/>
          <p:cNvSpPr txBox="1"/>
          <p:nvPr/>
        </p:nvSpPr>
        <p:spPr>
          <a:xfrm>
            <a:off x="822960" y="3401568"/>
            <a:ext cx="2651760" cy="36576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Islamabad team strategy session</a:t>
            </a:r>
            <a:endParaRPr lang="en-US" sz="1100" dirty="0"/>
          </a:p>
        </p:txBody>
      </p:sp>
      <p:sp>
        <p:nvSpPr>
          <p:cNvPr id="13" name="Shape 11"/>
          <p:cNvSpPr/>
          <p:nvPr/>
        </p:nvSpPr>
        <p:spPr>
          <a:xfrm>
            <a:off x="3474720" y="3474720"/>
            <a:ext cx="2286000" cy="237744"/>
          </a:xfrm>
          <a:prstGeom prst="rect">
            <a:avLst/>
          </a:prstGeom>
          <a:solidFill>
            <a:srgbClr val="5CC3AE"/>
          </a:solidFill>
          <a:ln w="12700">
            <a:solidFill>
              <a:srgbClr val="FFFFFF"/>
            </a:solidFill>
            <a:prstDash val="solid"/>
          </a:ln>
        </p:spPr>
      </p:sp>
      <p:sp>
        <p:nvSpPr>
          <p:cNvPr id="14" name="Text 12"/>
          <p:cNvSpPr txBox="1"/>
          <p:nvPr/>
        </p:nvSpPr>
        <p:spPr>
          <a:xfrm>
            <a:off x="5806440" y="3401568"/>
            <a:ext cx="731520" cy="365760"/>
          </a:xfrm>
          <a:prstGeom prst="rect">
            <a:avLst/>
          </a:prstGeom>
          <a:noFill/>
          <a:ln/>
        </p:spPr>
        <p:txBody>
          <a:bodyPr wrap="square" lIns="0" tIns="0" rIns="0" bIns="0" rtlCol="0" anchor="ctr"/>
          <a:lstStyle/>
          <a:p>
            <a:pPr marL="0" indent="0">
              <a:buNone/>
            </a:pPr>
            <a:r>
              <a:rPr lang="en-US" sz="1100" b="1" dirty="0">
                <a:solidFill>
                  <a:srgbClr val="22205D"/>
                </a:solidFill>
                <a:latin typeface="Arial" pitchFamily="34" charset="0"/>
                <a:ea typeface="Arial" pitchFamily="34" charset="-122"/>
                <a:cs typeface="Arial" pitchFamily="34" charset="-120"/>
              </a:rPr>
              <a:t>118%</a:t>
            </a:r>
            <a:endParaRPr lang="en-US" sz="1100" dirty="0"/>
          </a:p>
        </p:txBody>
      </p:sp>
      <p:sp>
        <p:nvSpPr>
          <p:cNvPr id="15" name="Text 13"/>
          <p:cNvSpPr txBox="1"/>
          <p:nvPr/>
        </p:nvSpPr>
        <p:spPr>
          <a:xfrm>
            <a:off x="822960" y="3858768"/>
            <a:ext cx="2651760" cy="36576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Townhall 2026 highlights</a:t>
            </a:r>
            <a:endParaRPr lang="en-US" sz="1100" dirty="0"/>
          </a:p>
        </p:txBody>
      </p:sp>
      <p:sp>
        <p:nvSpPr>
          <p:cNvPr id="16" name="Shape 14"/>
          <p:cNvSpPr/>
          <p:nvPr/>
        </p:nvSpPr>
        <p:spPr>
          <a:xfrm>
            <a:off x="3474720" y="3931920"/>
            <a:ext cx="1007390" cy="237744"/>
          </a:xfrm>
          <a:prstGeom prst="rect">
            <a:avLst/>
          </a:prstGeom>
          <a:solidFill>
            <a:srgbClr val="5CC3AE"/>
          </a:solidFill>
          <a:ln w="12700">
            <a:solidFill>
              <a:srgbClr val="FFFFFF"/>
            </a:solidFill>
            <a:prstDash val="solid"/>
          </a:ln>
        </p:spPr>
      </p:sp>
      <p:sp>
        <p:nvSpPr>
          <p:cNvPr id="17" name="Text 15"/>
          <p:cNvSpPr txBox="1"/>
          <p:nvPr/>
        </p:nvSpPr>
        <p:spPr>
          <a:xfrm>
            <a:off x="4527830" y="3858768"/>
            <a:ext cx="731520" cy="365760"/>
          </a:xfrm>
          <a:prstGeom prst="rect">
            <a:avLst/>
          </a:prstGeom>
          <a:noFill/>
          <a:ln/>
        </p:spPr>
        <p:txBody>
          <a:bodyPr wrap="square" lIns="0" tIns="0" rIns="0" bIns="0" rtlCol="0" anchor="ctr"/>
          <a:lstStyle/>
          <a:p>
            <a:pPr marL="0" indent="0">
              <a:buNone/>
            </a:pPr>
            <a:r>
              <a:rPr lang="en-US" sz="1100" b="1" dirty="0">
                <a:solidFill>
                  <a:srgbClr val="22205D"/>
                </a:solidFill>
                <a:latin typeface="Arial" pitchFamily="34" charset="0"/>
                <a:ea typeface="Arial" pitchFamily="34" charset="-122"/>
                <a:cs typeface="Arial" pitchFamily="34" charset="-120"/>
              </a:rPr>
              <a:t>52%</a:t>
            </a:r>
            <a:endParaRPr lang="en-US" sz="1100" dirty="0"/>
          </a:p>
        </p:txBody>
      </p:sp>
      <p:sp>
        <p:nvSpPr>
          <p:cNvPr id="18" name="Text 16"/>
          <p:cNvSpPr txBox="1"/>
          <p:nvPr/>
        </p:nvSpPr>
        <p:spPr>
          <a:xfrm>
            <a:off x="822960" y="4315968"/>
            <a:ext cx="2651760" cy="36576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Data engineering explainer video</a:t>
            </a:r>
            <a:endParaRPr lang="en-US" sz="1100" dirty="0"/>
          </a:p>
        </p:txBody>
      </p:sp>
      <p:sp>
        <p:nvSpPr>
          <p:cNvPr id="19" name="Shape 17"/>
          <p:cNvSpPr/>
          <p:nvPr/>
        </p:nvSpPr>
        <p:spPr>
          <a:xfrm>
            <a:off x="3474720" y="4389120"/>
            <a:ext cx="228600" cy="237744"/>
          </a:xfrm>
          <a:prstGeom prst="rect">
            <a:avLst/>
          </a:prstGeom>
          <a:solidFill>
            <a:srgbClr val="50BFE6"/>
          </a:solidFill>
          <a:ln w="12700">
            <a:solidFill>
              <a:srgbClr val="FFFFFF"/>
            </a:solidFill>
            <a:prstDash val="solid"/>
          </a:ln>
        </p:spPr>
      </p:sp>
      <p:sp>
        <p:nvSpPr>
          <p:cNvPr id="20" name="Text 18"/>
          <p:cNvSpPr txBox="1"/>
          <p:nvPr/>
        </p:nvSpPr>
        <p:spPr>
          <a:xfrm>
            <a:off x="3749040" y="4315968"/>
            <a:ext cx="731520" cy="365760"/>
          </a:xfrm>
          <a:prstGeom prst="rect">
            <a:avLst/>
          </a:prstGeom>
          <a:noFill/>
          <a:ln/>
        </p:spPr>
        <p:txBody>
          <a:bodyPr wrap="square" lIns="0" tIns="0" rIns="0" bIns="0" rtlCol="0" anchor="ctr"/>
          <a:lstStyle/>
          <a:p>
            <a:pPr marL="0" indent="0">
              <a:buNone/>
            </a:pPr>
            <a:r>
              <a:rPr lang="en-US" sz="1100" b="1" dirty="0">
                <a:solidFill>
                  <a:srgbClr val="22205D"/>
                </a:solidFill>
                <a:latin typeface="Arial" pitchFamily="34" charset="0"/>
                <a:ea typeface="Arial" pitchFamily="34" charset="-122"/>
                <a:cs typeface="Arial" pitchFamily="34" charset="-120"/>
              </a:rPr>
              <a:t>8%</a:t>
            </a:r>
            <a:endParaRPr lang="en-US" sz="1100" dirty="0"/>
          </a:p>
        </p:txBody>
      </p:sp>
      <p:sp>
        <p:nvSpPr>
          <p:cNvPr id="21" name="Text 19"/>
          <p:cNvSpPr txBox="1"/>
          <p:nvPr/>
        </p:nvSpPr>
        <p:spPr>
          <a:xfrm>
            <a:off x="822960" y="4754880"/>
            <a:ext cx="5486400" cy="228600"/>
          </a:xfrm>
          <a:prstGeom prst="rect">
            <a:avLst/>
          </a:prstGeom>
          <a:noFill/>
          <a:ln/>
        </p:spPr>
        <p:txBody>
          <a:bodyPr wrap="square" lIns="0" tIns="0" rIns="0" bIns="0" rtlCol="0" anchor="ctr"/>
          <a:lstStyle/>
          <a:p>
            <a:pPr marL="0" indent="0">
              <a:buNone/>
            </a:pPr>
            <a:r>
              <a:rPr lang="en-US" sz="900" i="1" dirty="0">
                <a:solidFill>
                  <a:srgbClr val="5A5A7A"/>
                </a:solidFill>
                <a:latin typeface="Arial" pitchFamily="34" charset="0"/>
                <a:ea typeface="Arial" pitchFamily="34" charset="-122"/>
                <a:cs typeface="Arial" pitchFamily="34" charset="-120"/>
              </a:rPr>
              <a:t>Engagement rate, recent posts</a:t>
            </a:r>
            <a:endParaRPr lang="en-US" sz="900" dirty="0"/>
          </a:p>
        </p:txBody>
      </p:sp>
      <p:sp>
        <p:nvSpPr>
          <p:cNvPr id="22" name="Text 20"/>
          <p:cNvSpPr txBox="1"/>
          <p:nvPr/>
        </p:nvSpPr>
        <p:spPr>
          <a:xfrm>
            <a:off x="822960" y="5367528"/>
            <a:ext cx="5486400" cy="822960"/>
          </a:xfrm>
          <a:prstGeom prst="rect">
            <a:avLst/>
          </a:prstGeom>
          <a:noFill/>
          <a:ln/>
        </p:spPr>
        <p:txBody>
          <a:bodyPr wrap="square" lIns="0" tIns="0" rIns="0" bIns="0" rtlCol="0" anchor="t"/>
          <a:lstStyle/>
          <a:p>
            <a:pPr marL="0" indent="0">
              <a:buNone/>
            </a:pPr>
            <a:r>
              <a:rPr lang="en-US" sz="1300" b="1" dirty="0">
                <a:solidFill>
                  <a:srgbClr val="22205D"/>
                </a:solidFill>
                <a:latin typeface="Arial" pitchFamily="34" charset="0"/>
                <a:ea typeface="Arial" pitchFamily="34" charset="-122"/>
                <a:cs typeface="Arial" pitchFamily="34" charset="-120"/>
              </a:rPr>
              <a:t>Going forward: real faces, case studies and more motion content</a:t>
            </a:r>
            <a:endParaRPr lang="en-US" sz="1300" dirty="0"/>
          </a:p>
        </p:txBody>
      </p:sp>
      <p:sp>
        <p:nvSpPr>
          <p:cNvPr id="23" name="Shape 21"/>
          <p:cNvSpPr/>
          <p:nvPr/>
        </p:nvSpPr>
        <p:spPr>
          <a:xfrm>
            <a:off x="6903720" y="1143000"/>
            <a:ext cx="4736592" cy="2331720"/>
          </a:xfrm>
          <a:prstGeom prst="roundRect">
            <a:avLst>
              <a:gd name="adj" fmla="val 3137"/>
            </a:avLst>
          </a:prstGeom>
          <a:solidFill>
            <a:srgbClr val="FFFFFF"/>
          </a:solidFill>
          <a:ln w="9525">
            <a:solidFill>
              <a:srgbClr val="E6E6E6"/>
            </a:solidFill>
            <a:prstDash val="solid"/>
          </a:ln>
        </p:spPr>
      </p:sp>
      <p:sp>
        <p:nvSpPr>
          <p:cNvPr id="24" name="Text 22"/>
          <p:cNvSpPr txBox="1"/>
          <p:nvPr/>
        </p:nvSpPr>
        <p:spPr>
          <a:xfrm>
            <a:off x="7178040" y="1280160"/>
            <a:ext cx="4187952" cy="365760"/>
          </a:xfrm>
          <a:prstGeom prst="rect">
            <a:avLst/>
          </a:prstGeom>
          <a:noFill/>
          <a:ln/>
        </p:spPr>
        <p:txBody>
          <a:bodyPr wrap="square" lIns="0" tIns="0" rIns="0" bIns="0" rtlCol="0" anchor="ctr"/>
          <a:lstStyle/>
          <a:p>
            <a:pPr marL="0" indent="0">
              <a:buNone/>
            </a:pPr>
            <a:r>
              <a:rPr lang="en-US" sz="1500" b="1" dirty="0">
                <a:solidFill>
                  <a:srgbClr val="0061F6"/>
                </a:solidFill>
                <a:latin typeface="Arial" pitchFamily="34" charset="0"/>
                <a:ea typeface="Arial" pitchFamily="34" charset="-122"/>
                <a:cs typeface="Arial" pitchFamily="34" charset="-120"/>
              </a:rPr>
              <a:t>The gap</a:t>
            </a:r>
            <a:endParaRPr lang="en-US" sz="1500" dirty="0"/>
          </a:p>
        </p:txBody>
      </p:sp>
      <p:sp>
        <p:nvSpPr>
          <p:cNvPr id="25" name="Text 23"/>
          <p:cNvSpPr txBox="1"/>
          <p:nvPr/>
        </p:nvSpPr>
        <p:spPr>
          <a:xfrm>
            <a:off x="7178040" y="1691640"/>
            <a:ext cx="4187952"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2205D"/>
                </a:solidFill>
                <a:latin typeface="Arial" pitchFamily="34" charset="0"/>
                <a:ea typeface="Arial" pitchFamily="34" charset="-122"/>
                <a:cs typeface="Arial" pitchFamily="34" charset="-120"/>
              </a:rPr>
              <a:t>All paid promotion so far has been for training (Mari)</a:t>
            </a:r>
            <a:endParaRPr lang="en-US" sz="1200" dirty="0"/>
          </a:p>
          <a:p>
            <a:pPr marL="342900" indent="-342900">
              <a:spcAft>
                <a:spcPts val="500"/>
              </a:spcAft>
              <a:buSzPct val="100000"/>
              <a:buChar char="•"/>
            </a:pPr>
            <a:r>
              <a:rPr lang="en-US" sz="1200" dirty="0">
                <a:solidFill>
                  <a:srgbClr val="22205D"/>
                </a:solidFill>
                <a:latin typeface="Arial" pitchFamily="34" charset="0"/>
                <a:ea typeface="Arial" pitchFamily="34" charset="-122"/>
                <a:cs typeface="Arial" pitchFamily="34" charset="-120"/>
              </a:rPr>
              <a:t>So our audience skews local and career-focused: 6 in 10 LinkedIn followers are in Pakistan, and Careers is one of our most visited page</a:t>
            </a:r>
            <a:endParaRPr lang="en-US" sz="1200" dirty="0"/>
          </a:p>
          <a:p>
            <a:pPr marL="342900" indent="-342900">
              <a:spcAft>
                <a:spcPts val="500"/>
              </a:spcAft>
              <a:buSzPct val="100000"/>
              <a:buChar char="•"/>
            </a:pPr>
            <a:r>
              <a:rPr lang="en-US" sz="1200" dirty="0">
                <a:solidFill>
                  <a:srgbClr val="22205D"/>
                </a:solidFill>
                <a:latin typeface="Arial" pitchFamily="34" charset="0"/>
                <a:ea typeface="Arial" pitchFamily="34" charset="-122"/>
                <a:cs typeface="Arial" pitchFamily="34" charset="-120"/>
              </a:rPr>
              <a:t>Services, case studies and the new tools have had no paid push</a:t>
            </a:r>
            <a:endParaRPr lang="en-US" sz="1200" dirty="0"/>
          </a:p>
        </p:txBody>
      </p:sp>
      <p:sp>
        <p:nvSpPr>
          <p:cNvPr id="26" name="Shape 24"/>
          <p:cNvSpPr/>
          <p:nvPr/>
        </p:nvSpPr>
        <p:spPr>
          <a:xfrm>
            <a:off x="6903720" y="3657600"/>
            <a:ext cx="4736592" cy="2651760"/>
          </a:xfrm>
          <a:prstGeom prst="roundRect">
            <a:avLst>
              <a:gd name="adj" fmla="val 2759"/>
            </a:avLst>
          </a:prstGeom>
          <a:solidFill>
            <a:srgbClr val="EAF7F4"/>
          </a:solidFill>
          <a:ln w="9525">
            <a:solidFill>
              <a:srgbClr val="E6E6E6"/>
            </a:solidFill>
            <a:prstDash val="solid"/>
          </a:ln>
        </p:spPr>
      </p:sp>
      <p:sp>
        <p:nvSpPr>
          <p:cNvPr id="27" name="Text 25"/>
          <p:cNvSpPr txBox="1"/>
          <p:nvPr/>
        </p:nvSpPr>
        <p:spPr>
          <a:xfrm>
            <a:off x="7178040" y="3794760"/>
            <a:ext cx="4187952" cy="365760"/>
          </a:xfrm>
          <a:prstGeom prst="rect">
            <a:avLst/>
          </a:prstGeom>
          <a:noFill/>
          <a:ln/>
        </p:spPr>
        <p:txBody>
          <a:bodyPr wrap="square" lIns="0" tIns="0" rIns="0" bIns="0" rtlCol="0" anchor="ctr"/>
          <a:lstStyle/>
          <a:p>
            <a:pPr marL="0" indent="0">
              <a:buNone/>
            </a:pPr>
            <a:r>
              <a:rPr lang="en-US" sz="1500" b="1" dirty="0">
                <a:solidFill>
                  <a:srgbClr val="22205D"/>
                </a:solidFill>
                <a:latin typeface="Arial" pitchFamily="34" charset="0"/>
                <a:ea typeface="Arial" pitchFamily="34" charset="-122"/>
                <a:cs typeface="Arial" pitchFamily="34" charset="-120"/>
              </a:rPr>
              <a:t>Proposal: a small services ad budget</a:t>
            </a:r>
            <a:endParaRPr lang="en-US" sz="1500" dirty="0"/>
          </a:p>
        </p:txBody>
      </p:sp>
      <p:sp>
        <p:nvSpPr>
          <p:cNvPr id="28" name="Text 26"/>
          <p:cNvSpPr txBox="1"/>
          <p:nvPr/>
        </p:nvSpPr>
        <p:spPr>
          <a:xfrm>
            <a:off x="7178040" y="4206240"/>
            <a:ext cx="4187952" cy="548640"/>
          </a:xfrm>
          <a:prstGeom prst="rect">
            <a:avLst/>
          </a:prstGeom>
          <a:noFill/>
          <a:ln/>
        </p:spPr>
        <p:txBody>
          <a:bodyPr wrap="square" lIns="0" tIns="0" rIns="0" bIns="0" rtlCol="0" anchor="ctr"/>
          <a:lstStyle/>
          <a:p>
            <a:pPr marL="0" indent="0">
              <a:buNone/>
            </a:pPr>
            <a:r>
              <a:rPr lang="en-US" sz="2800" b="1" dirty="0">
                <a:solidFill>
                  <a:srgbClr val="0061F6"/>
                </a:solidFill>
                <a:latin typeface="Arial" pitchFamily="34" charset="0"/>
                <a:ea typeface="Arial" pitchFamily="34" charset="-122"/>
                <a:cs typeface="Arial" pitchFamily="34" charset="-120"/>
              </a:rPr>
              <a:t>$300–600 a month</a:t>
            </a:r>
            <a:endParaRPr lang="en-US" sz="2800" dirty="0"/>
          </a:p>
        </p:txBody>
      </p:sp>
      <p:sp>
        <p:nvSpPr>
          <p:cNvPr id="29" name="Text 27"/>
          <p:cNvSpPr txBox="1"/>
          <p:nvPr/>
        </p:nvSpPr>
        <p:spPr>
          <a:xfrm>
            <a:off x="7178040" y="4736592"/>
            <a:ext cx="4187952" cy="274320"/>
          </a:xfrm>
          <a:prstGeom prst="rect">
            <a:avLst/>
          </a:prstGeom>
          <a:noFill/>
          <a:ln/>
        </p:spPr>
        <p:txBody>
          <a:bodyPr wrap="square" lIns="0" tIns="0" rIns="0" bIns="0" rtlCol="0" anchor="ctr"/>
          <a:lstStyle/>
          <a:p>
            <a:pPr marL="0" indent="0">
              <a:buNone/>
            </a:pPr>
            <a:r>
              <a:rPr lang="en-US" sz="1100" dirty="0">
                <a:solidFill>
                  <a:srgbClr val="5A5A7A"/>
                </a:solidFill>
                <a:latin typeface="Arial" pitchFamily="34" charset="0"/>
                <a:ea typeface="Arial" pitchFamily="34" charset="-122"/>
                <a:cs typeface="Arial" pitchFamily="34" charset="-120"/>
              </a:rPr>
              <a:t>about PKR 85K–170K</a:t>
            </a:r>
            <a:endParaRPr lang="en-US" sz="1100" dirty="0"/>
          </a:p>
        </p:txBody>
      </p:sp>
      <p:sp>
        <p:nvSpPr>
          <p:cNvPr id="30" name="Text 28"/>
          <p:cNvSpPr txBox="1"/>
          <p:nvPr/>
        </p:nvSpPr>
        <p:spPr>
          <a:xfrm>
            <a:off x="7178040" y="5074920"/>
            <a:ext cx="4187952"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2205D"/>
                </a:solidFill>
                <a:latin typeface="Arial" pitchFamily="34" charset="0"/>
                <a:ea typeface="Arial" pitchFamily="34" charset="-122"/>
                <a:cs typeface="Arial" pitchFamily="34" charset="-120"/>
              </a:rPr>
              <a:t>LinkedIn (about 70%) + Meta (about 30%)</a:t>
            </a:r>
            <a:endParaRPr lang="en-US" sz="1200" dirty="0"/>
          </a:p>
          <a:p>
            <a:pPr marL="342900" indent="-342900">
              <a:spcAft>
                <a:spcPts val="500"/>
              </a:spcAft>
              <a:buSzPct val="100000"/>
              <a:buChar char="•"/>
            </a:pPr>
            <a:r>
              <a:rPr lang="en-US" sz="1200" dirty="0">
                <a:solidFill>
                  <a:srgbClr val="22205D"/>
                </a:solidFill>
                <a:latin typeface="Arial" pitchFamily="34" charset="0"/>
                <a:ea typeface="Arial" pitchFamily="34" charset="-122"/>
                <a:cs typeface="Arial" pitchFamily="34" charset="-120"/>
              </a:rPr>
              <a:t>Promote the 2 tools, case studies and services</a:t>
            </a:r>
            <a:endParaRPr lang="en-US" sz="1200" dirty="0"/>
          </a:p>
          <a:p>
            <a:pPr marL="342900" indent="-342900">
              <a:spcAft>
                <a:spcPts val="500"/>
              </a:spcAft>
              <a:buSzPct val="100000"/>
              <a:buChar char="•"/>
            </a:pPr>
            <a:r>
              <a:rPr lang="en-US" sz="1200" dirty="0">
                <a:solidFill>
                  <a:srgbClr val="22205D"/>
                </a:solidFill>
                <a:latin typeface="Arial" pitchFamily="34" charset="0"/>
                <a:ea typeface="Arial" pitchFamily="34" charset="-122"/>
                <a:cs typeface="Arial" pitchFamily="34" charset="-120"/>
              </a:rPr>
              <a:t>3-month test from mid-October, review in January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Events for sales: Q2–Q3 shortlist</a:t>
            </a:r>
            <a:endParaRPr lang="en-US" sz="2800" dirty="0"/>
          </a:p>
        </p:txBody>
      </p:sp>
      <p:sp>
        <p:nvSpPr>
          <p:cNvPr id="3" name="Text 1"/>
          <p:cNvSpPr txBox="1"/>
          <p:nvPr/>
        </p:nvSpPr>
        <p:spPr>
          <a:xfrm>
            <a:off x="548640" y="896112"/>
            <a:ext cx="11091672" cy="320040"/>
          </a:xfrm>
          <a:prstGeom prst="rect">
            <a:avLst/>
          </a:prstGeom>
          <a:noFill/>
          <a:ln/>
        </p:spPr>
        <p:txBody>
          <a:bodyPr wrap="square" lIns="0" tIns="0" rIns="0" bIns="0" rtlCol="0" anchor="ctr"/>
          <a:lstStyle/>
          <a:p>
            <a:pPr marL="0" indent="0">
              <a:buNone/>
            </a:pPr>
            <a:r>
              <a:rPr lang="en-US" sz="1300" dirty="0">
                <a:solidFill>
                  <a:srgbClr val="5A5A7A"/>
                </a:solidFill>
                <a:latin typeface="Arial" pitchFamily="34" charset="0"/>
                <a:ea typeface="Arial" pitchFamily="34" charset="-122"/>
                <a:cs typeface="Arial" pitchFamily="34" charset="-120"/>
              </a:rPr>
              <a:t>Data, AI and security events. Marketing supplies the deck, one-pagers and case studies for each</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096512"/>
        </p:xfrm>
        <a:graphic>
          <a:graphicData uri="http://schemas.openxmlformats.org/drawingml/2006/table">
            <a:tbl>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319272">
                  <a:extLst>
                    <a:ext uri="{9D8B030D-6E8A-4147-A177-3AD203B41FA5}">
                      <a16:colId xmlns:a16="http://schemas.microsoft.com/office/drawing/2014/main" val="20004"/>
                    </a:ext>
                  </a:extLst>
                </a:gridCol>
              </a:tblGrid>
              <a:tr h="512064">
                <a:tc>
                  <a:txBody>
                    <a:bodyPr/>
                    <a:lstStyle/>
                    <a:p>
                      <a:pPr marL="0" indent="0">
                        <a:buNone/>
                      </a:pPr>
                      <a:r>
                        <a:rPr lang="en-US" sz="1200" b="1" dirty="0">
                          <a:solidFill>
                            <a:srgbClr val="FFFFFF"/>
                          </a:solidFill>
                          <a:latin typeface="Arial" pitchFamily="34" charset="0"/>
                          <a:ea typeface="Arial" pitchFamily="34" charset="-122"/>
                          <a:cs typeface="Arial" pitchFamily="34" charset="-120"/>
                        </a:rPr>
                        <a:t>Event</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When</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Where</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Focus</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Why</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extLst>
                  <a:ext uri="{0D108BD9-81ED-4DB2-BD59-A6C34878D82A}">
                    <a16:rowId xmlns:a16="http://schemas.microsoft.com/office/drawing/2014/main" val="10000"/>
                  </a:ext>
                </a:extLst>
              </a:tr>
              <a:tr h="512064">
                <a:tc>
                  <a:txBody>
                    <a:bodyPr/>
                    <a:lstStyle/>
                    <a:p>
                      <a:pPr marL="0" indent="0">
                        <a:buNone/>
                      </a:pPr>
                      <a:r>
                        <a:rPr lang="en-US" sz="1200" b="1" dirty="0">
                          <a:solidFill>
                            <a:srgbClr val="22205D"/>
                          </a:solidFill>
                          <a:latin typeface="Arial" pitchFamily="34" charset="0"/>
                          <a:ea typeface="Arial" pitchFamily="34" charset="-122"/>
                          <a:cs typeface="Arial" pitchFamily="34" charset="-120"/>
                        </a:rPr>
                        <a:t>AI Expo Africa</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Oct 28–29</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Johannesburg</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Enterprise AI</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Supports our South Africa presence</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200" b="1" dirty="0">
                          <a:solidFill>
                            <a:srgbClr val="22205D"/>
                          </a:solidFill>
                          <a:latin typeface="Arial" pitchFamily="34" charset="0"/>
                          <a:ea typeface="Arial" pitchFamily="34" charset="-122"/>
                          <a:cs typeface="Arial" pitchFamily="34" charset="-120"/>
                        </a:rPr>
                        <a:t>Securetech Pakistan</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Nov (dates to confirm)</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Islamabad</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Security</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NEPRA and AI security buyers</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200" b="1" dirty="0">
                          <a:solidFill>
                            <a:srgbClr val="22205D"/>
                          </a:solidFill>
                          <a:latin typeface="Arial" pitchFamily="34" charset="0"/>
                          <a:ea typeface="Arial" pitchFamily="34" charset="-122"/>
                          <a:cs typeface="Arial" pitchFamily="34" charset="-120"/>
                        </a:rPr>
                        <a:t>Black Hat MEA</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Dec 1–3</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Riyadh</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Security</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Top regional security event</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200" b="1" dirty="0">
                          <a:solidFill>
                            <a:srgbClr val="22205D"/>
                          </a:solidFill>
                          <a:latin typeface="Arial" pitchFamily="34" charset="0"/>
                          <a:ea typeface="Arial" pitchFamily="34" charset="-122"/>
                          <a:cs typeface="Arial" pitchFamily="34" charset="-120"/>
                        </a:rPr>
                        <a:t>GITEX Global</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Dec 7–11</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Dubai</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AI, data, security</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Biggest tech show in the region</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200" b="1" dirty="0">
                          <a:solidFill>
                            <a:srgbClr val="22205D"/>
                          </a:solidFill>
                          <a:latin typeface="Arial" pitchFamily="34" charset="0"/>
                          <a:ea typeface="Arial" pitchFamily="34" charset="-122"/>
                          <a:cs typeface="Arial" pitchFamily="34" charset="-120"/>
                        </a:rPr>
                        <a:t>Indus AI Week</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Feb (to confirm)</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Pakistan</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AI</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National AI week, first held Feb 2026</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200" b="1" dirty="0">
                          <a:solidFill>
                            <a:srgbClr val="22205D"/>
                          </a:solidFill>
                          <a:latin typeface="Arial" pitchFamily="34" charset="0"/>
                          <a:ea typeface="Arial" pitchFamily="34" charset="-122"/>
                          <a:cs typeface="Arial" pitchFamily="34" charset="-120"/>
                        </a:rPr>
                        <a:t>LEAP</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Apr 12–15, 2027</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Riyadh</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AI, tech</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Decide in Q3</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extLst>
                  <a:ext uri="{0D108BD9-81ED-4DB2-BD59-A6C34878D82A}">
                    <a16:rowId xmlns:a16="http://schemas.microsoft.com/office/drawing/2014/main" val="10006"/>
                  </a:ext>
                </a:extLst>
              </a:tr>
              <a:tr h="512064">
                <a:tc>
                  <a:txBody>
                    <a:bodyPr/>
                    <a:lstStyle/>
                    <a:p>
                      <a:pPr marL="0" indent="0">
                        <a:buNone/>
                      </a:pPr>
                      <a:r>
                        <a:rPr lang="en-US" sz="1200" b="1" dirty="0">
                          <a:solidFill>
                            <a:srgbClr val="22205D"/>
                          </a:solidFill>
                          <a:latin typeface="Arial" pitchFamily="34" charset="0"/>
                          <a:ea typeface="Arial" pitchFamily="34" charset="-122"/>
                          <a:cs typeface="Arial" pitchFamily="34" charset="-120"/>
                        </a:rPr>
                        <a:t>GISEC Global</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May 4–6, 2027</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Dubai</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Cybersecurity</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tc>
                  <a:txBody>
                    <a:bodyPr/>
                    <a:lstStyle/>
                    <a:p>
                      <a:pPr marL="0" indent="0">
                        <a:buNone/>
                      </a:pPr>
                      <a:r>
                        <a:rPr lang="en-US" sz="1200" dirty="0">
                          <a:solidFill>
                            <a:srgbClr val="22205D"/>
                          </a:solidFill>
                          <a:latin typeface="Arial" pitchFamily="34" charset="0"/>
                          <a:ea typeface="Arial" pitchFamily="34" charset="-122"/>
                          <a:cs typeface="Arial" pitchFamily="34" charset="-120"/>
                        </a:rPr>
                        <a:t>Decide in Q3</a:t>
                      </a:r>
                      <a:endParaRPr lang="en-US" sz="1200" dirty="0">
                        <a:latin typeface="Arial" charset="0"/>
                        <a:ea typeface="Arial" charset="0"/>
                        <a:cs typeface="Arial" charset="0"/>
                      </a:endParaRPr>
                    </a:p>
                  </a:txBody>
                  <a:tcPr marL="109728" marR="109728"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F0F6"/>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buNone/>
            </a:pPr>
            <a:r>
              <a:rPr lang="en-US" sz="2800" b="1" dirty="0">
                <a:solidFill>
                  <a:srgbClr val="22205D"/>
                </a:solidFill>
                <a:latin typeface="Arial" pitchFamily="34" charset="0"/>
                <a:ea typeface="Arial" pitchFamily="34" charset="-122"/>
                <a:cs typeface="Arial" pitchFamily="34" charset="-120"/>
              </a:rPr>
              <a:t>How we work moving forward</a:t>
            </a:r>
            <a:endParaRPr lang="en-US" sz="2800" dirty="0"/>
          </a:p>
        </p:txBody>
      </p:sp>
      <p:sp>
        <p:nvSpPr>
          <p:cNvPr id="3" name="Shape 1"/>
          <p:cNvSpPr/>
          <p:nvPr/>
        </p:nvSpPr>
        <p:spPr>
          <a:xfrm>
            <a:off x="548640" y="1143000"/>
            <a:ext cx="5760720" cy="640080"/>
          </a:xfrm>
          <a:prstGeom prst="roundRect">
            <a:avLst>
              <a:gd name="adj" fmla="val 11429"/>
            </a:avLst>
          </a:prstGeom>
          <a:solidFill>
            <a:srgbClr val="FFFFFF"/>
          </a:solidFill>
          <a:ln w="9525">
            <a:solidFill>
              <a:srgbClr val="E6E6E6"/>
            </a:solidFill>
            <a:prstDash val="solid"/>
          </a:ln>
        </p:spPr>
      </p:sp>
      <p:sp>
        <p:nvSpPr>
          <p:cNvPr id="4" name="Shape 2"/>
          <p:cNvSpPr/>
          <p:nvPr/>
        </p:nvSpPr>
        <p:spPr>
          <a:xfrm>
            <a:off x="731520" y="1280160"/>
            <a:ext cx="365760" cy="365760"/>
          </a:xfrm>
          <a:prstGeom prst="ellipse">
            <a:avLst/>
          </a:prstGeom>
          <a:solidFill>
            <a:srgbClr val="22205D"/>
          </a:solidFill>
          <a:ln w="12700">
            <a:solidFill>
              <a:srgbClr val="22205D"/>
            </a:solidFill>
            <a:prstDash val="solid"/>
          </a:ln>
        </p:spPr>
      </p:sp>
      <p:sp>
        <p:nvSpPr>
          <p:cNvPr id="5" name="Text 3"/>
          <p:cNvSpPr txBox="1"/>
          <p:nvPr/>
        </p:nvSpPr>
        <p:spPr>
          <a:xfrm>
            <a:off x="1234440" y="1188720"/>
            <a:ext cx="2103120" cy="292608"/>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Sana</a:t>
            </a:r>
            <a:endParaRPr lang="en-US" sz="1300" dirty="0"/>
          </a:p>
        </p:txBody>
      </p:sp>
      <p:sp>
        <p:nvSpPr>
          <p:cNvPr id="6" name="Text 4"/>
          <p:cNvSpPr txBox="1"/>
          <p:nvPr/>
        </p:nvSpPr>
        <p:spPr>
          <a:xfrm>
            <a:off x="1234440" y="1472184"/>
            <a:ext cx="2194560" cy="256032"/>
          </a:xfrm>
          <a:prstGeom prst="rect">
            <a:avLst/>
          </a:prstGeom>
          <a:noFill/>
          <a:ln/>
        </p:spPr>
        <p:txBody>
          <a:bodyPr wrap="square" lIns="0" tIns="0" rIns="0" bIns="0" rtlCol="0" anchor="ctr"/>
          <a:lstStyle/>
          <a:p>
            <a:pPr marL="0" indent="0">
              <a:buNone/>
            </a:pPr>
            <a:r>
              <a:rPr lang="en-US" sz="1000" dirty="0">
                <a:solidFill>
                  <a:srgbClr val="5A5A7A"/>
                </a:solidFill>
                <a:latin typeface="Arial" pitchFamily="34" charset="0"/>
                <a:ea typeface="Arial" pitchFamily="34" charset="-122"/>
                <a:cs typeface="Arial" pitchFamily="34" charset="-120"/>
              </a:rPr>
              <a:t>2–3 hours a day, mornings</a:t>
            </a:r>
            <a:endParaRPr lang="en-US" sz="1000" dirty="0"/>
          </a:p>
        </p:txBody>
      </p:sp>
      <p:sp>
        <p:nvSpPr>
          <p:cNvPr id="7" name="Text 5"/>
          <p:cNvSpPr txBox="1"/>
          <p:nvPr/>
        </p:nvSpPr>
        <p:spPr>
          <a:xfrm>
            <a:off x="3474720" y="1188720"/>
            <a:ext cx="2697480" cy="54864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Web content, social media and reporting</a:t>
            </a:r>
            <a:endParaRPr lang="en-US" sz="1100" dirty="0"/>
          </a:p>
        </p:txBody>
      </p:sp>
      <p:sp>
        <p:nvSpPr>
          <p:cNvPr id="8" name="Shape 6"/>
          <p:cNvSpPr/>
          <p:nvPr/>
        </p:nvSpPr>
        <p:spPr>
          <a:xfrm>
            <a:off x="548640" y="1892808"/>
            <a:ext cx="5760720" cy="640080"/>
          </a:xfrm>
          <a:prstGeom prst="roundRect">
            <a:avLst>
              <a:gd name="adj" fmla="val 11429"/>
            </a:avLst>
          </a:prstGeom>
          <a:solidFill>
            <a:srgbClr val="FFFFFF"/>
          </a:solidFill>
          <a:ln w="9525">
            <a:solidFill>
              <a:srgbClr val="E6E6E6"/>
            </a:solidFill>
            <a:prstDash val="solid"/>
          </a:ln>
        </p:spPr>
      </p:sp>
      <p:sp>
        <p:nvSpPr>
          <p:cNvPr id="9" name="Shape 7"/>
          <p:cNvSpPr/>
          <p:nvPr/>
        </p:nvSpPr>
        <p:spPr>
          <a:xfrm>
            <a:off x="731520" y="2029968"/>
            <a:ext cx="365760" cy="365760"/>
          </a:xfrm>
          <a:prstGeom prst="ellipse">
            <a:avLst/>
          </a:prstGeom>
          <a:solidFill>
            <a:srgbClr val="0061F6"/>
          </a:solidFill>
          <a:ln w="12700">
            <a:solidFill>
              <a:srgbClr val="0061F6"/>
            </a:solidFill>
            <a:prstDash val="solid"/>
          </a:ln>
        </p:spPr>
      </p:sp>
      <p:sp>
        <p:nvSpPr>
          <p:cNvPr id="10" name="Text 8"/>
          <p:cNvSpPr txBox="1"/>
          <p:nvPr/>
        </p:nvSpPr>
        <p:spPr>
          <a:xfrm>
            <a:off x="1234440" y="1938528"/>
            <a:ext cx="2103120" cy="292608"/>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Omais</a:t>
            </a:r>
            <a:endParaRPr lang="en-US" sz="1300" dirty="0"/>
          </a:p>
        </p:txBody>
      </p:sp>
      <p:sp>
        <p:nvSpPr>
          <p:cNvPr id="11" name="Text 9"/>
          <p:cNvSpPr txBox="1"/>
          <p:nvPr/>
        </p:nvSpPr>
        <p:spPr>
          <a:xfrm>
            <a:off x="1234440" y="2221992"/>
            <a:ext cx="2194560" cy="256032"/>
          </a:xfrm>
          <a:prstGeom prst="rect">
            <a:avLst/>
          </a:prstGeom>
          <a:noFill/>
          <a:ln/>
        </p:spPr>
        <p:txBody>
          <a:bodyPr wrap="square" lIns="0" tIns="0" rIns="0" bIns="0" rtlCol="0" anchor="ctr"/>
          <a:lstStyle/>
          <a:p>
            <a:pPr marL="0" indent="0">
              <a:buNone/>
            </a:pPr>
            <a:r>
              <a:rPr lang="en-US" sz="1000" dirty="0">
                <a:solidFill>
                  <a:srgbClr val="5A5A7A"/>
                </a:solidFill>
                <a:latin typeface="Arial" pitchFamily="34" charset="0"/>
                <a:ea typeface="Arial" pitchFamily="34" charset="-122"/>
                <a:cs typeface="Arial" pitchFamily="34" charset="-120"/>
              </a:rPr>
              <a:t>Contact directly for design</a:t>
            </a:r>
            <a:endParaRPr lang="en-US" sz="1000" dirty="0"/>
          </a:p>
        </p:txBody>
      </p:sp>
      <p:sp>
        <p:nvSpPr>
          <p:cNvPr id="12" name="Text 10"/>
          <p:cNvSpPr txBox="1"/>
          <p:nvPr/>
        </p:nvSpPr>
        <p:spPr>
          <a:xfrm>
            <a:off x="3474720" y="1938528"/>
            <a:ext cx="2697480" cy="54864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Design, video, social creative</a:t>
            </a:r>
            <a:endParaRPr lang="en-US" sz="1100" dirty="0"/>
          </a:p>
        </p:txBody>
      </p:sp>
      <p:sp>
        <p:nvSpPr>
          <p:cNvPr id="13" name="Shape 11"/>
          <p:cNvSpPr/>
          <p:nvPr/>
        </p:nvSpPr>
        <p:spPr>
          <a:xfrm>
            <a:off x="548640" y="2642616"/>
            <a:ext cx="5760720" cy="640080"/>
          </a:xfrm>
          <a:prstGeom prst="roundRect">
            <a:avLst>
              <a:gd name="adj" fmla="val 11429"/>
            </a:avLst>
          </a:prstGeom>
          <a:solidFill>
            <a:srgbClr val="FFFFFF"/>
          </a:solidFill>
          <a:ln w="9525">
            <a:solidFill>
              <a:srgbClr val="E6E6E6"/>
            </a:solidFill>
            <a:prstDash val="solid"/>
          </a:ln>
        </p:spPr>
      </p:sp>
      <p:sp>
        <p:nvSpPr>
          <p:cNvPr id="14" name="Shape 12"/>
          <p:cNvSpPr/>
          <p:nvPr/>
        </p:nvSpPr>
        <p:spPr>
          <a:xfrm>
            <a:off x="731520" y="2779776"/>
            <a:ext cx="365760" cy="365760"/>
          </a:xfrm>
          <a:prstGeom prst="ellipse">
            <a:avLst/>
          </a:prstGeom>
          <a:solidFill>
            <a:srgbClr val="0098D8"/>
          </a:solidFill>
          <a:ln w="12700">
            <a:solidFill>
              <a:srgbClr val="0098D8"/>
            </a:solidFill>
            <a:prstDash val="solid"/>
          </a:ln>
        </p:spPr>
      </p:sp>
      <p:sp>
        <p:nvSpPr>
          <p:cNvPr id="15" name="Text 13"/>
          <p:cNvSpPr txBox="1"/>
          <p:nvPr/>
        </p:nvSpPr>
        <p:spPr>
          <a:xfrm>
            <a:off x="1234440" y="2688336"/>
            <a:ext cx="2103120" cy="292608"/>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Rafay</a:t>
            </a:r>
            <a:endParaRPr lang="en-US" sz="1300" dirty="0"/>
          </a:p>
        </p:txBody>
      </p:sp>
      <p:sp>
        <p:nvSpPr>
          <p:cNvPr id="16" name="Text 14"/>
          <p:cNvSpPr txBox="1"/>
          <p:nvPr/>
        </p:nvSpPr>
        <p:spPr>
          <a:xfrm>
            <a:off x="1234440" y="2971800"/>
            <a:ext cx="2194560" cy="256032"/>
          </a:xfrm>
          <a:prstGeom prst="rect">
            <a:avLst/>
          </a:prstGeom>
          <a:noFill/>
          <a:ln/>
        </p:spPr>
        <p:txBody>
          <a:bodyPr wrap="square" lIns="0" tIns="0" rIns="0" bIns="0" rtlCol="0" anchor="ctr"/>
          <a:lstStyle/>
          <a:p>
            <a:pPr marL="0" indent="0">
              <a:buNone/>
            </a:pPr>
            <a:r>
              <a:rPr lang="en-US" sz="1000" dirty="0">
                <a:solidFill>
                  <a:srgbClr val="5A5A7A"/>
                </a:solidFill>
                <a:latin typeface="Arial" pitchFamily="34" charset="0"/>
                <a:ea typeface="Arial" pitchFamily="34" charset="-122"/>
                <a:cs typeface="Arial" pitchFamily="34" charset="-120"/>
              </a:rPr>
              <a:t>Contact directly for UI/UX</a:t>
            </a:r>
            <a:endParaRPr lang="en-US" sz="1000" dirty="0"/>
          </a:p>
        </p:txBody>
      </p:sp>
      <p:sp>
        <p:nvSpPr>
          <p:cNvPr id="17" name="Text 15"/>
          <p:cNvSpPr txBox="1"/>
          <p:nvPr/>
        </p:nvSpPr>
        <p:spPr>
          <a:xfrm>
            <a:off x="3474720" y="2688336"/>
            <a:ext cx="2697480" cy="54864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Website and tools. On 2 client projects</a:t>
            </a:r>
            <a:endParaRPr lang="en-US" sz="1100" dirty="0"/>
          </a:p>
        </p:txBody>
      </p:sp>
      <p:sp>
        <p:nvSpPr>
          <p:cNvPr id="18" name="Shape 16"/>
          <p:cNvSpPr/>
          <p:nvPr/>
        </p:nvSpPr>
        <p:spPr>
          <a:xfrm>
            <a:off x="548640" y="3392424"/>
            <a:ext cx="5760720" cy="640080"/>
          </a:xfrm>
          <a:prstGeom prst="roundRect">
            <a:avLst>
              <a:gd name="adj" fmla="val 11429"/>
            </a:avLst>
          </a:prstGeom>
          <a:solidFill>
            <a:srgbClr val="FFFFFF"/>
          </a:solidFill>
          <a:ln w="9525">
            <a:solidFill>
              <a:srgbClr val="E6E6E6"/>
            </a:solidFill>
            <a:prstDash val="solid"/>
          </a:ln>
        </p:spPr>
      </p:sp>
      <p:sp>
        <p:nvSpPr>
          <p:cNvPr id="19" name="Shape 17"/>
          <p:cNvSpPr/>
          <p:nvPr/>
        </p:nvSpPr>
        <p:spPr>
          <a:xfrm>
            <a:off x="731520" y="3529584"/>
            <a:ext cx="365760" cy="365760"/>
          </a:xfrm>
          <a:prstGeom prst="ellipse">
            <a:avLst/>
          </a:prstGeom>
          <a:solidFill>
            <a:srgbClr val="5CC3AE"/>
          </a:solidFill>
          <a:ln w="12700">
            <a:solidFill>
              <a:srgbClr val="5CC3AE"/>
            </a:solidFill>
            <a:prstDash val="solid"/>
          </a:ln>
        </p:spPr>
      </p:sp>
      <p:sp>
        <p:nvSpPr>
          <p:cNvPr id="20" name="Text 18"/>
          <p:cNvSpPr txBox="1"/>
          <p:nvPr/>
        </p:nvSpPr>
        <p:spPr>
          <a:xfrm>
            <a:off x="1234440" y="3438144"/>
            <a:ext cx="2103120" cy="292608"/>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Irfan</a:t>
            </a:r>
            <a:endParaRPr lang="en-US" sz="1300" dirty="0"/>
          </a:p>
        </p:txBody>
      </p:sp>
      <p:sp>
        <p:nvSpPr>
          <p:cNvPr id="21" name="Text 19"/>
          <p:cNvSpPr txBox="1"/>
          <p:nvPr/>
        </p:nvSpPr>
        <p:spPr>
          <a:xfrm>
            <a:off x="1234440" y="3721608"/>
            <a:ext cx="2194560" cy="256032"/>
          </a:xfrm>
          <a:prstGeom prst="rect">
            <a:avLst/>
          </a:prstGeom>
          <a:noFill/>
          <a:ln/>
        </p:spPr>
        <p:txBody>
          <a:bodyPr wrap="square" lIns="0" tIns="0" rIns="0" bIns="0" rtlCol="0" anchor="ctr"/>
          <a:lstStyle/>
          <a:p>
            <a:pPr marL="0" indent="0">
              <a:buNone/>
            </a:pPr>
            <a:r>
              <a:rPr lang="en-US" sz="1000" dirty="0">
                <a:solidFill>
                  <a:srgbClr val="5A5A7A"/>
                </a:solidFill>
                <a:latin typeface="Arial" pitchFamily="34" charset="0"/>
                <a:ea typeface="Arial" pitchFamily="34" charset="-122"/>
                <a:cs typeface="Arial" pitchFamily="34" charset="-120"/>
              </a:rPr>
              <a:t>Technical content</a:t>
            </a:r>
            <a:endParaRPr lang="en-US" sz="1000" dirty="0"/>
          </a:p>
        </p:txBody>
      </p:sp>
      <p:sp>
        <p:nvSpPr>
          <p:cNvPr id="22" name="Text 20"/>
          <p:cNvSpPr txBox="1"/>
          <p:nvPr/>
        </p:nvSpPr>
        <p:spPr>
          <a:xfrm>
            <a:off x="3474720" y="3438144"/>
            <a:ext cx="2697480" cy="54864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Articles and technical accuracy</a:t>
            </a:r>
            <a:endParaRPr lang="en-US" sz="1100" dirty="0"/>
          </a:p>
        </p:txBody>
      </p:sp>
      <p:sp>
        <p:nvSpPr>
          <p:cNvPr id="23" name="Shape 21"/>
          <p:cNvSpPr/>
          <p:nvPr/>
        </p:nvSpPr>
        <p:spPr>
          <a:xfrm>
            <a:off x="548640" y="4142232"/>
            <a:ext cx="5760720" cy="640080"/>
          </a:xfrm>
          <a:prstGeom prst="roundRect">
            <a:avLst>
              <a:gd name="adj" fmla="val 11429"/>
            </a:avLst>
          </a:prstGeom>
          <a:solidFill>
            <a:srgbClr val="FFFFFF"/>
          </a:solidFill>
          <a:ln w="9525">
            <a:solidFill>
              <a:srgbClr val="E6E6E6"/>
            </a:solidFill>
            <a:prstDash val="solid"/>
          </a:ln>
        </p:spPr>
      </p:sp>
      <p:sp>
        <p:nvSpPr>
          <p:cNvPr id="24" name="Shape 22"/>
          <p:cNvSpPr/>
          <p:nvPr/>
        </p:nvSpPr>
        <p:spPr>
          <a:xfrm>
            <a:off x="731520" y="4279392"/>
            <a:ext cx="365760" cy="365760"/>
          </a:xfrm>
          <a:prstGeom prst="ellipse">
            <a:avLst/>
          </a:prstGeom>
          <a:solidFill>
            <a:srgbClr val="5A5A7A"/>
          </a:solidFill>
          <a:ln w="12700">
            <a:solidFill>
              <a:srgbClr val="5A5A7A"/>
            </a:solidFill>
            <a:prstDash val="solid"/>
          </a:ln>
        </p:spPr>
      </p:sp>
      <p:sp>
        <p:nvSpPr>
          <p:cNvPr id="25" name="Text 23"/>
          <p:cNvSpPr txBox="1"/>
          <p:nvPr/>
        </p:nvSpPr>
        <p:spPr>
          <a:xfrm>
            <a:off x="1234440" y="4187952"/>
            <a:ext cx="2103120" cy="292608"/>
          </a:xfrm>
          <a:prstGeom prst="rect">
            <a:avLst/>
          </a:prstGeom>
          <a:noFill/>
          <a:ln/>
        </p:spPr>
        <p:txBody>
          <a:bodyPr wrap="square" lIns="0" tIns="0" rIns="0" bIns="0" rtlCol="0" anchor="ctr"/>
          <a:lstStyle/>
          <a:p>
            <a:pPr marL="0" indent="0">
              <a:buNone/>
            </a:pPr>
            <a:r>
              <a:rPr lang="en-US" sz="1300" b="1" dirty="0">
                <a:solidFill>
                  <a:srgbClr val="22205D"/>
                </a:solidFill>
                <a:latin typeface="Arial" pitchFamily="34" charset="0"/>
                <a:ea typeface="Arial" pitchFamily="34" charset="-122"/>
                <a:cs typeface="Arial" pitchFamily="34" charset="-120"/>
              </a:rPr>
              <a:t>Production devs</a:t>
            </a:r>
            <a:endParaRPr lang="en-US" sz="1300" dirty="0"/>
          </a:p>
        </p:txBody>
      </p:sp>
      <p:sp>
        <p:nvSpPr>
          <p:cNvPr id="26" name="Text 24"/>
          <p:cNvSpPr txBox="1"/>
          <p:nvPr/>
        </p:nvSpPr>
        <p:spPr>
          <a:xfrm>
            <a:off x="1234440" y="4471416"/>
            <a:ext cx="2194560" cy="256032"/>
          </a:xfrm>
          <a:prstGeom prst="rect">
            <a:avLst/>
          </a:prstGeom>
          <a:noFill/>
          <a:ln/>
        </p:spPr>
        <p:txBody>
          <a:bodyPr wrap="square" lIns="0" tIns="0" rIns="0" bIns="0" rtlCol="0" anchor="ctr"/>
          <a:lstStyle/>
          <a:p>
            <a:pPr marL="0" indent="0">
              <a:buNone/>
            </a:pPr>
            <a:r>
              <a:rPr lang="en-US" sz="1000" dirty="0">
                <a:solidFill>
                  <a:srgbClr val="5A5A7A"/>
                </a:solidFill>
                <a:latin typeface="Arial" pitchFamily="34" charset="0"/>
                <a:ea typeface="Arial" pitchFamily="34" charset="-122"/>
                <a:cs typeface="Arial" pitchFamily="34" charset="-120"/>
              </a:rPr>
              <a:t>Website build</a:t>
            </a:r>
            <a:endParaRPr lang="en-US" sz="1000" dirty="0"/>
          </a:p>
        </p:txBody>
      </p:sp>
      <p:sp>
        <p:nvSpPr>
          <p:cNvPr id="27" name="Text 25"/>
          <p:cNvSpPr txBox="1"/>
          <p:nvPr/>
        </p:nvSpPr>
        <p:spPr>
          <a:xfrm>
            <a:off x="3474720" y="4187952"/>
            <a:ext cx="2697480" cy="548640"/>
          </a:xfrm>
          <a:prstGeom prst="rect">
            <a:avLst/>
          </a:prstGeom>
          <a:noFill/>
          <a:ln/>
        </p:spPr>
        <p:txBody>
          <a:bodyPr wrap="square" lIns="0" tIns="0" rIns="0" bIns="0" rtlCol="0" anchor="ctr"/>
          <a:lstStyle/>
          <a:p>
            <a:pPr marL="0" indent="0">
              <a:buNone/>
            </a:pPr>
            <a:r>
              <a:rPr lang="en-US" sz="1100" dirty="0">
                <a:solidFill>
                  <a:srgbClr val="22205D"/>
                </a:solidFill>
                <a:latin typeface="Arial" pitchFamily="34" charset="0"/>
                <a:ea typeface="Arial" pitchFamily="34" charset="-122"/>
                <a:cs typeface="Arial" pitchFamily="34" charset="-120"/>
              </a:rPr>
              <a:t>Releases and fixes</a:t>
            </a:r>
            <a:endParaRPr lang="en-US" sz="1100" dirty="0"/>
          </a:p>
        </p:txBody>
      </p:sp>
      <p:sp>
        <p:nvSpPr>
          <p:cNvPr id="28" name="Shape 26"/>
          <p:cNvSpPr/>
          <p:nvPr/>
        </p:nvSpPr>
        <p:spPr>
          <a:xfrm>
            <a:off x="548640" y="4983480"/>
            <a:ext cx="5760720" cy="1325880"/>
          </a:xfrm>
          <a:prstGeom prst="roundRect">
            <a:avLst>
              <a:gd name="adj" fmla="val 5517"/>
            </a:avLst>
          </a:prstGeom>
          <a:solidFill>
            <a:srgbClr val="F4F6FB"/>
          </a:solidFill>
          <a:ln w="9525">
            <a:solidFill>
              <a:srgbClr val="E6E6E6"/>
            </a:solidFill>
            <a:prstDash val="solid"/>
          </a:ln>
        </p:spPr>
      </p:sp>
      <p:sp>
        <p:nvSpPr>
          <p:cNvPr id="29" name="Text 27"/>
          <p:cNvSpPr txBox="1"/>
          <p:nvPr/>
        </p:nvSpPr>
        <p:spPr>
          <a:xfrm>
            <a:off x="777240" y="5074920"/>
            <a:ext cx="5303520" cy="320040"/>
          </a:xfrm>
          <a:prstGeom prst="rect">
            <a:avLst/>
          </a:prstGeom>
          <a:noFill/>
          <a:ln/>
        </p:spPr>
        <p:txBody>
          <a:bodyPr wrap="square" lIns="0" tIns="0" rIns="0" bIns="0" rtlCol="0" anchor="ctr"/>
          <a:lstStyle/>
          <a:p>
            <a:pPr marL="0" indent="0">
              <a:buNone/>
            </a:pPr>
            <a:r>
              <a:rPr lang="en-US" sz="1300" b="1" dirty="0">
                <a:solidFill>
                  <a:srgbClr val="0061F6"/>
                </a:solidFill>
                <a:latin typeface="Arial" pitchFamily="34" charset="0"/>
                <a:ea typeface="Arial" pitchFamily="34" charset="-122"/>
                <a:cs typeface="Arial" pitchFamily="34" charset="-120"/>
              </a:rPr>
              <a:t>Lead times</a:t>
            </a:r>
            <a:endParaRPr lang="en-US" sz="1300" dirty="0"/>
          </a:p>
        </p:txBody>
      </p:sp>
      <p:sp>
        <p:nvSpPr>
          <p:cNvPr id="30" name="Text 28"/>
          <p:cNvSpPr txBox="1"/>
          <p:nvPr/>
        </p:nvSpPr>
        <p:spPr>
          <a:xfrm>
            <a:off x="777240" y="5413248"/>
            <a:ext cx="5303520" cy="8686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2205D"/>
                </a:solidFill>
                <a:latin typeface="Arial" pitchFamily="34" charset="0"/>
                <a:ea typeface="Arial" pitchFamily="34" charset="-122"/>
                <a:cs typeface="Arial" pitchFamily="34" charset="-120"/>
              </a:rPr>
              <a:t>A good design needs at least 2 working days of focused time</a:t>
            </a:r>
            <a:endParaRPr lang="en-US" sz="1150" dirty="0"/>
          </a:p>
          <a:p>
            <a:pPr marL="342900" indent="-342900">
              <a:spcAft>
                <a:spcPts val="300"/>
              </a:spcAft>
              <a:buSzPct val="100000"/>
              <a:buChar char="•"/>
            </a:pPr>
            <a:r>
              <a:rPr lang="en-US" sz="1150" dirty="0">
                <a:solidFill>
                  <a:srgbClr val="22205D"/>
                </a:solidFill>
                <a:latin typeface="Arial" pitchFamily="34" charset="0"/>
                <a:ea typeface="Arial" pitchFamily="34" charset="-122"/>
                <a:cs typeface="Arial" pitchFamily="34" charset="-120"/>
              </a:rPr>
              <a:t>Content requests: 2 working days' notice</a:t>
            </a:r>
            <a:endParaRPr lang="en-US" sz="1150" dirty="0"/>
          </a:p>
          <a:p>
            <a:pPr marL="342900" indent="-342900">
              <a:spcAft>
                <a:spcPts val="300"/>
              </a:spcAft>
              <a:buSzPct val="100000"/>
              <a:buChar char="•"/>
            </a:pPr>
            <a:r>
              <a:rPr lang="en-US" sz="1150" dirty="0">
                <a:solidFill>
                  <a:srgbClr val="22205D"/>
                </a:solidFill>
                <a:latin typeface="Arial" pitchFamily="34" charset="0"/>
                <a:ea typeface="Arial" pitchFamily="34" charset="-122"/>
                <a:cs typeface="Arial" pitchFamily="34" charset="-120"/>
              </a:rPr>
              <a:t>Same-day requests need a day-to-day marketing resource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TotalTime>
  <Words>1031</Words>
  <Application>Microsoft Office PowerPoint</Application>
  <PresentationFormat>Widescreen</PresentationFormat>
  <Paragraphs>147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xLoop Marketing: Q2-Q3</dc:title>
  <dc:subject>PptxGenJS Presentation</dc:subject>
  <dc:creator>PptxGenJS</dc:creator>
  <cp:lastModifiedBy>Sana Qazi</cp:lastModifiedBy>
  <cp:revision>7</cp:revision>
  <dcterms:created xsi:type="dcterms:W3CDTF">2026-09-25T03:29:20Z</dcterms:created>
  <dcterms:modified xsi:type="dcterms:W3CDTF">2026-09-28T04:06:43Z</dcterms:modified>
</cp:coreProperties>
</file>