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embeddedFontLst>
    <p:embeddedFont>
      <p:font typeface="Calibri" panose="020F0502020204030204" pitchFamily="34" charset="0"/>
      <p:regular r:id="rId14"/>
      <p:bold r:id="rId15"/>
      <p:italic r:id="rId16"/>
      <p:boldItalic r:id="rId17"/>
    </p:embeddedFont>
    <p:embeddedFont>
      <p:font typeface="Poppins" panose="00000500000000000000" pitchFamily="2" charset="0"/>
      <p:regular r:id="rId18"/>
      <p:bold r:id="rId19"/>
      <p:italic r:id="rId20"/>
      <p:boldItalic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F0772B9-17EA-3C53-1ECF-DF83D9262E44}">
          <p14:sldIdLst>
            <p14:sldId id="256"/>
            <p14:sldId id="257"/>
          </p14:sldIdLst>
        </p14:section>
        <p14:section name="What we do" id="{59D0E509-5866-AFB6-4912-19D214B32141}">
          <p14:sldIdLst>
            <p14:sldId id="258"/>
          </p14:sldIdLst>
        </p14:section>
        <p14:section name="Proof" id="{C20965CA-2ADB-0C0F-EE9A-52068E84494B}">
          <p14:sldIdLst>
            <p14:sldId id="259"/>
            <p14:sldId id="260"/>
            <p14:sldId id="261"/>
            <p14:sldId id="262"/>
          </p14:sldIdLst>
        </p14:section>
        <p14:section name="Working with us" id="{097EDB2D-A736-3B23-FB4A-E046472C7F3F}">
          <p14:sldIdLst>
            <p14:sldId id="263"/>
            <p14:sldId id="264"/>
            <p14:sldId id="265"/>
          </p14:sldIdLst>
        </p14:section>
        <p14:section name="Close" id="{113954D6-6036-4350-AAA9-9B4FEB446A66}">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8325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single idea: Polish businesses need AI that does real work and can be defended to a regulator, an auditor or a board. We do both in one team.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Diagnose before prescribing. Side one is the push to adopt. Side two is the duty to prove safety. Regulation named here is context only. Do not say xLoop is aligned to or certified against any of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pillars. Agents lead. Security is what makes the agents acceptable. Data is what makes them accurate.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delivered examples. The investment assistant and the video search case are approved anonymized case studies. xServe is approved as a deployment only: quote no performance figures for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technical credibility slide. The reference architecture has 11 stages. The seven shown are the ones a risk or operations lead asks about. If asked, the architect can walk through all 11. Stack names are tools we use, not partnerships.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differentiator. Most AI vendors build and leave. We also test and audit. Certification is at individual level: say our team includes certified Lead Auditors, never that xLoop is ISO certified. The 200+ domains and 25% figures are from a security assessment for a Canadian healthcare platform.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Data supports the AI story. The retailer case result is a single source of truth, not real time reporting. Do not name either client.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Titans is a named, signed testimonial. The quote is word for word from the signed letter: do not paraphrase inside quotation marks. Say people or team members in Hungary, never an office.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WITH DELIVERY: add a duration under each step before the pitch. No timings are approved yet for an agent build, so none are shown.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confirmed by HR and leadership: 90 people including consultants, founded 2022, four offices. Do not state a country count or a number of solutions delivered.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single idea, then ask for the next step: one business, one use case, start with discovery.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pic>
        <p:nvPicPr>
          <p:cNvPr id="2" name="Image 0" descr="C:\Users\Sana Qazi\AppData\Local\Temp\claude\C--Claude-Projects\dfde1c0d-957d-425e-915b-4cfe19b58772\scratchpad\build\art\logo-white.png"/>
          <p:cNvPicPr>
            <a:picLocks noChangeAspect="1"/>
          </p:cNvPicPr>
          <p:nvPr/>
        </p:nvPicPr>
        <p:blipFill>
          <a:blip r:embed="rId2"/>
          <a:stretch>
            <a:fillRect/>
          </a:stretch>
        </p:blipFill>
        <p:spPr>
          <a:xfrm>
            <a:off x="640080" y="548640"/>
            <a:ext cx="1737360" cy="594360"/>
          </a:xfrm>
          <a:prstGeom prst="rect">
            <a:avLst/>
          </a:prstGeom>
        </p:spPr>
      </p:pic>
      <p:sp>
        <p:nvSpPr>
          <p:cNvPr id="3" name="Text 0"/>
          <p:cNvSpPr>
            <a:spLocks noGrp="1"/>
          </p:cNvSpPr>
          <p:nvPr>
            <p:ph type="title" idx="101" hasCustomPrompt="1"/>
          </p:nvPr>
        </p:nvSpPr>
        <p:spPr>
          <a:xfrm>
            <a:off x="640080" y="2103120"/>
            <a:ext cx="7040880" cy="210312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4" name="Text 0"/>
          <p:cNvSpPr>
            <a:spLocks noGrp="1"/>
          </p:cNvSpPr>
          <p:nvPr>
            <p:ph type="body" idx="102" hasCustomPrompt="1"/>
          </p:nvPr>
        </p:nvSpPr>
        <p:spPr>
          <a:xfrm>
            <a:off x="640080" y="4526280"/>
            <a:ext cx="6766560" cy="1097280"/>
          </a:xfrm>
          <a:prstGeom prst="rect">
            <a:avLst/>
          </a:prstGeom>
          <a:noFill/>
          <a:ln/>
        </p:spPr>
        <p:txBody>
          <a:bodyPr wrap="square" rtlCol="0"/>
          <a:lstStyle>
            <a:lvl1pPr marL="0" indent="0">
              <a:buNone/>
              <a:defRPr lang="en-US" sz="2200" dirty="0">
                <a:solidFill>
                  <a:schemeClr val="accent4"/>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pic>
        <p:nvPicPr>
          <p:cNvPr id="2" name="Image 0" descr="C:\Users\Sana Qazi\AppData\Local\Temp\claude\C--Claude-Projects\dfde1c0d-957d-425e-915b-4cfe19b58772\scratchpad\build\art\logo-color.png"/>
          <p:cNvPicPr>
            <a:picLocks noChangeAspect="1"/>
          </p:cNvPicPr>
          <p:nvPr/>
        </p:nvPicPr>
        <p:blipFill>
          <a:blip r:embed="rId2"/>
          <a:stretch>
            <a:fillRect/>
          </a:stretch>
        </p:blipFill>
        <p:spPr>
          <a:xfrm>
            <a:off x="10454335" y="502920"/>
            <a:ext cx="1097280" cy="374904"/>
          </a:xfrm>
          <a:prstGeom prst="rect">
            <a:avLst/>
          </a:prstGeom>
        </p:spPr>
      </p:pic>
      <p:sp>
        <p:nvSpPr>
          <p:cNvPr id="3" name="Text 0"/>
          <p:cNvSpPr>
            <a:spLocks noGrp="1"/>
          </p:cNvSpPr>
          <p:nvPr>
            <p:ph type="title" idx="101" hasCustomPrompt="1"/>
          </p:nvPr>
        </p:nvSpPr>
        <p:spPr>
          <a:xfrm>
            <a:off x="640080" y="502920"/>
            <a:ext cx="9509760" cy="114300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4" name="Text 0"/>
          <p:cNvSpPr/>
          <p:nvPr/>
        </p:nvSpPr>
        <p:spPr>
          <a:xfrm>
            <a:off x="640080" y="6355080"/>
            <a:ext cx="2743200" cy="274320"/>
          </a:xfrm>
          <a:prstGeom prst="rect">
            <a:avLst/>
          </a:prstGeom>
          <a:noFill/>
          <a:ln/>
        </p:spPr>
        <p:txBody>
          <a:bodyPr wrap="square" lIns="0" tIns="0" rIns="0" bIns="0" rtlCol="0" anchor="ctr"/>
          <a:lstStyle/>
          <a:p>
            <a:pPr marL="0" indent="0">
              <a:buNone/>
            </a:pPr>
            <a:r>
              <a:rPr lang="en-US" sz="1000" dirty="0">
                <a:solidFill>
                  <a:schemeClr val="accent5"/>
                </a:solidFill>
              </a:rPr>
              <a:t>xLoop Digital</a:t>
            </a:r>
            <a:endParaRPr lang="en-US" sz="10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a:effectLst/>
      </p:bgPr>
    </p:bg>
    <p:spTree>
      <p:nvGrpSpPr>
        <p:cNvPr id="1" name=""/>
        <p:cNvGrpSpPr/>
        <p:nvPr/>
      </p:nvGrpSpPr>
      <p:grpSpPr>
        <a:xfrm>
          <a:off x="0" y="0"/>
          <a:ext cx="0" cy="0"/>
          <a:chOff x="0" y="0"/>
          <a:chExt cx="0" cy="0"/>
        </a:xfrm>
      </p:grpSpPr>
      <p:pic>
        <p:nvPicPr>
          <p:cNvPr id="2" name="Image 0" descr="C:\Users\Sana Qazi\AppData\Local\Temp\claude\C--Claude-Projects\dfde1c0d-957d-425e-915b-4cfe19b58772\scratchpad\build\art\logo-white.png"/>
          <p:cNvPicPr>
            <a:picLocks noChangeAspect="1"/>
          </p:cNvPicPr>
          <p:nvPr/>
        </p:nvPicPr>
        <p:blipFill>
          <a:blip r:embed="rId2"/>
          <a:stretch>
            <a:fillRect/>
          </a:stretch>
        </p:blipFill>
        <p:spPr>
          <a:xfrm>
            <a:off x="10454335" y="502920"/>
            <a:ext cx="1097280" cy="374904"/>
          </a:xfrm>
          <a:prstGeom prst="rect">
            <a:avLst/>
          </a:prstGeom>
        </p:spPr>
      </p:pic>
      <p:sp>
        <p:nvSpPr>
          <p:cNvPr id="3" name="Text 0"/>
          <p:cNvSpPr>
            <a:spLocks noGrp="1"/>
          </p:cNvSpPr>
          <p:nvPr>
            <p:ph type="title" idx="101" hasCustomPrompt="1"/>
          </p:nvPr>
        </p:nvSpPr>
        <p:spPr>
          <a:xfrm>
            <a:off x="640080" y="502920"/>
            <a:ext cx="9509760" cy="114300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4" name="Text 0"/>
          <p:cNvSpPr/>
          <p:nvPr/>
        </p:nvSpPr>
        <p:spPr>
          <a:xfrm>
            <a:off x="640080" y="6355080"/>
            <a:ext cx="2743200" cy="274320"/>
          </a:xfrm>
          <a:prstGeom prst="rect">
            <a:avLst/>
          </a:prstGeom>
          <a:noFill/>
          <a:ln/>
        </p:spPr>
        <p:txBody>
          <a:bodyPr wrap="square" lIns="0" tIns="0" rIns="0" bIns="0" rtlCol="0" anchor="ctr"/>
          <a:lstStyle/>
          <a:p>
            <a:pPr marL="0" indent="0">
              <a:buNone/>
            </a:pPr>
            <a:r>
              <a:rPr lang="en-US" sz="1000" dirty="0">
                <a:solidFill>
                  <a:schemeClr val="accent4"/>
                </a:solidFill>
              </a:rPr>
              <a:t>xLoop Digital</a:t>
            </a:r>
            <a:endParaRPr lang="en-US" sz="10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3.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640080" y="2103120"/>
            <a:ext cx="7040880" cy="2103120"/>
          </a:xfrm>
          <a:prstGeom prst="rect">
            <a:avLst/>
          </a:prstGeom>
          <a:noFill/>
          <a:ln/>
        </p:spPr>
        <p:txBody>
          <a:bodyPr wrap="square" lIns="0" tIns="0" rIns="0" bIns="0" rtlCol="0" anchor="t"/>
          <a:lstStyle/>
          <a:p>
            <a:pPr marL="0" indent="0" algn="l">
              <a:buNone/>
            </a:pPr>
            <a:r>
              <a:rPr lang="en-US" sz="4400" b="1" dirty="0">
                <a:solidFill>
                  <a:schemeClr val="bg1"/>
                </a:solidFill>
              </a:rPr>
              <a:t>AI that works, and stands up to an audit</a:t>
            </a:r>
            <a:endParaRPr lang="en-US" sz="4400" dirty="0"/>
          </a:p>
        </p:txBody>
      </p:sp>
      <p:sp>
        <p:nvSpPr>
          <p:cNvPr id="3" name="Text 0"/>
          <p:cNvSpPr>
            <a:spLocks noGrp="1"/>
          </p:cNvSpPr>
          <p:nvPr>
            <p:ph type="body" idx="102" hasCustomPrompt="1"/>
          </p:nvPr>
        </p:nvSpPr>
        <p:spPr>
          <a:xfrm>
            <a:off x="640080" y="4526280"/>
            <a:ext cx="6766560" cy="1097280"/>
          </a:xfrm>
          <a:prstGeom prst="rect">
            <a:avLst/>
          </a:prstGeom>
          <a:noFill/>
          <a:ln/>
        </p:spPr>
        <p:txBody>
          <a:bodyPr wrap="square" lIns="0" tIns="0" rIns="0" bIns="0" rtlCol="0" anchor="t"/>
          <a:lstStyle/>
          <a:p>
            <a:pPr marL="0" indent="0">
              <a:buNone/>
            </a:pPr>
            <a:r>
              <a:rPr lang="en-US" sz="2200" dirty="0">
                <a:solidFill>
                  <a:schemeClr val="accent4"/>
                </a:solidFill>
              </a:rPr>
              <a:t>How xLoop Digital helps Polish businesses adopt AI agents safely</a:t>
            </a:r>
            <a:endParaRPr lang="en-US" sz="2200" dirty="0"/>
          </a:p>
        </p:txBody>
      </p:sp>
      <p:sp>
        <p:nvSpPr>
          <p:cNvPr id="4" name="Motif circle 1"/>
          <p:cNvSpPr/>
          <p:nvPr/>
        </p:nvSpPr>
        <p:spPr>
          <a:xfrm>
            <a:off x="8686800" y="1097280"/>
            <a:ext cx="4206240" cy="4206240"/>
          </a:xfrm>
          <a:prstGeom prst="ellipse">
            <a:avLst/>
          </a:prstGeom>
          <a:solidFill>
            <a:schemeClr val="accent1"/>
          </a:solidFill>
          <a:ln/>
        </p:spPr>
      </p:sp>
      <p:sp>
        <p:nvSpPr>
          <p:cNvPr id="5" name="Motif circle 2"/>
          <p:cNvSpPr/>
          <p:nvPr/>
        </p:nvSpPr>
        <p:spPr>
          <a:xfrm>
            <a:off x="8138160" y="3017520"/>
            <a:ext cx="2926080" cy="2926080"/>
          </a:xfrm>
          <a:prstGeom prst="ellipse">
            <a:avLst/>
          </a:prstGeom>
          <a:solidFill>
            <a:schemeClr val="accent2">
              <a:alpha val="85000"/>
            </a:schemeClr>
          </a:solidFill>
          <a:ln/>
        </p:spPr>
      </p:sp>
      <p:sp>
        <p:nvSpPr>
          <p:cNvPr id="6" name="Motif circle 3"/>
          <p:cNvSpPr/>
          <p:nvPr/>
        </p:nvSpPr>
        <p:spPr>
          <a:xfrm>
            <a:off x="10332720" y="4480560"/>
            <a:ext cx="1371600" cy="1371600"/>
          </a:xfrm>
          <a:prstGeom prst="ellipse">
            <a:avLst/>
          </a:prstGeom>
          <a:solidFill>
            <a:schemeClr val="accent4"/>
          </a:solidFill>
          <a:ln/>
        </p:spPr>
      </p:sp>
      <p:pic>
        <p:nvPicPr>
          <p:cNvPr id="7" name="Motif icon" descr="preencoded.png"/>
          <p:cNvPicPr>
            <a:picLocks noChangeAspect="1"/>
          </p:cNvPicPr>
          <p:nvPr/>
        </p:nvPicPr>
        <p:blipFill>
          <a:blip r:embed="rId3"/>
          <a:stretch>
            <a:fillRect/>
          </a:stretch>
        </p:blipFill>
        <p:spPr>
          <a:xfrm>
            <a:off x="10104120" y="2331720"/>
            <a:ext cx="1371600" cy="1371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640080" y="502920"/>
            <a:ext cx="9509760" cy="1143000"/>
          </a:xfrm>
          <a:prstGeom prst="rect">
            <a:avLst/>
          </a:prstGeom>
          <a:noFill/>
          <a:ln/>
        </p:spPr>
        <p:txBody>
          <a:bodyPr wrap="square" lIns="0" tIns="0" rIns="0" bIns="0" rtlCol="0" anchor="t"/>
          <a:lstStyle/>
          <a:p>
            <a:pPr marL="0" indent="0" algn="l">
              <a:buNone/>
            </a:pPr>
            <a:r>
              <a:rPr lang="en-US" sz="3400" b="1" dirty="0">
                <a:solidFill>
                  <a:schemeClr val="tx1"/>
                </a:solidFill>
              </a:rPr>
              <a:t>Polish businesses face two pressures</a:t>
            </a:r>
            <a:endParaRPr lang="en-US" sz="3400" dirty="0"/>
          </a:p>
        </p:txBody>
      </p:sp>
      <p:sp>
        <p:nvSpPr>
          <p:cNvPr id="4" name="Card 1"/>
          <p:cNvSpPr/>
          <p:nvPr/>
        </p:nvSpPr>
        <p:spPr>
          <a:xfrm>
            <a:off x="640080" y="1828800"/>
            <a:ext cx="5272888" cy="3017520"/>
          </a:xfrm>
          <a:prstGeom prst="roundRect">
            <a:avLst>
              <a:gd name="adj" fmla="val 4242"/>
            </a:avLst>
          </a:prstGeom>
          <a:solidFill>
            <a:schemeClr val="bg2">
              <a:alpha val="55000"/>
            </a:schemeClr>
          </a:solidFill>
          <a:ln/>
        </p:spPr>
      </p:sp>
      <p:sp>
        <p:nvSpPr>
          <p:cNvPr id="5" name="Icon circle 2"/>
          <p:cNvSpPr/>
          <p:nvPr/>
        </p:nvSpPr>
        <p:spPr>
          <a:xfrm>
            <a:off x="960120" y="2103120"/>
            <a:ext cx="640080" cy="640080"/>
          </a:xfrm>
          <a:prstGeom prst="ellipse">
            <a:avLst/>
          </a:prstGeom>
          <a:solidFill>
            <a:schemeClr val="accent1"/>
          </a:solidFill>
          <a:ln/>
        </p:spPr>
      </p:sp>
      <p:pic>
        <p:nvPicPr>
          <p:cNvPr id="6" name="Icon 3" descr="preencoded.png"/>
          <p:cNvPicPr>
            <a:picLocks noChangeAspect="1"/>
          </p:cNvPicPr>
          <p:nvPr/>
        </p:nvPicPr>
        <p:blipFill>
          <a:blip r:embed="rId3"/>
          <a:stretch>
            <a:fillRect/>
          </a:stretch>
        </p:blipFill>
        <p:spPr>
          <a:xfrm>
            <a:off x="1132942" y="2275942"/>
            <a:ext cx="294437" cy="294437"/>
          </a:xfrm>
          <a:prstGeom prst="rect">
            <a:avLst/>
          </a:prstGeom>
        </p:spPr>
      </p:pic>
      <p:sp>
        <p:nvSpPr>
          <p:cNvPr id="7" name="Text 4"/>
          <p:cNvSpPr txBox="1"/>
          <p:nvPr/>
        </p:nvSpPr>
        <p:spPr>
          <a:xfrm>
            <a:off x="1783080" y="2103120"/>
            <a:ext cx="3809848" cy="640080"/>
          </a:xfrm>
          <a:prstGeom prst="rect">
            <a:avLst/>
          </a:prstGeom>
          <a:noFill/>
          <a:ln/>
        </p:spPr>
        <p:txBody>
          <a:bodyPr wrap="square" lIns="0" tIns="0" rIns="0" bIns="0" rtlCol="0" anchor="ctr"/>
          <a:lstStyle/>
          <a:p>
            <a:pPr marL="0" indent="0">
              <a:buNone/>
            </a:pPr>
            <a:r>
              <a:rPr lang="en-US" sz="2200" b="1" dirty="0">
                <a:solidFill>
                  <a:schemeClr val="tx1"/>
                </a:solidFill>
              </a:rPr>
              <a:t>Adopt AI now</a:t>
            </a:r>
            <a:endParaRPr lang="en-US" sz="2200" dirty="0"/>
          </a:p>
        </p:txBody>
      </p:sp>
      <p:sp>
        <p:nvSpPr>
          <p:cNvPr id="8" name="Text 5"/>
          <p:cNvSpPr txBox="1"/>
          <p:nvPr/>
        </p:nvSpPr>
        <p:spPr>
          <a:xfrm>
            <a:off x="960120" y="2971800"/>
            <a:ext cx="4632808" cy="17830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Boards want agents in operations, not another pilot.</a:t>
            </a:r>
            <a:endParaRPr lang="en-US" sz="1600" dirty="0"/>
          </a:p>
          <a:p>
            <a:pPr marL="342900" indent="-342900">
              <a:spcAft>
                <a:spcPts val="800"/>
              </a:spcAft>
              <a:buSzPct val="100000"/>
              <a:buChar char="•"/>
            </a:pPr>
            <a:r>
              <a:rPr lang="en-US" sz="1600" dirty="0">
                <a:solidFill>
                  <a:schemeClr val="tx1"/>
                </a:solidFill>
              </a:rPr>
              <a:t>Teams need AI that handles real work: service, research and back office tasks.</a:t>
            </a:r>
            <a:endParaRPr lang="en-US" sz="1600" dirty="0"/>
          </a:p>
        </p:txBody>
      </p:sp>
      <p:sp>
        <p:nvSpPr>
          <p:cNvPr id="9" name="Card 6"/>
          <p:cNvSpPr/>
          <p:nvPr/>
        </p:nvSpPr>
        <p:spPr>
          <a:xfrm>
            <a:off x="6278728" y="1828800"/>
            <a:ext cx="5272888" cy="3017520"/>
          </a:xfrm>
          <a:prstGeom prst="roundRect">
            <a:avLst>
              <a:gd name="adj" fmla="val 4242"/>
            </a:avLst>
          </a:prstGeom>
          <a:solidFill>
            <a:schemeClr val="bg2">
              <a:alpha val="55000"/>
            </a:schemeClr>
          </a:solidFill>
          <a:ln/>
        </p:spPr>
      </p:sp>
      <p:sp>
        <p:nvSpPr>
          <p:cNvPr id="10" name="Icon circle 7"/>
          <p:cNvSpPr/>
          <p:nvPr/>
        </p:nvSpPr>
        <p:spPr>
          <a:xfrm>
            <a:off x="6598768" y="2103120"/>
            <a:ext cx="640080" cy="640080"/>
          </a:xfrm>
          <a:prstGeom prst="ellipse">
            <a:avLst/>
          </a:prstGeom>
          <a:solidFill>
            <a:schemeClr val="accent2"/>
          </a:solidFill>
          <a:ln/>
        </p:spPr>
      </p:sp>
      <p:pic>
        <p:nvPicPr>
          <p:cNvPr id="11" name="Icon 8" descr="preencoded.png"/>
          <p:cNvPicPr>
            <a:picLocks noChangeAspect="1"/>
          </p:cNvPicPr>
          <p:nvPr/>
        </p:nvPicPr>
        <p:blipFill>
          <a:blip r:embed="rId4"/>
          <a:stretch>
            <a:fillRect/>
          </a:stretch>
        </p:blipFill>
        <p:spPr>
          <a:xfrm>
            <a:off x="6771589" y="2275942"/>
            <a:ext cx="294437" cy="294437"/>
          </a:xfrm>
          <a:prstGeom prst="rect">
            <a:avLst/>
          </a:prstGeom>
        </p:spPr>
      </p:pic>
      <p:sp>
        <p:nvSpPr>
          <p:cNvPr id="12" name="Text 9"/>
          <p:cNvSpPr txBox="1"/>
          <p:nvPr/>
        </p:nvSpPr>
        <p:spPr>
          <a:xfrm>
            <a:off x="7421728" y="2103120"/>
            <a:ext cx="3809848" cy="640080"/>
          </a:xfrm>
          <a:prstGeom prst="rect">
            <a:avLst/>
          </a:prstGeom>
          <a:noFill/>
          <a:ln/>
        </p:spPr>
        <p:txBody>
          <a:bodyPr wrap="square" lIns="0" tIns="0" rIns="0" bIns="0" rtlCol="0" anchor="ctr"/>
          <a:lstStyle/>
          <a:p>
            <a:pPr marL="0" indent="0">
              <a:buNone/>
            </a:pPr>
            <a:r>
              <a:rPr lang="en-US" sz="2200" b="1" dirty="0">
                <a:solidFill>
                  <a:schemeClr val="tx1"/>
                </a:solidFill>
              </a:rPr>
              <a:t>Prove it is safe</a:t>
            </a:r>
            <a:endParaRPr lang="en-US" sz="2200" dirty="0"/>
          </a:p>
        </p:txBody>
      </p:sp>
      <p:sp>
        <p:nvSpPr>
          <p:cNvPr id="13" name="Text 10"/>
          <p:cNvSpPr txBox="1"/>
          <p:nvPr/>
        </p:nvSpPr>
        <p:spPr>
          <a:xfrm>
            <a:off x="6598768" y="2971800"/>
            <a:ext cx="4632808" cy="17830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EU rules such as the AI Act, NIS2, DORA and GDPR raise the bar for how AI is built, secured and documented.</a:t>
            </a:r>
            <a:endParaRPr lang="en-US" sz="1600" dirty="0"/>
          </a:p>
          <a:p>
            <a:pPr marL="342900" indent="-342900">
              <a:spcAft>
                <a:spcPts val="800"/>
              </a:spcAft>
              <a:buSzPct val="100000"/>
              <a:buChar char="•"/>
            </a:pPr>
            <a:r>
              <a:rPr lang="en-US" sz="1600" dirty="0">
                <a:solidFill>
                  <a:schemeClr val="tx1"/>
                </a:solidFill>
              </a:rPr>
              <a:t>One AI incident damages trust in the whole program.</a:t>
            </a:r>
            <a:endParaRPr lang="en-US" sz="1600" dirty="0"/>
          </a:p>
        </p:txBody>
      </p:sp>
      <p:sp>
        <p:nvSpPr>
          <p:cNvPr id="14" name="Card 11"/>
          <p:cNvSpPr/>
          <p:nvPr/>
        </p:nvSpPr>
        <p:spPr>
          <a:xfrm>
            <a:off x="640080" y="5120640"/>
            <a:ext cx="10911535" cy="914400"/>
          </a:xfrm>
          <a:prstGeom prst="roundRect">
            <a:avLst>
              <a:gd name="adj" fmla="val 14000"/>
            </a:avLst>
          </a:prstGeom>
          <a:solidFill>
            <a:schemeClr val="tx1"/>
          </a:solidFill>
          <a:ln/>
        </p:spPr>
      </p:sp>
      <p:sp>
        <p:nvSpPr>
          <p:cNvPr id="15" name="Text 12"/>
          <p:cNvSpPr txBox="1"/>
          <p:nvPr/>
        </p:nvSpPr>
        <p:spPr>
          <a:xfrm>
            <a:off x="1005840" y="5120640"/>
            <a:ext cx="10180015" cy="914400"/>
          </a:xfrm>
          <a:prstGeom prst="rect">
            <a:avLst/>
          </a:prstGeom>
          <a:noFill/>
          <a:ln/>
        </p:spPr>
        <p:txBody>
          <a:bodyPr wrap="square" lIns="0" tIns="0" rIns="0" bIns="0" rtlCol="0" anchor="ctr"/>
          <a:lstStyle/>
          <a:p>
            <a:pPr marL="0" indent="0">
              <a:buNone/>
            </a:pPr>
            <a:r>
              <a:rPr lang="en-US" sz="2200" b="1" dirty="0">
                <a:solidFill>
                  <a:schemeClr val="bg1"/>
                </a:solidFill>
              </a:rPr>
              <a:t>Most vendors solve one side. We solve both, in one team.</a:t>
            </a:r>
            <a:endParaRPr lang="en-US" sz="22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640080" y="502920"/>
            <a:ext cx="9509760" cy="1143000"/>
          </a:xfrm>
          <a:prstGeom prst="rect">
            <a:avLst/>
          </a:prstGeom>
          <a:noFill/>
          <a:ln/>
        </p:spPr>
        <p:txBody>
          <a:bodyPr wrap="square" lIns="0" tIns="0" rIns="0" bIns="0" rtlCol="0" anchor="t"/>
          <a:lstStyle/>
          <a:p>
            <a:pPr marL="0" indent="0" algn="l">
              <a:buNone/>
            </a:pPr>
            <a:r>
              <a:rPr lang="en-US" sz="3400" b="1" dirty="0">
                <a:solidFill>
                  <a:schemeClr val="tx1"/>
                </a:solidFill>
              </a:rPr>
              <a:t>Three things we do for every AI program</a:t>
            </a:r>
            <a:endParaRPr lang="en-US" sz="3400" dirty="0"/>
          </a:p>
        </p:txBody>
      </p:sp>
      <p:sp>
        <p:nvSpPr>
          <p:cNvPr id="4" name="Card 13"/>
          <p:cNvSpPr/>
          <p:nvPr/>
        </p:nvSpPr>
        <p:spPr>
          <a:xfrm>
            <a:off x="640080" y="1828800"/>
            <a:ext cx="3423818" cy="4206240"/>
          </a:xfrm>
          <a:prstGeom prst="roundRect">
            <a:avLst>
              <a:gd name="adj" fmla="val 3739"/>
            </a:avLst>
          </a:prstGeom>
          <a:solidFill>
            <a:schemeClr val="tx1"/>
          </a:solidFill>
          <a:ln/>
        </p:spPr>
      </p:sp>
      <p:sp>
        <p:nvSpPr>
          <p:cNvPr id="5" name="Icon circle 14"/>
          <p:cNvSpPr/>
          <p:nvPr/>
        </p:nvSpPr>
        <p:spPr>
          <a:xfrm>
            <a:off x="1005840" y="2194560"/>
            <a:ext cx="914400" cy="914400"/>
          </a:xfrm>
          <a:prstGeom prst="ellipse">
            <a:avLst/>
          </a:prstGeom>
          <a:solidFill>
            <a:schemeClr val="accent2"/>
          </a:solidFill>
          <a:ln/>
        </p:spPr>
      </p:sp>
      <p:pic>
        <p:nvPicPr>
          <p:cNvPr id="6" name="Icon 15" descr="preencoded.png"/>
          <p:cNvPicPr>
            <a:picLocks noChangeAspect="1"/>
          </p:cNvPicPr>
          <p:nvPr/>
        </p:nvPicPr>
        <p:blipFill>
          <a:blip r:embed="rId3"/>
          <a:stretch>
            <a:fillRect/>
          </a:stretch>
        </p:blipFill>
        <p:spPr>
          <a:xfrm>
            <a:off x="1252728" y="2441448"/>
            <a:ext cx="420624" cy="420624"/>
          </a:xfrm>
          <a:prstGeom prst="rect">
            <a:avLst/>
          </a:prstGeom>
        </p:spPr>
      </p:pic>
      <p:sp>
        <p:nvSpPr>
          <p:cNvPr id="7" name="Text 16"/>
          <p:cNvSpPr txBox="1"/>
          <p:nvPr/>
        </p:nvSpPr>
        <p:spPr>
          <a:xfrm>
            <a:off x="2783738" y="2194560"/>
            <a:ext cx="914400" cy="914400"/>
          </a:xfrm>
          <a:prstGeom prst="rect">
            <a:avLst/>
          </a:prstGeom>
          <a:noFill/>
          <a:ln/>
        </p:spPr>
        <p:txBody>
          <a:bodyPr wrap="square" lIns="0" tIns="0" rIns="0" bIns="0" rtlCol="0" anchor="ctr"/>
          <a:lstStyle/>
          <a:p>
            <a:pPr marL="0" indent="0" algn="r">
              <a:buNone/>
            </a:pPr>
            <a:r>
              <a:rPr lang="en-US" sz="3600" b="1" dirty="0">
                <a:solidFill>
                  <a:schemeClr val="accent4"/>
                </a:solidFill>
              </a:rPr>
              <a:t>01</a:t>
            </a:r>
            <a:endParaRPr lang="en-US" sz="3600" dirty="0"/>
          </a:p>
        </p:txBody>
      </p:sp>
      <p:sp>
        <p:nvSpPr>
          <p:cNvPr id="8" name="Text 17"/>
          <p:cNvSpPr txBox="1"/>
          <p:nvPr/>
        </p:nvSpPr>
        <p:spPr>
          <a:xfrm>
            <a:off x="1005840" y="3474720"/>
            <a:ext cx="2875178" cy="457200"/>
          </a:xfrm>
          <a:prstGeom prst="rect">
            <a:avLst/>
          </a:prstGeom>
          <a:noFill/>
          <a:ln/>
        </p:spPr>
        <p:txBody>
          <a:bodyPr wrap="square" lIns="0" tIns="0" rIns="0" bIns="0" rtlCol="0" anchor="t"/>
          <a:lstStyle/>
          <a:p>
            <a:pPr marL="0" indent="0">
              <a:buNone/>
            </a:pPr>
            <a:r>
              <a:rPr lang="en-US" sz="2200" b="1" dirty="0">
                <a:solidFill>
                  <a:schemeClr val="bg1"/>
                </a:solidFill>
              </a:rPr>
              <a:t>Make AI work</a:t>
            </a:r>
            <a:endParaRPr lang="en-US" sz="2200" dirty="0"/>
          </a:p>
        </p:txBody>
      </p:sp>
      <p:sp>
        <p:nvSpPr>
          <p:cNvPr id="9" name="Text 18"/>
          <p:cNvSpPr txBox="1"/>
          <p:nvPr/>
        </p:nvSpPr>
        <p:spPr>
          <a:xfrm>
            <a:off x="1005840" y="4069080"/>
            <a:ext cx="2783738" cy="1737360"/>
          </a:xfrm>
          <a:prstGeom prst="rect">
            <a:avLst/>
          </a:prstGeom>
          <a:noFill/>
          <a:ln/>
        </p:spPr>
        <p:txBody>
          <a:bodyPr wrap="square" lIns="0" tIns="0" rIns="0" bIns="0" rtlCol="0" anchor="t"/>
          <a:lstStyle/>
          <a:p>
            <a:pPr marL="0" indent="0">
              <a:buNone/>
            </a:pPr>
            <a:r>
              <a:rPr lang="en-US" sz="1800" dirty="0">
                <a:solidFill>
                  <a:schemeClr val="bg1"/>
                </a:solidFill>
              </a:rPr>
              <a:t>AI agents and assistants built for production use, not for a demo.</a:t>
            </a:r>
            <a:endParaRPr lang="en-US" sz="1800" dirty="0"/>
          </a:p>
        </p:txBody>
      </p:sp>
      <p:sp>
        <p:nvSpPr>
          <p:cNvPr id="10" name="Card 19"/>
          <p:cNvSpPr/>
          <p:nvPr/>
        </p:nvSpPr>
        <p:spPr>
          <a:xfrm>
            <a:off x="4383938" y="1828800"/>
            <a:ext cx="3423818" cy="4206240"/>
          </a:xfrm>
          <a:prstGeom prst="roundRect">
            <a:avLst>
              <a:gd name="adj" fmla="val 3739"/>
            </a:avLst>
          </a:prstGeom>
          <a:solidFill>
            <a:schemeClr val="bg2">
              <a:alpha val="55000"/>
            </a:schemeClr>
          </a:solidFill>
          <a:ln/>
        </p:spPr>
      </p:sp>
      <p:sp>
        <p:nvSpPr>
          <p:cNvPr id="11" name="Icon circle 20"/>
          <p:cNvSpPr/>
          <p:nvPr/>
        </p:nvSpPr>
        <p:spPr>
          <a:xfrm>
            <a:off x="4749698" y="2194560"/>
            <a:ext cx="914400" cy="914400"/>
          </a:xfrm>
          <a:prstGeom prst="ellipse">
            <a:avLst/>
          </a:prstGeom>
          <a:solidFill>
            <a:schemeClr val="accent1"/>
          </a:solidFill>
          <a:ln/>
        </p:spPr>
      </p:sp>
      <p:pic>
        <p:nvPicPr>
          <p:cNvPr id="12" name="Icon 21" descr="preencoded.png"/>
          <p:cNvPicPr>
            <a:picLocks noChangeAspect="1"/>
          </p:cNvPicPr>
          <p:nvPr/>
        </p:nvPicPr>
        <p:blipFill>
          <a:blip r:embed="rId4"/>
          <a:stretch>
            <a:fillRect/>
          </a:stretch>
        </p:blipFill>
        <p:spPr>
          <a:xfrm>
            <a:off x="4996586" y="2441448"/>
            <a:ext cx="420624" cy="420624"/>
          </a:xfrm>
          <a:prstGeom prst="rect">
            <a:avLst/>
          </a:prstGeom>
        </p:spPr>
      </p:pic>
      <p:sp>
        <p:nvSpPr>
          <p:cNvPr id="13" name="Text 22"/>
          <p:cNvSpPr txBox="1"/>
          <p:nvPr/>
        </p:nvSpPr>
        <p:spPr>
          <a:xfrm>
            <a:off x="6527597" y="2194560"/>
            <a:ext cx="914400" cy="914400"/>
          </a:xfrm>
          <a:prstGeom prst="rect">
            <a:avLst/>
          </a:prstGeom>
          <a:noFill/>
          <a:ln/>
        </p:spPr>
        <p:txBody>
          <a:bodyPr wrap="square" lIns="0" tIns="0" rIns="0" bIns="0" rtlCol="0" anchor="ctr"/>
          <a:lstStyle/>
          <a:p>
            <a:pPr marL="0" indent="0" algn="r">
              <a:buNone/>
            </a:pPr>
            <a:r>
              <a:rPr lang="en-US" sz="3600" b="1" dirty="0">
                <a:solidFill>
                  <a:schemeClr val="accent1"/>
                </a:solidFill>
              </a:rPr>
              <a:t>02</a:t>
            </a:r>
            <a:endParaRPr lang="en-US" sz="3600" dirty="0"/>
          </a:p>
        </p:txBody>
      </p:sp>
      <p:sp>
        <p:nvSpPr>
          <p:cNvPr id="14" name="Text 23"/>
          <p:cNvSpPr txBox="1"/>
          <p:nvPr/>
        </p:nvSpPr>
        <p:spPr>
          <a:xfrm>
            <a:off x="4749698" y="3474720"/>
            <a:ext cx="2875178" cy="457200"/>
          </a:xfrm>
          <a:prstGeom prst="rect">
            <a:avLst/>
          </a:prstGeom>
          <a:noFill/>
          <a:ln/>
        </p:spPr>
        <p:txBody>
          <a:bodyPr wrap="square" lIns="0" tIns="0" rIns="0" bIns="0" rtlCol="0" anchor="t"/>
          <a:lstStyle/>
          <a:p>
            <a:pPr marL="0" indent="0">
              <a:buNone/>
            </a:pPr>
            <a:r>
              <a:rPr lang="en-US" sz="2200" b="1" dirty="0">
                <a:solidFill>
                  <a:schemeClr val="tx1"/>
                </a:solidFill>
              </a:rPr>
              <a:t>Make AI safe</a:t>
            </a:r>
            <a:endParaRPr lang="en-US" sz="2200" dirty="0"/>
          </a:p>
        </p:txBody>
      </p:sp>
      <p:sp>
        <p:nvSpPr>
          <p:cNvPr id="15" name="Text 24"/>
          <p:cNvSpPr txBox="1"/>
          <p:nvPr/>
        </p:nvSpPr>
        <p:spPr>
          <a:xfrm>
            <a:off x="4749698" y="4069080"/>
            <a:ext cx="2783738" cy="1737360"/>
          </a:xfrm>
          <a:prstGeom prst="rect">
            <a:avLst/>
          </a:prstGeom>
          <a:noFill/>
          <a:ln/>
        </p:spPr>
        <p:txBody>
          <a:bodyPr wrap="square" lIns="0" tIns="0" rIns="0" bIns="0" rtlCol="0" anchor="t"/>
          <a:lstStyle/>
          <a:p>
            <a:pPr marL="0" indent="0">
              <a:buNone/>
            </a:pPr>
            <a:r>
              <a:rPr lang="en-US" sz="1800" dirty="0">
                <a:solidFill>
                  <a:schemeClr val="tx1"/>
                </a:solidFill>
              </a:rPr>
              <a:t>Security testing and governance for every AI system we build or review.</a:t>
            </a:r>
            <a:endParaRPr lang="en-US" sz="1800" dirty="0"/>
          </a:p>
        </p:txBody>
      </p:sp>
      <p:sp>
        <p:nvSpPr>
          <p:cNvPr id="16" name="Card 25"/>
          <p:cNvSpPr/>
          <p:nvPr/>
        </p:nvSpPr>
        <p:spPr>
          <a:xfrm>
            <a:off x="8127797" y="1828800"/>
            <a:ext cx="3423818" cy="4206240"/>
          </a:xfrm>
          <a:prstGeom prst="roundRect">
            <a:avLst>
              <a:gd name="adj" fmla="val 3739"/>
            </a:avLst>
          </a:prstGeom>
          <a:solidFill>
            <a:schemeClr val="bg2">
              <a:alpha val="55000"/>
            </a:schemeClr>
          </a:solidFill>
          <a:ln/>
        </p:spPr>
      </p:sp>
      <p:sp>
        <p:nvSpPr>
          <p:cNvPr id="17" name="Icon circle 26"/>
          <p:cNvSpPr/>
          <p:nvPr/>
        </p:nvSpPr>
        <p:spPr>
          <a:xfrm>
            <a:off x="8493557" y="2194560"/>
            <a:ext cx="914400" cy="914400"/>
          </a:xfrm>
          <a:prstGeom prst="ellipse">
            <a:avLst/>
          </a:prstGeom>
          <a:solidFill>
            <a:schemeClr val="accent1"/>
          </a:solidFill>
          <a:ln/>
        </p:spPr>
      </p:sp>
      <p:pic>
        <p:nvPicPr>
          <p:cNvPr id="18" name="Icon 27" descr="preencoded.png"/>
          <p:cNvPicPr>
            <a:picLocks noChangeAspect="1"/>
          </p:cNvPicPr>
          <p:nvPr/>
        </p:nvPicPr>
        <p:blipFill>
          <a:blip r:embed="rId5"/>
          <a:stretch>
            <a:fillRect/>
          </a:stretch>
        </p:blipFill>
        <p:spPr>
          <a:xfrm>
            <a:off x="8740445" y="2441448"/>
            <a:ext cx="420624" cy="420624"/>
          </a:xfrm>
          <a:prstGeom prst="rect">
            <a:avLst/>
          </a:prstGeom>
        </p:spPr>
      </p:pic>
      <p:sp>
        <p:nvSpPr>
          <p:cNvPr id="19" name="Text 28"/>
          <p:cNvSpPr txBox="1"/>
          <p:nvPr/>
        </p:nvSpPr>
        <p:spPr>
          <a:xfrm>
            <a:off x="10271455" y="2194560"/>
            <a:ext cx="914400" cy="914400"/>
          </a:xfrm>
          <a:prstGeom prst="rect">
            <a:avLst/>
          </a:prstGeom>
          <a:noFill/>
          <a:ln/>
        </p:spPr>
        <p:txBody>
          <a:bodyPr wrap="square" lIns="0" tIns="0" rIns="0" bIns="0" rtlCol="0" anchor="ctr"/>
          <a:lstStyle/>
          <a:p>
            <a:pPr marL="0" indent="0" algn="r">
              <a:buNone/>
            </a:pPr>
            <a:r>
              <a:rPr lang="en-US" sz="3600" b="1" dirty="0">
                <a:solidFill>
                  <a:schemeClr val="accent1"/>
                </a:solidFill>
              </a:rPr>
              <a:t>03</a:t>
            </a:r>
            <a:endParaRPr lang="en-US" sz="3600" dirty="0"/>
          </a:p>
        </p:txBody>
      </p:sp>
      <p:sp>
        <p:nvSpPr>
          <p:cNvPr id="20" name="Text 29"/>
          <p:cNvSpPr txBox="1"/>
          <p:nvPr/>
        </p:nvSpPr>
        <p:spPr>
          <a:xfrm>
            <a:off x="8493557" y="3474720"/>
            <a:ext cx="2875178" cy="457200"/>
          </a:xfrm>
          <a:prstGeom prst="rect">
            <a:avLst/>
          </a:prstGeom>
          <a:noFill/>
          <a:ln/>
        </p:spPr>
        <p:txBody>
          <a:bodyPr wrap="square" lIns="0" tIns="0" rIns="0" bIns="0" rtlCol="0" anchor="t"/>
          <a:lstStyle/>
          <a:p>
            <a:pPr marL="0" indent="0">
              <a:buNone/>
            </a:pPr>
            <a:r>
              <a:rPr lang="en-US" sz="2200" b="1" dirty="0">
                <a:solidFill>
                  <a:schemeClr val="tx1"/>
                </a:solidFill>
              </a:rPr>
              <a:t>Make AI possible</a:t>
            </a:r>
            <a:endParaRPr lang="en-US" sz="2200" dirty="0"/>
          </a:p>
        </p:txBody>
      </p:sp>
      <p:sp>
        <p:nvSpPr>
          <p:cNvPr id="21" name="Text 30"/>
          <p:cNvSpPr txBox="1"/>
          <p:nvPr/>
        </p:nvSpPr>
        <p:spPr>
          <a:xfrm>
            <a:off x="8493557" y="4069080"/>
            <a:ext cx="2783738" cy="1737360"/>
          </a:xfrm>
          <a:prstGeom prst="rect">
            <a:avLst/>
          </a:prstGeom>
          <a:noFill/>
          <a:ln/>
        </p:spPr>
        <p:txBody>
          <a:bodyPr wrap="square" lIns="0" tIns="0" rIns="0" bIns="0" rtlCol="0" anchor="t"/>
          <a:lstStyle/>
          <a:p>
            <a:pPr marL="0" indent="0">
              <a:buNone/>
            </a:pPr>
            <a:r>
              <a:rPr lang="en-US" sz="1800" dirty="0">
                <a:solidFill>
                  <a:schemeClr val="tx1"/>
                </a:solidFill>
              </a:rPr>
              <a:t>The data foundation that agents depend on to give correct answers.</a:t>
            </a:r>
            <a:endParaRPr lang="en-US" sz="18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640080" y="502920"/>
            <a:ext cx="9509760" cy="1143000"/>
          </a:xfrm>
          <a:prstGeom prst="rect">
            <a:avLst/>
          </a:prstGeom>
          <a:noFill/>
          <a:ln/>
        </p:spPr>
        <p:txBody>
          <a:bodyPr wrap="square" lIns="0" tIns="0" rIns="0" bIns="0" rtlCol="0" anchor="t"/>
          <a:lstStyle/>
          <a:p>
            <a:pPr marL="0" indent="0" algn="l">
              <a:buNone/>
            </a:pPr>
            <a:r>
              <a:rPr lang="en-US" sz="3400" b="1" dirty="0">
                <a:solidFill>
                  <a:schemeClr val="tx1"/>
                </a:solidFill>
              </a:rPr>
              <a:t>Make AI work: agents for real tasks</a:t>
            </a:r>
            <a:endParaRPr lang="en-US" sz="3400" dirty="0"/>
          </a:p>
        </p:txBody>
      </p:sp>
      <p:sp>
        <p:nvSpPr>
          <p:cNvPr id="4" name="Text 31"/>
          <p:cNvSpPr txBox="1"/>
          <p:nvPr/>
        </p:nvSpPr>
        <p:spPr>
          <a:xfrm>
            <a:off x="640080" y="1783080"/>
            <a:ext cx="10911535" cy="731520"/>
          </a:xfrm>
          <a:prstGeom prst="rect">
            <a:avLst/>
          </a:prstGeom>
          <a:noFill/>
          <a:ln/>
        </p:spPr>
        <p:txBody>
          <a:bodyPr wrap="square" lIns="0" tIns="0" rIns="0" bIns="0" rtlCol="0" anchor="t"/>
          <a:lstStyle/>
          <a:p>
            <a:pPr marL="0" indent="0">
              <a:buNone/>
            </a:pPr>
            <a:r>
              <a:rPr lang="en-US" sz="1800" dirty="0">
                <a:solidFill>
                  <a:schemeClr val="tx1"/>
                </a:solidFill>
              </a:rPr>
              <a:t>We build AI agents, multi agent systems, LLM assistants over your documents, and conversational AI for customers and staff.</a:t>
            </a:r>
            <a:endParaRPr lang="en-US" sz="1800" dirty="0"/>
          </a:p>
        </p:txBody>
      </p:sp>
      <p:sp>
        <p:nvSpPr>
          <p:cNvPr id="5" name="Card 32"/>
          <p:cNvSpPr/>
          <p:nvPr/>
        </p:nvSpPr>
        <p:spPr>
          <a:xfrm>
            <a:off x="640080" y="2697480"/>
            <a:ext cx="3454298" cy="3337560"/>
          </a:xfrm>
          <a:prstGeom prst="roundRect">
            <a:avLst>
              <a:gd name="adj" fmla="val 3836"/>
            </a:avLst>
          </a:prstGeom>
          <a:solidFill>
            <a:schemeClr val="bg2">
              <a:alpha val="55000"/>
            </a:schemeClr>
          </a:solidFill>
          <a:ln/>
        </p:spPr>
      </p:sp>
      <p:sp>
        <p:nvSpPr>
          <p:cNvPr id="6" name="Icon circle 33"/>
          <p:cNvSpPr/>
          <p:nvPr/>
        </p:nvSpPr>
        <p:spPr>
          <a:xfrm>
            <a:off x="914400" y="2971800"/>
            <a:ext cx="548640" cy="548640"/>
          </a:xfrm>
          <a:prstGeom prst="ellipse">
            <a:avLst/>
          </a:prstGeom>
          <a:solidFill>
            <a:schemeClr val="accent1"/>
          </a:solidFill>
          <a:ln/>
        </p:spPr>
      </p:sp>
      <p:pic>
        <p:nvPicPr>
          <p:cNvPr id="7" name="Icon 34" descr="preencoded.png"/>
          <p:cNvPicPr>
            <a:picLocks noChangeAspect="1"/>
          </p:cNvPicPr>
          <p:nvPr/>
        </p:nvPicPr>
        <p:blipFill>
          <a:blip r:embed="rId3"/>
          <a:stretch>
            <a:fillRect/>
          </a:stretch>
        </p:blipFill>
        <p:spPr>
          <a:xfrm>
            <a:off x="1062533" y="3119933"/>
            <a:ext cx="252374" cy="252374"/>
          </a:xfrm>
          <a:prstGeom prst="rect">
            <a:avLst/>
          </a:prstGeom>
        </p:spPr>
      </p:pic>
      <p:sp>
        <p:nvSpPr>
          <p:cNvPr id="8" name="Text 35"/>
          <p:cNvSpPr txBox="1"/>
          <p:nvPr/>
        </p:nvSpPr>
        <p:spPr>
          <a:xfrm>
            <a:off x="1600200" y="2971800"/>
            <a:ext cx="2219858" cy="548640"/>
          </a:xfrm>
          <a:prstGeom prst="rect">
            <a:avLst/>
          </a:prstGeom>
          <a:noFill/>
          <a:ln/>
        </p:spPr>
        <p:txBody>
          <a:bodyPr wrap="square" lIns="0" tIns="0" rIns="0" bIns="0" rtlCol="0" anchor="ctr"/>
          <a:lstStyle/>
          <a:p>
            <a:pPr marL="0" indent="0">
              <a:buNone/>
            </a:pPr>
            <a:r>
              <a:rPr lang="en-US" sz="1200" b="1" kern="0" spc="100" dirty="0">
                <a:solidFill>
                  <a:schemeClr val="accent5"/>
                </a:solidFill>
              </a:rPr>
              <a:t>FINANCIAL SERVICES</a:t>
            </a:r>
            <a:endParaRPr lang="en-US" sz="1200" dirty="0"/>
          </a:p>
        </p:txBody>
      </p:sp>
      <p:sp>
        <p:nvSpPr>
          <p:cNvPr id="9" name="Text 36"/>
          <p:cNvSpPr txBox="1"/>
          <p:nvPr/>
        </p:nvSpPr>
        <p:spPr>
          <a:xfrm>
            <a:off x="914400" y="3703320"/>
            <a:ext cx="2905658" cy="411480"/>
          </a:xfrm>
          <a:prstGeom prst="rect">
            <a:avLst/>
          </a:prstGeom>
          <a:noFill/>
          <a:ln/>
        </p:spPr>
        <p:txBody>
          <a:bodyPr wrap="square" lIns="0" tIns="0" rIns="0" bIns="0" rtlCol="0" anchor="t"/>
          <a:lstStyle/>
          <a:p>
            <a:pPr marL="0" indent="0">
              <a:buNone/>
            </a:pPr>
            <a:r>
              <a:rPr lang="en-US" sz="1800" b="1" dirty="0">
                <a:solidFill>
                  <a:schemeClr val="tx1"/>
                </a:solidFill>
              </a:rPr>
              <a:t>Investment assistant</a:t>
            </a:r>
            <a:endParaRPr lang="en-US" sz="1800" dirty="0"/>
          </a:p>
        </p:txBody>
      </p:sp>
      <p:sp>
        <p:nvSpPr>
          <p:cNvPr id="10" name="Text 37"/>
          <p:cNvSpPr txBox="1"/>
          <p:nvPr/>
        </p:nvSpPr>
        <p:spPr>
          <a:xfrm>
            <a:off x="914400" y="4206240"/>
            <a:ext cx="2905658" cy="1691640"/>
          </a:xfrm>
          <a:prstGeom prst="rect">
            <a:avLst/>
          </a:prstGeom>
          <a:noFill/>
          <a:ln/>
        </p:spPr>
        <p:txBody>
          <a:bodyPr wrap="square" lIns="0" tIns="0" rIns="0" bIns="0" rtlCol="0" anchor="t"/>
          <a:lstStyle/>
          <a:p>
            <a:pPr marL="0" indent="0">
              <a:buNone/>
            </a:pPr>
            <a:r>
              <a:rPr lang="en-US" sz="1600" dirty="0">
                <a:solidFill>
                  <a:schemeClr val="tx1"/>
                </a:solidFill>
              </a:rPr>
              <a:t>An LLM assistant for an asset management firm. It reads 40+ page fund reports and answers investor questions in plain language.</a:t>
            </a:r>
            <a:endParaRPr lang="en-US" sz="1600" dirty="0"/>
          </a:p>
        </p:txBody>
      </p:sp>
      <p:sp>
        <p:nvSpPr>
          <p:cNvPr id="11" name="Card 38"/>
          <p:cNvSpPr/>
          <p:nvPr/>
        </p:nvSpPr>
        <p:spPr>
          <a:xfrm>
            <a:off x="4368698" y="2697480"/>
            <a:ext cx="3454298" cy="3337560"/>
          </a:xfrm>
          <a:prstGeom prst="roundRect">
            <a:avLst>
              <a:gd name="adj" fmla="val 3836"/>
            </a:avLst>
          </a:prstGeom>
          <a:solidFill>
            <a:schemeClr val="bg2">
              <a:alpha val="55000"/>
            </a:schemeClr>
          </a:solidFill>
          <a:ln/>
        </p:spPr>
      </p:sp>
      <p:sp>
        <p:nvSpPr>
          <p:cNvPr id="12" name="Icon circle 39"/>
          <p:cNvSpPr/>
          <p:nvPr/>
        </p:nvSpPr>
        <p:spPr>
          <a:xfrm>
            <a:off x="4643018" y="2971800"/>
            <a:ext cx="548640" cy="548640"/>
          </a:xfrm>
          <a:prstGeom prst="ellipse">
            <a:avLst/>
          </a:prstGeom>
          <a:solidFill>
            <a:schemeClr val="accent1"/>
          </a:solidFill>
          <a:ln/>
        </p:spPr>
      </p:sp>
      <p:pic>
        <p:nvPicPr>
          <p:cNvPr id="13" name="Icon 40" descr="preencoded.png"/>
          <p:cNvPicPr>
            <a:picLocks noChangeAspect="1"/>
          </p:cNvPicPr>
          <p:nvPr/>
        </p:nvPicPr>
        <p:blipFill>
          <a:blip r:embed="rId4"/>
          <a:stretch>
            <a:fillRect/>
          </a:stretch>
        </p:blipFill>
        <p:spPr>
          <a:xfrm>
            <a:off x="4791151" y="3119933"/>
            <a:ext cx="252374" cy="252374"/>
          </a:xfrm>
          <a:prstGeom prst="rect">
            <a:avLst/>
          </a:prstGeom>
        </p:spPr>
      </p:pic>
      <p:sp>
        <p:nvSpPr>
          <p:cNvPr id="14" name="Text 41"/>
          <p:cNvSpPr txBox="1"/>
          <p:nvPr/>
        </p:nvSpPr>
        <p:spPr>
          <a:xfrm>
            <a:off x="5328818" y="2971800"/>
            <a:ext cx="2219858" cy="548640"/>
          </a:xfrm>
          <a:prstGeom prst="rect">
            <a:avLst/>
          </a:prstGeom>
          <a:noFill/>
          <a:ln/>
        </p:spPr>
        <p:txBody>
          <a:bodyPr wrap="square" lIns="0" tIns="0" rIns="0" bIns="0" rtlCol="0" anchor="ctr"/>
          <a:lstStyle/>
          <a:p>
            <a:pPr marL="0" indent="0">
              <a:buNone/>
            </a:pPr>
            <a:r>
              <a:rPr lang="en-US" sz="1200" b="1" kern="0" spc="100" dirty="0">
                <a:solidFill>
                  <a:schemeClr val="accent5"/>
                </a:solidFill>
              </a:rPr>
              <a:t>HEALTHCARE</a:t>
            </a:r>
            <a:endParaRPr lang="en-US" sz="1200" dirty="0"/>
          </a:p>
        </p:txBody>
      </p:sp>
      <p:sp>
        <p:nvSpPr>
          <p:cNvPr id="15" name="Text 42"/>
          <p:cNvSpPr txBox="1"/>
          <p:nvPr/>
        </p:nvSpPr>
        <p:spPr>
          <a:xfrm>
            <a:off x="4643018" y="3703320"/>
            <a:ext cx="2905658" cy="411480"/>
          </a:xfrm>
          <a:prstGeom prst="rect">
            <a:avLst/>
          </a:prstGeom>
          <a:noFill/>
          <a:ln/>
        </p:spPr>
        <p:txBody>
          <a:bodyPr wrap="square" lIns="0" tIns="0" rIns="0" bIns="0" rtlCol="0" anchor="t"/>
          <a:lstStyle/>
          <a:p>
            <a:pPr marL="0" indent="0">
              <a:buNone/>
            </a:pPr>
            <a:r>
              <a:rPr lang="en-US" sz="1800" b="1" dirty="0">
                <a:solidFill>
                  <a:schemeClr val="tx1"/>
                </a:solidFill>
              </a:rPr>
              <a:t>Video search</a:t>
            </a:r>
            <a:endParaRPr lang="en-US" sz="1800" dirty="0"/>
          </a:p>
        </p:txBody>
      </p:sp>
      <p:sp>
        <p:nvSpPr>
          <p:cNvPr id="16" name="Text 43"/>
          <p:cNvSpPr txBox="1"/>
          <p:nvPr/>
        </p:nvSpPr>
        <p:spPr>
          <a:xfrm>
            <a:off x="4643018" y="4206240"/>
            <a:ext cx="2905658" cy="1691640"/>
          </a:xfrm>
          <a:prstGeom prst="rect">
            <a:avLst/>
          </a:prstGeom>
          <a:noFill/>
          <a:ln/>
        </p:spPr>
        <p:txBody>
          <a:bodyPr wrap="square" lIns="0" tIns="0" rIns="0" bIns="0" rtlCol="0" anchor="t"/>
          <a:lstStyle/>
          <a:p>
            <a:pPr marL="0" indent="0">
              <a:buNone/>
            </a:pPr>
            <a:r>
              <a:rPr lang="en-US" sz="1600" dirty="0">
                <a:solidFill>
                  <a:schemeClr val="tx1"/>
                </a:solidFill>
              </a:rPr>
              <a:t>A retrieval system for a Canadian healthcare platform. Staff ask a question and get answers from thousands of recordings.</a:t>
            </a:r>
            <a:endParaRPr lang="en-US" sz="1600" dirty="0"/>
          </a:p>
        </p:txBody>
      </p:sp>
      <p:sp>
        <p:nvSpPr>
          <p:cNvPr id="17" name="Card 44"/>
          <p:cNvSpPr/>
          <p:nvPr/>
        </p:nvSpPr>
        <p:spPr>
          <a:xfrm>
            <a:off x="8097317" y="2697480"/>
            <a:ext cx="3454298" cy="3337560"/>
          </a:xfrm>
          <a:prstGeom prst="roundRect">
            <a:avLst>
              <a:gd name="adj" fmla="val 3836"/>
            </a:avLst>
          </a:prstGeom>
          <a:solidFill>
            <a:schemeClr val="bg2">
              <a:alpha val="55000"/>
            </a:schemeClr>
          </a:solidFill>
          <a:ln/>
        </p:spPr>
      </p:sp>
      <p:sp>
        <p:nvSpPr>
          <p:cNvPr id="18" name="Icon circle 45"/>
          <p:cNvSpPr/>
          <p:nvPr/>
        </p:nvSpPr>
        <p:spPr>
          <a:xfrm>
            <a:off x="8371637" y="2971800"/>
            <a:ext cx="548640" cy="548640"/>
          </a:xfrm>
          <a:prstGeom prst="ellipse">
            <a:avLst/>
          </a:prstGeom>
          <a:solidFill>
            <a:schemeClr val="accent1"/>
          </a:solidFill>
          <a:ln/>
        </p:spPr>
      </p:sp>
      <p:pic>
        <p:nvPicPr>
          <p:cNvPr id="19" name="Icon 46" descr="preencoded.png"/>
          <p:cNvPicPr>
            <a:picLocks noChangeAspect="1"/>
          </p:cNvPicPr>
          <p:nvPr/>
        </p:nvPicPr>
        <p:blipFill>
          <a:blip r:embed="rId5"/>
          <a:stretch>
            <a:fillRect/>
          </a:stretch>
        </p:blipFill>
        <p:spPr>
          <a:xfrm>
            <a:off x="8519770" y="3119933"/>
            <a:ext cx="252374" cy="252374"/>
          </a:xfrm>
          <a:prstGeom prst="rect">
            <a:avLst/>
          </a:prstGeom>
        </p:spPr>
      </p:pic>
      <p:sp>
        <p:nvSpPr>
          <p:cNvPr id="20" name="Text 47"/>
          <p:cNvSpPr txBox="1"/>
          <p:nvPr/>
        </p:nvSpPr>
        <p:spPr>
          <a:xfrm>
            <a:off x="9057437" y="2971800"/>
            <a:ext cx="2219858" cy="548640"/>
          </a:xfrm>
          <a:prstGeom prst="rect">
            <a:avLst/>
          </a:prstGeom>
          <a:noFill/>
          <a:ln/>
        </p:spPr>
        <p:txBody>
          <a:bodyPr wrap="square" lIns="0" tIns="0" rIns="0" bIns="0" rtlCol="0" anchor="ctr"/>
          <a:lstStyle/>
          <a:p>
            <a:pPr marL="0" indent="0">
              <a:buNone/>
            </a:pPr>
            <a:r>
              <a:rPr lang="en-US" sz="1200" b="1" kern="0" spc="100" dirty="0">
                <a:solidFill>
                  <a:schemeClr val="accent5"/>
                </a:solidFill>
              </a:rPr>
              <a:t>FOOD SERVICE</a:t>
            </a:r>
            <a:endParaRPr lang="en-US" sz="1200" dirty="0"/>
          </a:p>
        </p:txBody>
      </p:sp>
      <p:sp>
        <p:nvSpPr>
          <p:cNvPr id="21" name="Text 48"/>
          <p:cNvSpPr txBox="1"/>
          <p:nvPr/>
        </p:nvSpPr>
        <p:spPr>
          <a:xfrm>
            <a:off x="8371637" y="3703320"/>
            <a:ext cx="2905658" cy="411480"/>
          </a:xfrm>
          <a:prstGeom prst="rect">
            <a:avLst/>
          </a:prstGeom>
          <a:noFill/>
          <a:ln/>
        </p:spPr>
        <p:txBody>
          <a:bodyPr wrap="square" lIns="0" tIns="0" rIns="0" bIns="0" rtlCol="0" anchor="t"/>
          <a:lstStyle/>
          <a:p>
            <a:pPr marL="0" indent="0">
              <a:buNone/>
            </a:pPr>
            <a:r>
              <a:rPr lang="en-US" sz="1800" b="1" dirty="0">
                <a:solidFill>
                  <a:schemeClr val="tx1"/>
                </a:solidFill>
              </a:rPr>
              <a:t>AI ordering agent</a:t>
            </a:r>
            <a:endParaRPr lang="en-US" sz="1800" dirty="0"/>
          </a:p>
        </p:txBody>
      </p:sp>
      <p:sp>
        <p:nvSpPr>
          <p:cNvPr id="22" name="Text 49"/>
          <p:cNvSpPr txBox="1"/>
          <p:nvPr/>
        </p:nvSpPr>
        <p:spPr>
          <a:xfrm>
            <a:off x="8371637" y="4206240"/>
            <a:ext cx="2905658" cy="1691640"/>
          </a:xfrm>
          <a:prstGeom prst="rect">
            <a:avLst/>
          </a:prstGeom>
          <a:noFill/>
          <a:ln/>
        </p:spPr>
        <p:txBody>
          <a:bodyPr wrap="square" lIns="0" tIns="0" rIns="0" bIns="0" rtlCol="0" anchor="t"/>
          <a:lstStyle/>
          <a:p>
            <a:pPr marL="0" indent="0">
              <a:buNone/>
            </a:pPr>
            <a:r>
              <a:rPr lang="en-US" sz="1600" dirty="0">
                <a:solidFill>
                  <a:schemeClr val="tx1"/>
                </a:solidFill>
              </a:rPr>
              <a:t>xServe, our ordering product, deployed for a fast food chain in Saudi Arabia.</a:t>
            </a:r>
            <a:endParaRPr lang="en-US" sz="16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640080" y="502920"/>
            <a:ext cx="9509760" cy="1143000"/>
          </a:xfrm>
          <a:prstGeom prst="rect">
            <a:avLst/>
          </a:prstGeom>
          <a:noFill/>
          <a:ln/>
        </p:spPr>
        <p:txBody>
          <a:bodyPr wrap="square" lIns="0" tIns="0" rIns="0" bIns="0" rtlCol="0" anchor="t"/>
          <a:lstStyle/>
          <a:p>
            <a:pPr marL="0" indent="0" algn="l">
              <a:buNone/>
            </a:pPr>
            <a:r>
              <a:rPr lang="en-US" sz="3400" b="1" dirty="0">
                <a:solidFill>
                  <a:schemeClr val="tx1"/>
                </a:solidFill>
              </a:rPr>
              <a:t>How we engineer agents for production</a:t>
            </a:r>
            <a:endParaRPr lang="en-US" sz="3400" dirty="0"/>
          </a:p>
        </p:txBody>
      </p:sp>
      <p:sp>
        <p:nvSpPr>
          <p:cNvPr id="4" name="Text 50"/>
          <p:cNvSpPr txBox="1"/>
          <p:nvPr/>
        </p:nvSpPr>
        <p:spPr>
          <a:xfrm>
            <a:off x="640080" y="1783080"/>
            <a:ext cx="10911535" cy="411480"/>
          </a:xfrm>
          <a:prstGeom prst="rect">
            <a:avLst/>
          </a:prstGeom>
          <a:noFill/>
          <a:ln/>
        </p:spPr>
        <p:txBody>
          <a:bodyPr wrap="square" lIns="0" tIns="0" rIns="0" bIns="0" rtlCol="0" anchor="t"/>
          <a:lstStyle/>
          <a:p>
            <a:pPr marL="0" indent="0">
              <a:buNone/>
            </a:pPr>
            <a:r>
              <a:rPr lang="en-US" sz="1700" dirty="0">
                <a:solidFill>
                  <a:schemeClr val="tx1"/>
                </a:solidFill>
              </a:rPr>
              <a:t>Our reference architecture covers 11 stages, from input guardrails to observability.</a:t>
            </a:r>
            <a:endParaRPr lang="en-US" sz="1700" dirty="0"/>
          </a:p>
        </p:txBody>
      </p:sp>
      <p:sp>
        <p:nvSpPr>
          <p:cNvPr id="5" name="Stage 1"/>
          <p:cNvSpPr/>
          <p:nvPr/>
        </p:nvSpPr>
        <p:spPr>
          <a:xfrm>
            <a:off x="640080" y="2423160"/>
            <a:ext cx="1417712" cy="868680"/>
          </a:xfrm>
          <a:prstGeom prst="roundRect">
            <a:avLst>
              <a:gd name="adj" fmla="val 12632"/>
            </a:avLst>
          </a:prstGeom>
          <a:solidFill>
            <a:schemeClr val="accent1"/>
          </a:solidFill>
          <a:ln/>
        </p:spPr>
      </p:sp>
      <p:sp>
        <p:nvSpPr>
          <p:cNvPr id="6" name="Text 51"/>
          <p:cNvSpPr txBox="1"/>
          <p:nvPr/>
        </p:nvSpPr>
        <p:spPr>
          <a:xfrm>
            <a:off x="713232" y="2423160"/>
            <a:ext cx="1271408" cy="868680"/>
          </a:xfrm>
          <a:prstGeom prst="rect">
            <a:avLst/>
          </a:prstGeom>
          <a:noFill/>
          <a:ln/>
        </p:spPr>
        <p:txBody>
          <a:bodyPr wrap="square" lIns="0" tIns="0" rIns="0" bIns="0" rtlCol="0" anchor="ctr"/>
          <a:lstStyle/>
          <a:p>
            <a:pPr marL="0" indent="0" algn="ctr">
              <a:buNone/>
            </a:pPr>
            <a:r>
              <a:rPr lang="en-US" sz="1200" b="1" dirty="0">
                <a:solidFill>
                  <a:schemeClr val="bg1"/>
                </a:solidFill>
              </a:rPr>
              <a:t>Input guardrails</a:t>
            </a:r>
            <a:endParaRPr lang="en-US" sz="1200" dirty="0"/>
          </a:p>
        </p:txBody>
      </p:sp>
      <p:sp>
        <p:nvSpPr>
          <p:cNvPr id="7" name="Stage 2"/>
          <p:cNvSpPr/>
          <p:nvPr/>
        </p:nvSpPr>
        <p:spPr>
          <a:xfrm>
            <a:off x="2222384" y="2423160"/>
            <a:ext cx="1417712" cy="868680"/>
          </a:xfrm>
          <a:prstGeom prst="roundRect">
            <a:avLst>
              <a:gd name="adj" fmla="val 12632"/>
            </a:avLst>
          </a:prstGeom>
          <a:solidFill>
            <a:schemeClr val="tx1"/>
          </a:solidFill>
          <a:ln/>
        </p:spPr>
      </p:sp>
      <p:sp>
        <p:nvSpPr>
          <p:cNvPr id="8" name="Text 52"/>
          <p:cNvSpPr txBox="1"/>
          <p:nvPr/>
        </p:nvSpPr>
        <p:spPr>
          <a:xfrm>
            <a:off x="2295536" y="2423160"/>
            <a:ext cx="1271408" cy="868680"/>
          </a:xfrm>
          <a:prstGeom prst="rect">
            <a:avLst/>
          </a:prstGeom>
          <a:noFill/>
          <a:ln/>
        </p:spPr>
        <p:txBody>
          <a:bodyPr wrap="square" lIns="0" tIns="0" rIns="0" bIns="0" rtlCol="0" anchor="ctr"/>
          <a:lstStyle/>
          <a:p>
            <a:pPr marL="0" indent="0" algn="ctr">
              <a:buNone/>
            </a:pPr>
            <a:r>
              <a:rPr lang="en-US" sz="1200" b="1" dirty="0">
                <a:solidFill>
                  <a:schemeClr val="bg1"/>
                </a:solidFill>
              </a:rPr>
              <a:t>Task decomposition</a:t>
            </a:r>
            <a:endParaRPr lang="en-US" sz="1200" dirty="0"/>
          </a:p>
        </p:txBody>
      </p:sp>
      <p:sp>
        <p:nvSpPr>
          <p:cNvPr id="9" name="Stage 3"/>
          <p:cNvSpPr/>
          <p:nvPr/>
        </p:nvSpPr>
        <p:spPr>
          <a:xfrm>
            <a:off x="3804688" y="2423160"/>
            <a:ext cx="1417712" cy="868680"/>
          </a:xfrm>
          <a:prstGeom prst="roundRect">
            <a:avLst>
              <a:gd name="adj" fmla="val 12632"/>
            </a:avLst>
          </a:prstGeom>
          <a:solidFill>
            <a:schemeClr val="tx1"/>
          </a:solidFill>
          <a:ln/>
        </p:spPr>
      </p:sp>
      <p:sp>
        <p:nvSpPr>
          <p:cNvPr id="10" name="Text 53"/>
          <p:cNvSpPr txBox="1"/>
          <p:nvPr/>
        </p:nvSpPr>
        <p:spPr>
          <a:xfrm>
            <a:off x="3877840" y="2423160"/>
            <a:ext cx="1271408" cy="868680"/>
          </a:xfrm>
          <a:prstGeom prst="rect">
            <a:avLst/>
          </a:prstGeom>
          <a:noFill/>
          <a:ln/>
        </p:spPr>
        <p:txBody>
          <a:bodyPr wrap="square" lIns="0" tIns="0" rIns="0" bIns="0" rtlCol="0" anchor="ctr"/>
          <a:lstStyle/>
          <a:p>
            <a:pPr marL="0" indent="0" algn="ctr">
              <a:buNone/>
            </a:pPr>
            <a:r>
              <a:rPr lang="en-US" sz="1200" b="1" dirty="0">
                <a:solidFill>
                  <a:schemeClr val="bg1"/>
                </a:solidFill>
              </a:rPr>
              <a:t>Orchestration</a:t>
            </a:r>
            <a:endParaRPr lang="en-US" sz="1200" dirty="0"/>
          </a:p>
        </p:txBody>
      </p:sp>
      <p:sp>
        <p:nvSpPr>
          <p:cNvPr id="11" name="Stage 4"/>
          <p:cNvSpPr/>
          <p:nvPr/>
        </p:nvSpPr>
        <p:spPr>
          <a:xfrm>
            <a:off x="5386992" y="2423160"/>
            <a:ext cx="1417712" cy="868680"/>
          </a:xfrm>
          <a:prstGeom prst="roundRect">
            <a:avLst>
              <a:gd name="adj" fmla="val 12632"/>
            </a:avLst>
          </a:prstGeom>
          <a:solidFill>
            <a:schemeClr val="tx1"/>
          </a:solidFill>
          <a:ln/>
        </p:spPr>
      </p:sp>
      <p:sp>
        <p:nvSpPr>
          <p:cNvPr id="12" name="Text 54"/>
          <p:cNvSpPr txBox="1"/>
          <p:nvPr/>
        </p:nvSpPr>
        <p:spPr>
          <a:xfrm>
            <a:off x="5460144" y="2423160"/>
            <a:ext cx="1271408" cy="868680"/>
          </a:xfrm>
          <a:prstGeom prst="rect">
            <a:avLst/>
          </a:prstGeom>
          <a:noFill/>
          <a:ln/>
        </p:spPr>
        <p:txBody>
          <a:bodyPr wrap="square" lIns="0" tIns="0" rIns="0" bIns="0" rtlCol="0" anchor="ctr"/>
          <a:lstStyle/>
          <a:p>
            <a:pPr marL="0" indent="0" algn="ctr">
              <a:buNone/>
            </a:pPr>
            <a:r>
              <a:rPr lang="en-US" sz="1200" b="1" dirty="0">
                <a:solidFill>
                  <a:schemeClr val="bg1"/>
                </a:solidFill>
              </a:rPr>
              <a:t>Tools and knowledge</a:t>
            </a:r>
            <a:endParaRPr lang="en-US" sz="1200" dirty="0"/>
          </a:p>
        </p:txBody>
      </p:sp>
      <p:sp>
        <p:nvSpPr>
          <p:cNvPr id="13" name="Stage 5"/>
          <p:cNvSpPr/>
          <p:nvPr/>
        </p:nvSpPr>
        <p:spPr>
          <a:xfrm>
            <a:off x="6969296" y="2423160"/>
            <a:ext cx="1417712" cy="868680"/>
          </a:xfrm>
          <a:prstGeom prst="roundRect">
            <a:avLst>
              <a:gd name="adj" fmla="val 12632"/>
            </a:avLst>
          </a:prstGeom>
          <a:solidFill>
            <a:schemeClr val="tx1"/>
          </a:solidFill>
          <a:ln/>
        </p:spPr>
      </p:sp>
      <p:sp>
        <p:nvSpPr>
          <p:cNvPr id="14" name="Text 55"/>
          <p:cNvSpPr txBox="1"/>
          <p:nvPr/>
        </p:nvSpPr>
        <p:spPr>
          <a:xfrm>
            <a:off x="7042448" y="2423160"/>
            <a:ext cx="1271408" cy="868680"/>
          </a:xfrm>
          <a:prstGeom prst="rect">
            <a:avLst/>
          </a:prstGeom>
          <a:noFill/>
          <a:ln/>
        </p:spPr>
        <p:txBody>
          <a:bodyPr wrap="square" lIns="0" tIns="0" rIns="0" bIns="0" rtlCol="0" anchor="ctr"/>
          <a:lstStyle/>
          <a:p>
            <a:pPr marL="0" indent="0" algn="ctr">
              <a:buNone/>
            </a:pPr>
            <a:r>
              <a:rPr lang="en-US" sz="1200" b="1" dirty="0">
                <a:solidFill>
                  <a:schemeClr val="bg1"/>
                </a:solidFill>
              </a:rPr>
              <a:t>Reflection loops</a:t>
            </a:r>
            <a:endParaRPr lang="en-US" sz="1200" dirty="0"/>
          </a:p>
        </p:txBody>
      </p:sp>
      <p:sp>
        <p:nvSpPr>
          <p:cNvPr id="15" name="Stage 6"/>
          <p:cNvSpPr/>
          <p:nvPr/>
        </p:nvSpPr>
        <p:spPr>
          <a:xfrm>
            <a:off x="8551599" y="2423160"/>
            <a:ext cx="1417712" cy="868680"/>
          </a:xfrm>
          <a:prstGeom prst="roundRect">
            <a:avLst>
              <a:gd name="adj" fmla="val 12632"/>
            </a:avLst>
          </a:prstGeom>
          <a:solidFill>
            <a:schemeClr val="accent1"/>
          </a:solidFill>
          <a:ln/>
        </p:spPr>
      </p:sp>
      <p:sp>
        <p:nvSpPr>
          <p:cNvPr id="16" name="Text 56"/>
          <p:cNvSpPr txBox="1"/>
          <p:nvPr/>
        </p:nvSpPr>
        <p:spPr>
          <a:xfrm>
            <a:off x="8624751" y="2423160"/>
            <a:ext cx="1271408" cy="868680"/>
          </a:xfrm>
          <a:prstGeom prst="rect">
            <a:avLst/>
          </a:prstGeom>
          <a:noFill/>
          <a:ln/>
        </p:spPr>
        <p:txBody>
          <a:bodyPr wrap="square" lIns="0" tIns="0" rIns="0" bIns="0" rtlCol="0" anchor="ctr"/>
          <a:lstStyle/>
          <a:p>
            <a:pPr marL="0" indent="0" algn="ctr">
              <a:buNone/>
            </a:pPr>
            <a:r>
              <a:rPr lang="en-US" sz="1200" b="1" dirty="0">
                <a:solidFill>
                  <a:schemeClr val="bg1"/>
                </a:solidFill>
              </a:rPr>
              <a:t>Human approval</a:t>
            </a:r>
            <a:endParaRPr lang="en-US" sz="1200" dirty="0"/>
          </a:p>
        </p:txBody>
      </p:sp>
      <p:sp>
        <p:nvSpPr>
          <p:cNvPr id="17" name="Stage 7"/>
          <p:cNvSpPr/>
          <p:nvPr/>
        </p:nvSpPr>
        <p:spPr>
          <a:xfrm>
            <a:off x="10133903" y="2423160"/>
            <a:ext cx="1417712" cy="868680"/>
          </a:xfrm>
          <a:prstGeom prst="roundRect">
            <a:avLst>
              <a:gd name="adj" fmla="val 12632"/>
            </a:avLst>
          </a:prstGeom>
          <a:solidFill>
            <a:schemeClr val="accent1"/>
          </a:solidFill>
          <a:ln/>
        </p:spPr>
      </p:sp>
      <p:sp>
        <p:nvSpPr>
          <p:cNvPr id="18" name="Text 57"/>
          <p:cNvSpPr txBox="1"/>
          <p:nvPr/>
        </p:nvSpPr>
        <p:spPr>
          <a:xfrm>
            <a:off x="10207055" y="2423160"/>
            <a:ext cx="1271408" cy="868680"/>
          </a:xfrm>
          <a:prstGeom prst="rect">
            <a:avLst/>
          </a:prstGeom>
          <a:noFill/>
          <a:ln/>
        </p:spPr>
        <p:txBody>
          <a:bodyPr wrap="square" lIns="0" tIns="0" rIns="0" bIns="0" rtlCol="0" anchor="ctr"/>
          <a:lstStyle/>
          <a:p>
            <a:pPr marL="0" indent="0" algn="ctr">
              <a:buNone/>
            </a:pPr>
            <a:r>
              <a:rPr lang="en-US" sz="1200" b="1" dirty="0">
                <a:solidFill>
                  <a:schemeClr val="bg1"/>
                </a:solidFill>
              </a:rPr>
              <a:t>Observability</a:t>
            </a:r>
            <a:endParaRPr lang="en-US" sz="1200" dirty="0"/>
          </a:p>
        </p:txBody>
      </p:sp>
      <p:sp>
        <p:nvSpPr>
          <p:cNvPr id="19" name="Icon circle 58"/>
          <p:cNvSpPr/>
          <p:nvPr/>
        </p:nvSpPr>
        <p:spPr>
          <a:xfrm>
            <a:off x="640080" y="3703320"/>
            <a:ext cx="640080" cy="640080"/>
          </a:xfrm>
          <a:prstGeom prst="ellipse">
            <a:avLst/>
          </a:prstGeom>
          <a:solidFill>
            <a:schemeClr val="accent1"/>
          </a:solidFill>
          <a:ln/>
        </p:spPr>
      </p:sp>
      <p:pic>
        <p:nvPicPr>
          <p:cNvPr id="20" name="Icon 59" descr="preencoded.png"/>
          <p:cNvPicPr>
            <a:picLocks noChangeAspect="1"/>
          </p:cNvPicPr>
          <p:nvPr/>
        </p:nvPicPr>
        <p:blipFill>
          <a:blip r:embed="rId3"/>
          <a:stretch>
            <a:fillRect/>
          </a:stretch>
        </p:blipFill>
        <p:spPr>
          <a:xfrm>
            <a:off x="812902" y="3876142"/>
            <a:ext cx="294437" cy="294437"/>
          </a:xfrm>
          <a:prstGeom prst="rect">
            <a:avLst/>
          </a:prstGeom>
        </p:spPr>
      </p:pic>
      <p:sp>
        <p:nvSpPr>
          <p:cNvPr id="21" name="Text 60"/>
          <p:cNvSpPr txBox="1"/>
          <p:nvPr/>
        </p:nvSpPr>
        <p:spPr>
          <a:xfrm>
            <a:off x="1463040" y="3685032"/>
            <a:ext cx="2631338" cy="640080"/>
          </a:xfrm>
          <a:prstGeom prst="rect">
            <a:avLst/>
          </a:prstGeom>
          <a:noFill/>
          <a:ln/>
        </p:spPr>
        <p:txBody>
          <a:bodyPr wrap="square" lIns="0" tIns="0" rIns="0" bIns="0" rtlCol="0" anchor="ctr"/>
          <a:lstStyle/>
          <a:p>
            <a:pPr marL="0" indent="0">
              <a:buNone/>
            </a:pPr>
            <a:r>
              <a:rPr lang="en-US" sz="1700" b="1" dirty="0">
                <a:solidFill>
                  <a:schemeClr val="tx1"/>
                </a:solidFill>
              </a:rPr>
              <a:t>Guardrails come first</a:t>
            </a:r>
            <a:endParaRPr lang="en-US" sz="1700" dirty="0"/>
          </a:p>
        </p:txBody>
      </p:sp>
      <p:sp>
        <p:nvSpPr>
          <p:cNvPr id="22" name="Text 61"/>
          <p:cNvSpPr txBox="1"/>
          <p:nvPr/>
        </p:nvSpPr>
        <p:spPr>
          <a:xfrm>
            <a:off x="1463040" y="4434840"/>
            <a:ext cx="2631338" cy="640080"/>
          </a:xfrm>
          <a:prstGeom prst="rect">
            <a:avLst/>
          </a:prstGeom>
          <a:noFill/>
          <a:ln/>
        </p:spPr>
        <p:txBody>
          <a:bodyPr wrap="square" lIns="0" tIns="0" rIns="0" bIns="0" rtlCol="0" anchor="t"/>
          <a:lstStyle/>
          <a:p>
            <a:pPr marL="0" indent="0">
              <a:buNone/>
            </a:pPr>
            <a:r>
              <a:rPr lang="en-US" sz="1500" dirty="0">
                <a:solidFill>
                  <a:schemeClr val="tx1"/>
                </a:solidFill>
              </a:rPr>
              <a:t>Inputs are checked before the agent acts on them.</a:t>
            </a:r>
            <a:endParaRPr lang="en-US" sz="1500" dirty="0"/>
          </a:p>
        </p:txBody>
      </p:sp>
      <p:sp>
        <p:nvSpPr>
          <p:cNvPr id="23" name="Icon circle 62"/>
          <p:cNvSpPr/>
          <p:nvPr/>
        </p:nvSpPr>
        <p:spPr>
          <a:xfrm>
            <a:off x="4368698" y="3703320"/>
            <a:ext cx="640080" cy="640080"/>
          </a:xfrm>
          <a:prstGeom prst="ellipse">
            <a:avLst/>
          </a:prstGeom>
          <a:solidFill>
            <a:schemeClr val="accent1"/>
          </a:solidFill>
          <a:ln/>
        </p:spPr>
      </p:sp>
      <p:pic>
        <p:nvPicPr>
          <p:cNvPr id="24" name="Icon 63" descr="preencoded.png"/>
          <p:cNvPicPr>
            <a:picLocks noChangeAspect="1"/>
          </p:cNvPicPr>
          <p:nvPr/>
        </p:nvPicPr>
        <p:blipFill>
          <a:blip r:embed="rId4"/>
          <a:stretch>
            <a:fillRect/>
          </a:stretch>
        </p:blipFill>
        <p:spPr>
          <a:xfrm>
            <a:off x="4541520" y="3876142"/>
            <a:ext cx="294437" cy="294437"/>
          </a:xfrm>
          <a:prstGeom prst="rect">
            <a:avLst/>
          </a:prstGeom>
        </p:spPr>
      </p:pic>
      <p:sp>
        <p:nvSpPr>
          <p:cNvPr id="25" name="Text 64"/>
          <p:cNvSpPr txBox="1"/>
          <p:nvPr/>
        </p:nvSpPr>
        <p:spPr>
          <a:xfrm>
            <a:off x="5191658" y="3685032"/>
            <a:ext cx="2631338" cy="640080"/>
          </a:xfrm>
          <a:prstGeom prst="rect">
            <a:avLst/>
          </a:prstGeom>
          <a:noFill/>
          <a:ln/>
        </p:spPr>
        <p:txBody>
          <a:bodyPr wrap="square" lIns="0" tIns="0" rIns="0" bIns="0" rtlCol="0" anchor="ctr"/>
          <a:lstStyle/>
          <a:p>
            <a:pPr marL="0" indent="0">
              <a:buNone/>
            </a:pPr>
            <a:r>
              <a:rPr lang="en-US" sz="1700" b="1" dirty="0">
                <a:solidFill>
                  <a:schemeClr val="tx1"/>
                </a:solidFill>
              </a:rPr>
              <a:t>A person approves what matters</a:t>
            </a:r>
            <a:endParaRPr lang="en-US" sz="1700" dirty="0"/>
          </a:p>
        </p:txBody>
      </p:sp>
      <p:sp>
        <p:nvSpPr>
          <p:cNvPr id="26" name="Text 65"/>
          <p:cNvSpPr txBox="1"/>
          <p:nvPr/>
        </p:nvSpPr>
        <p:spPr>
          <a:xfrm>
            <a:off x="5191658" y="4434840"/>
            <a:ext cx="2631338" cy="640080"/>
          </a:xfrm>
          <a:prstGeom prst="rect">
            <a:avLst/>
          </a:prstGeom>
          <a:noFill/>
          <a:ln/>
        </p:spPr>
        <p:txBody>
          <a:bodyPr wrap="square" lIns="0" tIns="0" rIns="0" bIns="0" rtlCol="0" anchor="t"/>
          <a:lstStyle/>
          <a:p>
            <a:pPr marL="0" indent="0">
              <a:buNone/>
            </a:pPr>
            <a:r>
              <a:rPr lang="en-US" sz="1500" dirty="0">
                <a:solidFill>
                  <a:schemeClr val="tx1"/>
                </a:solidFill>
              </a:rPr>
              <a:t>Sensitive actions wait for human sign off.</a:t>
            </a:r>
            <a:endParaRPr lang="en-US" sz="1500" dirty="0"/>
          </a:p>
        </p:txBody>
      </p:sp>
      <p:sp>
        <p:nvSpPr>
          <p:cNvPr id="27" name="Icon circle 66"/>
          <p:cNvSpPr/>
          <p:nvPr/>
        </p:nvSpPr>
        <p:spPr>
          <a:xfrm>
            <a:off x="8097317" y="3703320"/>
            <a:ext cx="640080" cy="640080"/>
          </a:xfrm>
          <a:prstGeom prst="ellipse">
            <a:avLst/>
          </a:prstGeom>
          <a:solidFill>
            <a:schemeClr val="accent1"/>
          </a:solidFill>
          <a:ln/>
        </p:spPr>
      </p:sp>
      <p:pic>
        <p:nvPicPr>
          <p:cNvPr id="28" name="Icon 67" descr="preencoded.png"/>
          <p:cNvPicPr>
            <a:picLocks noChangeAspect="1"/>
          </p:cNvPicPr>
          <p:nvPr/>
        </p:nvPicPr>
        <p:blipFill>
          <a:blip r:embed="rId5"/>
          <a:stretch>
            <a:fillRect/>
          </a:stretch>
        </p:blipFill>
        <p:spPr>
          <a:xfrm>
            <a:off x="8270138" y="3876142"/>
            <a:ext cx="294437" cy="294437"/>
          </a:xfrm>
          <a:prstGeom prst="rect">
            <a:avLst/>
          </a:prstGeom>
        </p:spPr>
      </p:pic>
      <p:sp>
        <p:nvSpPr>
          <p:cNvPr id="29" name="Text 68"/>
          <p:cNvSpPr txBox="1"/>
          <p:nvPr/>
        </p:nvSpPr>
        <p:spPr>
          <a:xfrm>
            <a:off x="8920277" y="3685032"/>
            <a:ext cx="2631338" cy="640080"/>
          </a:xfrm>
          <a:prstGeom prst="rect">
            <a:avLst/>
          </a:prstGeom>
          <a:noFill/>
          <a:ln/>
        </p:spPr>
        <p:txBody>
          <a:bodyPr wrap="square" lIns="0" tIns="0" rIns="0" bIns="0" rtlCol="0" anchor="ctr"/>
          <a:lstStyle/>
          <a:p>
            <a:pPr marL="0" indent="0">
              <a:buNone/>
            </a:pPr>
            <a:r>
              <a:rPr lang="en-US" sz="1700" b="1" dirty="0">
                <a:solidFill>
                  <a:schemeClr val="tx1"/>
                </a:solidFill>
              </a:rPr>
              <a:t>Every step is recorded</a:t>
            </a:r>
            <a:endParaRPr lang="en-US" sz="1700" dirty="0"/>
          </a:p>
        </p:txBody>
      </p:sp>
      <p:sp>
        <p:nvSpPr>
          <p:cNvPr id="30" name="Text 69"/>
          <p:cNvSpPr txBox="1"/>
          <p:nvPr/>
        </p:nvSpPr>
        <p:spPr>
          <a:xfrm>
            <a:off x="8920277" y="4434840"/>
            <a:ext cx="2631338" cy="640080"/>
          </a:xfrm>
          <a:prstGeom prst="rect">
            <a:avLst/>
          </a:prstGeom>
          <a:noFill/>
          <a:ln/>
        </p:spPr>
        <p:txBody>
          <a:bodyPr wrap="square" lIns="0" tIns="0" rIns="0" bIns="0" rtlCol="0" anchor="t"/>
          <a:lstStyle/>
          <a:p>
            <a:pPr marL="0" indent="0">
              <a:buNone/>
            </a:pPr>
            <a:r>
              <a:rPr lang="en-US" sz="1500" dirty="0">
                <a:solidFill>
                  <a:schemeClr val="tx1"/>
                </a:solidFill>
              </a:rPr>
              <a:t>You can see what the agent did and why.</a:t>
            </a:r>
            <a:endParaRPr lang="en-US" sz="1500" dirty="0"/>
          </a:p>
        </p:txBody>
      </p:sp>
      <p:sp>
        <p:nvSpPr>
          <p:cNvPr id="31" name="Card 70"/>
          <p:cNvSpPr/>
          <p:nvPr/>
        </p:nvSpPr>
        <p:spPr>
          <a:xfrm>
            <a:off x="640080" y="5257800"/>
            <a:ext cx="10911535" cy="777240"/>
          </a:xfrm>
          <a:prstGeom prst="roundRect">
            <a:avLst>
              <a:gd name="adj" fmla="val 16471"/>
            </a:avLst>
          </a:prstGeom>
          <a:solidFill>
            <a:schemeClr val="bg2">
              <a:alpha val="55000"/>
            </a:schemeClr>
          </a:solidFill>
          <a:ln/>
        </p:spPr>
      </p:sp>
      <p:sp>
        <p:nvSpPr>
          <p:cNvPr id="32" name="Text 71"/>
          <p:cNvSpPr txBox="1"/>
          <p:nvPr/>
        </p:nvSpPr>
        <p:spPr>
          <a:xfrm>
            <a:off x="960120" y="5257800"/>
            <a:ext cx="10271455" cy="777240"/>
          </a:xfrm>
          <a:prstGeom prst="rect">
            <a:avLst/>
          </a:prstGeom>
          <a:noFill/>
          <a:ln/>
        </p:spPr>
        <p:txBody>
          <a:bodyPr wrap="square" lIns="0" tIns="0" rIns="0" bIns="0" rtlCol="0" anchor="ctr"/>
          <a:lstStyle/>
          <a:p>
            <a:pPr marL="0" indent="0">
              <a:buNone/>
            </a:pPr>
            <a:r>
              <a:rPr lang="en-US" sz="1500" b="1" dirty="0">
                <a:solidFill>
                  <a:schemeClr val="tx1"/>
                </a:solidFill>
              </a:rPr>
              <a:t>Stack includes  </a:t>
            </a:r>
            <a:r>
              <a:rPr lang="en-US" sz="1500" dirty="0">
                <a:solidFill>
                  <a:schemeClr val="tx1"/>
                </a:solidFill>
              </a:rPr>
              <a:t>LangChain, LangGraph, AutoGen, CrewAI, OpenAI, Anthropic, Pinecone, Chroma, FastAPI and Kubernetes</a:t>
            </a:r>
            <a:endParaRPr lang="en-US" sz="1500" dirty="0"/>
          </a:p>
        </p:txBody>
      </p:sp>
      <p:sp>
        <p:nvSpPr>
          <p:cNvPr id="3"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640080" y="502920"/>
            <a:ext cx="9509760" cy="1143000"/>
          </a:xfrm>
          <a:prstGeom prst="rect">
            <a:avLst/>
          </a:prstGeom>
          <a:noFill/>
          <a:ln/>
        </p:spPr>
        <p:txBody>
          <a:bodyPr wrap="square" lIns="0" tIns="0" rIns="0" bIns="0" rtlCol="0" anchor="t"/>
          <a:lstStyle/>
          <a:p>
            <a:pPr marL="0" indent="0" algn="l">
              <a:buNone/>
            </a:pPr>
            <a:r>
              <a:rPr lang="en-US" sz="3400" b="1" dirty="0">
                <a:solidFill>
                  <a:schemeClr val="tx1"/>
                </a:solidFill>
              </a:rPr>
              <a:t>Make AI safe: we attack what we build</a:t>
            </a:r>
            <a:endParaRPr lang="en-US" sz="3400" dirty="0"/>
          </a:p>
        </p:txBody>
      </p:sp>
      <p:sp>
        <p:nvSpPr>
          <p:cNvPr id="4" name="Icon circle 72"/>
          <p:cNvSpPr/>
          <p:nvPr/>
        </p:nvSpPr>
        <p:spPr>
          <a:xfrm>
            <a:off x="640080" y="1828800"/>
            <a:ext cx="640080" cy="640080"/>
          </a:xfrm>
          <a:prstGeom prst="ellipse">
            <a:avLst/>
          </a:prstGeom>
          <a:solidFill>
            <a:schemeClr val="accent1"/>
          </a:solidFill>
          <a:ln/>
        </p:spPr>
      </p:sp>
      <p:pic>
        <p:nvPicPr>
          <p:cNvPr id="5" name="Icon 73" descr="preencoded.png"/>
          <p:cNvPicPr>
            <a:picLocks noChangeAspect="1"/>
          </p:cNvPicPr>
          <p:nvPr/>
        </p:nvPicPr>
        <p:blipFill>
          <a:blip r:embed="rId3"/>
          <a:stretch>
            <a:fillRect/>
          </a:stretch>
        </p:blipFill>
        <p:spPr>
          <a:xfrm>
            <a:off x="812902" y="2001622"/>
            <a:ext cx="294437" cy="294437"/>
          </a:xfrm>
          <a:prstGeom prst="rect">
            <a:avLst/>
          </a:prstGeom>
        </p:spPr>
      </p:pic>
      <p:sp>
        <p:nvSpPr>
          <p:cNvPr id="6" name="Text 74"/>
          <p:cNvSpPr txBox="1"/>
          <p:nvPr/>
        </p:nvSpPr>
        <p:spPr>
          <a:xfrm>
            <a:off x="1508760" y="1783080"/>
            <a:ext cx="4663440" cy="347472"/>
          </a:xfrm>
          <a:prstGeom prst="rect">
            <a:avLst/>
          </a:prstGeom>
          <a:noFill/>
          <a:ln/>
        </p:spPr>
        <p:txBody>
          <a:bodyPr wrap="square" lIns="0" tIns="0" rIns="0" bIns="0" rtlCol="0" anchor="t"/>
          <a:lstStyle/>
          <a:p>
            <a:pPr marL="0" indent="0">
              <a:buNone/>
            </a:pPr>
            <a:r>
              <a:rPr lang="en-US" sz="1900" b="1" dirty="0">
                <a:solidFill>
                  <a:schemeClr val="tx1"/>
                </a:solidFill>
              </a:rPr>
              <a:t>AI red teaming</a:t>
            </a:r>
            <a:endParaRPr lang="en-US" sz="1900" dirty="0"/>
          </a:p>
        </p:txBody>
      </p:sp>
      <p:sp>
        <p:nvSpPr>
          <p:cNvPr id="7" name="Text 75"/>
          <p:cNvSpPr txBox="1"/>
          <p:nvPr/>
        </p:nvSpPr>
        <p:spPr>
          <a:xfrm>
            <a:off x="1508760" y="2157984"/>
            <a:ext cx="4663440" cy="594360"/>
          </a:xfrm>
          <a:prstGeom prst="rect">
            <a:avLst/>
          </a:prstGeom>
          <a:noFill/>
          <a:ln/>
        </p:spPr>
        <p:txBody>
          <a:bodyPr wrap="square" lIns="0" tIns="0" rIns="0" bIns="0" rtlCol="0" anchor="t"/>
          <a:lstStyle/>
          <a:p>
            <a:pPr marL="0" indent="0">
              <a:buNone/>
            </a:pPr>
            <a:r>
              <a:rPr lang="en-US" sz="1600" dirty="0">
                <a:solidFill>
                  <a:schemeClr val="tx1"/>
                </a:solidFill>
              </a:rPr>
              <a:t>We attack models, prompts and agents the way an adversary would.</a:t>
            </a:r>
            <a:endParaRPr lang="en-US" sz="1600" dirty="0"/>
          </a:p>
        </p:txBody>
      </p:sp>
      <p:sp>
        <p:nvSpPr>
          <p:cNvPr id="8" name="Icon circle 76"/>
          <p:cNvSpPr/>
          <p:nvPr/>
        </p:nvSpPr>
        <p:spPr>
          <a:xfrm>
            <a:off x="640080" y="2907792"/>
            <a:ext cx="640080" cy="640080"/>
          </a:xfrm>
          <a:prstGeom prst="ellipse">
            <a:avLst/>
          </a:prstGeom>
          <a:solidFill>
            <a:schemeClr val="accent1"/>
          </a:solidFill>
          <a:ln/>
        </p:spPr>
      </p:sp>
      <p:pic>
        <p:nvPicPr>
          <p:cNvPr id="9" name="Icon 77" descr="preencoded.png"/>
          <p:cNvPicPr>
            <a:picLocks noChangeAspect="1"/>
          </p:cNvPicPr>
          <p:nvPr/>
        </p:nvPicPr>
        <p:blipFill>
          <a:blip r:embed="rId4"/>
          <a:stretch>
            <a:fillRect/>
          </a:stretch>
        </p:blipFill>
        <p:spPr>
          <a:xfrm>
            <a:off x="812902" y="3080614"/>
            <a:ext cx="294437" cy="294437"/>
          </a:xfrm>
          <a:prstGeom prst="rect">
            <a:avLst/>
          </a:prstGeom>
        </p:spPr>
      </p:pic>
      <p:sp>
        <p:nvSpPr>
          <p:cNvPr id="10" name="Text 78"/>
          <p:cNvSpPr txBox="1"/>
          <p:nvPr/>
        </p:nvSpPr>
        <p:spPr>
          <a:xfrm>
            <a:off x="1508760" y="2862072"/>
            <a:ext cx="4663440" cy="347472"/>
          </a:xfrm>
          <a:prstGeom prst="rect">
            <a:avLst/>
          </a:prstGeom>
          <a:noFill/>
          <a:ln/>
        </p:spPr>
        <p:txBody>
          <a:bodyPr wrap="square" lIns="0" tIns="0" rIns="0" bIns="0" rtlCol="0" anchor="t"/>
          <a:lstStyle/>
          <a:p>
            <a:pPr marL="0" indent="0">
              <a:buNone/>
            </a:pPr>
            <a:r>
              <a:rPr lang="en-US" sz="1900" b="1" dirty="0">
                <a:solidFill>
                  <a:schemeClr val="tx1"/>
                </a:solidFill>
              </a:rPr>
              <a:t>AI security audit</a:t>
            </a:r>
            <a:endParaRPr lang="en-US" sz="1900" dirty="0"/>
          </a:p>
        </p:txBody>
      </p:sp>
      <p:sp>
        <p:nvSpPr>
          <p:cNvPr id="11" name="Text 79"/>
          <p:cNvSpPr txBox="1"/>
          <p:nvPr/>
        </p:nvSpPr>
        <p:spPr>
          <a:xfrm>
            <a:off x="1508760" y="3236976"/>
            <a:ext cx="4663440" cy="594360"/>
          </a:xfrm>
          <a:prstGeom prst="rect">
            <a:avLst/>
          </a:prstGeom>
          <a:noFill/>
          <a:ln/>
        </p:spPr>
        <p:txBody>
          <a:bodyPr wrap="square" lIns="0" tIns="0" rIns="0" bIns="0" rtlCol="0" anchor="t"/>
          <a:lstStyle/>
          <a:p>
            <a:pPr marL="0" indent="0">
              <a:buNone/>
            </a:pPr>
            <a:r>
              <a:rPr lang="en-US" sz="1600" dirty="0">
                <a:solidFill>
                  <a:schemeClr val="tx1"/>
                </a:solidFill>
              </a:rPr>
              <a:t>We review architecture, data flows and access before launch.</a:t>
            </a:r>
            <a:endParaRPr lang="en-US" sz="1600" dirty="0"/>
          </a:p>
        </p:txBody>
      </p:sp>
      <p:sp>
        <p:nvSpPr>
          <p:cNvPr id="12" name="Icon circle 80"/>
          <p:cNvSpPr/>
          <p:nvPr/>
        </p:nvSpPr>
        <p:spPr>
          <a:xfrm>
            <a:off x="640080" y="3986784"/>
            <a:ext cx="640080" cy="640080"/>
          </a:xfrm>
          <a:prstGeom prst="ellipse">
            <a:avLst/>
          </a:prstGeom>
          <a:solidFill>
            <a:schemeClr val="accent1"/>
          </a:solidFill>
          <a:ln/>
        </p:spPr>
      </p:sp>
      <p:pic>
        <p:nvPicPr>
          <p:cNvPr id="13" name="Icon 81" descr="preencoded.png"/>
          <p:cNvPicPr>
            <a:picLocks noChangeAspect="1"/>
          </p:cNvPicPr>
          <p:nvPr/>
        </p:nvPicPr>
        <p:blipFill>
          <a:blip r:embed="rId5"/>
          <a:stretch>
            <a:fillRect/>
          </a:stretch>
        </p:blipFill>
        <p:spPr>
          <a:xfrm>
            <a:off x="812902" y="4159606"/>
            <a:ext cx="294437" cy="294437"/>
          </a:xfrm>
          <a:prstGeom prst="rect">
            <a:avLst/>
          </a:prstGeom>
        </p:spPr>
      </p:pic>
      <p:sp>
        <p:nvSpPr>
          <p:cNvPr id="14" name="Text 82"/>
          <p:cNvSpPr txBox="1"/>
          <p:nvPr/>
        </p:nvSpPr>
        <p:spPr>
          <a:xfrm>
            <a:off x="1508760" y="3941064"/>
            <a:ext cx="4663440" cy="347472"/>
          </a:xfrm>
          <a:prstGeom prst="rect">
            <a:avLst/>
          </a:prstGeom>
          <a:noFill/>
          <a:ln/>
        </p:spPr>
        <p:txBody>
          <a:bodyPr wrap="square" lIns="0" tIns="0" rIns="0" bIns="0" rtlCol="0" anchor="t"/>
          <a:lstStyle/>
          <a:p>
            <a:pPr marL="0" indent="0">
              <a:buNone/>
            </a:pPr>
            <a:r>
              <a:rPr lang="en-US" sz="1900" b="1" dirty="0">
                <a:solidFill>
                  <a:schemeClr val="tx1"/>
                </a:solidFill>
              </a:rPr>
              <a:t>AI monitoring</a:t>
            </a:r>
            <a:endParaRPr lang="en-US" sz="1900" dirty="0"/>
          </a:p>
        </p:txBody>
      </p:sp>
      <p:sp>
        <p:nvSpPr>
          <p:cNvPr id="15" name="Text 83"/>
          <p:cNvSpPr txBox="1"/>
          <p:nvPr/>
        </p:nvSpPr>
        <p:spPr>
          <a:xfrm>
            <a:off x="1508760" y="4315968"/>
            <a:ext cx="4663440" cy="594360"/>
          </a:xfrm>
          <a:prstGeom prst="rect">
            <a:avLst/>
          </a:prstGeom>
          <a:noFill/>
          <a:ln/>
        </p:spPr>
        <p:txBody>
          <a:bodyPr wrap="square" lIns="0" tIns="0" rIns="0" bIns="0" rtlCol="0" anchor="t"/>
          <a:lstStyle/>
          <a:p>
            <a:pPr marL="0" indent="0">
              <a:buNone/>
            </a:pPr>
            <a:r>
              <a:rPr lang="en-US" sz="1600" dirty="0">
                <a:solidFill>
                  <a:schemeClr val="tx1"/>
                </a:solidFill>
              </a:rPr>
              <a:t>We watch AI systems in production for misuse and failures.</a:t>
            </a:r>
            <a:endParaRPr lang="en-US" sz="1600" dirty="0"/>
          </a:p>
        </p:txBody>
      </p:sp>
      <p:sp>
        <p:nvSpPr>
          <p:cNvPr id="16" name="Icon circle 84"/>
          <p:cNvSpPr/>
          <p:nvPr/>
        </p:nvSpPr>
        <p:spPr>
          <a:xfrm>
            <a:off x="640080" y="5065776"/>
            <a:ext cx="640080" cy="640080"/>
          </a:xfrm>
          <a:prstGeom prst="ellipse">
            <a:avLst/>
          </a:prstGeom>
          <a:solidFill>
            <a:schemeClr val="accent1"/>
          </a:solidFill>
          <a:ln/>
        </p:spPr>
      </p:sp>
      <p:pic>
        <p:nvPicPr>
          <p:cNvPr id="17" name="Icon 85" descr="preencoded.png"/>
          <p:cNvPicPr>
            <a:picLocks noChangeAspect="1"/>
          </p:cNvPicPr>
          <p:nvPr/>
        </p:nvPicPr>
        <p:blipFill>
          <a:blip r:embed="rId6"/>
          <a:stretch>
            <a:fillRect/>
          </a:stretch>
        </p:blipFill>
        <p:spPr>
          <a:xfrm>
            <a:off x="812902" y="5238598"/>
            <a:ext cx="294437" cy="294437"/>
          </a:xfrm>
          <a:prstGeom prst="rect">
            <a:avLst/>
          </a:prstGeom>
        </p:spPr>
      </p:pic>
      <p:sp>
        <p:nvSpPr>
          <p:cNvPr id="18" name="Text 86"/>
          <p:cNvSpPr txBox="1"/>
          <p:nvPr/>
        </p:nvSpPr>
        <p:spPr>
          <a:xfrm>
            <a:off x="1508760" y="5020056"/>
            <a:ext cx="4663440" cy="347472"/>
          </a:xfrm>
          <a:prstGeom prst="rect">
            <a:avLst/>
          </a:prstGeom>
          <a:noFill/>
          <a:ln/>
        </p:spPr>
        <p:txBody>
          <a:bodyPr wrap="square" lIns="0" tIns="0" rIns="0" bIns="0" rtlCol="0" anchor="t"/>
          <a:lstStyle/>
          <a:p>
            <a:pPr marL="0" indent="0">
              <a:buNone/>
            </a:pPr>
            <a:r>
              <a:rPr lang="en-US" sz="1900" b="1" dirty="0">
                <a:solidFill>
                  <a:schemeClr val="tx1"/>
                </a:solidFill>
              </a:rPr>
              <a:t>AI governance</a:t>
            </a:r>
            <a:endParaRPr lang="en-US" sz="1900" dirty="0"/>
          </a:p>
        </p:txBody>
      </p:sp>
      <p:sp>
        <p:nvSpPr>
          <p:cNvPr id="19" name="Text 87"/>
          <p:cNvSpPr txBox="1"/>
          <p:nvPr/>
        </p:nvSpPr>
        <p:spPr>
          <a:xfrm>
            <a:off x="1508760" y="5394960"/>
            <a:ext cx="4663440" cy="594360"/>
          </a:xfrm>
          <a:prstGeom prst="rect">
            <a:avLst/>
          </a:prstGeom>
          <a:noFill/>
          <a:ln/>
        </p:spPr>
        <p:txBody>
          <a:bodyPr wrap="square" lIns="0" tIns="0" rIns="0" bIns="0" rtlCol="0" anchor="t"/>
          <a:lstStyle/>
          <a:p>
            <a:pPr marL="0" indent="0">
              <a:buNone/>
            </a:pPr>
            <a:r>
              <a:rPr lang="en-US" sz="1600" dirty="0">
                <a:solidFill>
                  <a:schemeClr val="tx1"/>
                </a:solidFill>
              </a:rPr>
              <a:t>Policies, roles and records your auditors can follow.</a:t>
            </a:r>
            <a:endParaRPr lang="en-US" sz="1600" dirty="0"/>
          </a:p>
        </p:txBody>
      </p:sp>
      <p:sp>
        <p:nvSpPr>
          <p:cNvPr id="20" name="Card 88"/>
          <p:cNvSpPr/>
          <p:nvPr/>
        </p:nvSpPr>
        <p:spPr>
          <a:xfrm>
            <a:off x="6492240" y="1828800"/>
            <a:ext cx="5059375" cy="2240280"/>
          </a:xfrm>
          <a:prstGeom prst="roundRect">
            <a:avLst>
              <a:gd name="adj" fmla="val 5714"/>
            </a:avLst>
          </a:prstGeom>
          <a:solidFill>
            <a:schemeClr val="tx1"/>
          </a:solidFill>
          <a:ln/>
        </p:spPr>
      </p:sp>
      <p:sp>
        <p:nvSpPr>
          <p:cNvPr id="21" name="Text 89"/>
          <p:cNvSpPr txBox="1"/>
          <p:nvPr/>
        </p:nvSpPr>
        <p:spPr>
          <a:xfrm>
            <a:off x="6812280" y="2011680"/>
            <a:ext cx="2103120" cy="822960"/>
          </a:xfrm>
          <a:prstGeom prst="rect">
            <a:avLst/>
          </a:prstGeom>
          <a:noFill/>
          <a:ln/>
        </p:spPr>
        <p:txBody>
          <a:bodyPr wrap="square" lIns="0" tIns="0" rIns="0" bIns="0" rtlCol="0" anchor="ctr"/>
          <a:lstStyle/>
          <a:p>
            <a:pPr marL="0" indent="0">
              <a:buNone/>
            </a:pPr>
            <a:r>
              <a:rPr lang="en-US" sz="4800" b="1" dirty="0">
                <a:solidFill>
                  <a:schemeClr val="accent2"/>
                </a:solidFill>
              </a:rPr>
              <a:t>200+</a:t>
            </a:r>
            <a:endParaRPr lang="en-US" sz="4800" dirty="0"/>
          </a:p>
        </p:txBody>
      </p:sp>
      <p:sp>
        <p:nvSpPr>
          <p:cNvPr id="22" name="Text 90"/>
          <p:cNvSpPr txBox="1"/>
          <p:nvPr/>
        </p:nvSpPr>
        <p:spPr>
          <a:xfrm>
            <a:off x="6812280" y="2880360"/>
            <a:ext cx="2103120" cy="1051560"/>
          </a:xfrm>
          <a:prstGeom prst="rect">
            <a:avLst/>
          </a:prstGeom>
          <a:noFill/>
          <a:ln/>
        </p:spPr>
        <p:txBody>
          <a:bodyPr wrap="square" lIns="0" tIns="0" rIns="0" bIns="0" rtlCol="0" anchor="t"/>
          <a:lstStyle/>
          <a:p>
            <a:pPr marL="0" indent="0">
              <a:buNone/>
            </a:pPr>
            <a:r>
              <a:rPr lang="en-US" sz="1500" dirty="0">
                <a:solidFill>
                  <a:schemeClr val="bg1"/>
                </a:solidFill>
              </a:rPr>
              <a:t>domains tested for a healthcare platform</a:t>
            </a:r>
            <a:endParaRPr lang="en-US" sz="1500" dirty="0"/>
          </a:p>
        </p:txBody>
      </p:sp>
      <p:sp>
        <p:nvSpPr>
          <p:cNvPr id="23" name="Text 91"/>
          <p:cNvSpPr txBox="1"/>
          <p:nvPr/>
        </p:nvSpPr>
        <p:spPr>
          <a:xfrm>
            <a:off x="9189720" y="2011680"/>
            <a:ext cx="2103120" cy="822960"/>
          </a:xfrm>
          <a:prstGeom prst="rect">
            <a:avLst/>
          </a:prstGeom>
          <a:noFill/>
          <a:ln/>
        </p:spPr>
        <p:txBody>
          <a:bodyPr wrap="square" lIns="0" tIns="0" rIns="0" bIns="0" rtlCol="0" anchor="ctr"/>
          <a:lstStyle/>
          <a:p>
            <a:pPr marL="0" indent="0">
              <a:buNone/>
            </a:pPr>
            <a:r>
              <a:rPr lang="en-US" sz="4800" b="1" dirty="0">
                <a:solidFill>
                  <a:schemeClr val="accent2"/>
                </a:solidFill>
              </a:rPr>
              <a:t>25%</a:t>
            </a:r>
            <a:endParaRPr lang="en-US" sz="4800" dirty="0"/>
          </a:p>
        </p:txBody>
      </p:sp>
      <p:sp>
        <p:nvSpPr>
          <p:cNvPr id="24" name="Text 92"/>
          <p:cNvSpPr txBox="1"/>
          <p:nvPr/>
        </p:nvSpPr>
        <p:spPr>
          <a:xfrm>
            <a:off x="9189720" y="2880360"/>
            <a:ext cx="2103120" cy="1051560"/>
          </a:xfrm>
          <a:prstGeom prst="rect">
            <a:avLst/>
          </a:prstGeom>
          <a:noFill/>
          <a:ln/>
        </p:spPr>
        <p:txBody>
          <a:bodyPr wrap="square" lIns="0" tIns="0" rIns="0" bIns="0" rtlCol="0" anchor="t"/>
          <a:lstStyle/>
          <a:p>
            <a:pPr marL="0" indent="0">
              <a:buNone/>
            </a:pPr>
            <a:r>
              <a:rPr lang="en-US" sz="1500" dirty="0">
                <a:solidFill>
                  <a:schemeClr val="bg1"/>
                </a:solidFill>
              </a:rPr>
              <a:t>of findings rated high risk</a:t>
            </a:r>
            <a:endParaRPr lang="en-US" sz="1500" dirty="0"/>
          </a:p>
        </p:txBody>
      </p:sp>
      <p:sp>
        <p:nvSpPr>
          <p:cNvPr id="25" name="Card 93"/>
          <p:cNvSpPr/>
          <p:nvPr/>
        </p:nvSpPr>
        <p:spPr>
          <a:xfrm>
            <a:off x="6492240" y="4251960"/>
            <a:ext cx="5059375" cy="822960"/>
          </a:xfrm>
          <a:prstGeom prst="roundRect">
            <a:avLst>
              <a:gd name="adj" fmla="val 15556"/>
            </a:avLst>
          </a:prstGeom>
          <a:solidFill>
            <a:schemeClr val="bg2">
              <a:alpha val="55000"/>
            </a:schemeClr>
          </a:solidFill>
          <a:ln/>
        </p:spPr>
      </p:sp>
      <p:sp>
        <p:nvSpPr>
          <p:cNvPr id="26" name="Icon circle 94"/>
          <p:cNvSpPr/>
          <p:nvPr/>
        </p:nvSpPr>
        <p:spPr>
          <a:xfrm>
            <a:off x="6720840" y="4389120"/>
            <a:ext cx="548640" cy="548640"/>
          </a:xfrm>
          <a:prstGeom prst="ellipse">
            <a:avLst/>
          </a:prstGeom>
          <a:solidFill>
            <a:schemeClr val="accent2"/>
          </a:solidFill>
          <a:ln/>
        </p:spPr>
      </p:sp>
      <p:pic>
        <p:nvPicPr>
          <p:cNvPr id="27" name="Icon 95" descr="preencoded.png"/>
          <p:cNvPicPr>
            <a:picLocks noChangeAspect="1"/>
          </p:cNvPicPr>
          <p:nvPr/>
        </p:nvPicPr>
        <p:blipFill>
          <a:blip r:embed="rId7"/>
          <a:stretch>
            <a:fillRect/>
          </a:stretch>
        </p:blipFill>
        <p:spPr>
          <a:xfrm>
            <a:off x="6868973" y="4537253"/>
            <a:ext cx="252374" cy="252374"/>
          </a:xfrm>
          <a:prstGeom prst="rect">
            <a:avLst/>
          </a:prstGeom>
        </p:spPr>
      </p:pic>
      <p:sp>
        <p:nvSpPr>
          <p:cNvPr id="28" name="Text 96"/>
          <p:cNvSpPr txBox="1"/>
          <p:nvPr/>
        </p:nvSpPr>
        <p:spPr>
          <a:xfrm>
            <a:off x="7452360" y="4251960"/>
            <a:ext cx="3870655" cy="822960"/>
          </a:xfrm>
          <a:prstGeom prst="rect">
            <a:avLst/>
          </a:prstGeom>
          <a:noFill/>
          <a:ln/>
        </p:spPr>
        <p:txBody>
          <a:bodyPr wrap="square" lIns="0" tIns="0" rIns="0" bIns="0" rtlCol="0" anchor="ctr"/>
          <a:lstStyle/>
          <a:p>
            <a:pPr marL="0" indent="0">
              <a:buNone/>
            </a:pPr>
            <a:r>
              <a:rPr lang="en-US" sz="1500" b="1" dirty="0">
                <a:solidFill>
                  <a:schemeClr val="tx1"/>
                </a:solidFill>
              </a:rPr>
              <a:t>Certified ISO 42001 and ISO 27001 Lead Auditors on our team</a:t>
            </a:r>
            <a:endParaRPr lang="en-US" sz="1500" dirty="0"/>
          </a:p>
        </p:txBody>
      </p:sp>
      <p:sp>
        <p:nvSpPr>
          <p:cNvPr id="29" name="Card 97"/>
          <p:cNvSpPr/>
          <p:nvPr/>
        </p:nvSpPr>
        <p:spPr>
          <a:xfrm>
            <a:off x="6492240" y="5212080"/>
            <a:ext cx="5059375" cy="822960"/>
          </a:xfrm>
          <a:prstGeom prst="roundRect">
            <a:avLst>
              <a:gd name="adj" fmla="val 15556"/>
            </a:avLst>
          </a:prstGeom>
          <a:solidFill>
            <a:schemeClr val="bg2">
              <a:alpha val="55000"/>
            </a:schemeClr>
          </a:solidFill>
          <a:ln/>
        </p:spPr>
      </p:sp>
      <p:sp>
        <p:nvSpPr>
          <p:cNvPr id="30" name="Icon circle 98"/>
          <p:cNvSpPr/>
          <p:nvPr/>
        </p:nvSpPr>
        <p:spPr>
          <a:xfrm>
            <a:off x="6720840" y="5349240"/>
            <a:ext cx="548640" cy="548640"/>
          </a:xfrm>
          <a:prstGeom prst="ellipse">
            <a:avLst/>
          </a:prstGeom>
          <a:solidFill>
            <a:schemeClr val="accent2"/>
          </a:solidFill>
          <a:ln/>
        </p:spPr>
      </p:sp>
      <p:pic>
        <p:nvPicPr>
          <p:cNvPr id="31" name="Icon 99" descr="preencoded.png"/>
          <p:cNvPicPr>
            <a:picLocks noChangeAspect="1"/>
          </p:cNvPicPr>
          <p:nvPr/>
        </p:nvPicPr>
        <p:blipFill>
          <a:blip r:embed="rId8"/>
          <a:stretch>
            <a:fillRect/>
          </a:stretch>
        </p:blipFill>
        <p:spPr>
          <a:xfrm>
            <a:off x="6868973" y="5497373"/>
            <a:ext cx="252374" cy="252374"/>
          </a:xfrm>
          <a:prstGeom prst="rect">
            <a:avLst/>
          </a:prstGeom>
        </p:spPr>
      </p:pic>
      <p:sp>
        <p:nvSpPr>
          <p:cNvPr id="32" name="Text 100"/>
          <p:cNvSpPr txBox="1"/>
          <p:nvPr/>
        </p:nvSpPr>
        <p:spPr>
          <a:xfrm>
            <a:off x="7452360" y="5212080"/>
            <a:ext cx="3870655" cy="822960"/>
          </a:xfrm>
          <a:prstGeom prst="rect">
            <a:avLst/>
          </a:prstGeom>
          <a:noFill/>
          <a:ln/>
        </p:spPr>
        <p:txBody>
          <a:bodyPr wrap="square" lIns="0" tIns="0" rIns="0" bIns="0" rtlCol="0" anchor="ctr"/>
          <a:lstStyle/>
          <a:p>
            <a:pPr marL="0" indent="0">
              <a:buNone/>
            </a:pPr>
            <a:r>
              <a:rPr lang="en-US" sz="1500" b="1" dirty="0">
                <a:solidFill>
                  <a:schemeClr val="tx1"/>
                </a:solidFill>
              </a:rPr>
              <a:t>Mobile banking apps secured toward PCI-DSS compliance</a:t>
            </a:r>
            <a:endParaRPr lang="en-US" sz="1500" dirty="0"/>
          </a:p>
        </p:txBody>
      </p:sp>
      <p:sp>
        <p:nvSpPr>
          <p:cNvPr id="3"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640080" y="502920"/>
            <a:ext cx="9509760" cy="1143000"/>
          </a:xfrm>
          <a:prstGeom prst="rect">
            <a:avLst/>
          </a:prstGeom>
          <a:noFill/>
          <a:ln/>
        </p:spPr>
        <p:txBody>
          <a:bodyPr wrap="square" lIns="0" tIns="0" rIns="0" bIns="0" rtlCol="0" anchor="t"/>
          <a:lstStyle/>
          <a:p>
            <a:pPr marL="0" indent="0" algn="l">
              <a:buNone/>
            </a:pPr>
            <a:r>
              <a:rPr lang="en-US" sz="3400" b="1" dirty="0">
                <a:solidFill>
                  <a:schemeClr val="tx1"/>
                </a:solidFill>
              </a:rPr>
              <a:t>Make AI possible: data comes first</a:t>
            </a:r>
            <a:endParaRPr lang="en-US" sz="3400" dirty="0"/>
          </a:p>
        </p:txBody>
      </p:sp>
      <p:sp>
        <p:nvSpPr>
          <p:cNvPr id="4" name="Icon circle 101"/>
          <p:cNvSpPr/>
          <p:nvPr/>
        </p:nvSpPr>
        <p:spPr>
          <a:xfrm>
            <a:off x="640080" y="1828800"/>
            <a:ext cx="822960" cy="822960"/>
          </a:xfrm>
          <a:prstGeom prst="ellipse">
            <a:avLst/>
          </a:prstGeom>
          <a:solidFill>
            <a:schemeClr val="accent1"/>
          </a:solidFill>
          <a:ln/>
        </p:spPr>
      </p:sp>
      <p:pic>
        <p:nvPicPr>
          <p:cNvPr id="5" name="Icon 102" descr="preencoded.png"/>
          <p:cNvPicPr>
            <a:picLocks noChangeAspect="1"/>
          </p:cNvPicPr>
          <p:nvPr/>
        </p:nvPicPr>
        <p:blipFill>
          <a:blip r:embed="rId3"/>
          <a:stretch>
            <a:fillRect/>
          </a:stretch>
        </p:blipFill>
        <p:spPr>
          <a:xfrm>
            <a:off x="862279" y="2050999"/>
            <a:ext cx="378562" cy="378562"/>
          </a:xfrm>
          <a:prstGeom prst="rect">
            <a:avLst/>
          </a:prstGeom>
        </p:spPr>
      </p:pic>
      <p:sp>
        <p:nvSpPr>
          <p:cNvPr id="6" name="Text 103"/>
          <p:cNvSpPr txBox="1"/>
          <p:nvPr/>
        </p:nvSpPr>
        <p:spPr>
          <a:xfrm>
            <a:off x="640080" y="2880360"/>
            <a:ext cx="3291840" cy="2926080"/>
          </a:xfrm>
          <a:prstGeom prst="rect">
            <a:avLst/>
          </a:prstGeom>
          <a:noFill/>
          <a:ln/>
        </p:spPr>
        <p:txBody>
          <a:bodyPr wrap="square" lIns="0" tIns="0" rIns="0" bIns="0" rtlCol="0" anchor="t"/>
          <a:lstStyle/>
          <a:p>
            <a:pPr marL="0" indent="0">
              <a:buNone/>
            </a:pPr>
            <a:r>
              <a:rPr lang="en-US" sz="1800" dirty="0">
                <a:solidFill>
                  <a:schemeClr val="tx1"/>
                </a:solidFill>
              </a:rPr>
              <a:t>Agents give wrong answers when data is scattered. We fix the foundation first, and only as far as the use case needs.</a:t>
            </a:r>
            <a:endParaRPr lang="en-US" sz="1800" dirty="0"/>
          </a:p>
        </p:txBody>
      </p:sp>
      <p:sp>
        <p:nvSpPr>
          <p:cNvPr id="7" name="Card 104"/>
          <p:cNvSpPr/>
          <p:nvPr/>
        </p:nvSpPr>
        <p:spPr>
          <a:xfrm>
            <a:off x="4297680" y="1828800"/>
            <a:ext cx="3489808" cy="4206240"/>
          </a:xfrm>
          <a:prstGeom prst="roundRect">
            <a:avLst>
              <a:gd name="adj" fmla="val 3668"/>
            </a:avLst>
          </a:prstGeom>
          <a:solidFill>
            <a:schemeClr val="bg2">
              <a:alpha val="55000"/>
            </a:schemeClr>
          </a:solidFill>
          <a:ln/>
        </p:spPr>
      </p:sp>
      <p:sp>
        <p:nvSpPr>
          <p:cNvPr id="8" name="Text 105"/>
          <p:cNvSpPr txBox="1"/>
          <p:nvPr/>
        </p:nvSpPr>
        <p:spPr>
          <a:xfrm>
            <a:off x="4617720" y="2057400"/>
            <a:ext cx="2849728" cy="274320"/>
          </a:xfrm>
          <a:prstGeom prst="rect">
            <a:avLst/>
          </a:prstGeom>
          <a:noFill/>
          <a:ln/>
        </p:spPr>
        <p:txBody>
          <a:bodyPr wrap="square" lIns="0" tIns="0" rIns="0" bIns="0" rtlCol="0" anchor="t"/>
          <a:lstStyle/>
          <a:p>
            <a:pPr marL="0" indent="0">
              <a:buNone/>
            </a:pPr>
            <a:r>
              <a:rPr lang="en-US" sz="1200" b="1" kern="0" spc="100" dirty="0">
                <a:solidFill>
                  <a:schemeClr val="accent5"/>
                </a:solidFill>
              </a:rPr>
              <a:t>RETAIL</a:t>
            </a:r>
            <a:endParaRPr lang="en-US" sz="1200" dirty="0"/>
          </a:p>
        </p:txBody>
      </p:sp>
      <p:sp>
        <p:nvSpPr>
          <p:cNvPr id="9" name="Text 106"/>
          <p:cNvSpPr txBox="1"/>
          <p:nvPr/>
        </p:nvSpPr>
        <p:spPr>
          <a:xfrm>
            <a:off x="4617720" y="2423160"/>
            <a:ext cx="2849728" cy="914400"/>
          </a:xfrm>
          <a:prstGeom prst="rect">
            <a:avLst/>
          </a:prstGeom>
          <a:noFill/>
          <a:ln/>
        </p:spPr>
        <p:txBody>
          <a:bodyPr wrap="square" lIns="0" tIns="0" rIns="0" bIns="0" rtlCol="0" anchor="ctr"/>
          <a:lstStyle/>
          <a:p>
            <a:pPr marL="0" indent="0">
              <a:buNone/>
            </a:pPr>
            <a:r>
              <a:rPr lang="en-US" sz="6000" b="1" dirty="0">
                <a:solidFill>
                  <a:schemeClr val="accent1"/>
                </a:solidFill>
              </a:rPr>
              <a:t>1</a:t>
            </a:r>
            <a:endParaRPr lang="en-US" sz="6000" dirty="0"/>
          </a:p>
        </p:txBody>
      </p:sp>
      <p:sp>
        <p:nvSpPr>
          <p:cNvPr id="10" name="Text 107"/>
          <p:cNvSpPr txBox="1"/>
          <p:nvPr/>
        </p:nvSpPr>
        <p:spPr>
          <a:xfrm>
            <a:off x="4617720" y="3383280"/>
            <a:ext cx="2849728" cy="411480"/>
          </a:xfrm>
          <a:prstGeom prst="rect">
            <a:avLst/>
          </a:prstGeom>
          <a:noFill/>
          <a:ln/>
        </p:spPr>
        <p:txBody>
          <a:bodyPr wrap="square" lIns="0" tIns="0" rIns="0" bIns="0" rtlCol="0" anchor="t"/>
          <a:lstStyle/>
          <a:p>
            <a:pPr marL="0" indent="0">
              <a:buNone/>
            </a:pPr>
            <a:r>
              <a:rPr lang="en-US" sz="2000" b="1" dirty="0">
                <a:solidFill>
                  <a:schemeClr val="tx1"/>
                </a:solidFill>
              </a:rPr>
              <a:t>source of truth</a:t>
            </a:r>
            <a:endParaRPr lang="en-US" sz="2000" dirty="0"/>
          </a:p>
        </p:txBody>
      </p:sp>
      <p:sp>
        <p:nvSpPr>
          <p:cNvPr id="11" name="Text 108"/>
          <p:cNvSpPr txBox="1"/>
          <p:nvPr/>
        </p:nvSpPr>
        <p:spPr>
          <a:xfrm>
            <a:off x="4617720" y="3977640"/>
            <a:ext cx="2849728" cy="1965960"/>
          </a:xfrm>
          <a:prstGeom prst="rect">
            <a:avLst/>
          </a:prstGeom>
          <a:noFill/>
          <a:ln/>
        </p:spPr>
        <p:txBody>
          <a:bodyPr wrap="square" lIns="0" tIns="0" rIns="0" bIns="0" rtlCol="0" anchor="t"/>
          <a:lstStyle/>
          <a:p>
            <a:pPr marL="0" indent="0">
              <a:buNone/>
            </a:pPr>
            <a:r>
              <a:rPr lang="en-US" sz="1500" dirty="0">
                <a:solidFill>
                  <a:schemeClr val="tx1"/>
                </a:solidFill>
              </a:rPr>
              <a:t>Data from SAP ERP, SAP BW and application databases consolidated on Snowflake for a leading South African retailer. Reporting, data science and AI now run from one trusted source.</a:t>
            </a:r>
            <a:endParaRPr lang="en-US" sz="1500" dirty="0"/>
          </a:p>
        </p:txBody>
      </p:sp>
      <p:sp>
        <p:nvSpPr>
          <p:cNvPr id="12" name="Card 109"/>
          <p:cNvSpPr/>
          <p:nvPr/>
        </p:nvSpPr>
        <p:spPr>
          <a:xfrm>
            <a:off x="8061808" y="1828800"/>
            <a:ext cx="3489808" cy="4206240"/>
          </a:xfrm>
          <a:prstGeom prst="roundRect">
            <a:avLst>
              <a:gd name="adj" fmla="val 3668"/>
            </a:avLst>
          </a:prstGeom>
          <a:solidFill>
            <a:schemeClr val="bg2">
              <a:alpha val="55000"/>
            </a:schemeClr>
          </a:solidFill>
          <a:ln/>
        </p:spPr>
      </p:sp>
      <p:sp>
        <p:nvSpPr>
          <p:cNvPr id="13" name="Text 110"/>
          <p:cNvSpPr txBox="1"/>
          <p:nvPr/>
        </p:nvSpPr>
        <p:spPr>
          <a:xfrm>
            <a:off x="8381848" y="2057400"/>
            <a:ext cx="2849728" cy="274320"/>
          </a:xfrm>
          <a:prstGeom prst="rect">
            <a:avLst/>
          </a:prstGeom>
          <a:noFill/>
          <a:ln/>
        </p:spPr>
        <p:txBody>
          <a:bodyPr wrap="square" lIns="0" tIns="0" rIns="0" bIns="0" rtlCol="0" anchor="t"/>
          <a:lstStyle/>
          <a:p>
            <a:pPr marL="0" indent="0">
              <a:buNone/>
            </a:pPr>
            <a:r>
              <a:rPr lang="en-US" sz="1200" b="1" kern="0" spc="100" dirty="0">
                <a:solidFill>
                  <a:schemeClr val="accent5"/>
                </a:solidFill>
              </a:rPr>
              <a:t>HEALTHCARE</a:t>
            </a:r>
            <a:endParaRPr lang="en-US" sz="1200" dirty="0"/>
          </a:p>
        </p:txBody>
      </p:sp>
      <p:sp>
        <p:nvSpPr>
          <p:cNvPr id="14" name="Text 111"/>
          <p:cNvSpPr txBox="1"/>
          <p:nvPr/>
        </p:nvSpPr>
        <p:spPr>
          <a:xfrm>
            <a:off x="8381848" y="2423160"/>
            <a:ext cx="2849728" cy="914400"/>
          </a:xfrm>
          <a:prstGeom prst="rect">
            <a:avLst/>
          </a:prstGeom>
          <a:noFill/>
          <a:ln/>
        </p:spPr>
        <p:txBody>
          <a:bodyPr wrap="square" lIns="0" tIns="0" rIns="0" bIns="0" rtlCol="0" anchor="ctr"/>
          <a:lstStyle/>
          <a:p>
            <a:pPr marL="0" indent="0">
              <a:buNone/>
            </a:pPr>
            <a:r>
              <a:rPr lang="en-US" sz="6000" b="1" dirty="0">
                <a:solidFill>
                  <a:schemeClr val="accent1"/>
                </a:solidFill>
              </a:rPr>
              <a:t>1B+</a:t>
            </a:r>
            <a:endParaRPr lang="en-US" sz="6000" dirty="0"/>
          </a:p>
        </p:txBody>
      </p:sp>
      <p:sp>
        <p:nvSpPr>
          <p:cNvPr id="15" name="Text 112"/>
          <p:cNvSpPr txBox="1"/>
          <p:nvPr/>
        </p:nvSpPr>
        <p:spPr>
          <a:xfrm>
            <a:off x="8381848" y="3383280"/>
            <a:ext cx="2849728" cy="411480"/>
          </a:xfrm>
          <a:prstGeom prst="rect">
            <a:avLst/>
          </a:prstGeom>
          <a:noFill/>
          <a:ln/>
        </p:spPr>
        <p:txBody>
          <a:bodyPr wrap="square" lIns="0" tIns="0" rIns="0" bIns="0" rtlCol="0" anchor="t"/>
          <a:lstStyle/>
          <a:p>
            <a:pPr marL="0" indent="0">
              <a:buNone/>
            </a:pPr>
            <a:r>
              <a:rPr lang="en-US" sz="2000" b="1" dirty="0">
                <a:solidFill>
                  <a:schemeClr val="tx1"/>
                </a:solidFill>
              </a:rPr>
              <a:t>health records</a:t>
            </a:r>
            <a:endParaRPr lang="en-US" sz="2000" dirty="0"/>
          </a:p>
        </p:txBody>
      </p:sp>
      <p:sp>
        <p:nvSpPr>
          <p:cNvPr id="16" name="Text 113"/>
          <p:cNvSpPr txBox="1"/>
          <p:nvPr/>
        </p:nvSpPr>
        <p:spPr>
          <a:xfrm>
            <a:off x="8381848" y="3977640"/>
            <a:ext cx="2849728" cy="1965960"/>
          </a:xfrm>
          <a:prstGeom prst="rect">
            <a:avLst/>
          </a:prstGeom>
          <a:noFill/>
          <a:ln/>
        </p:spPr>
        <p:txBody>
          <a:bodyPr wrap="square" lIns="0" tIns="0" rIns="0" bIns="0" rtlCol="0" anchor="t"/>
          <a:lstStyle/>
          <a:p>
            <a:pPr marL="0" indent="0">
              <a:buNone/>
            </a:pPr>
            <a:r>
              <a:rPr lang="en-US" sz="1500" dirty="0">
                <a:solidFill>
                  <a:schemeClr val="tx1"/>
                </a:solidFill>
              </a:rPr>
              <a:t>A national immunization platform scaled for one of Pakistan's leading NGOs. It supports 4,000+ frontline health workers.</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640080" y="502920"/>
            <a:ext cx="9509760" cy="1143000"/>
          </a:xfrm>
          <a:prstGeom prst="rect">
            <a:avLst/>
          </a:prstGeom>
          <a:noFill/>
          <a:ln/>
        </p:spPr>
        <p:txBody>
          <a:bodyPr wrap="square" lIns="0" tIns="0" rIns="0" bIns="0" rtlCol="0" anchor="t"/>
          <a:lstStyle/>
          <a:p>
            <a:pPr marL="0" indent="0" algn="l">
              <a:buNone/>
            </a:pPr>
            <a:r>
              <a:rPr lang="en-US" sz="3400" b="1" dirty="0">
                <a:solidFill>
                  <a:schemeClr val="tx1"/>
                </a:solidFill>
              </a:rPr>
              <a:t>Already delivering in Poland and Europe</a:t>
            </a:r>
            <a:endParaRPr lang="en-US" sz="3400" dirty="0"/>
          </a:p>
        </p:txBody>
      </p:sp>
      <p:sp>
        <p:nvSpPr>
          <p:cNvPr id="4" name="Card 114"/>
          <p:cNvSpPr/>
          <p:nvPr/>
        </p:nvSpPr>
        <p:spPr>
          <a:xfrm>
            <a:off x="640080" y="1828800"/>
            <a:ext cx="6309360" cy="4206240"/>
          </a:xfrm>
          <a:prstGeom prst="roundRect">
            <a:avLst>
              <a:gd name="adj" fmla="val 3043"/>
            </a:avLst>
          </a:prstGeom>
          <a:solidFill>
            <a:schemeClr val="tx1"/>
          </a:solidFill>
          <a:ln/>
        </p:spPr>
      </p:sp>
      <p:sp>
        <p:nvSpPr>
          <p:cNvPr id="5" name="Icon circle 115"/>
          <p:cNvSpPr/>
          <p:nvPr/>
        </p:nvSpPr>
        <p:spPr>
          <a:xfrm>
            <a:off x="1005840" y="2103120"/>
            <a:ext cx="594360" cy="594360"/>
          </a:xfrm>
          <a:prstGeom prst="ellipse">
            <a:avLst/>
          </a:prstGeom>
          <a:solidFill>
            <a:schemeClr val="accent2"/>
          </a:solidFill>
          <a:ln/>
        </p:spPr>
      </p:sp>
      <p:pic>
        <p:nvPicPr>
          <p:cNvPr id="6" name="Icon 116" descr="preencoded.png"/>
          <p:cNvPicPr>
            <a:picLocks noChangeAspect="1"/>
          </p:cNvPicPr>
          <p:nvPr/>
        </p:nvPicPr>
        <p:blipFill>
          <a:blip r:embed="rId3"/>
          <a:stretch>
            <a:fillRect/>
          </a:stretch>
        </p:blipFill>
        <p:spPr>
          <a:xfrm>
            <a:off x="1166317" y="2263597"/>
            <a:ext cx="273406" cy="273406"/>
          </a:xfrm>
          <a:prstGeom prst="rect">
            <a:avLst/>
          </a:prstGeom>
        </p:spPr>
      </p:pic>
      <p:sp>
        <p:nvSpPr>
          <p:cNvPr id="7" name="Text 117"/>
          <p:cNvSpPr txBox="1"/>
          <p:nvPr/>
        </p:nvSpPr>
        <p:spPr>
          <a:xfrm>
            <a:off x="1005840" y="2834640"/>
            <a:ext cx="5577840" cy="2240280"/>
          </a:xfrm>
          <a:prstGeom prst="rect">
            <a:avLst/>
          </a:prstGeom>
          <a:noFill/>
          <a:ln/>
        </p:spPr>
        <p:txBody>
          <a:bodyPr wrap="square" lIns="0" tIns="0" rIns="0" bIns="0" rtlCol="0" anchor="t"/>
          <a:lstStyle/>
          <a:p>
            <a:pPr marL="0" indent="0">
              <a:spcAft>
                <a:spcPts val="1200"/>
              </a:spcAft>
              <a:buNone/>
            </a:pPr>
            <a:r>
              <a:rPr lang="en-US" sz="1800" i="1" dirty="0">
                <a:solidFill>
                  <a:schemeClr val="bg1"/>
                </a:solidFill>
              </a:rPr>
              <a:t>“xLoop architects meticulously planned and executed the migration, ensuring minimal disruption to our operations.”</a:t>
            </a:r>
            <a:endParaRPr lang="en-US" sz="1800" dirty="0"/>
          </a:p>
          <a:p>
            <a:pPr marL="0" indent="0">
              <a:spcAft>
                <a:spcPts val="1200"/>
              </a:spcAft>
              <a:buNone/>
            </a:pPr>
            <a:r>
              <a:rPr lang="en-US" sz="1800" i="1" dirty="0">
                <a:solidFill>
                  <a:schemeClr val="bg1"/>
                </a:solidFill>
              </a:rPr>
              <a:t>“I highly recommend their services to any organization seeking top-tier expertise in application modernization and cybersecurity.”</a:t>
            </a:r>
            <a:endParaRPr lang="en-US" sz="1800" dirty="0"/>
          </a:p>
        </p:txBody>
      </p:sp>
      <p:sp>
        <p:nvSpPr>
          <p:cNvPr id="8" name="Text 118"/>
          <p:cNvSpPr txBox="1"/>
          <p:nvPr/>
        </p:nvSpPr>
        <p:spPr>
          <a:xfrm>
            <a:off x="1005840" y="5212080"/>
            <a:ext cx="5577840" cy="640080"/>
          </a:xfrm>
          <a:prstGeom prst="rect">
            <a:avLst/>
          </a:prstGeom>
          <a:noFill/>
          <a:ln/>
        </p:spPr>
        <p:txBody>
          <a:bodyPr wrap="square" lIns="0" tIns="0" rIns="0" bIns="0" rtlCol="0" anchor="t"/>
          <a:lstStyle/>
          <a:p>
            <a:pPr marL="0" indent="0">
              <a:buNone/>
            </a:pPr>
            <a:r>
              <a:rPr lang="en-US" sz="1500" b="1" dirty="0">
                <a:solidFill>
                  <a:schemeClr val="accent4"/>
                </a:solidFill>
              </a:rPr>
              <a:t>John Waterhouse</a:t>
            </a:r>
            <a:endParaRPr lang="en-US" sz="1500" dirty="0"/>
          </a:p>
          <a:p>
            <a:pPr marL="0" indent="0">
              <a:buNone/>
            </a:pPr>
            <a:r>
              <a:rPr lang="en-US" sz="1500" dirty="0">
                <a:solidFill>
                  <a:schemeClr val="accent4"/>
                </a:solidFill>
              </a:rPr>
              <a:t>Founder and CEO, Cloud Titans Ltd</a:t>
            </a:r>
            <a:endParaRPr lang="en-US" sz="1500" dirty="0"/>
          </a:p>
        </p:txBody>
      </p:sp>
      <p:sp>
        <p:nvSpPr>
          <p:cNvPr id="9" name="Icon circle 119"/>
          <p:cNvSpPr/>
          <p:nvPr/>
        </p:nvSpPr>
        <p:spPr>
          <a:xfrm>
            <a:off x="7315200" y="1828800"/>
            <a:ext cx="640080" cy="640080"/>
          </a:xfrm>
          <a:prstGeom prst="ellipse">
            <a:avLst/>
          </a:prstGeom>
          <a:solidFill>
            <a:schemeClr val="accent1"/>
          </a:solidFill>
          <a:ln/>
        </p:spPr>
      </p:sp>
      <p:pic>
        <p:nvPicPr>
          <p:cNvPr id="10" name="Icon 120" descr="preencoded.png"/>
          <p:cNvPicPr>
            <a:picLocks noChangeAspect="1"/>
          </p:cNvPicPr>
          <p:nvPr/>
        </p:nvPicPr>
        <p:blipFill>
          <a:blip r:embed="rId4"/>
          <a:stretch>
            <a:fillRect/>
          </a:stretch>
        </p:blipFill>
        <p:spPr>
          <a:xfrm>
            <a:off x="7488022" y="2001622"/>
            <a:ext cx="294437" cy="294437"/>
          </a:xfrm>
          <a:prstGeom prst="rect">
            <a:avLst/>
          </a:prstGeom>
        </p:spPr>
      </p:pic>
      <p:sp>
        <p:nvSpPr>
          <p:cNvPr id="11" name="Text 121"/>
          <p:cNvSpPr txBox="1"/>
          <p:nvPr/>
        </p:nvSpPr>
        <p:spPr>
          <a:xfrm>
            <a:off x="8183880" y="1783080"/>
            <a:ext cx="3367735" cy="347472"/>
          </a:xfrm>
          <a:prstGeom prst="rect">
            <a:avLst/>
          </a:prstGeom>
          <a:noFill/>
          <a:ln/>
        </p:spPr>
        <p:txBody>
          <a:bodyPr wrap="square" lIns="0" tIns="0" rIns="0" bIns="0" rtlCol="0" anchor="t"/>
          <a:lstStyle/>
          <a:p>
            <a:pPr marL="0" indent="0">
              <a:buNone/>
            </a:pPr>
            <a:r>
              <a:rPr lang="en-US" sz="1800" b="1" dirty="0">
                <a:solidFill>
                  <a:schemeClr val="tx1"/>
                </a:solidFill>
              </a:rPr>
              <a:t>Work for Cloud Titans</a:t>
            </a:r>
            <a:endParaRPr lang="en-US" sz="1800" dirty="0"/>
          </a:p>
        </p:txBody>
      </p:sp>
      <p:sp>
        <p:nvSpPr>
          <p:cNvPr id="12" name="Text 122"/>
          <p:cNvSpPr txBox="1"/>
          <p:nvPr/>
        </p:nvSpPr>
        <p:spPr>
          <a:xfrm>
            <a:off x="8183880" y="2157984"/>
            <a:ext cx="3367735" cy="640080"/>
          </a:xfrm>
          <a:prstGeom prst="rect">
            <a:avLst/>
          </a:prstGeom>
          <a:noFill/>
          <a:ln/>
        </p:spPr>
        <p:txBody>
          <a:bodyPr wrap="square" lIns="0" tIns="0" rIns="0" bIns="0" rtlCol="0" anchor="t"/>
          <a:lstStyle/>
          <a:p>
            <a:pPr marL="0" indent="0">
              <a:buNone/>
            </a:pPr>
            <a:r>
              <a:rPr lang="en-US" sz="1500" dirty="0">
                <a:solidFill>
                  <a:schemeClr val="tx1"/>
                </a:solidFill>
              </a:rPr>
              <a:t>Application modernization and a SIEM migration.</a:t>
            </a:r>
            <a:endParaRPr lang="en-US" sz="1500" dirty="0"/>
          </a:p>
        </p:txBody>
      </p:sp>
      <p:sp>
        <p:nvSpPr>
          <p:cNvPr id="13" name="Icon circle 123"/>
          <p:cNvSpPr/>
          <p:nvPr/>
        </p:nvSpPr>
        <p:spPr>
          <a:xfrm>
            <a:off x="7315200" y="3246120"/>
            <a:ext cx="640080" cy="640080"/>
          </a:xfrm>
          <a:prstGeom prst="ellipse">
            <a:avLst/>
          </a:prstGeom>
          <a:solidFill>
            <a:schemeClr val="accent1"/>
          </a:solidFill>
          <a:ln/>
        </p:spPr>
      </p:sp>
      <p:pic>
        <p:nvPicPr>
          <p:cNvPr id="14" name="Icon 124" descr="preencoded.png"/>
          <p:cNvPicPr>
            <a:picLocks noChangeAspect="1"/>
          </p:cNvPicPr>
          <p:nvPr/>
        </p:nvPicPr>
        <p:blipFill>
          <a:blip r:embed="rId5"/>
          <a:stretch>
            <a:fillRect/>
          </a:stretch>
        </p:blipFill>
        <p:spPr>
          <a:xfrm>
            <a:off x="7488022" y="3418942"/>
            <a:ext cx="294437" cy="294437"/>
          </a:xfrm>
          <a:prstGeom prst="rect">
            <a:avLst/>
          </a:prstGeom>
        </p:spPr>
      </p:pic>
      <p:sp>
        <p:nvSpPr>
          <p:cNvPr id="15" name="Text 125"/>
          <p:cNvSpPr txBox="1"/>
          <p:nvPr/>
        </p:nvSpPr>
        <p:spPr>
          <a:xfrm>
            <a:off x="8183880" y="3200400"/>
            <a:ext cx="3367735" cy="347472"/>
          </a:xfrm>
          <a:prstGeom prst="rect">
            <a:avLst/>
          </a:prstGeom>
          <a:noFill/>
          <a:ln/>
        </p:spPr>
        <p:txBody>
          <a:bodyPr wrap="square" lIns="0" tIns="0" rIns="0" bIns="0" rtlCol="0" anchor="t"/>
          <a:lstStyle/>
          <a:p>
            <a:pPr marL="0" indent="0">
              <a:buNone/>
            </a:pPr>
            <a:r>
              <a:rPr lang="en-US" sz="1800" b="1" dirty="0">
                <a:solidFill>
                  <a:schemeClr val="tx1"/>
                </a:solidFill>
              </a:rPr>
              <a:t>People in Europe</a:t>
            </a:r>
            <a:endParaRPr lang="en-US" sz="1800" dirty="0"/>
          </a:p>
        </p:txBody>
      </p:sp>
      <p:sp>
        <p:nvSpPr>
          <p:cNvPr id="16" name="Text 126"/>
          <p:cNvSpPr txBox="1"/>
          <p:nvPr/>
        </p:nvSpPr>
        <p:spPr>
          <a:xfrm>
            <a:off x="8183880" y="3575304"/>
            <a:ext cx="3367735" cy="640080"/>
          </a:xfrm>
          <a:prstGeom prst="rect">
            <a:avLst/>
          </a:prstGeom>
          <a:noFill/>
          <a:ln/>
        </p:spPr>
        <p:txBody>
          <a:bodyPr wrap="square" lIns="0" tIns="0" rIns="0" bIns="0" rtlCol="0" anchor="t"/>
          <a:lstStyle/>
          <a:p>
            <a:pPr marL="0" indent="0">
              <a:buNone/>
            </a:pPr>
            <a:r>
              <a:rPr lang="en-US" sz="1500" dirty="0">
                <a:solidFill>
                  <a:schemeClr val="tx1"/>
                </a:solidFill>
              </a:rPr>
              <a:t>Team members based in Hungary work in your time zone.</a:t>
            </a:r>
            <a:endParaRPr lang="en-US" sz="1500" dirty="0"/>
          </a:p>
        </p:txBody>
      </p:sp>
      <p:sp>
        <p:nvSpPr>
          <p:cNvPr id="17" name="Icon circle 127"/>
          <p:cNvSpPr/>
          <p:nvPr/>
        </p:nvSpPr>
        <p:spPr>
          <a:xfrm>
            <a:off x="7315200" y="4663440"/>
            <a:ext cx="640080" cy="640080"/>
          </a:xfrm>
          <a:prstGeom prst="ellipse">
            <a:avLst/>
          </a:prstGeom>
          <a:solidFill>
            <a:schemeClr val="accent1"/>
          </a:solidFill>
          <a:ln/>
        </p:spPr>
      </p:sp>
      <p:pic>
        <p:nvPicPr>
          <p:cNvPr id="18" name="Icon 128" descr="preencoded.png"/>
          <p:cNvPicPr>
            <a:picLocks noChangeAspect="1"/>
          </p:cNvPicPr>
          <p:nvPr/>
        </p:nvPicPr>
        <p:blipFill>
          <a:blip r:embed="rId6"/>
          <a:stretch>
            <a:fillRect/>
          </a:stretch>
        </p:blipFill>
        <p:spPr>
          <a:xfrm>
            <a:off x="7488022" y="4836262"/>
            <a:ext cx="294437" cy="294437"/>
          </a:xfrm>
          <a:prstGeom prst="rect">
            <a:avLst/>
          </a:prstGeom>
        </p:spPr>
      </p:pic>
      <p:sp>
        <p:nvSpPr>
          <p:cNvPr id="19" name="Text 129"/>
          <p:cNvSpPr txBox="1"/>
          <p:nvPr/>
        </p:nvSpPr>
        <p:spPr>
          <a:xfrm>
            <a:off x="8183880" y="4617720"/>
            <a:ext cx="3367735" cy="347472"/>
          </a:xfrm>
          <a:prstGeom prst="rect">
            <a:avLst/>
          </a:prstGeom>
          <a:noFill/>
          <a:ln/>
        </p:spPr>
        <p:txBody>
          <a:bodyPr wrap="square" lIns="0" tIns="0" rIns="0" bIns="0" rtlCol="0" anchor="t"/>
          <a:lstStyle/>
          <a:p>
            <a:pPr marL="0" indent="0">
              <a:buNone/>
            </a:pPr>
            <a:r>
              <a:rPr lang="en-US" sz="1800" b="1" dirty="0">
                <a:solidFill>
                  <a:schemeClr val="tx1"/>
                </a:solidFill>
              </a:rPr>
              <a:t>European partnership</a:t>
            </a:r>
            <a:endParaRPr lang="en-US" sz="1800" dirty="0"/>
          </a:p>
        </p:txBody>
      </p:sp>
      <p:sp>
        <p:nvSpPr>
          <p:cNvPr id="20" name="Text 130"/>
          <p:cNvSpPr txBox="1"/>
          <p:nvPr/>
        </p:nvSpPr>
        <p:spPr>
          <a:xfrm>
            <a:off x="8183880" y="4992624"/>
            <a:ext cx="3367735" cy="640080"/>
          </a:xfrm>
          <a:prstGeom prst="rect">
            <a:avLst/>
          </a:prstGeom>
          <a:noFill/>
          <a:ln/>
        </p:spPr>
        <p:txBody>
          <a:bodyPr wrap="square" lIns="0" tIns="0" rIns="0" bIns="0" rtlCol="0" anchor="t"/>
          <a:lstStyle/>
          <a:p>
            <a:pPr marL="0" indent="0">
              <a:buNone/>
            </a:pPr>
            <a:r>
              <a:rPr lang="en-US" sz="1500" dirty="0">
                <a:solidFill>
                  <a:schemeClr val="tx1"/>
                </a:solidFill>
              </a:rPr>
              <a:t>A signed partnership with Optimaze.</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640080" y="502920"/>
            <a:ext cx="9509760" cy="1143000"/>
          </a:xfrm>
          <a:prstGeom prst="rect">
            <a:avLst/>
          </a:prstGeom>
          <a:noFill/>
          <a:ln/>
        </p:spPr>
        <p:txBody>
          <a:bodyPr wrap="square" lIns="0" tIns="0" rIns="0" bIns="0" rtlCol="0" anchor="t"/>
          <a:lstStyle/>
          <a:p>
            <a:pPr marL="0" indent="0" algn="l">
              <a:buNone/>
            </a:pPr>
            <a:r>
              <a:rPr lang="en-US" sz="3400" b="1" dirty="0">
                <a:solidFill>
                  <a:schemeClr val="tx1"/>
                </a:solidFill>
              </a:rPr>
              <a:t>How we start: one use case, four steps</a:t>
            </a:r>
            <a:endParaRPr lang="en-US" sz="3400" dirty="0"/>
          </a:p>
        </p:txBody>
      </p:sp>
      <p:sp>
        <p:nvSpPr>
          <p:cNvPr id="4" name="Card 131"/>
          <p:cNvSpPr/>
          <p:nvPr/>
        </p:nvSpPr>
        <p:spPr>
          <a:xfrm>
            <a:off x="640080" y="1828800"/>
            <a:ext cx="2487854" cy="3017520"/>
          </a:xfrm>
          <a:prstGeom prst="roundRect">
            <a:avLst>
              <a:gd name="adj" fmla="val 5146"/>
            </a:avLst>
          </a:prstGeom>
          <a:solidFill>
            <a:schemeClr val="bg2">
              <a:alpha val="55000"/>
            </a:schemeClr>
          </a:solidFill>
          <a:ln/>
        </p:spPr>
      </p:sp>
      <p:sp>
        <p:nvSpPr>
          <p:cNvPr id="5" name="Number circle 132"/>
          <p:cNvSpPr/>
          <p:nvPr/>
        </p:nvSpPr>
        <p:spPr>
          <a:xfrm>
            <a:off x="914400" y="2103120"/>
            <a:ext cx="548640" cy="548640"/>
          </a:xfrm>
          <a:prstGeom prst="ellipse">
            <a:avLst/>
          </a:prstGeom>
          <a:solidFill>
            <a:schemeClr val="accent1"/>
          </a:solidFill>
          <a:ln/>
        </p:spPr>
      </p:sp>
      <p:sp>
        <p:nvSpPr>
          <p:cNvPr id="6" name="Number 133"/>
          <p:cNvSpPr txBox="1"/>
          <p:nvPr/>
        </p:nvSpPr>
        <p:spPr>
          <a:xfrm>
            <a:off x="914400" y="21031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Icon circle 134"/>
          <p:cNvSpPr/>
          <p:nvPr/>
        </p:nvSpPr>
        <p:spPr>
          <a:xfrm>
            <a:off x="2304974" y="2103120"/>
            <a:ext cx="548640" cy="548640"/>
          </a:xfrm>
          <a:prstGeom prst="ellipse">
            <a:avLst/>
          </a:prstGeom>
          <a:solidFill>
            <a:schemeClr val="accent2"/>
          </a:solidFill>
          <a:ln/>
        </p:spPr>
      </p:sp>
      <p:pic>
        <p:nvPicPr>
          <p:cNvPr id="8" name="Icon 135" descr="preencoded.png"/>
          <p:cNvPicPr>
            <a:picLocks noChangeAspect="1"/>
          </p:cNvPicPr>
          <p:nvPr/>
        </p:nvPicPr>
        <p:blipFill>
          <a:blip r:embed="rId3"/>
          <a:stretch>
            <a:fillRect/>
          </a:stretch>
        </p:blipFill>
        <p:spPr>
          <a:xfrm>
            <a:off x="2453107" y="2251253"/>
            <a:ext cx="252374" cy="252374"/>
          </a:xfrm>
          <a:prstGeom prst="rect">
            <a:avLst/>
          </a:prstGeom>
        </p:spPr>
      </p:pic>
      <p:sp>
        <p:nvSpPr>
          <p:cNvPr id="9" name="Text 136"/>
          <p:cNvSpPr txBox="1"/>
          <p:nvPr/>
        </p:nvSpPr>
        <p:spPr>
          <a:xfrm>
            <a:off x="868680" y="2788920"/>
            <a:ext cx="2030654" cy="411480"/>
          </a:xfrm>
          <a:prstGeom prst="rect">
            <a:avLst/>
          </a:prstGeom>
          <a:noFill/>
          <a:ln/>
        </p:spPr>
        <p:txBody>
          <a:bodyPr wrap="square" lIns="0" tIns="0" rIns="0" bIns="0" rtlCol="0" anchor="t"/>
          <a:lstStyle/>
          <a:p>
            <a:pPr marL="0" indent="0">
              <a:buNone/>
            </a:pPr>
            <a:r>
              <a:rPr lang="en-US" sz="2000" b="1" dirty="0">
                <a:solidFill>
                  <a:schemeClr val="tx1"/>
                </a:solidFill>
              </a:rPr>
              <a:t>Discover</a:t>
            </a:r>
            <a:endParaRPr lang="en-US" sz="2000" dirty="0"/>
          </a:p>
        </p:txBody>
      </p:sp>
      <p:sp>
        <p:nvSpPr>
          <p:cNvPr id="10" name="Text 137"/>
          <p:cNvSpPr txBox="1"/>
          <p:nvPr/>
        </p:nvSpPr>
        <p:spPr>
          <a:xfrm>
            <a:off x="868680" y="3246120"/>
            <a:ext cx="2030654" cy="1508760"/>
          </a:xfrm>
          <a:prstGeom prst="rect">
            <a:avLst/>
          </a:prstGeom>
          <a:noFill/>
          <a:ln/>
        </p:spPr>
        <p:txBody>
          <a:bodyPr wrap="square" lIns="0" tIns="0" rIns="0" bIns="0" rtlCol="0" anchor="t"/>
          <a:lstStyle/>
          <a:p>
            <a:pPr marL="0" indent="0">
              <a:buNone/>
            </a:pPr>
            <a:r>
              <a:rPr lang="en-US" sz="1600" dirty="0">
                <a:solidFill>
                  <a:schemeClr val="tx1"/>
                </a:solidFill>
              </a:rPr>
              <a:t>Pick one use case. Check the data and the risks.</a:t>
            </a:r>
            <a:endParaRPr lang="en-US" sz="1600" dirty="0"/>
          </a:p>
        </p:txBody>
      </p:sp>
      <p:sp>
        <p:nvSpPr>
          <p:cNvPr id="11" name="Card 138"/>
          <p:cNvSpPr/>
          <p:nvPr/>
        </p:nvSpPr>
        <p:spPr>
          <a:xfrm>
            <a:off x="3447974" y="1828800"/>
            <a:ext cx="2487854" cy="3017520"/>
          </a:xfrm>
          <a:prstGeom prst="roundRect">
            <a:avLst>
              <a:gd name="adj" fmla="val 5146"/>
            </a:avLst>
          </a:prstGeom>
          <a:solidFill>
            <a:schemeClr val="bg2">
              <a:alpha val="55000"/>
            </a:schemeClr>
          </a:solidFill>
          <a:ln/>
        </p:spPr>
      </p:sp>
      <p:sp>
        <p:nvSpPr>
          <p:cNvPr id="12" name="Number circle 139"/>
          <p:cNvSpPr/>
          <p:nvPr/>
        </p:nvSpPr>
        <p:spPr>
          <a:xfrm>
            <a:off x="3722294" y="2103120"/>
            <a:ext cx="548640" cy="548640"/>
          </a:xfrm>
          <a:prstGeom prst="ellipse">
            <a:avLst/>
          </a:prstGeom>
          <a:solidFill>
            <a:schemeClr val="accent1"/>
          </a:solidFill>
          <a:ln/>
        </p:spPr>
      </p:sp>
      <p:sp>
        <p:nvSpPr>
          <p:cNvPr id="13" name="Number 140"/>
          <p:cNvSpPr txBox="1"/>
          <p:nvPr/>
        </p:nvSpPr>
        <p:spPr>
          <a:xfrm>
            <a:off x="3722294" y="21031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4" name="Icon circle 141"/>
          <p:cNvSpPr/>
          <p:nvPr/>
        </p:nvSpPr>
        <p:spPr>
          <a:xfrm>
            <a:off x="5112868" y="2103120"/>
            <a:ext cx="548640" cy="548640"/>
          </a:xfrm>
          <a:prstGeom prst="ellipse">
            <a:avLst/>
          </a:prstGeom>
          <a:solidFill>
            <a:schemeClr val="accent2"/>
          </a:solidFill>
          <a:ln/>
        </p:spPr>
      </p:sp>
      <p:pic>
        <p:nvPicPr>
          <p:cNvPr id="15" name="Icon 142" descr="preencoded.png"/>
          <p:cNvPicPr>
            <a:picLocks noChangeAspect="1"/>
          </p:cNvPicPr>
          <p:nvPr/>
        </p:nvPicPr>
        <p:blipFill>
          <a:blip r:embed="rId4"/>
          <a:stretch>
            <a:fillRect/>
          </a:stretch>
        </p:blipFill>
        <p:spPr>
          <a:xfrm>
            <a:off x="5261000" y="2251253"/>
            <a:ext cx="252374" cy="252374"/>
          </a:xfrm>
          <a:prstGeom prst="rect">
            <a:avLst/>
          </a:prstGeom>
        </p:spPr>
      </p:pic>
      <p:sp>
        <p:nvSpPr>
          <p:cNvPr id="16" name="Text 143"/>
          <p:cNvSpPr txBox="1"/>
          <p:nvPr/>
        </p:nvSpPr>
        <p:spPr>
          <a:xfrm>
            <a:off x="3676574" y="2788920"/>
            <a:ext cx="2030654" cy="411480"/>
          </a:xfrm>
          <a:prstGeom prst="rect">
            <a:avLst/>
          </a:prstGeom>
          <a:noFill/>
          <a:ln/>
        </p:spPr>
        <p:txBody>
          <a:bodyPr wrap="square" lIns="0" tIns="0" rIns="0" bIns="0" rtlCol="0" anchor="t"/>
          <a:lstStyle/>
          <a:p>
            <a:pPr marL="0" indent="0">
              <a:buNone/>
            </a:pPr>
            <a:r>
              <a:rPr lang="en-US" sz="2000" b="1" dirty="0">
                <a:solidFill>
                  <a:schemeClr val="tx1"/>
                </a:solidFill>
              </a:rPr>
              <a:t>Build</a:t>
            </a:r>
            <a:endParaRPr lang="en-US" sz="2000" dirty="0"/>
          </a:p>
        </p:txBody>
      </p:sp>
      <p:sp>
        <p:nvSpPr>
          <p:cNvPr id="17" name="Text 144"/>
          <p:cNvSpPr txBox="1"/>
          <p:nvPr/>
        </p:nvSpPr>
        <p:spPr>
          <a:xfrm>
            <a:off x="3676574" y="3246120"/>
            <a:ext cx="2030654" cy="1508760"/>
          </a:xfrm>
          <a:prstGeom prst="rect">
            <a:avLst/>
          </a:prstGeom>
          <a:noFill/>
          <a:ln/>
        </p:spPr>
        <p:txBody>
          <a:bodyPr wrap="square" lIns="0" tIns="0" rIns="0" bIns="0" rtlCol="0" anchor="t"/>
          <a:lstStyle/>
          <a:p>
            <a:pPr marL="0" indent="0">
              <a:buNone/>
            </a:pPr>
            <a:r>
              <a:rPr lang="en-US" sz="1600" dirty="0">
                <a:solidFill>
                  <a:schemeClr val="tx1"/>
                </a:solidFill>
              </a:rPr>
              <a:t>Deliver a working agent with guardrails.</a:t>
            </a:r>
            <a:endParaRPr lang="en-US" sz="1600" dirty="0"/>
          </a:p>
        </p:txBody>
      </p:sp>
      <p:sp>
        <p:nvSpPr>
          <p:cNvPr id="18" name="Card 145"/>
          <p:cNvSpPr/>
          <p:nvPr/>
        </p:nvSpPr>
        <p:spPr>
          <a:xfrm>
            <a:off x="6255868" y="1828800"/>
            <a:ext cx="2487854" cy="3017520"/>
          </a:xfrm>
          <a:prstGeom prst="roundRect">
            <a:avLst>
              <a:gd name="adj" fmla="val 5146"/>
            </a:avLst>
          </a:prstGeom>
          <a:solidFill>
            <a:schemeClr val="bg2">
              <a:alpha val="55000"/>
            </a:schemeClr>
          </a:solidFill>
          <a:ln/>
        </p:spPr>
      </p:sp>
      <p:sp>
        <p:nvSpPr>
          <p:cNvPr id="19" name="Number circle 146"/>
          <p:cNvSpPr/>
          <p:nvPr/>
        </p:nvSpPr>
        <p:spPr>
          <a:xfrm>
            <a:off x="6530188" y="2103120"/>
            <a:ext cx="548640" cy="548640"/>
          </a:xfrm>
          <a:prstGeom prst="ellipse">
            <a:avLst/>
          </a:prstGeom>
          <a:solidFill>
            <a:schemeClr val="accent1"/>
          </a:solidFill>
          <a:ln/>
        </p:spPr>
      </p:sp>
      <p:sp>
        <p:nvSpPr>
          <p:cNvPr id="20" name="Number 147"/>
          <p:cNvSpPr txBox="1"/>
          <p:nvPr/>
        </p:nvSpPr>
        <p:spPr>
          <a:xfrm>
            <a:off x="6530188" y="21031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21" name="Icon circle 148"/>
          <p:cNvSpPr/>
          <p:nvPr/>
        </p:nvSpPr>
        <p:spPr>
          <a:xfrm>
            <a:off x="7920761" y="2103120"/>
            <a:ext cx="548640" cy="548640"/>
          </a:xfrm>
          <a:prstGeom prst="ellipse">
            <a:avLst/>
          </a:prstGeom>
          <a:solidFill>
            <a:schemeClr val="accent2"/>
          </a:solidFill>
          <a:ln/>
        </p:spPr>
      </p:sp>
      <p:pic>
        <p:nvPicPr>
          <p:cNvPr id="22" name="Icon 149" descr="preencoded.png"/>
          <p:cNvPicPr>
            <a:picLocks noChangeAspect="1"/>
          </p:cNvPicPr>
          <p:nvPr/>
        </p:nvPicPr>
        <p:blipFill>
          <a:blip r:embed="rId5"/>
          <a:stretch>
            <a:fillRect/>
          </a:stretch>
        </p:blipFill>
        <p:spPr>
          <a:xfrm>
            <a:off x="8068894" y="2251253"/>
            <a:ext cx="252374" cy="252374"/>
          </a:xfrm>
          <a:prstGeom prst="rect">
            <a:avLst/>
          </a:prstGeom>
        </p:spPr>
      </p:pic>
      <p:sp>
        <p:nvSpPr>
          <p:cNvPr id="23" name="Text 150"/>
          <p:cNvSpPr txBox="1"/>
          <p:nvPr/>
        </p:nvSpPr>
        <p:spPr>
          <a:xfrm>
            <a:off x="6484468" y="2788920"/>
            <a:ext cx="2030654" cy="411480"/>
          </a:xfrm>
          <a:prstGeom prst="rect">
            <a:avLst/>
          </a:prstGeom>
          <a:noFill/>
          <a:ln/>
        </p:spPr>
        <p:txBody>
          <a:bodyPr wrap="square" lIns="0" tIns="0" rIns="0" bIns="0" rtlCol="0" anchor="t"/>
          <a:lstStyle/>
          <a:p>
            <a:pPr marL="0" indent="0">
              <a:buNone/>
            </a:pPr>
            <a:r>
              <a:rPr lang="en-US" sz="2000" b="1" dirty="0">
                <a:solidFill>
                  <a:schemeClr val="tx1"/>
                </a:solidFill>
              </a:rPr>
              <a:t>Test</a:t>
            </a:r>
            <a:endParaRPr lang="en-US" sz="2000" dirty="0"/>
          </a:p>
        </p:txBody>
      </p:sp>
      <p:sp>
        <p:nvSpPr>
          <p:cNvPr id="24" name="Text 151"/>
          <p:cNvSpPr txBox="1"/>
          <p:nvPr/>
        </p:nvSpPr>
        <p:spPr>
          <a:xfrm>
            <a:off x="6484468" y="3246120"/>
            <a:ext cx="2030654" cy="1508760"/>
          </a:xfrm>
          <a:prstGeom prst="rect">
            <a:avLst/>
          </a:prstGeom>
          <a:noFill/>
          <a:ln/>
        </p:spPr>
        <p:txBody>
          <a:bodyPr wrap="square" lIns="0" tIns="0" rIns="0" bIns="0" rtlCol="0" anchor="t"/>
          <a:lstStyle/>
          <a:p>
            <a:pPr marL="0" indent="0">
              <a:buNone/>
            </a:pPr>
            <a:r>
              <a:rPr lang="en-US" sz="1600" dirty="0">
                <a:solidFill>
                  <a:schemeClr val="tx1"/>
                </a:solidFill>
              </a:rPr>
              <a:t>Red team it and audit it before launch.</a:t>
            </a:r>
            <a:endParaRPr lang="en-US" sz="1600" dirty="0"/>
          </a:p>
        </p:txBody>
      </p:sp>
      <p:sp>
        <p:nvSpPr>
          <p:cNvPr id="25" name="Card 152"/>
          <p:cNvSpPr/>
          <p:nvPr/>
        </p:nvSpPr>
        <p:spPr>
          <a:xfrm>
            <a:off x="9063761" y="1828800"/>
            <a:ext cx="2487854" cy="3017520"/>
          </a:xfrm>
          <a:prstGeom prst="roundRect">
            <a:avLst>
              <a:gd name="adj" fmla="val 5146"/>
            </a:avLst>
          </a:prstGeom>
          <a:solidFill>
            <a:schemeClr val="bg2">
              <a:alpha val="55000"/>
            </a:schemeClr>
          </a:solidFill>
          <a:ln/>
        </p:spPr>
      </p:sp>
      <p:sp>
        <p:nvSpPr>
          <p:cNvPr id="26" name="Number circle 153"/>
          <p:cNvSpPr/>
          <p:nvPr/>
        </p:nvSpPr>
        <p:spPr>
          <a:xfrm>
            <a:off x="9338081" y="2103120"/>
            <a:ext cx="548640" cy="548640"/>
          </a:xfrm>
          <a:prstGeom prst="ellipse">
            <a:avLst/>
          </a:prstGeom>
          <a:solidFill>
            <a:schemeClr val="accent1"/>
          </a:solidFill>
          <a:ln/>
        </p:spPr>
      </p:sp>
      <p:sp>
        <p:nvSpPr>
          <p:cNvPr id="27" name="Number 154"/>
          <p:cNvSpPr txBox="1"/>
          <p:nvPr/>
        </p:nvSpPr>
        <p:spPr>
          <a:xfrm>
            <a:off x="9338081" y="21031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8" name="Icon circle 155"/>
          <p:cNvSpPr/>
          <p:nvPr/>
        </p:nvSpPr>
        <p:spPr>
          <a:xfrm>
            <a:off x="10728655" y="2103120"/>
            <a:ext cx="548640" cy="548640"/>
          </a:xfrm>
          <a:prstGeom prst="ellipse">
            <a:avLst/>
          </a:prstGeom>
          <a:solidFill>
            <a:schemeClr val="accent2"/>
          </a:solidFill>
          <a:ln/>
        </p:spPr>
      </p:sp>
      <p:pic>
        <p:nvPicPr>
          <p:cNvPr id="29" name="Icon 156" descr="preencoded.png"/>
          <p:cNvPicPr>
            <a:picLocks noChangeAspect="1"/>
          </p:cNvPicPr>
          <p:nvPr/>
        </p:nvPicPr>
        <p:blipFill>
          <a:blip r:embed="rId6"/>
          <a:stretch>
            <a:fillRect/>
          </a:stretch>
        </p:blipFill>
        <p:spPr>
          <a:xfrm>
            <a:off x="10876788" y="2251253"/>
            <a:ext cx="252374" cy="252374"/>
          </a:xfrm>
          <a:prstGeom prst="rect">
            <a:avLst/>
          </a:prstGeom>
        </p:spPr>
      </p:pic>
      <p:sp>
        <p:nvSpPr>
          <p:cNvPr id="30" name="Text 157"/>
          <p:cNvSpPr txBox="1"/>
          <p:nvPr/>
        </p:nvSpPr>
        <p:spPr>
          <a:xfrm>
            <a:off x="9292361" y="2788920"/>
            <a:ext cx="2030654" cy="411480"/>
          </a:xfrm>
          <a:prstGeom prst="rect">
            <a:avLst/>
          </a:prstGeom>
          <a:noFill/>
          <a:ln/>
        </p:spPr>
        <p:txBody>
          <a:bodyPr wrap="square" lIns="0" tIns="0" rIns="0" bIns="0" rtlCol="0" anchor="t"/>
          <a:lstStyle/>
          <a:p>
            <a:pPr marL="0" indent="0">
              <a:buNone/>
            </a:pPr>
            <a:r>
              <a:rPr lang="en-US" sz="2000" b="1" dirty="0">
                <a:solidFill>
                  <a:schemeClr val="tx1"/>
                </a:solidFill>
              </a:rPr>
              <a:t>Hand over</a:t>
            </a:r>
            <a:endParaRPr lang="en-US" sz="2000" dirty="0"/>
          </a:p>
        </p:txBody>
      </p:sp>
      <p:sp>
        <p:nvSpPr>
          <p:cNvPr id="31" name="Text 158"/>
          <p:cNvSpPr txBox="1"/>
          <p:nvPr/>
        </p:nvSpPr>
        <p:spPr>
          <a:xfrm>
            <a:off x="9292361" y="3246120"/>
            <a:ext cx="2030654" cy="1508760"/>
          </a:xfrm>
          <a:prstGeom prst="rect">
            <a:avLst/>
          </a:prstGeom>
          <a:noFill/>
          <a:ln/>
        </p:spPr>
        <p:txBody>
          <a:bodyPr wrap="square" lIns="0" tIns="0" rIns="0" bIns="0" rtlCol="0" anchor="t"/>
          <a:lstStyle/>
          <a:p>
            <a:pPr marL="0" indent="0">
              <a:buNone/>
            </a:pPr>
            <a:r>
              <a:rPr lang="en-US" sz="1600" dirty="0">
                <a:solidFill>
                  <a:schemeClr val="tx1"/>
                </a:solidFill>
              </a:rPr>
              <a:t>Train your team. Leave the records with you.</a:t>
            </a:r>
            <a:endParaRPr lang="en-US" sz="1600" dirty="0"/>
          </a:p>
        </p:txBody>
      </p:sp>
      <p:sp>
        <p:nvSpPr>
          <p:cNvPr id="32" name="Card 159"/>
          <p:cNvSpPr/>
          <p:nvPr/>
        </p:nvSpPr>
        <p:spPr>
          <a:xfrm>
            <a:off x="640080" y="5120640"/>
            <a:ext cx="10911535" cy="914400"/>
          </a:xfrm>
          <a:prstGeom prst="roundRect">
            <a:avLst>
              <a:gd name="adj" fmla="val 14000"/>
            </a:avLst>
          </a:prstGeom>
          <a:solidFill>
            <a:schemeClr val="tx1"/>
          </a:solidFill>
          <a:ln/>
        </p:spPr>
      </p:sp>
      <p:sp>
        <p:nvSpPr>
          <p:cNvPr id="33" name="Text 160"/>
          <p:cNvSpPr txBox="1"/>
          <p:nvPr/>
        </p:nvSpPr>
        <p:spPr>
          <a:xfrm>
            <a:off x="1005840" y="5120640"/>
            <a:ext cx="10180015" cy="914400"/>
          </a:xfrm>
          <a:prstGeom prst="rect">
            <a:avLst/>
          </a:prstGeom>
          <a:noFill/>
          <a:ln/>
        </p:spPr>
        <p:txBody>
          <a:bodyPr wrap="square" lIns="0" tIns="0" rIns="0" bIns="0" rtlCol="0" anchor="ctr"/>
          <a:lstStyle/>
          <a:p>
            <a:pPr marL="0" indent="0">
              <a:buNone/>
            </a:pPr>
            <a:r>
              <a:rPr lang="en-US" sz="2200" b="1" dirty="0">
                <a:solidFill>
                  <a:schemeClr val="bg1"/>
                </a:solidFill>
              </a:rPr>
              <a:t>Each step has a fixed scope and a named xLoop lead.</a:t>
            </a:r>
            <a:endParaRPr lang="en-US" sz="2200" dirty="0"/>
          </a:p>
        </p:txBody>
      </p:sp>
      <p:sp>
        <p:nvSpPr>
          <p:cNvPr id="3"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640080" y="502920"/>
            <a:ext cx="9509760" cy="1143000"/>
          </a:xfrm>
          <a:prstGeom prst="rect">
            <a:avLst/>
          </a:prstGeom>
          <a:noFill/>
          <a:ln/>
        </p:spPr>
        <p:txBody>
          <a:bodyPr wrap="square" lIns="0" tIns="0" rIns="0" bIns="0" rtlCol="0" anchor="t"/>
          <a:lstStyle/>
          <a:p>
            <a:pPr marL="0" indent="0" algn="l">
              <a:buNone/>
            </a:pPr>
            <a:r>
              <a:rPr lang="en-US" sz="3400" b="1" dirty="0">
                <a:solidFill>
                  <a:schemeClr val="tx1"/>
                </a:solidFill>
              </a:rPr>
              <a:t>Why xLoop</a:t>
            </a:r>
            <a:endParaRPr lang="en-US" sz="3400" dirty="0"/>
          </a:p>
        </p:txBody>
      </p:sp>
      <p:sp>
        <p:nvSpPr>
          <p:cNvPr id="4" name="Card 161"/>
          <p:cNvSpPr/>
          <p:nvPr/>
        </p:nvSpPr>
        <p:spPr>
          <a:xfrm>
            <a:off x="640080" y="1828800"/>
            <a:ext cx="2148840" cy="1920240"/>
          </a:xfrm>
          <a:prstGeom prst="roundRect">
            <a:avLst>
              <a:gd name="adj" fmla="val 6667"/>
            </a:avLst>
          </a:prstGeom>
          <a:solidFill>
            <a:schemeClr val="bg2">
              <a:alpha val="55000"/>
            </a:schemeClr>
          </a:solidFill>
          <a:ln/>
        </p:spPr>
      </p:sp>
      <p:sp>
        <p:nvSpPr>
          <p:cNvPr id="5" name="Text 162"/>
          <p:cNvSpPr txBox="1"/>
          <p:nvPr/>
        </p:nvSpPr>
        <p:spPr>
          <a:xfrm>
            <a:off x="731520" y="2011680"/>
            <a:ext cx="1965960" cy="914400"/>
          </a:xfrm>
          <a:prstGeom prst="rect">
            <a:avLst/>
          </a:prstGeom>
          <a:noFill/>
          <a:ln/>
        </p:spPr>
        <p:txBody>
          <a:bodyPr wrap="square" lIns="0" tIns="0" rIns="0" bIns="0" rtlCol="0" anchor="ctr"/>
          <a:lstStyle/>
          <a:p>
            <a:pPr marL="0" indent="0" algn="ctr">
              <a:buNone/>
            </a:pPr>
            <a:r>
              <a:rPr lang="en-US" sz="4800" b="1" dirty="0">
                <a:solidFill>
                  <a:schemeClr val="accent1"/>
                </a:solidFill>
              </a:rPr>
              <a:t>90</a:t>
            </a:r>
            <a:endParaRPr lang="en-US" sz="4800" dirty="0"/>
          </a:p>
        </p:txBody>
      </p:sp>
      <p:sp>
        <p:nvSpPr>
          <p:cNvPr id="6" name="Text 163"/>
          <p:cNvSpPr txBox="1"/>
          <p:nvPr/>
        </p:nvSpPr>
        <p:spPr>
          <a:xfrm>
            <a:off x="731520" y="3017520"/>
            <a:ext cx="1965960" cy="457200"/>
          </a:xfrm>
          <a:prstGeom prst="rect">
            <a:avLst/>
          </a:prstGeom>
          <a:noFill/>
          <a:ln/>
        </p:spPr>
        <p:txBody>
          <a:bodyPr wrap="square" lIns="0" tIns="0" rIns="0" bIns="0" rtlCol="0" anchor="t"/>
          <a:lstStyle/>
          <a:p>
            <a:pPr marL="0" indent="0" algn="ctr">
              <a:buNone/>
            </a:pPr>
            <a:r>
              <a:rPr lang="en-US" sz="1700" dirty="0">
                <a:solidFill>
                  <a:schemeClr val="tx1"/>
                </a:solidFill>
              </a:rPr>
              <a:t>people</a:t>
            </a:r>
            <a:endParaRPr lang="en-US" sz="1700" dirty="0"/>
          </a:p>
        </p:txBody>
      </p:sp>
      <p:sp>
        <p:nvSpPr>
          <p:cNvPr id="7" name="Card 164"/>
          <p:cNvSpPr/>
          <p:nvPr/>
        </p:nvSpPr>
        <p:spPr>
          <a:xfrm>
            <a:off x="3017520" y="1828800"/>
            <a:ext cx="2148840" cy="1920240"/>
          </a:xfrm>
          <a:prstGeom prst="roundRect">
            <a:avLst>
              <a:gd name="adj" fmla="val 6667"/>
            </a:avLst>
          </a:prstGeom>
          <a:solidFill>
            <a:schemeClr val="bg2">
              <a:alpha val="55000"/>
            </a:schemeClr>
          </a:solidFill>
          <a:ln/>
        </p:spPr>
      </p:sp>
      <p:sp>
        <p:nvSpPr>
          <p:cNvPr id="8" name="Text 165"/>
          <p:cNvSpPr txBox="1"/>
          <p:nvPr/>
        </p:nvSpPr>
        <p:spPr>
          <a:xfrm>
            <a:off x="3108960" y="2011680"/>
            <a:ext cx="1965960" cy="914400"/>
          </a:xfrm>
          <a:prstGeom prst="rect">
            <a:avLst/>
          </a:prstGeom>
          <a:noFill/>
          <a:ln/>
        </p:spPr>
        <p:txBody>
          <a:bodyPr wrap="square" lIns="0" tIns="0" rIns="0" bIns="0" rtlCol="0" anchor="ctr"/>
          <a:lstStyle/>
          <a:p>
            <a:pPr marL="0" indent="0" algn="ctr">
              <a:buNone/>
            </a:pPr>
            <a:r>
              <a:rPr lang="en-US" sz="4800" b="1" dirty="0">
                <a:solidFill>
                  <a:schemeClr val="accent1"/>
                </a:solidFill>
              </a:rPr>
              <a:t>2022</a:t>
            </a:r>
            <a:endParaRPr lang="en-US" sz="4800" dirty="0"/>
          </a:p>
        </p:txBody>
      </p:sp>
      <p:sp>
        <p:nvSpPr>
          <p:cNvPr id="9" name="Text 166"/>
          <p:cNvSpPr txBox="1"/>
          <p:nvPr/>
        </p:nvSpPr>
        <p:spPr>
          <a:xfrm>
            <a:off x="3108960" y="3017520"/>
            <a:ext cx="1965960" cy="457200"/>
          </a:xfrm>
          <a:prstGeom prst="rect">
            <a:avLst/>
          </a:prstGeom>
          <a:noFill/>
          <a:ln/>
        </p:spPr>
        <p:txBody>
          <a:bodyPr wrap="square" lIns="0" tIns="0" rIns="0" bIns="0" rtlCol="0" anchor="t"/>
          <a:lstStyle/>
          <a:p>
            <a:pPr marL="0" indent="0" algn="ctr">
              <a:buNone/>
            </a:pPr>
            <a:r>
              <a:rPr lang="en-US" sz="1700" dirty="0">
                <a:solidFill>
                  <a:schemeClr val="tx1"/>
                </a:solidFill>
              </a:rPr>
              <a:t>founded</a:t>
            </a:r>
            <a:endParaRPr lang="en-US" sz="1700" dirty="0"/>
          </a:p>
        </p:txBody>
      </p:sp>
      <p:sp>
        <p:nvSpPr>
          <p:cNvPr id="10" name="Card 167"/>
          <p:cNvSpPr/>
          <p:nvPr/>
        </p:nvSpPr>
        <p:spPr>
          <a:xfrm>
            <a:off x="5394960" y="1828800"/>
            <a:ext cx="2148840" cy="1920240"/>
          </a:xfrm>
          <a:prstGeom prst="roundRect">
            <a:avLst>
              <a:gd name="adj" fmla="val 6667"/>
            </a:avLst>
          </a:prstGeom>
          <a:solidFill>
            <a:schemeClr val="bg2">
              <a:alpha val="55000"/>
            </a:schemeClr>
          </a:solidFill>
          <a:ln/>
        </p:spPr>
      </p:sp>
      <p:sp>
        <p:nvSpPr>
          <p:cNvPr id="11" name="Text 168"/>
          <p:cNvSpPr txBox="1"/>
          <p:nvPr/>
        </p:nvSpPr>
        <p:spPr>
          <a:xfrm>
            <a:off x="5486400" y="2011680"/>
            <a:ext cx="1965960" cy="914400"/>
          </a:xfrm>
          <a:prstGeom prst="rect">
            <a:avLst/>
          </a:prstGeom>
          <a:noFill/>
          <a:ln/>
        </p:spPr>
        <p:txBody>
          <a:bodyPr wrap="square" lIns="0" tIns="0" rIns="0" bIns="0" rtlCol="0" anchor="ctr"/>
          <a:lstStyle/>
          <a:p>
            <a:pPr marL="0" indent="0" algn="ctr">
              <a:buNone/>
            </a:pPr>
            <a:r>
              <a:rPr lang="en-US" sz="4800" b="1" dirty="0">
                <a:solidFill>
                  <a:schemeClr val="accent1"/>
                </a:solidFill>
              </a:rPr>
              <a:t>4</a:t>
            </a:r>
            <a:endParaRPr lang="en-US" sz="4800" dirty="0"/>
          </a:p>
        </p:txBody>
      </p:sp>
      <p:sp>
        <p:nvSpPr>
          <p:cNvPr id="12" name="Text 169"/>
          <p:cNvSpPr txBox="1"/>
          <p:nvPr/>
        </p:nvSpPr>
        <p:spPr>
          <a:xfrm>
            <a:off x="5486400" y="3017520"/>
            <a:ext cx="1965960" cy="457200"/>
          </a:xfrm>
          <a:prstGeom prst="rect">
            <a:avLst/>
          </a:prstGeom>
          <a:noFill/>
          <a:ln/>
        </p:spPr>
        <p:txBody>
          <a:bodyPr wrap="square" lIns="0" tIns="0" rIns="0" bIns="0" rtlCol="0" anchor="t"/>
          <a:lstStyle/>
          <a:p>
            <a:pPr marL="0" indent="0" algn="ctr">
              <a:buNone/>
            </a:pPr>
            <a:r>
              <a:rPr lang="en-US" sz="1700" dirty="0">
                <a:solidFill>
                  <a:schemeClr val="tx1"/>
                </a:solidFill>
              </a:rPr>
              <a:t>offices</a:t>
            </a:r>
            <a:endParaRPr lang="en-US" sz="1700" dirty="0"/>
          </a:p>
        </p:txBody>
      </p:sp>
      <p:sp>
        <p:nvSpPr>
          <p:cNvPr id="13" name="Text 170"/>
          <p:cNvSpPr txBox="1"/>
          <p:nvPr/>
        </p:nvSpPr>
        <p:spPr>
          <a:xfrm>
            <a:off x="640080" y="3977640"/>
            <a:ext cx="6903720" cy="731520"/>
          </a:xfrm>
          <a:prstGeom prst="rect">
            <a:avLst/>
          </a:prstGeom>
          <a:noFill/>
          <a:ln/>
        </p:spPr>
        <p:txBody>
          <a:bodyPr wrap="square" lIns="0" tIns="0" rIns="0" bIns="0" rtlCol="0" anchor="t"/>
          <a:lstStyle/>
          <a:p>
            <a:pPr marL="0" indent="0">
              <a:buNone/>
            </a:pPr>
            <a:r>
              <a:rPr lang="en-US" sz="1700" dirty="0">
                <a:solidFill>
                  <a:schemeClr val="tx1"/>
                </a:solidFill>
              </a:rPr>
              <a:t>San Mateo, Dubai, Doha and Karachi, with team members in Europe.</a:t>
            </a:r>
            <a:endParaRPr lang="en-US" sz="1700" dirty="0"/>
          </a:p>
        </p:txBody>
      </p:sp>
      <p:sp>
        <p:nvSpPr>
          <p:cNvPr id="14" name="Card 171"/>
          <p:cNvSpPr/>
          <p:nvPr/>
        </p:nvSpPr>
        <p:spPr>
          <a:xfrm>
            <a:off x="640080" y="4846320"/>
            <a:ext cx="6903720" cy="1188720"/>
          </a:xfrm>
          <a:prstGeom prst="roundRect">
            <a:avLst>
              <a:gd name="adj" fmla="val 10769"/>
            </a:avLst>
          </a:prstGeom>
          <a:solidFill>
            <a:schemeClr val="bg2">
              <a:alpha val="55000"/>
            </a:schemeClr>
          </a:solidFill>
          <a:ln/>
        </p:spPr>
      </p:sp>
      <p:sp>
        <p:nvSpPr>
          <p:cNvPr id="15" name="Text 172"/>
          <p:cNvSpPr txBox="1"/>
          <p:nvPr/>
        </p:nvSpPr>
        <p:spPr>
          <a:xfrm>
            <a:off x="960120" y="4983480"/>
            <a:ext cx="6217920" cy="274320"/>
          </a:xfrm>
          <a:prstGeom prst="rect">
            <a:avLst/>
          </a:prstGeom>
          <a:noFill/>
          <a:ln/>
        </p:spPr>
        <p:txBody>
          <a:bodyPr wrap="square" lIns="0" tIns="0" rIns="0" bIns="0" rtlCol="0" anchor="t"/>
          <a:lstStyle/>
          <a:p>
            <a:pPr marL="0" indent="0">
              <a:buNone/>
            </a:pPr>
            <a:r>
              <a:rPr lang="en-US" sz="1200" b="1" kern="0" spc="100" dirty="0">
                <a:solidFill>
                  <a:schemeClr val="accent5"/>
                </a:solidFill>
              </a:rPr>
              <a:t>TECHNOLOGY PARTNERS</a:t>
            </a:r>
            <a:endParaRPr lang="en-US" sz="1200" dirty="0"/>
          </a:p>
        </p:txBody>
      </p:sp>
      <p:sp>
        <p:nvSpPr>
          <p:cNvPr id="16" name="Text 173"/>
          <p:cNvSpPr txBox="1"/>
          <p:nvPr/>
        </p:nvSpPr>
        <p:spPr>
          <a:xfrm>
            <a:off x="960120" y="5303520"/>
            <a:ext cx="6263640" cy="548640"/>
          </a:xfrm>
          <a:prstGeom prst="rect">
            <a:avLst/>
          </a:prstGeom>
          <a:noFill/>
          <a:ln/>
        </p:spPr>
        <p:txBody>
          <a:bodyPr wrap="square" lIns="0" tIns="0" rIns="0" bIns="0" rtlCol="0" anchor="ctr"/>
          <a:lstStyle/>
          <a:p>
            <a:pPr marL="0" indent="0">
              <a:buNone/>
            </a:pPr>
            <a:r>
              <a:rPr lang="en-US" sz="1600" b="1" dirty="0">
                <a:solidFill>
                  <a:schemeClr val="tx1"/>
                </a:solidFill>
              </a:rPr>
              <a:t>AWS, Microsoft, Snowflake, Databricks, Salesforce</a:t>
            </a:r>
            <a:endParaRPr lang="en-US" sz="1600" dirty="0"/>
          </a:p>
        </p:txBody>
      </p:sp>
      <p:sp>
        <p:nvSpPr>
          <p:cNvPr id="17" name="Card 174"/>
          <p:cNvSpPr/>
          <p:nvPr/>
        </p:nvSpPr>
        <p:spPr>
          <a:xfrm>
            <a:off x="7955280" y="1828800"/>
            <a:ext cx="3596335" cy="4206240"/>
          </a:xfrm>
          <a:prstGeom prst="roundRect">
            <a:avLst>
              <a:gd name="adj" fmla="val 3560"/>
            </a:avLst>
          </a:prstGeom>
          <a:solidFill>
            <a:schemeClr val="tx1"/>
          </a:solidFill>
          <a:ln/>
        </p:spPr>
      </p:sp>
      <p:sp>
        <p:nvSpPr>
          <p:cNvPr id="18" name="Icon circle 175"/>
          <p:cNvSpPr/>
          <p:nvPr/>
        </p:nvSpPr>
        <p:spPr>
          <a:xfrm>
            <a:off x="8321040" y="2148840"/>
            <a:ext cx="731520" cy="731520"/>
          </a:xfrm>
          <a:prstGeom prst="ellipse">
            <a:avLst/>
          </a:prstGeom>
          <a:solidFill>
            <a:schemeClr val="accent2"/>
          </a:solidFill>
          <a:ln/>
        </p:spPr>
      </p:sp>
      <p:pic>
        <p:nvPicPr>
          <p:cNvPr id="19" name="Icon 176" descr="preencoded.png"/>
          <p:cNvPicPr>
            <a:picLocks noChangeAspect="1"/>
          </p:cNvPicPr>
          <p:nvPr/>
        </p:nvPicPr>
        <p:blipFill>
          <a:blip r:embed="rId3"/>
          <a:stretch>
            <a:fillRect/>
          </a:stretch>
        </p:blipFill>
        <p:spPr>
          <a:xfrm>
            <a:off x="8518550" y="2346350"/>
            <a:ext cx="336499" cy="336499"/>
          </a:xfrm>
          <a:prstGeom prst="rect">
            <a:avLst/>
          </a:prstGeom>
        </p:spPr>
      </p:pic>
      <p:sp>
        <p:nvSpPr>
          <p:cNvPr id="20" name="Text 177"/>
          <p:cNvSpPr txBox="1"/>
          <p:nvPr/>
        </p:nvSpPr>
        <p:spPr>
          <a:xfrm>
            <a:off x="8321040" y="3108960"/>
            <a:ext cx="2864815" cy="457200"/>
          </a:xfrm>
          <a:prstGeom prst="rect">
            <a:avLst/>
          </a:prstGeom>
          <a:noFill/>
          <a:ln/>
        </p:spPr>
        <p:txBody>
          <a:bodyPr wrap="square" lIns="0" tIns="0" rIns="0" bIns="0" rtlCol="0" anchor="t"/>
          <a:lstStyle/>
          <a:p>
            <a:pPr marL="0" indent="0">
              <a:buNone/>
            </a:pPr>
            <a:r>
              <a:rPr lang="en-US" sz="2200" b="1" dirty="0">
                <a:solidFill>
                  <a:schemeClr val="bg1"/>
                </a:solidFill>
              </a:rPr>
              <a:t>An AI native team</a:t>
            </a:r>
            <a:endParaRPr lang="en-US" sz="2200" dirty="0"/>
          </a:p>
        </p:txBody>
      </p:sp>
      <p:sp>
        <p:nvSpPr>
          <p:cNvPr id="21" name="Text 178"/>
          <p:cNvSpPr txBox="1"/>
          <p:nvPr/>
        </p:nvSpPr>
        <p:spPr>
          <a:xfrm>
            <a:off x="8321040" y="3703320"/>
            <a:ext cx="2864815" cy="2103120"/>
          </a:xfrm>
          <a:prstGeom prst="rect">
            <a:avLst/>
          </a:prstGeom>
          <a:noFill/>
          <a:ln/>
        </p:spPr>
        <p:txBody>
          <a:bodyPr wrap="square" lIns="0" tIns="0" rIns="0" bIns="0" rtlCol="0" anchor="t"/>
          <a:lstStyle/>
          <a:p>
            <a:pPr marL="0" indent="0">
              <a:buNone/>
            </a:pPr>
            <a:r>
              <a:rPr lang="en-US" sz="1600" dirty="0">
                <a:solidFill>
                  <a:schemeClr val="bg1"/>
                </a:solidFill>
              </a:rPr>
              <a:t>Our engineers work with AI coding assistants every day. An engineer reviews and tests every AI assisted change.</a:t>
            </a:r>
            <a:endParaRPr lang="en-US" sz="16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640080" y="2103120"/>
            <a:ext cx="7040880" cy="2103120"/>
          </a:xfrm>
          <a:prstGeom prst="rect">
            <a:avLst/>
          </a:prstGeom>
          <a:noFill/>
          <a:ln/>
        </p:spPr>
        <p:txBody>
          <a:bodyPr wrap="square" lIns="0" tIns="0" rIns="0" bIns="0" rtlCol="0" anchor="t"/>
          <a:lstStyle/>
          <a:p>
            <a:pPr marL="0" indent="0" algn="l">
              <a:buNone/>
            </a:pPr>
            <a:r>
              <a:rPr lang="en-US" sz="4400" b="1" dirty="0">
                <a:solidFill>
                  <a:schemeClr val="bg1"/>
                </a:solidFill>
              </a:rPr>
              <a:t>Choose the partner who builds the AI and proves it is safe</a:t>
            </a:r>
            <a:endParaRPr lang="en-US" sz="4400" dirty="0"/>
          </a:p>
        </p:txBody>
      </p:sp>
      <p:sp>
        <p:nvSpPr>
          <p:cNvPr id="3" name="Text 0"/>
          <p:cNvSpPr>
            <a:spLocks noGrp="1"/>
          </p:cNvSpPr>
          <p:nvPr>
            <p:ph type="body" idx="102" hasCustomPrompt="1"/>
          </p:nvPr>
        </p:nvSpPr>
        <p:spPr>
          <a:xfrm>
            <a:off x="640080" y="4526280"/>
            <a:ext cx="6766560" cy="1097280"/>
          </a:xfrm>
          <a:prstGeom prst="rect">
            <a:avLst/>
          </a:prstGeom>
          <a:noFill/>
          <a:ln/>
        </p:spPr>
        <p:txBody>
          <a:bodyPr wrap="square" lIns="0" tIns="0" rIns="0" bIns="0" rtlCol="0" anchor="t"/>
          <a:lstStyle/>
          <a:p>
            <a:pPr marL="0" indent="0">
              <a:buNone/>
            </a:pPr>
            <a:r>
              <a:rPr lang="en-US" sz="2200" dirty="0">
                <a:solidFill>
                  <a:schemeClr val="accent4"/>
                </a:solidFill>
              </a:rPr>
              <a:t>Next step: choose one business and one use case. We start with discovery.</a:t>
            </a:r>
            <a:endParaRPr lang="en-US" sz="2200" dirty="0"/>
          </a:p>
        </p:txBody>
      </p:sp>
      <p:sp>
        <p:nvSpPr>
          <p:cNvPr id="4" name="Motif circle 1"/>
          <p:cNvSpPr/>
          <p:nvPr/>
        </p:nvSpPr>
        <p:spPr>
          <a:xfrm>
            <a:off x="9144000" y="1463040"/>
            <a:ext cx="3291840" cy="3291840"/>
          </a:xfrm>
          <a:prstGeom prst="ellipse">
            <a:avLst/>
          </a:prstGeom>
          <a:solidFill>
            <a:schemeClr val="accent1"/>
          </a:solidFill>
          <a:ln/>
        </p:spPr>
      </p:sp>
      <p:sp>
        <p:nvSpPr>
          <p:cNvPr id="5" name="Motif circle 2"/>
          <p:cNvSpPr/>
          <p:nvPr/>
        </p:nvSpPr>
        <p:spPr>
          <a:xfrm>
            <a:off x="8595360" y="3566160"/>
            <a:ext cx="2011680" cy="2011680"/>
          </a:xfrm>
          <a:prstGeom prst="ellipse">
            <a:avLst/>
          </a:prstGeom>
          <a:solidFill>
            <a:schemeClr val="accent2">
              <a:alpha val="85000"/>
            </a:schemeClr>
          </a:solidFill>
          <a:ln/>
        </p:spPr>
      </p:sp>
      <p:pic>
        <p:nvPicPr>
          <p:cNvPr id="6" name="Motif icon" descr="preencoded.png"/>
          <p:cNvPicPr>
            <a:picLocks noChangeAspect="1"/>
          </p:cNvPicPr>
          <p:nvPr/>
        </p:nvPicPr>
        <p:blipFill>
          <a:blip r:embed="rId3"/>
          <a:stretch>
            <a:fillRect/>
          </a:stretch>
        </p:blipFill>
        <p:spPr>
          <a:xfrm>
            <a:off x="10241280" y="2560320"/>
            <a:ext cx="1097280" cy="1097280"/>
          </a:xfrm>
          <a:prstGeom prst="rect">
            <a:avLst/>
          </a:prstGeom>
        </p:spPr>
      </p:pic>
      <p:sp>
        <p:nvSpPr>
          <p:cNvPr id="7" name="Text 179"/>
          <p:cNvSpPr txBox="1"/>
          <p:nvPr/>
        </p:nvSpPr>
        <p:spPr>
          <a:xfrm>
            <a:off x="640080" y="5852160"/>
            <a:ext cx="7315200" cy="365760"/>
          </a:xfrm>
          <a:prstGeom prst="rect">
            <a:avLst/>
          </a:prstGeom>
          <a:noFill/>
          <a:ln/>
        </p:spPr>
        <p:txBody>
          <a:bodyPr wrap="square" lIns="0" tIns="0" rIns="0" bIns="0" rtlCol="0" anchor="t"/>
          <a:lstStyle/>
          <a:p>
            <a:pPr marL="0" indent="0">
              <a:buNone/>
            </a:pPr>
            <a:r>
              <a:rPr lang="en-US" sz="1600" dirty="0">
                <a:solidFill>
                  <a:schemeClr val="bg1"/>
                </a:solidFill>
              </a:rPr>
              <a:t>sales@xloopdigital.com     www.xloopdigital.com</a:t>
            </a:r>
            <a:endParaRPr lang="en-US" sz="1600" dirty="0"/>
          </a:p>
        </p:txBody>
      </p:sp>
    </p:spTree>
  </p:cSld>
  <p:clrMapOvr>
    <a:masterClrMapping/>
  </p:clrMapOvr>
</p:sld>
</file>

<file path=ppt/theme/theme1.xml><?xml version="1.0" encoding="utf-8"?>
<a:theme xmlns:a="http://schemas.openxmlformats.org/drawingml/2006/main" name="xLoop Digital">
  <a:themeElements>
    <a:clrScheme name="xLoop Digital">
      <a:dk1>
        <a:srgbClr val="22205D"/>
      </a:dk1>
      <a:lt1>
        <a:srgbClr val="FFFFFF"/>
      </a:lt1>
      <a:dk2>
        <a:srgbClr val="3D67B1"/>
      </a:dk2>
      <a:lt2>
        <a:srgbClr val="E6E6E6"/>
      </a:lt2>
      <a:accent1>
        <a:srgbClr val="0061F6"/>
      </a:accent1>
      <a:accent2>
        <a:srgbClr val="5CC3AE"/>
      </a:accent2>
      <a:accent3>
        <a:srgbClr val="0098D8"/>
      </a:accent3>
      <a:accent4>
        <a:srgbClr val="50BFE6"/>
      </a:accent4>
      <a:accent5>
        <a:srgbClr val="3D67B1"/>
      </a:accent5>
      <a:accent6>
        <a:srgbClr val="22205D"/>
      </a:accent6>
      <a:hlink>
        <a:srgbClr val="0061F6"/>
      </a:hlink>
      <a:folHlink>
        <a:srgbClr val="3D67B1"/>
      </a:folHlink>
    </a:clrScheme>
    <a:fontScheme name="xLoop Digital">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1217</Words>
  <Application>Microsoft Office PowerPoint</Application>
  <PresentationFormat>Widescreen</PresentationFormat>
  <Paragraphs>143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Poppins</vt:lpstr>
      <vt:lpstr>xLoop Digital</vt:lpstr>
      <vt:lpstr>AI that works, and stands up to an audit</vt:lpstr>
      <vt:lpstr>Polish businesses face two pressures</vt:lpstr>
      <vt:lpstr>Three things we do for every AI program</vt:lpstr>
      <vt:lpstr>Make AI work: agents for real tasks</vt:lpstr>
      <vt:lpstr>How we engineer agents for production</vt:lpstr>
      <vt:lpstr>Make AI safe: we attack what we build</vt:lpstr>
      <vt:lpstr>Make AI possible: data comes first</vt:lpstr>
      <vt:lpstr>Already delivering in Poland and Europe</vt:lpstr>
      <vt:lpstr>How we start: one use case, four steps</vt:lpstr>
      <vt:lpstr>Why xLoop</vt:lpstr>
      <vt:lpstr>Choose the partner who builds the AI and proves it is safe</vt:lpstr>
    </vt:vector>
  </TitlesOfParts>
  <Company>xLoop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xLoop Digital: AI that works, and stands up to an audit</dc:title>
  <dc:subject>PptxGenJS Presentation</dc:subject>
  <dc:creator>xLoop Digital</dc:creator>
  <cp:lastModifiedBy>Sana Qazi</cp:lastModifiedBy>
  <cp:revision>2</cp:revision>
  <dcterms:created xsi:type="dcterms:W3CDTF">2026-10-13T05:00:42Z</dcterms:created>
  <dcterms:modified xsi:type="dcterms:W3CDTF">2026-10-13T05:00:44Z</dcterms:modified>
</cp:coreProperties>
</file>