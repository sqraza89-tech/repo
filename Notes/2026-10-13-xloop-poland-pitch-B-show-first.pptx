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Calibri" panose="020F0502020204030204" pitchFamily="34" charset="0"/>
      <p:regular r:id="rId14"/>
      <p:bold r:id="rId15"/>
      <p:italic r:id="rId16"/>
      <p:boldItalic r:id="rId17"/>
    </p:embeddedFont>
    <p:embeddedFont>
      <p:font typeface="Poppins" panose="00000500000000000000" pitchFamily="2" charset="0"/>
      <p:regular r:id="rId18"/>
      <p:bold r:id="rId19"/>
      <p:italic r:id="rId20"/>
      <p:boldItalic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CC1AE96-2243-35C8-CDC5-A3B5339EC45D}">
          <p14:sldIdLst>
            <p14:sldId id="256"/>
            <p14:sldId id="257"/>
            <p14:sldId id="258"/>
          </p14:sldIdLst>
        </p14:section>
        <p14:section name="What we do" id="{6E59505A-FF9D-3037-2024-A4F452FAB015}">
          <p14:sldIdLst>
            <p14:sldId id="259"/>
          </p14:sldIdLst>
        </p14:section>
        <p14:section name="Proof" id="{D0BB8357-1340-A0B6-D5C4-DCC155D7EE5C}">
          <p14:sldIdLst>
            <p14:sldId id="260"/>
            <p14:sldId id="261"/>
            <p14:sldId id="262"/>
          </p14:sldIdLst>
        </p14:section>
        <p14:section name="Working with us" id="{9F1C95A5-180E-8A97-EA17-CDD38AAAC140}">
          <p14:sldIdLst>
            <p14:sldId id="263"/>
            <p14:sldId id="264"/>
            <p14:sldId id="265"/>
          </p14:sldIdLst>
        </p14:section>
        <p14:section name="Close" id="{43302138-56F2-FE3B-F5CE-BC314F87295F}">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3329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you will show an agent working before you describe the company. Then go to the next slide quickly.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causes, in the order buyers feel them. These are the three things xLoop does. No statistics on this slide by design: every figure would need a named source.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SLOT, about three minutes. Options in order of preference: (1) live demo of an existing agent in English, (2) a recorded walkthrough placed over the dark panel, (3) a Polish language version only if delivery confirms it can be ready and tested in time. If no demo is possible, delete this slide: the deck still works without it. To add a video: Insert, Video, then size it over the dark panel.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cause to what we do. Then land the line at the bottom. Pause after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seven of the 11 stages in our multi agent reference architecture. Bottom row: three delivered examples. xServe is approved as a deployment only: quote no performance figures. Stack, if asked: LangChain, LangGraph, AutoGen, CrewAI, OpenAI, Anthropic, Pinecone, Chroma, FastAPI, Kubernetes. These are tools, not partnerships.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differentiator. Certification is at individual level: say our team includes certified Lead Auditors, never that xLoop is ISO certified. If client permission arrives for the anonymized AI red team findings, they replace the two figures in the dark card.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retailer case result is a single source of truth, not real time reporting. Do not name either client.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Enablement means the business can run the agent itself. Mari Energies is training proof only: never present it as energy sector delivery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Titans is a named, signed testimonial. The quote is word for word from the signed letter: do not paraphrase inside quotation marks. Say people or team members in Hungary, never an office. Facts in the bottom row are confirmed: 90 people including consultants, founded 2022, four offices.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WITH DELIVERY: add a duration under each step. No timings are approved yet for an agent build. CHECK WITH SALES: confirm who presents and update the names in the bottom row.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the line, then ask for the next step: one business, one use case, start with discovery.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pic>
        <p:nvPicPr>
          <p:cNvPr id="2" name="Image 0" descr="C:\Users\Sana Qazi\AppData\Local\Temp\claude\C--Claude-Projects\dfde1c0d-957d-425e-915b-4cfe19b58772\scratchpad\build\art\logo-white.png"/>
          <p:cNvPicPr>
            <a:picLocks noChangeAspect="1"/>
          </p:cNvPicPr>
          <p:nvPr/>
        </p:nvPicPr>
        <p:blipFill>
          <a:blip r:embed="rId2"/>
          <a:stretch>
            <a:fillRect/>
          </a:stretch>
        </p:blipFill>
        <p:spPr>
          <a:xfrm>
            <a:off x="640080" y="548640"/>
            <a:ext cx="1737360" cy="594360"/>
          </a:xfrm>
          <a:prstGeom prst="rect">
            <a:avLst/>
          </a:prstGeom>
        </p:spPr>
      </p:pic>
      <p:sp>
        <p:nvSpPr>
          <p:cNvPr id="3" name="Text 0"/>
          <p:cNvSpPr>
            <a:spLocks noGrp="1"/>
          </p:cNvSpPr>
          <p:nvPr>
            <p:ph type="title" idx="101" hasCustomPrompt="1"/>
          </p:nvPr>
        </p:nvSpPr>
        <p:spPr>
          <a:xfrm>
            <a:off x="640080" y="2103120"/>
            <a:ext cx="7040880" cy="21031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a:spLocks noGrp="1"/>
          </p:cNvSpPr>
          <p:nvPr>
            <p:ph type="body" idx="102" hasCustomPrompt="1"/>
          </p:nvPr>
        </p:nvSpPr>
        <p:spPr>
          <a:xfrm>
            <a:off x="640080" y="4526280"/>
            <a:ext cx="6766560" cy="1097280"/>
          </a:xfrm>
          <a:prstGeom prst="rect">
            <a:avLst/>
          </a:prstGeom>
          <a:noFill/>
          <a:ln/>
        </p:spPr>
        <p:txBody>
          <a:bodyPr wrap="square" rtlCol="0"/>
          <a:lstStyle>
            <a:lvl1pPr marL="0" indent="0">
              <a:buNone/>
              <a:defRPr lang="en-US" sz="2200" dirty="0">
                <a:solidFill>
                  <a:schemeClr val="accent4"/>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pic>
        <p:nvPicPr>
          <p:cNvPr id="2" name="Image 0" descr="C:\Users\Sana Qazi\AppData\Local\Temp\claude\C--Claude-Projects\dfde1c0d-957d-425e-915b-4cfe19b58772\scratchpad\build\art\logo-color.png"/>
          <p:cNvPicPr>
            <a:picLocks noChangeAspect="1"/>
          </p:cNvPicPr>
          <p:nvPr/>
        </p:nvPicPr>
        <p:blipFill>
          <a:blip r:embed="rId2"/>
          <a:stretch>
            <a:fillRect/>
          </a:stretch>
        </p:blipFill>
        <p:spPr>
          <a:xfrm>
            <a:off x="10454335" y="502920"/>
            <a:ext cx="1097280" cy="374904"/>
          </a:xfrm>
          <a:prstGeom prst="rect">
            <a:avLst/>
          </a:prstGeom>
        </p:spPr>
      </p:pic>
      <p:sp>
        <p:nvSpPr>
          <p:cNvPr id="3" name="Text 0"/>
          <p:cNvSpPr>
            <a:spLocks noGrp="1"/>
          </p:cNvSpPr>
          <p:nvPr>
            <p:ph type="title" idx="101" hasCustomPrompt="1"/>
          </p:nvPr>
        </p:nvSpPr>
        <p:spPr>
          <a:xfrm>
            <a:off x="640080" y="502920"/>
            <a:ext cx="9509760" cy="114300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4" name="Text 0"/>
          <p:cNvSpPr/>
          <p:nvPr/>
        </p:nvSpPr>
        <p:spPr>
          <a:xfrm>
            <a:off x="640080" y="6355080"/>
            <a:ext cx="2743200" cy="274320"/>
          </a:xfrm>
          <a:prstGeom prst="rect">
            <a:avLst/>
          </a:prstGeom>
          <a:noFill/>
          <a:ln/>
        </p:spPr>
        <p:txBody>
          <a:bodyPr wrap="square" lIns="0" tIns="0" rIns="0" bIns="0" rtlCol="0" anchor="ctr"/>
          <a:lstStyle/>
          <a:p>
            <a:pPr marL="0" indent="0">
              <a:buNone/>
            </a:pPr>
            <a:r>
              <a:rPr lang="en-US" sz="1000" dirty="0">
                <a:solidFill>
                  <a:schemeClr val="accent5"/>
                </a:solidFill>
              </a:rPr>
              <a:t>xLoop Digital</a:t>
            </a:r>
            <a:endParaRPr lang="en-US" sz="1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pic>
        <p:nvPicPr>
          <p:cNvPr id="2" name="Image 0" descr="C:\Users\Sana Qazi\AppData\Local\Temp\claude\C--Claude-Projects\dfde1c0d-957d-425e-915b-4cfe19b58772\scratchpad\build\art\logo-white.png"/>
          <p:cNvPicPr>
            <a:picLocks noChangeAspect="1"/>
          </p:cNvPicPr>
          <p:nvPr/>
        </p:nvPicPr>
        <p:blipFill>
          <a:blip r:embed="rId2"/>
          <a:stretch>
            <a:fillRect/>
          </a:stretch>
        </p:blipFill>
        <p:spPr>
          <a:xfrm>
            <a:off x="10454335" y="502920"/>
            <a:ext cx="1097280" cy="374904"/>
          </a:xfrm>
          <a:prstGeom prst="rect">
            <a:avLst/>
          </a:prstGeom>
        </p:spPr>
      </p:pic>
      <p:sp>
        <p:nvSpPr>
          <p:cNvPr id="3" name="Text 0"/>
          <p:cNvSpPr>
            <a:spLocks noGrp="1"/>
          </p:cNvSpPr>
          <p:nvPr>
            <p:ph type="title" idx="101" hasCustomPrompt="1"/>
          </p:nvPr>
        </p:nvSpPr>
        <p:spPr>
          <a:xfrm>
            <a:off x="640080" y="502920"/>
            <a:ext cx="9509760" cy="114300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4" name="Text 0"/>
          <p:cNvSpPr/>
          <p:nvPr/>
        </p:nvSpPr>
        <p:spPr>
          <a:xfrm>
            <a:off x="640080" y="6355080"/>
            <a:ext cx="2743200" cy="274320"/>
          </a:xfrm>
          <a:prstGeom prst="rect">
            <a:avLst/>
          </a:prstGeom>
          <a:noFill/>
          <a:ln/>
        </p:spPr>
        <p:txBody>
          <a:bodyPr wrap="square" lIns="0" tIns="0" rIns="0" bIns="0" rtlCol="0" anchor="ctr"/>
          <a:lstStyle/>
          <a:p>
            <a:pPr marL="0" indent="0">
              <a:buNone/>
            </a:pPr>
            <a:r>
              <a:rPr lang="en-US" sz="1000" dirty="0">
                <a:solidFill>
                  <a:schemeClr val="accent4"/>
                </a:solidFill>
              </a:rPr>
              <a:t>xLoop Digital</a:t>
            </a:r>
            <a:endParaRPr lang="en-US" sz="1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19.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2103120"/>
            <a:ext cx="7040880" cy="2103120"/>
          </a:xfrm>
          <a:prstGeom prst="rect">
            <a:avLst/>
          </a:prstGeom>
          <a:noFill/>
          <a:ln/>
        </p:spPr>
        <p:txBody>
          <a:bodyPr wrap="square" lIns="0" tIns="0" rIns="0" bIns="0" rtlCol="0" anchor="t"/>
          <a:lstStyle/>
          <a:p>
            <a:pPr marL="0" indent="0" algn="l">
              <a:buNone/>
            </a:pPr>
            <a:r>
              <a:rPr lang="en-US" sz="4400" b="1" dirty="0">
                <a:solidFill>
                  <a:schemeClr val="bg1"/>
                </a:solidFill>
              </a:rPr>
              <a:t>AI agents for Polish businesses</a:t>
            </a:r>
            <a:endParaRPr lang="en-US" sz="4400" dirty="0"/>
          </a:p>
        </p:txBody>
      </p:sp>
      <p:sp>
        <p:nvSpPr>
          <p:cNvPr id="3" name="Text 0"/>
          <p:cNvSpPr>
            <a:spLocks noGrp="1"/>
          </p:cNvSpPr>
          <p:nvPr>
            <p:ph type="body" idx="102" hasCustomPrompt="1"/>
          </p:nvPr>
        </p:nvSpPr>
        <p:spPr>
          <a:xfrm>
            <a:off x="640080" y="4526280"/>
            <a:ext cx="6766560" cy="1097280"/>
          </a:xfrm>
          <a:prstGeom prst="rect">
            <a:avLst/>
          </a:prstGeom>
          <a:noFill/>
          <a:ln/>
        </p:spPr>
        <p:txBody>
          <a:bodyPr wrap="square" lIns="0" tIns="0" rIns="0" bIns="0" rtlCol="0" anchor="t"/>
          <a:lstStyle/>
          <a:p>
            <a:pPr marL="0" indent="0">
              <a:buNone/>
            </a:pPr>
            <a:r>
              <a:rPr lang="en-US" sz="2200" dirty="0">
                <a:solidFill>
                  <a:schemeClr val="accent4"/>
                </a:solidFill>
              </a:rPr>
              <a:t>Built for production. Tested for safety.</a:t>
            </a:r>
            <a:endParaRPr lang="en-US" sz="2200" dirty="0"/>
          </a:p>
        </p:txBody>
      </p:sp>
      <p:sp>
        <p:nvSpPr>
          <p:cNvPr id="4" name="Motif circle 1"/>
          <p:cNvSpPr/>
          <p:nvPr/>
        </p:nvSpPr>
        <p:spPr>
          <a:xfrm>
            <a:off x="8686800" y="1097280"/>
            <a:ext cx="4206240" cy="4206240"/>
          </a:xfrm>
          <a:prstGeom prst="ellipse">
            <a:avLst/>
          </a:prstGeom>
          <a:solidFill>
            <a:schemeClr val="accent1"/>
          </a:solidFill>
          <a:ln/>
        </p:spPr>
      </p:sp>
      <p:sp>
        <p:nvSpPr>
          <p:cNvPr id="5" name="Motif circle 2"/>
          <p:cNvSpPr/>
          <p:nvPr/>
        </p:nvSpPr>
        <p:spPr>
          <a:xfrm>
            <a:off x="8138160" y="3017520"/>
            <a:ext cx="2926080" cy="2926080"/>
          </a:xfrm>
          <a:prstGeom prst="ellipse">
            <a:avLst/>
          </a:prstGeom>
          <a:solidFill>
            <a:schemeClr val="accent2">
              <a:alpha val="85000"/>
            </a:schemeClr>
          </a:solidFill>
          <a:ln/>
        </p:spPr>
      </p:sp>
      <p:sp>
        <p:nvSpPr>
          <p:cNvPr id="6" name="Motif circle 3"/>
          <p:cNvSpPr/>
          <p:nvPr/>
        </p:nvSpPr>
        <p:spPr>
          <a:xfrm>
            <a:off x="10332720" y="4480560"/>
            <a:ext cx="1371600" cy="1371600"/>
          </a:xfrm>
          <a:prstGeom prst="ellipse">
            <a:avLst/>
          </a:prstGeom>
          <a:solidFill>
            <a:schemeClr val="accent4"/>
          </a:solidFill>
          <a:ln/>
        </p:spPr>
      </p:sp>
      <p:pic>
        <p:nvPicPr>
          <p:cNvPr id="7" name="Motif icon" descr="preencoded.png"/>
          <p:cNvPicPr>
            <a:picLocks noChangeAspect="1"/>
          </p:cNvPicPr>
          <p:nvPr/>
        </p:nvPicPr>
        <p:blipFill>
          <a:blip r:embed="rId3"/>
          <a:stretch>
            <a:fillRect/>
          </a:stretch>
        </p:blipFill>
        <p:spPr>
          <a:xfrm>
            <a:off x="10104120" y="233172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Why AI projects stall after the pilot</a:t>
            </a:r>
            <a:endParaRPr lang="en-US" sz="3400" dirty="0"/>
          </a:p>
        </p:txBody>
      </p:sp>
      <p:sp>
        <p:nvSpPr>
          <p:cNvPr id="4" name="Card 1"/>
          <p:cNvSpPr/>
          <p:nvPr/>
        </p:nvSpPr>
        <p:spPr>
          <a:xfrm>
            <a:off x="640080" y="1828800"/>
            <a:ext cx="10911535" cy="1234440"/>
          </a:xfrm>
          <a:prstGeom prst="roundRect">
            <a:avLst>
              <a:gd name="adj" fmla="val 10370"/>
            </a:avLst>
          </a:prstGeom>
          <a:solidFill>
            <a:schemeClr val="bg2">
              <a:alpha val="55000"/>
            </a:schemeClr>
          </a:solidFill>
          <a:ln/>
        </p:spPr>
      </p:sp>
      <p:sp>
        <p:nvSpPr>
          <p:cNvPr id="5" name="Number circle 2"/>
          <p:cNvSpPr/>
          <p:nvPr/>
        </p:nvSpPr>
        <p:spPr>
          <a:xfrm>
            <a:off x="1005840" y="2103120"/>
            <a:ext cx="685800" cy="685800"/>
          </a:xfrm>
          <a:prstGeom prst="ellipse">
            <a:avLst/>
          </a:prstGeom>
          <a:solidFill>
            <a:schemeClr val="accent1"/>
          </a:solidFill>
          <a:ln/>
        </p:spPr>
      </p:sp>
      <p:sp>
        <p:nvSpPr>
          <p:cNvPr id="6" name="Number 3"/>
          <p:cNvSpPr txBox="1"/>
          <p:nvPr/>
        </p:nvSpPr>
        <p:spPr>
          <a:xfrm>
            <a:off x="1005840" y="210312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7" name="Text 4"/>
          <p:cNvSpPr txBox="1"/>
          <p:nvPr/>
        </p:nvSpPr>
        <p:spPr>
          <a:xfrm>
            <a:off x="2011680" y="2011680"/>
            <a:ext cx="9174175" cy="438912"/>
          </a:xfrm>
          <a:prstGeom prst="rect">
            <a:avLst/>
          </a:prstGeom>
          <a:noFill/>
          <a:ln/>
        </p:spPr>
        <p:txBody>
          <a:bodyPr wrap="square" lIns="0" tIns="0" rIns="0" bIns="0" rtlCol="0" anchor="t"/>
          <a:lstStyle/>
          <a:p>
            <a:pPr marL="0" indent="0">
              <a:buNone/>
            </a:pPr>
            <a:r>
              <a:rPr lang="en-US" sz="2200" b="1" dirty="0">
                <a:solidFill>
                  <a:schemeClr val="tx1"/>
                </a:solidFill>
              </a:rPr>
              <a:t>The agent is not built for production</a:t>
            </a:r>
            <a:endParaRPr lang="en-US" sz="2200" dirty="0"/>
          </a:p>
        </p:txBody>
      </p:sp>
      <p:sp>
        <p:nvSpPr>
          <p:cNvPr id="8" name="Text 5"/>
          <p:cNvSpPr txBox="1"/>
          <p:nvPr/>
        </p:nvSpPr>
        <p:spPr>
          <a:xfrm>
            <a:off x="2011680" y="2505456"/>
            <a:ext cx="9174175" cy="411480"/>
          </a:xfrm>
          <a:prstGeom prst="rect">
            <a:avLst/>
          </a:prstGeom>
          <a:noFill/>
          <a:ln/>
        </p:spPr>
        <p:txBody>
          <a:bodyPr wrap="square" lIns="0" tIns="0" rIns="0" bIns="0" rtlCol="0" anchor="t"/>
          <a:lstStyle/>
          <a:p>
            <a:pPr marL="0" indent="0">
              <a:buNone/>
            </a:pPr>
            <a:r>
              <a:rPr lang="en-US" sz="1800" dirty="0">
                <a:solidFill>
                  <a:schemeClr val="tx1"/>
                </a:solidFill>
              </a:rPr>
              <a:t>A demo works once. Operations need it to work every time.</a:t>
            </a:r>
            <a:endParaRPr lang="en-US" sz="1800" dirty="0"/>
          </a:p>
        </p:txBody>
      </p:sp>
      <p:sp>
        <p:nvSpPr>
          <p:cNvPr id="9" name="Card 6"/>
          <p:cNvSpPr/>
          <p:nvPr/>
        </p:nvSpPr>
        <p:spPr>
          <a:xfrm>
            <a:off x="640080" y="3246120"/>
            <a:ext cx="10911535" cy="1234440"/>
          </a:xfrm>
          <a:prstGeom prst="roundRect">
            <a:avLst>
              <a:gd name="adj" fmla="val 10370"/>
            </a:avLst>
          </a:prstGeom>
          <a:solidFill>
            <a:schemeClr val="bg2">
              <a:alpha val="55000"/>
            </a:schemeClr>
          </a:solidFill>
          <a:ln/>
        </p:spPr>
      </p:sp>
      <p:sp>
        <p:nvSpPr>
          <p:cNvPr id="10" name="Number circle 7"/>
          <p:cNvSpPr/>
          <p:nvPr/>
        </p:nvSpPr>
        <p:spPr>
          <a:xfrm>
            <a:off x="1005840" y="3520440"/>
            <a:ext cx="685800" cy="685800"/>
          </a:xfrm>
          <a:prstGeom prst="ellipse">
            <a:avLst/>
          </a:prstGeom>
          <a:solidFill>
            <a:schemeClr val="accent1"/>
          </a:solidFill>
          <a:ln/>
        </p:spPr>
      </p:sp>
      <p:sp>
        <p:nvSpPr>
          <p:cNvPr id="11" name="Number 8"/>
          <p:cNvSpPr txBox="1"/>
          <p:nvPr/>
        </p:nvSpPr>
        <p:spPr>
          <a:xfrm>
            <a:off x="1005840" y="352044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2" name="Text 9"/>
          <p:cNvSpPr txBox="1"/>
          <p:nvPr/>
        </p:nvSpPr>
        <p:spPr>
          <a:xfrm>
            <a:off x="2011680" y="3429000"/>
            <a:ext cx="9174175" cy="438912"/>
          </a:xfrm>
          <a:prstGeom prst="rect">
            <a:avLst/>
          </a:prstGeom>
          <a:noFill/>
          <a:ln/>
        </p:spPr>
        <p:txBody>
          <a:bodyPr wrap="square" lIns="0" tIns="0" rIns="0" bIns="0" rtlCol="0" anchor="t"/>
          <a:lstStyle/>
          <a:p>
            <a:pPr marL="0" indent="0">
              <a:buNone/>
            </a:pPr>
            <a:r>
              <a:rPr lang="en-US" sz="2200" b="1" dirty="0">
                <a:solidFill>
                  <a:schemeClr val="tx1"/>
                </a:solidFill>
              </a:rPr>
              <a:t>Nobody can show it is safe</a:t>
            </a:r>
            <a:endParaRPr lang="en-US" sz="2200" dirty="0"/>
          </a:p>
        </p:txBody>
      </p:sp>
      <p:sp>
        <p:nvSpPr>
          <p:cNvPr id="13" name="Text 10"/>
          <p:cNvSpPr txBox="1"/>
          <p:nvPr/>
        </p:nvSpPr>
        <p:spPr>
          <a:xfrm>
            <a:off x="2011680" y="3922776"/>
            <a:ext cx="9174175" cy="411480"/>
          </a:xfrm>
          <a:prstGeom prst="rect">
            <a:avLst/>
          </a:prstGeom>
          <a:noFill/>
          <a:ln/>
        </p:spPr>
        <p:txBody>
          <a:bodyPr wrap="square" lIns="0" tIns="0" rIns="0" bIns="0" rtlCol="0" anchor="t"/>
          <a:lstStyle/>
          <a:p>
            <a:pPr marL="0" indent="0">
              <a:buNone/>
            </a:pPr>
            <a:r>
              <a:rPr lang="en-US" sz="1800" dirty="0">
                <a:solidFill>
                  <a:schemeClr val="tx1"/>
                </a:solidFill>
              </a:rPr>
              <a:t>Risk and compliance teams block what they cannot verify.</a:t>
            </a:r>
            <a:endParaRPr lang="en-US" sz="1800" dirty="0"/>
          </a:p>
        </p:txBody>
      </p:sp>
      <p:sp>
        <p:nvSpPr>
          <p:cNvPr id="14" name="Card 11"/>
          <p:cNvSpPr/>
          <p:nvPr/>
        </p:nvSpPr>
        <p:spPr>
          <a:xfrm>
            <a:off x="640080" y="4663440"/>
            <a:ext cx="10911535" cy="1234440"/>
          </a:xfrm>
          <a:prstGeom prst="roundRect">
            <a:avLst>
              <a:gd name="adj" fmla="val 10370"/>
            </a:avLst>
          </a:prstGeom>
          <a:solidFill>
            <a:schemeClr val="bg2">
              <a:alpha val="55000"/>
            </a:schemeClr>
          </a:solidFill>
          <a:ln/>
        </p:spPr>
      </p:sp>
      <p:sp>
        <p:nvSpPr>
          <p:cNvPr id="15" name="Number circle 12"/>
          <p:cNvSpPr/>
          <p:nvPr/>
        </p:nvSpPr>
        <p:spPr>
          <a:xfrm>
            <a:off x="1005840" y="4937760"/>
            <a:ext cx="685800" cy="685800"/>
          </a:xfrm>
          <a:prstGeom prst="ellipse">
            <a:avLst/>
          </a:prstGeom>
          <a:solidFill>
            <a:schemeClr val="accent1"/>
          </a:solidFill>
          <a:ln/>
        </p:spPr>
      </p:sp>
      <p:sp>
        <p:nvSpPr>
          <p:cNvPr id="16" name="Number 13"/>
          <p:cNvSpPr txBox="1"/>
          <p:nvPr/>
        </p:nvSpPr>
        <p:spPr>
          <a:xfrm>
            <a:off x="1005840" y="493776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7" name="Text 14"/>
          <p:cNvSpPr txBox="1"/>
          <p:nvPr/>
        </p:nvSpPr>
        <p:spPr>
          <a:xfrm>
            <a:off x="2011680" y="4846320"/>
            <a:ext cx="9174175" cy="438912"/>
          </a:xfrm>
          <a:prstGeom prst="rect">
            <a:avLst/>
          </a:prstGeom>
          <a:noFill/>
          <a:ln/>
        </p:spPr>
        <p:txBody>
          <a:bodyPr wrap="square" lIns="0" tIns="0" rIns="0" bIns="0" rtlCol="0" anchor="t"/>
          <a:lstStyle/>
          <a:p>
            <a:pPr marL="0" indent="0">
              <a:buNone/>
            </a:pPr>
            <a:r>
              <a:rPr lang="en-US" sz="2200" b="1" dirty="0">
                <a:solidFill>
                  <a:schemeClr val="tx1"/>
                </a:solidFill>
              </a:rPr>
              <a:t>The data is not ready</a:t>
            </a:r>
            <a:endParaRPr lang="en-US" sz="2200" dirty="0"/>
          </a:p>
        </p:txBody>
      </p:sp>
      <p:sp>
        <p:nvSpPr>
          <p:cNvPr id="18" name="Text 15"/>
          <p:cNvSpPr txBox="1"/>
          <p:nvPr/>
        </p:nvSpPr>
        <p:spPr>
          <a:xfrm>
            <a:off x="2011680" y="5340096"/>
            <a:ext cx="9174175" cy="411480"/>
          </a:xfrm>
          <a:prstGeom prst="rect">
            <a:avLst/>
          </a:prstGeom>
          <a:noFill/>
          <a:ln/>
        </p:spPr>
        <p:txBody>
          <a:bodyPr wrap="square" lIns="0" tIns="0" rIns="0" bIns="0" rtlCol="0" anchor="t"/>
          <a:lstStyle/>
          <a:p>
            <a:pPr marL="0" indent="0">
              <a:buNone/>
            </a:pPr>
            <a:r>
              <a:rPr lang="en-US" sz="1800" dirty="0">
                <a:solidFill>
                  <a:schemeClr val="tx1"/>
                </a:solidFill>
              </a:rPr>
              <a:t>The agent cannot find or trust the information it needs.</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See an agent at work</a:t>
            </a:r>
            <a:endParaRPr lang="en-US" sz="3400" dirty="0"/>
          </a:p>
        </p:txBody>
      </p:sp>
      <p:sp>
        <p:nvSpPr>
          <p:cNvPr id="4" name="Text 16"/>
          <p:cNvSpPr txBox="1"/>
          <p:nvPr/>
        </p:nvSpPr>
        <p:spPr>
          <a:xfrm>
            <a:off x="640080" y="1828800"/>
            <a:ext cx="4206240" cy="411480"/>
          </a:xfrm>
          <a:prstGeom prst="rect">
            <a:avLst/>
          </a:prstGeom>
          <a:noFill/>
          <a:ln/>
        </p:spPr>
        <p:txBody>
          <a:bodyPr wrap="square" lIns="0" tIns="0" rIns="0" bIns="0" rtlCol="0" anchor="t"/>
          <a:lstStyle/>
          <a:p>
            <a:pPr marL="0" indent="0">
              <a:buNone/>
            </a:pPr>
            <a:r>
              <a:rPr lang="en-US" sz="2200" b="1" dirty="0">
                <a:solidFill>
                  <a:schemeClr val="tx1"/>
                </a:solidFill>
              </a:rPr>
              <a:t>What you will see</a:t>
            </a:r>
            <a:endParaRPr lang="en-US" sz="2200" dirty="0"/>
          </a:p>
        </p:txBody>
      </p:sp>
      <p:sp>
        <p:nvSpPr>
          <p:cNvPr id="5" name="Number circle 17"/>
          <p:cNvSpPr/>
          <p:nvPr/>
        </p:nvSpPr>
        <p:spPr>
          <a:xfrm>
            <a:off x="640080" y="2468880"/>
            <a:ext cx="548640" cy="548640"/>
          </a:xfrm>
          <a:prstGeom prst="ellipse">
            <a:avLst/>
          </a:prstGeom>
          <a:solidFill>
            <a:schemeClr val="accent1"/>
          </a:solidFill>
          <a:ln/>
        </p:spPr>
      </p:sp>
      <p:sp>
        <p:nvSpPr>
          <p:cNvPr id="6" name="Number 18"/>
          <p:cNvSpPr txBox="1"/>
          <p:nvPr/>
        </p:nvSpPr>
        <p:spPr>
          <a:xfrm>
            <a:off x="640080" y="246888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19"/>
          <p:cNvSpPr txBox="1"/>
          <p:nvPr/>
        </p:nvSpPr>
        <p:spPr>
          <a:xfrm>
            <a:off x="1417320" y="2286000"/>
            <a:ext cx="3566160" cy="914400"/>
          </a:xfrm>
          <a:prstGeom prst="rect">
            <a:avLst/>
          </a:prstGeom>
          <a:noFill/>
          <a:ln/>
        </p:spPr>
        <p:txBody>
          <a:bodyPr wrap="square" lIns="0" tIns="0" rIns="0" bIns="0" rtlCol="0" anchor="ctr"/>
          <a:lstStyle/>
          <a:p>
            <a:pPr marL="0" indent="0">
              <a:buNone/>
            </a:pPr>
            <a:r>
              <a:rPr lang="en-US" sz="1800" dirty="0">
                <a:solidFill>
                  <a:schemeClr val="tx1"/>
                </a:solidFill>
              </a:rPr>
              <a:t>A person asks a question in plain language.</a:t>
            </a:r>
            <a:endParaRPr lang="en-US" sz="1800" dirty="0"/>
          </a:p>
        </p:txBody>
      </p:sp>
      <p:sp>
        <p:nvSpPr>
          <p:cNvPr id="8" name="Number circle 20"/>
          <p:cNvSpPr/>
          <p:nvPr/>
        </p:nvSpPr>
        <p:spPr>
          <a:xfrm>
            <a:off x="640080" y="3566160"/>
            <a:ext cx="548640" cy="548640"/>
          </a:xfrm>
          <a:prstGeom prst="ellipse">
            <a:avLst/>
          </a:prstGeom>
          <a:solidFill>
            <a:schemeClr val="accent1"/>
          </a:solidFill>
          <a:ln/>
        </p:spPr>
      </p:sp>
      <p:sp>
        <p:nvSpPr>
          <p:cNvPr id="9" name="Number 21"/>
          <p:cNvSpPr txBox="1"/>
          <p:nvPr/>
        </p:nvSpPr>
        <p:spPr>
          <a:xfrm>
            <a:off x="640080" y="35661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ext 22"/>
          <p:cNvSpPr txBox="1"/>
          <p:nvPr/>
        </p:nvSpPr>
        <p:spPr>
          <a:xfrm>
            <a:off x="1417320" y="3383280"/>
            <a:ext cx="3566160" cy="914400"/>
          </a:xfrm>
          <a:prstGeom prst="rect">
            <a:avLst/>
          </a:prstGeom>
          <a:noFill/>
          <a:ln/>
        </p:spPr>
        <p:txBody>
          <a:bodyPr wrap="square" lIns="0" tIns="0" rIns="0" bIns="0" rtlCol="0" anchor="ctr"/>
          <a:lstStyle/>
          <a:p>
            <a:pPr marL="0" indent="0">
              <a:buNone/>
            </a:pPr>
            <a:r>
              <a:rPr lang="en-US" sz="1800" dirty="0">
                <a:solidFill>
                  <a:schemeClr val="tx1"/>
                </a:solidFill>
              </a:rPr>
              <a:t>The agent reads the long documents and finds the answer.</a:t>
            </a:r>
            <a:endParaRPr lang="en-US" sz="1800" dirty="0"/>
          </a:p>
        </p:txBody>
      </p:sp>
      <p:sp>
        <p:nvSpPr>
          <p:cNvPr id="11" name="Number circle 23"/>
          <p:cNvSpPr/>
          <p:nvPr/>
        </p:nvSpPr>
        <p:spPr>
          <a:xfrm>
            <a:off x="640080" y="4663440"/>
            <a:ext cx="548640" cy="548640"/>
          </a:xfrm>
          <a:prstGeom prst="ellipse">
            <a:avLst/>
          </a:prstGeom>
          <a:solidFill>
            <a:schemeClr val="accent1"/>
          </a:solidFill>
          <a:ln/>
        </p:spPr>
      </p:sp>
      <p:sp>
        <p:nvSpPr>
          <p:cNvPr id="12" name="Number 24"/>
          <p:cNvSpPr txBox="1"/>
          <p:nvPr/>
        </p:nvSpPr>
        <p:spPr>
          <a:xfrm>
            <a:off x="640080" y="46634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ext 25"/>
          <p:cNvSpPr txBox="1"/>
          <p:nvPr/>
        </p:nvSpPr>
        <p:spPr>
          <a:xfrm>
            <a:off x="1417320" y="4480560"/>
            <a:ext cx="3566160" cy="914400"/>
          </a:xfrm>
          <a:prstGeom prst="rect">
            <a:avLst/>
          </a:prstGeom>
          <a:noFill/>
          <a:ln/>
        </p:spPr>
        <p:txBody>
          <a:bodyPr wrap="square" lIns="0" tIns="0" rIns="0" bIns="0" rtlCol="0" anchor="ctr"/>
          <a:lstStyle/>
          <a:p>
            <a:pPr marL="0" indent="0">
              <a:buNone/>
            </a:pPr>
            <a:r>
              <a:rPr lang="en-US" sz="1800" dirty="0">
                <a:solidFill>
                  <a:schemeClr val="tx1"/>
                </a:solidFill>
              </a:rPr>
              <a:t>It replies in plain language, ready to act on.</a:t>
            </a:r>
            <a:endParaRPr lang="en-US" sz="1800" dirty="0"/>
          </a:p>
        </p:txBody>
      </p:sp>
      <p:sp>
        <p:nvSpPr>
          <p:cNvPr id="14" name="Card 26"/>
          <p:cNvSpPr/>
          <p:nvPr/>
        </p:nvSpPr>
        <p:spPr>
          <a:xfrm>
            <a:off x="5394960" y="1828800"/>
            <a:ext cx="6156655" cy="4206240"/>
          </a:xfrm>
          <a:prstGeom prst="roundRect">
            <a:avLst>
              <a:gd name="adj" fmla="val 3043"/>
            </a:avLst>
          </a:prstGeom>
          <a:solidFill>
            <a:schemeClr val="tx1"/>
          </a:solidFill>
          <a:ln/>
        </p:spPr>
      </p:sp>
      <p:sp>
        <p:nvSpPr>
          <p:cNvPr id="15" name="Icon circle 27"/>
          <p:cNvSpPr/>
          <p:nvPr/>
        </p:nvSpPr>
        <p:spPr>
          <a:xfrm>
            <a:off x="7924648" y="2514600"/>
            <a:ext cx="1097280" cy="1097280"/>
          </a:xfrm>
          <a:prstGeom prst="ellipse">
            <a:avLst/>
          </a:prstGeom>
          <a:solidFill>
            <a:schemeClr val="accent2"/>
          </a:solidFill>
          <a:ln/>
        </p:spPr>
      </p:sp>
      <p:pic>
        <p:nvPicPr>
          <p:cNvPr id="16" name="Icon 28" descr="preencoded.png"/>
          <p:cNvPicPr>
            <a:picLocks noChangeAspect="1"/>
          </p:cNvPicPr>
          <p:nvPr/>
        </p:nvPicPr>
        <p:blipFill>
          <a:blip r:embed="rId3"/>
          <a:stretch>
            <a:fillRect/>
          </a:stretch>
        </p:blipFill>
        <p:spPr>
          <a:xfrm>
            <a:off x="8220913" y="2810866"/>
            <a:ext cx="504749" cy="504749"/>
          </a:xfrm>
          <a:prstGeom prst="rect">
            <a:avLst/>
          </a:prstGeom>
        </p:spPr>
      </p:pic>
      <p:sp>
        <p:nvSpPr>
          <p:cNvPr id="17" name="Text 29"/>
          <p:cNvSpPr txBox="1"/>
          <p:nvPr/>
        </p:nvSpPr>
        <p:spPr>
          <a:xfrm>
            <a:off x="5760720" y="3931920"/>
            <a:ext cx="5425135" cy="457200"/>
          </a:xfrm>
          <a:prstGeom prst="rect">
            <a:avLst/>
          </a:prstGeom>
          <a:noFill/>
          <a:ln/>
        </p:spPr>
        <p:txBody>
          <a:bodyPr wrap="square" lIns="0" tIns="0" rIns="0" bIns="0" rtlCol="0" anchor="t"/>
          <a:lstStyle/>
          <a:p>
            <a:pPr marL="0" indent="0" algn="ctr">
              <a:buNone/>
            </a:pPr>
            <a:r>
              <a:rPr lang="en-US" sz="2400" b="1" dirty="0">
                <a:solidFill>
                  <a:schemeClr val="bg1"/>
                </a:solidFill>
              </a:rPr>
              <a:t>Demo: LLM investment assistant</a:t>
            </a:r>
            <a:endParaRPr lang="en-US" sz="2400" dirty="0"/>
          </a:p>
        </p:txBody>
      </p:sp>
      <p:sp>
        <p:nvSpPr>
          <p:cNvPr id="18" name="Text 30"/>
          <p:cNvSpPr txBox="1"/>
          <p:nvPr/>
        </p:nvSpPr>
        <p:spPr>
          <a:xfrm>
            <a:off x="5760720" y="4480560"/>
            <a:ext cx="5425135" cy="731520"/>
          </a:xfrm>
          <a:prstGeom prst="rect">
            <a:avLst/>
          </a:prstGeom>
          <a:noFill/>
          <a:ln/>
        </p:spPr>
        <p:txBody>
          <a:bodyPr wrap="square" lIns="0" tIns="0" rIns="0" bIns="0" rtlCol="0" anchor="t"/>
          <a:lstStyle/>
          <a:p>
            <a:pPr marL="0" indent="0" algn="ctr">
              <a:buNone/>
            </a:pPr>
            <a:r>
              <a:rPr lang="en-US" sz="1800" dirty="0">
                <a:solidFill>
                  <a:schemeClr val="accent4"/>
                </a:solidFill>
              </a:rPr>
              <a:t>Reads 40+ page fund reports and answers investor questions</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One team for all three</a:t>
            </a:r>
            <a:endParaRPr lang="en-US" sz="3400" dirty="0"/>
          </a:p>
        </p:txBody>
      </p:sp>
      <p:sp>
        <p:nvSpPr>
          <p:cNvPr id="4" name="Card 31"/>
          <p:cNvSpPr/>
          <p:nvPr/>
        </p:nvSpPr>
        <p:spPr>
          <a:xfrm>
            <a:off x="640080" y="1828800"/>
            <a:ext cx="4754880" cy="914400"/>
          </a:xfrm>
          <a:prstGeom prst="roundRect">
            <a:avLst>
              <a:gd name="adj" fmla="val 14000"/>
            </a:avLst>
          </a:prstGeom>
          <a:solidFill>
            <a:schemeClr val="bg2">
              <a:alpha val="55000"/>
            </a:schemeClr>
          </a:solidFill>
          <a:ln/>
        </p:spPr>
      </p:sp>
      <p:sp>
        <p:nvSpPr>
          <p:cNvPr id="5" name="Text 32"/>
          <p:cNvSpPr txBox="1"/>
          <p:nvPr/>
        </p:nvSpPr>
        <p:spPr>
          <a:xfrm>
            <a:off x="960120" y="1828800"/>
            <a:ext cx="4206240" cy="914400"/>
          </a:xfrm>
          <a:prstGeom prst="rect">
            <a:avLst/>
          </a:prstGeom>
          <a:noFill/>
          <a:ln/>
        </p:spPr>
        <p:txBody>
          <a:bodyPr wrap="square" lIns="0" tIns="0" rIns="0" bIns="0" rtlCol="0" anchor="ctr"/>
          <a:lstStyle/>
          <a:p>
            <a:pPr marL="0" indent="0">
              <a:buNone/>
            </a:pPr>
            <a:r>
              <a:rPr lang="en-US" sz="1800" dirty="0">
                <a:solidFill>
                  <a:schemeClr val="tx1"/>
                </a:solidFill>
              </a:rPr>
              <a:t>Not built for production</a:t>
            </a:r>
            <a:endParaRPr lang="en-US" sz="1800" dirty="0"/>
          </a:p>
        </p:txBody>
      </p:sp>
      <p:sp>
        <p:nvSpPr>
          <p:cNvPr id="6" name="Arrow 33"/>
          <p:cNvSpPr/>
          <p:nvPr/>
        </p:nvSpPr>
        <p:spPr>
          <a:xfrm>
            <a:off x="5532120" y="2286000"/>
            <a:ext cx="685800" cy="0"/>
          </a:xfrm>
          <a:prstGeom prst="line">
            <a:avLst/>
          </a:prstGeom>
          <a:noFill/>
          <a:ln w="25400">
            <a:solidFill>
              <a:schemeClr val="accent1"/>
            </a:solidFill>
            <a:prstDash val="solid"/>
            <a:tailEnd type="triangle"/>
          </a:ln>
        </p:spPr>
      </p:sp>
      <p:sp>
        <p:nvSpPr>
          <p:cNvPr id="7" name="Card 34"/>
          <p:cNvSpPr/>
          <p:nvPr/>
        </p:nvSpPr>
        <p:spPr>
          <a:xfrm>
            <a:off x="6355080" y="1828800"/>
            <a:ext cx="5196535" cy="914400"/>
          </a:xfrm>
          <a:prstGeom prst="roundRect">
            <a:avLst>
              <a:gd name="adj" fmla="val 14000"/>
            </a:avLst>
          </a:prstGeom>
          <a:solidFill>
            <a:schemeClr val="accent1"/>
          </a:solidFill>
          <a:ln/>
        </p:spPr>
      </p:sp>
      <p:sp>
        <p:nvSpPr>
          <p:cNvPr id="8" name="Icon circle 35"/>
          <p:cNvSpPr/>
          <p:nvPr/>
        </p:nvSpPr>
        <p:spPr>
          <a:xfrm>
            <a:off x="6537960" y="1984248"/>
            <a:ext cx="603504" cy="603504"/>
          </a:xfrm>
          <a:prstGeom prst="ellipse">
            <a:avLst/>
          </a:prstGeom>
          <a:solidFill>
            <a:schemeClr val="bg1"/>
          </a:solidFill>
          <a:ln/>
        </p:spPr>
      </p:sp>
      <p:pic>
        <p:nvPicPr>
          <p:cNvPr id="9" name="Icon 36" descr="preencoded.png"/>
          <p:cNvPicPr>
            <a:picLocks noChangeAspect="1"/>
          </p:cNvPicPr>
          <p:nvPr/>
        </p:nvPicPr>
        <p:blipFill>
          <a:blip r:embed="rId3"/>
          <a:stretch>
            <a:fillRect/>
          </a:stretch>
        </p:blipFill>
        <p:spPr>
          <a:xfrm>
            <a:off x="6700906" y="2147194"/>
            <a:ext cx="277612" cy="277612"/>
          </a:xfrm>
          <a:prstGeom prst="rect">
            <a:avLst/>
          </a:prstGeom>
        </p:spPr>
      </p:pic>
      <p:sp>
        <p:nvSpPr>
          <p:cNvPr id="10" name="Text 37"/>
          <p:cNvSpPr txBox="1"/>
          <p:nvPr/>
        </p:nvSpPr>
        <p:spPr>
          <a:xfrm>
            <a:off x="7360920" y="1828800"/>
            <a:ext cx="3962095" cy="914400"/>
          </a:xfrm>
          <a:prstGeom prst="rect">
            <a:avLst/>
          </a:prstGeom>
          <a:noFill/>
          <a:ln/>
        </p:spPr>
        <p:txBody>
          <a:bodyPr wrap="square" lIns="0" tIns="0" rIns="0" bIns="0" rtlCol="0" anchor="ctr"/>
          <a:lstStyle/>
          <a:p>
            <a:pPr marL="0" indent="0">
              <a:buNone/>
            </a:pPr>
            <a:r>
              <a:rPr lang="en-US" sz="1800" b="1" dirty="0">
                <a:solidFill>
                  <a:schemeClr val="bg1"/>
                </a:solidFill>
              </a:rPr>
              <a:t>We build agents on a tested reference architecture.</a:t>
            </a:r>
            <a:endParaRPr lang="en-US" sz="1800" dirty="0"/>
          </a:p>
        </p:txBody>
      </p:sp>
      <p:sp>
        <p:nvSpPr>
          <p:cNvPr id="11" name="Card 38"/>
          <p:cNvSpPr/>
          <p:nvPr/>
        </p:nvSpPr>
        <p:spPr>
          <a:xfrm>
            <a:off x="640080" y="2907792"/>
            <a:ext cx="4754880" cy="914400"/>
          </a:xfrm>
          <a:prstGeom prst="roundRect">
            <a:avLst>
              <a:gd name="adj" fmla="val 14000"/>
            </a:avLst>
          </a:prstGeom>
          <a:solidFill>
            <a:schemeClr val="bg2">
              <a:alpha val="55000"/>
            </a:schemeClr>
          </a:solidFill>
          <a:ln/>
        </p:spPr>
      </p:sp>
      <p:sp>
        <p:nvSpPr>
          <p:cNvPr id="12" name="Text 39"/>
          <p:cNvSpPr txBox="1"/>
          <p:nvPr/>
        </p:nvSpPr>
        <p:spPr>
          <a:xfrm>
            <a:off x="960120" y="2907792"/>
            <a:ext cx="4206240" cy="914400"/>
          </a:xfrm>
          <a:prstGeom prst="rect">
            <a:avLst/>
          </a:prstGeom>
          <a:noFill/>
          <a:ln/>
        </p:spPr>
        <p:txBody>
          <a:bodyPr wrap="square" lIns="0" tIns="0" rIns="0" bIns="0" rtlCol="0" anchor="ctr"/>
          <a:lstStyle/>
          <a:p>
            <a:pPr marL="0" indent="0">
              <a:buNone/>
            </a:pPr>
            <a:r>
              <a:rPr lang="en-US" sz="1800" dirty="0">
                <a:solidFill>
                  <a:schemeClr val="tx1"/>
                </a:solidFill>
              </a:rPr>
              <a:t>Nobody can show it is safe</a:t>
            </a:r>
            <a:endParaRPr lang="en-US" sz="1800" dirty="0"/>
          </a:p>
        </p:txBody>
      </p:sp>
      <p:sp>
        <p:nvSpPr>
          <p:cNvPr id="13" name="Arrow 40"/>
          <p:cNvSpPr/>
          <p:nvPr/>
        </p:nvSpPr>
        <p:spPr>
          <a:xfrm>
            <a:off x="5532120" y="3364992"/>
            <a:ext cx="685800" cy="0"/>
          </a:xfrm>
          <a:prstGeom prst="line">
            <a:avLst/>
          </a:prstGeom>
          <a:noFill/>
          <a:ln w="25400">
            <a:solidFill>
              <a:schemeClr val="accent1"/>
            </a:solidFill>
            <a:prstDash val="solid"/>
            <a:tailEnd type="triangle"/>
          </a:ln>
        </p:spPr>
      </p:sp>
      <p:sp>
        <p:nvSpPr>
          <p:cNvPr id="14" name="Card 41"/>
          <p:cNvSpPr/>
          <p:nvPr/>
        </p:nvSpPr>
        <p:spPr>
          <a:xfrm>
            <a:off x="6355080" y="2907792"/>
            <a:ext cx="5196535" cy="914400"/>
          </a:xfrm>
          <a:prstGeom prst="roundRect">
            <a:avLst>
              <a:gd name="adj" fmla="val 14000"/>
            </a:avLst>
          </a:prstGeom>
          <a:solidFill>
            <a:schemeClr val="accent1"/>
          </a:solidFill>
          <a:ln/>
        </p:spPr>
      </p:sp>
      <p:sp>
        <p:nvSpPr>
          <p:cNvPr id="15" name="Icon circle 42"/>
          <p:cNvSpPr/>
          <p:nvPr/>
        </p:nvSpPr>
        <p:spPr>
          <a:xfrm>
            <a:off x="6537960" y="3063240"/>
            <a:ext cx="603504" cy="603504"/>
          </a:xfrm>
          <a:prstGeom prst="ellipse">
            <a:avLst/>
          </a:prstGeom>
          <a:solidFill>
            <a:schemeClr val="bg1"/>
          </a:solidFill>
          <a:ln/>
        </p:spPr>
      </p:sp>
      <p:pic>
        <p:nvPicPr>
          <p:cNvPr id="16" name="Icon 43" descr="preencoded.png"/>
          <p:cNvPicPr>
            <a:picLocks noChangeAspect="1"/>
          </p:cNvPicPr>
          <p:nvPr/>
        </p:nvPicPr>
        <p:blipFill>
          <a:blip r:embed="rId4"/>
          <a:stretch>
            <a:fillRect/>
          </a:stretch>
        </p:blipFill>
        <p:spPr>
          <a:xfrm>
            <a:off x="6700906" y="3226186"/>
            <a:ext cx="277612" cy="277612"/>
          </a:xfrm>
          <a:prstGeom prst="rect">
            <a:avLst/>
          </a:prstGeom>
        </p:spPr>
      </p:pic>
      <p:sp>
        <p:nvSpPr>
          <p:cNvPr id="17" name="Text 44"/>
          <p:cNvSpPr txBox="1"/>
          <p:nvPr/>
        </p:nvSpPr>
        <p:spPr>
          <a:xfrm>
            <a:off x="7360920" y="2907792"/>
            <a:ext cx="3962095" cy="914400"/>
          </a:xfrm>
          <a:prstGeom prst="rect">
            <a:avLst/>
          </a:prstGeom>
          <a:noFill/>
          <a:ln/>
        </p:spPr>
        <p:txBody>
          <a:bodyPr wrap="square" lIns="0" tIns="0" rIns="0" bIns="0" rtlCol="0" anchor="ctr"/>
          <a:lstStyle/>
          <a:p>
            <a:pPr marL="0" indent="0">
              <a:buNone/>
            </a:pPr>
            <a:r>
              <a:rPr lang="en-US" sz="1800" b="1" dirty="0">
                <a:solidFill>
                  <a:schemeClr val="bg1"/>
                </a:solidFill>
              </a:rPr>
              <a:t>We attack and audit every agent before launch.</a:t>
            </a:r>
            <a:endParaRPr lang="en-US" sz="1800" dirty="0"/>
          </a:p>
        </p:txBody>
      </p:sp>
      <p:sp>
        <p:nvSpPr>
          <p:cNvPr id="18" name="Card 45"/>
          <p:cNvSpPr/>
          <p:nvPr/>
        </p:nvSpPr>
        <p:spPr>
          <a:xfrm>
            <a:off x="640080" y="3986784"/>
            <a:ext cx="4754880" cy="914400"/>
          </a:xfrm>
          <a:prstGeom prst="roundRect">
            <a:avLst>
              <a:gd name="adj" fmla="val 14000"/>
            </a:avLst>
          </a:prstGeom>
          <a:solidFill>
            <a:schemeClr val="bg2">
              <a:alpha val="55000"/>
            </a:schemeClr>
          </a:solidFill>
          <a:ln/>
        </p:spPr>
      </p:sp>
      <p:sp>
        <p:nvSpPr>
          <p:cNvPr id="19" name="Text 46"/>
          <p:cNvSpPr txBox="1"/>
          <p:nvPr/>
        </p:nvSpPr>
        <p:spPr>
          <a:xfrm>
            <a:off x="960120" y="3986784"/>
            <a:ext cx="4206240" cy="914400"/>
          </a:xfrm>
          <a:prstGeom prst="rect">
            <a:avLst/>
          </a:prstGeom>
          <a:noFill/>
          <a:ln/>
        </p:spPr>
        <p:txBody>
          <a:bodyPr wrap="square" lIns="0" tIns="0" rIns="0" bIns="0" rtlCol="0" anchor="ctr"/>
          <a:lstStyle/>
          <a:p>
            <a:pPr marL="0" indent="0">
              <a:buNone/>
            </a:pPr>
            <a:r>
              <a:rPr lang="en-US" sz="1800" dirty="0">
                <a:solidFill>
                  <a:schemeClr val="tx1"/>
                </a:solidFill>
              </a:rPr>
              <a:t>The data is not ready</a:t>
            </a:r>
            <a:endParaRPr lang="en-US" sz="1800" dirty="0"/>
          </a:p>
        </p:txBody>
      </p:sp>
      <p:sp>
        <p:nvSpPr>
          <p:cNvPr id="20" name="Arrow 47"/>
          <p:cNvSpPr/>
          <p:nvPr/>
        </p:nvSpPr>
        <p:spPr>
          <a:xfrm>
            <a:off x="5532120" y="4443984"/>
            <a:ext cx="685800" cy="0"/>
          </a:xfrm>
          <a:prstGeom prst="line">
            <a:avLst/>
          </a:prstGeom>
          <a:noFill/>
          <a:ln w="25400">
            <a:solidFill>
              <a:schemeClr val="accent1"/>
            </a:solidFill>
            <a:prstDash val="solid"/>
            <a:tailEnd type="triangle"/>
          </a:ln>
        </p:spPr>
      </p:sp>
      <p:sp>
        <p:nvSpPr>
          <p:cNvPr id="21" name="Card 48"/>
          <p:cNvSpPr/>
          <p:nvPr/>
        </p:nvSpPr>
        <p:spPr>
          <a:xfrm>
            <a:off x="6355080" y="3986784"/>
            <a:ext cx="5196535" cy="914400"/>
          </a:xfrm>
          <a:prstGeom prst="roundRect">
            <a:avLst>
              <a:gd name="adj" fmla="val 14000"/>
            </a:avLst>
          </a:prstGeom>
          <a:solidFill>
            <a:schemeClr val="accent1"/>
          </a:solidFill>
          <a:ln/>
        </p:spPr>
      </p:sp>
      <p:sp>
        <p:nvSpPr>
          <p:cNvPr id="22" name="Icon circle 49"/>
          <p:cNvSpPr/>
          <p:nvPr/>
        </p:nvSpPr>
        <p:spPr>
          <a:xfrm>
            <a:off x="6537960" y="4142232"/>
            <a:ext cx="603504" cy="603504"/>
          </a:xfrm>
          <a:prstGeom prst="ellipse">
            <a:avLst/>
          </a:prstGeom>
          <a:solidFill>
            <a:schemeClr val="bg1"/>
          </a:solidFill>
          <a:ln/>
        </p:spPr>
      </p:sp>
      <p:pic>
        <p:nvPicPr>
          <p:cNvPr id="23" name="Icon 50" descr="preencoded.png"/>
          <p:cNvPicPr>
            <a:picLocks noChangeAspect="1"/>
          </p:cNvPicPr>
          <p:nvPr/>
        </p:nvPicPr>
        <p:blipFill>
          <a:blip r:embed="rId5"/>
          <a:stretch>
            <a:fillRect/>
          </a:stretch>
        </p:blipFill>
        <p:spPr>
          <a:xfrm>
            <a:off x="6700906" y="4305178"/>
            <a:ext cx="277612" cy="277612"/>
          </a:xfrm>
          <a:prstGeom prst="rect">
            <a:avLst/>
          </a:prstGeom>
        </p:spPr>
      </p:pic>
      <p:sp>
        <p:nvSpPr>
          <p:cNvPr id="24" name="Text 51"/>
          <p:cNvSpPr txBox="1"/>
          <p:nvPr/>
        </p:nvSpPr>
        <p:spPr>
          <a:xfrm>
            <a:off x="7360920" y="3986784"/>
            <a:ext cx="3962095" cy="914400"/>
          </a:xfrm>
          <a:prstGeom prst="rect">
            <a:avLst/>
          </a:prstGeom>
          <a:noFill/>
          <a:ln/>
        </p:spPr>
        <p:txBody>
          <a:bodyPr wrap="square" lIns="0" tIns="0" rIns="0" bIns="0" rtlCol="0" anchor="ctr"/>
          <a:lstStyle/>
          <a:p>
            <a:pPr marL="0" indent="0">
              <a:buNone/>
            </a:pPr>
            <a:r>
              <a:rPr lang="en-US" sz="1800" b="1" dirty="0">
                <a:solidFill>
                  <a:schemeClr val="bg1"/>
                </a:solidFill>
              </a:rPr>
              <a:t>We prepare the data the agent needs.</a:t>
            </a:r>
            <a:endParaRPr lang="en-US" sz="1800" dirty="0"/>
          </a:p>
        </p:txBody>
      </p:sp>
      <p:sp>
        <p:nvSpPr>
          <p:cNvPr id="25" name="Card 52"/>
          <p:cNvSpPr/>
          <p:nvPr/>
        </p:nvSpPr>
        <p:spPr>
          <a:xfrm>
            <a:off x="640080" y="5120640"/>
            <a:ext cx="10911535" cy="914400"/>
          </a:xfrm>
          <a:prstGeom prst="roundRect">
            <a:avLst>
              <a:gd name="adj" fmla="val 14000"/>
            </a:avLst>
          </a:prstGeom>
          <a:solidFill>
            <a:schemeClr val="tx1"/>
          </a:solidFill>
          <a:ln/>
        </p:spPr>
      </p:sp>
      <p:sp>
        <p:nvSpPr>
          <p:cNvPr id="26" name="Text 53"/>
          <p:cNvSpPr txBox="1"/>
          <p:nvPr/>
        </p:nvSpPr>
        <p:spPr>
          <a:xfrm>
            <a:off x="1005840" y="5120640"/>
            <a:ext cx="10180015" cy="914400"/>
          </a:xfrm>
          <a:prstGeom prst="rect">
            <a:avLst/>
          </a:prstGeom>
          <a:noFill/>
          <a:ln/>
        </p:spPr>
        <p:txBody>
          <a:bodyPr wrap="square" lIns="0" tIns="0" rIns="0" bIns="0" rtlCol="0" anchor="ctr"/>
          <a:lstStyle/>
          <a:p>
            <a:pPr marL="0" indent="0">
              <a:buNone/>
            </a:pPr>
            <a:r>
              <a:rPr lang="en-US" sz="2200" b="1" dirty="0">
                <a:solidFill>
                  <a:schemeClr val="bg1"/>
                </a:solidFill>
              </a:rPr>
              <a:t>We build the agents. Then we attack them before anyone else does.</a:t>
            </a:r>
            <a:endParaRPr lang="en-US" sz="2200" dirty="0"/>
          </a:p>
        </p:txBody>
      </p:sp>
      <p:sp>
        <p:nvSpPr>
          <p:cNvPr id="3"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We build agents for production</a:t>
            </a:r>
            <a:endParaRPr lang="en-US" sz="3400" dirty="0"/>
          </a:p>
        </p:txBody>
      </p:sp>
      <p:sp>
        <p:nvSpPr>
          <p:cNvPr id="4" name="Text 54"/>
          <p:cNvSpPr txBox="1"/>
          <p:nvPr/>
        </p:nvSpPr>
        <p:spPr>
          <a:xfrm>
            <a:off x="640080" y="1691640"/>
            <a:ext cx="10911535" cy="365760"/>
          </a:xfrm>
          <a:prstGeom prst="rect">
            <a:avLst/>
          </a:prstGeom>
          <a:noFill/>
          <a:ln/>
        </p:spPr>
        <p:txBody>
          <a:bodyPr wrap="square" lIns="0" tIns="0" rIns="0" bIns="0" rtlCol="0" anchor="t"/>
          <a:lstStyle/>
          <a:p>
            <a:pPr marL="0" indent="0">
              <a:buNone/>
            </a:pPr>
            <a:r>
              <a:rPr lang="en-US" sz="1700" dirty="0">
                <a:solidFill>
                  <a:schemeClr val="tx1"/>
                </a:solidFill>
              </a:rPr>
              <a:t>Our reference architecture covers 11 stages, from input guardrails to observability.</a:t>
            </a:r>
            <a:endParaRPr lang="en-US" sz="1700" dirty="0"/>
          </a:p>
        </p:txBody>
      </p:sp>
      <p:sp>
        <p:nvSpPr>
          <p:cNvPr id="5" name="Stage 1"/>
          <p:cNvSpPr/>
          <p:nvPr/>
        </p:nvSpPr>
        <p:spPr>
          <a:xfrm>
            <a:off x="640080" y="2148840"/>
            <a:ext cx="1417712" cy="868680"/>
          </a:xfrm>
          <a:prstGeom prst="roundRect">
            <a:avLst>
              <a:gd name="adj" fmla="val 12632"/>
            </a:avLst>
          </a:prstGeom>
          <a:solidFill>
            <a:schemeClr val="accent1"/>
          </a:solidFill>
          <a:ln/>
        </p:spPr>
      </p:sp>
      <p:sp>
        <p:nvSpPr>
          <p:cNvPr id="6" name="Text 55"/>
          <p:cNvSpPr txBox="1"/>
          <p:nvPr/>
        </p:nvSpPr>
        <p:spPr>
          <a:xfrm>
            <a:off x="713232" y="214884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Input guardrails</a:t>
            </a:r>
            <a:endParaRPr lang="en-US" sz="1200" dirty="0"/>
          </a:p>
        </p:txBody>
      </p:sp>
      <p:sp>
        <p:nvSpPr>
          <p:cNvPr id="7" name="Stage 2"/>
          <p:cNvSpPr/>
          <p:nvPr/>
        </p:nvSpPr>
        <p:spPr>
          <a:xfrm>
            <a:off x="2222384" y="2148840"/>
            <a:ext cx="1417712" cy="868680"/>
          </a:xfrm>
          <a:prstGeom prst="roundRect">
            <a:avLst>
              <a:gd name="adj" fmla="val 12632"/>
            </a:avLst>
          </a:prstGeom>
          <a:solidFill>
            <a:schemeClr val="tx1"/>
          </a:solidFill>
          <a:ln/>
        </p:spPr>
      </p:sp>
      <p:sp>
        <p:nvSpPr>
          <p:cNvPr id="8" name="Text 56"/>
          <p:cNvSpPr txBox="1"/>
          <p:nvPr/>
        </p:nvSpPr>
        <p:spPr>
          <a:xfrm>
            <a:off x="2295536" y="214884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Task decomposition</a:t>
            </a:r>
            <a:endParaRPr lang="en-US" sz="1200" dirty="0"/>
          </a:p>
        </p:txBody>
      </p:sp>
      <p:sp>
        <p:nvSpPr>
          <p:cNvPr id="9" name="Stage 3"/>
          <p:cNvSpPr/>
          <p:nvPr/>
        </p:nvSpPr>
        <p:spPr>
          <a:xfrm>
            <a:off x="3804688" y="2148840"/>
            <a:ext cx="1417712" cy="868680"/>
          </a:xfrm>
          <a:prstGeom prst="roundRect">
            <a:avLst>
              <a:gd name="adj" fmla="val 12632"/>
            </a:avLst>
          </a:prstGeom>
          <a:solidFill>
            <a:schemeClr val="tx1"/>
          </a:solidFill>
          <a:ln/>
        </p:spPr>
      </p:sp>
      <p:sp>
        <p:nvSpPr>
          <p:cNvPr id="10" name="Text 57"/>
          <p:cNvSpPr txBox="1"/>
          <p:nvPr/>
        </p:nvSpPr>
        <p:spPr>
          <a:xfrm>
            <a:off x="3877840" y="214884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Orchestration</a:t>
            </a:r>
            <a:endParaRPr lang="en-US" sz="1200" dirty="0"/>
          </a:p>
        </p:txBody>
      </p:sp>
      <p:sp>
        <p:nvSpPr>
          <p:cNvPr id="11" name="Stage 4"/>
          <p:cNvSpPr/>
          <p:nvPr/>
        </p:nvSpPr>
        <p:spPr>
          <a:xfrm>
            <a:off x="5386992" y="2148840"/>
            <a:ext cx="1417712" cy="868680"/>
          </a:xfrm>
          <a:prstGeom prst="roundRect">
            <a:avLst>
              <a:gd name="adj" fmla="val 12632"/>
            </a:avLst>
          </a:prstGeom>
          <a:solidFill>
            <a:schemeClr val="tx1"/>
          </a:solidFill>
          <a:ln/>
        </p:spPr>
      </p:sp>
      <p:sp>
        <p:nvSpPr>
          <p:cNvPr id="12" name="Text 58"/>
          <p:cNvSpPr txBox="1"/>
          <p:nvPr/>
        </p:nvSpPr>
        <p:spPr>
          <a:xfrm>
            <a:off x="5460144" y="214884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Tools and knowledge</a:t>
            </a:r>
            <a:endParaRPr lang="en-US" sz="1200" dirty="0"/>
          </a:p>
        </p:txBody>
      </p:sp>
      <p:sp>
        <p:nvSpPr>
          <p:cNvPr id="13" name="Stage 5"/>
          <p:cNvSpPr/>
          <p:nvPr/>
        </p:nvSpPr>
        <p:spPr>
          <a:xfrm>
            <a:off x="6969296" y="2148840"/>
            <a:ext cx="1417712" cy="868680"/>
          </a:xfrm>
          <a:prstGeom prst="roundRect">
            <a:avLst>
              <a:gd name="adj" fmla="val 12632"/>
            </a:avLst>
          </a:prstGeom>
          <a:solidFill>
            <a:schemeClr val="tx1"/>
          </a:solidFill>
          <a:ln/>
        </p:spPr>
      </p:sp>
      <p:sp>
        <p:nvSpPr>
          <p:cNvPr id="14" name="Text 59"/>
          <p:cNvSpPr txBox="1"/>
          <p:nvPr/>
        </p:nvSpPr>
        <p:spPr>
          <a:xfrm>
            <a:off x="7042448" y="214884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Reflection loops</a:t>
            </a:r>
            <a:endParaRPr lang="en-US" sz="1200" dirty="0"/>
          </a:p>
        </p:txBody>
      </p:sp>
      <p:sp>
        <p:nvSpPr>
          <p:cNvPr id="15" name="Stage 6"/>
          <p:cNvSpPr/>
          <p:nvPr/>
        </p:nvSpPr>
        <p:spPr>
          <a:xfrm>
            <a:off x="8551599" y="2148840"/>
            <a:ext cx="1417712" cy="868680"/>
          </a:xfrm>
          <a:prstGeom prst="roundRect">
            <a:avLst>
              <a:gd name="adj" fmla="val 12632"/>
            </a:avLst>
          </a:prstGeom>
          <a:solidFill>
            <a:schemeClr val="accent1"/>
          </a:solidFill>
          <a:ln/>
        </p:spPr>
      </p:sp>
      <p:sp>
        <p:nvSpPr>
          <p:cNvPr id="16" name="Text 60"/>
          <p:cNvSpPr txBox="1"/>
          <p:nvPr/>
        </p:nvSpPr>
        <p:spPr>
          <a:xfrm>
            <a:off x="8624751" y="214884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Human approval</a:t>
            </a:r>
            <a:endParaRPr lang="en-US" sz="1200" dirty="0"/>
          </a:p>
        </p:txBody>
      </p:sp>
      <p:sp>
        <p:nvSpPr>
          <p:cNvPr id="17" name="Stage 7"/>
          <p:cNvSpPr/>
          <p:nvPr/>
        </p:nvSpPr>
        <p:spPr>
          <a:xfrm>
            <a:off x="10133903" y="2148840"/>
            <a:ext cx="1417712" cy="868680"/>
          </a:xfrm>
          <a:prstGeom prst="roundRect">
            <a:avLst>
              <a:gd name="adj" fmla="val 12632"/>
            </a:avLst>
          </a:prstGeom>
          <a:solidFill>
            <a:schemeClr val="accent1"/>
          </a:solidFill>
          <a:ln/>
        </p:spPr>
      </p:sp>
      <p:sp>
        <p:nvSpPr>
          <p:cNvPr id="18" name="Text 61"/>
          <p:cNvSpPr txBox="1"/>
          <p:nvPr/>
        </p:nvSpPr>
        <p:spPr>
          <a:xfrm>
            <a:off x="10207055" y="2148840"/>
            <a:ext cx="1271408" cy="868680"/>
          </a:xfrm>
          <a:prstGeom prst="rect">
            <a:avLst/>
          </a:prstGeom>
          <a:noFill/>
          <a:ln/>
        </p:spPr>
        <p:txBody>
          <a:bodyPr wrap="square" lIns="0" tIns="0" rIns="0" bIns="0" rtlCol="0" anchor="ctr"/>
          <a:lstStyle/>
          <a:p>
            <a:pPr marL="0" indent="0" algn="ctr">
              <a:buNone/>
            </a:pPr>
            <a:r>
              <a:rPr lang="en-US" sz="1200" b="1" dirty="0">
                <a:solidFill>
                  <a:schemeClr val="bg1"/>
                </a:solidFill>
              </a:rPr>
              <a:t>Observability</a:t>
            </a:r>
            <a:endParaRPr lang="en-US" sz="1200" dirty="0"/>
          </a:p>
        </p:txBody>
      </p:sp>
      <p:sp>
        <p:nvSpPr>
          <p:cNvPr id="19" name="Card 62"/>
          <p:cNvSpPr/>
          <p:nvPr/>
        </p:nvSpPr>
        <p:spPr>
          <a:xfrm>
            <a:off x="640080" y="3200400"/>
            <a:ext cx="3454298" cy="2834640"/>
          </a:xfrm>
          <a:prstGeom prst="roundRect">
            <a:avLst>
              <a:gd name="adj" fmla="val 4516"/>
            </a:avLst>
          </a:prstGeom>
          <a:solidFill>
            <a:schemeClr val="bg2">
              <a:alpha val="55000"/>
            </a:schemeClr>
          </a:solidFill>
          <a:ln/>
        </p:spPr>
      </p:sp>
      <p:sp>
        <p:nvSpPr>
          <p:cNvPr id="20" name="Icon circle 63"/>
          <p:cNvSpPr/>
          <p:nvPr/>
        </p:nvSpPr>
        <p:spPr>
          <a:xfrm>
            <a:off x="914400" y="3474720"/>
            <a:ext cx="548640" cy="548640"/>
          </a:xfrm>
          <a:prstGeom prst="ellipse">
            <a:avLst/>
          </a:prstGeom>
          <a:solidFill>
            <a:schemeClr val="accent1"/>
          </a:solidFill>
          <a:ln/>
        </p:spPr>
      </p:sp>
      <p:pic>
        <p:nvPicPr>
          <p:cNvPr id="21" name="Icon 64" descr="preencoded.png"/>
          <p:cNvPicPr>
            <a:picLocks noChangeAspect="1"/>
          </p:cNvPicPr>
          <p:nvPr/>
        </p:nvPicPr>
        <p:blipFill>
          <a:blip r:embed="rId3"/>
          <a:stretch>
            <a:fillRect/>
          </a:stretch>
        </p:blipFill>
        <p:spPr>
          <a:xfrm>
            <a:off x="1062533" y="3622853"/>
            <a:ext cx="252374" cy="252374"/>
          </a:xfrm>
          <a:prstGeom prst="rect">
            <a:avLst/>
          </a:prstGeom>
        </p:spPr>
      </p:pic>
      <p:sp>
        <p:nvSpPr>
          <p:cNvPr id="22" name="Text 65"/>
          <p:cNvSpPr txBox="1"/>
          <p:nvPr/>
        </p:nvSpPr>
        <p:spPr>
          <a:xfrm>
            <a:off x="1600200" y="3474720"/>
            <a:ext cx="2219858" cy="548640"/>
          </a:xfrm>
          <a:prstGeom prst="rect">
            <a:avLst/>
          </a:prstGeom>
          <a:noFill/>
          <a:ln/>
        </p:spPr>
        <p:txBody>
          <a:bodyPr wrap="square" lIns="0" tIns="0" rIns="0" bIns="0" rtlCol="0" anchor="ctr"/>
          <a:lstStyle/>
          <a:p>
            <a:pPr marL="0" indent="0">
              <a:buNone/>
            </a:pPr>
            <a:r>
              <a:rPr lang="en-US" sz="1200" b="1" kern="0" spc="100" dirty="0">
                <a:solidFill>
                  <a:schemeClr val="accent5"/>
                </a:solidFill>
              </a:rPr>
              <a:t>FINANCIAL SERVICES</a:t>
            </a:r>
            <a:endParaRPr lang="en-US" sz="1200" dirty="0"/>
          </a:p>
        </p:txBody>
      </p:sp>
      <p:sp>
        <p:nvSpPr>
          <p:cNvPr id="23" name="Text 66"/>
          <p:cNvSpPr txBox="1"/>
          <p:nvPr/>
        </p:nvSpPr>
        <p:spPr>
          <a:xfrm>
            <a:off x="914400" y="4206240"/>
            <a:ext cx="2905658" cy="411480"/>
          </a:xfrm>
          <a:prstGeom prst="rect">
            <a:avLst/>
          </a:prstGeom>
          <a:noFill/>
          <a:ln/>
        </p:spPr>
        <p:txBody>
          <a:bodyPr wrap="square" lIns="0" tIns="0" rIns="0" bIns="0" rtlCol="0" anchor="t"/>
          <a:lstStyle/>
          <a:p>
            <a:pPr marL="0" indent="0">
              <a:buNone/>
            </a:pPr>
            <a:r>
              <a:rPr lang="en-US" sz="1800" b="1" dirty="0">
                <a:solidFill>
                  <a:schemeClr val="tx1"/>
                </a:solidFill>
              </a:rPr>
              <a:t>Investment assistant</a:t>
            </a:r>
            <a:endParaRPr lang="en-US" sz="1800" dirty="0"/>
          </a:p>
        </p:txBody>
      </p:sp>
      <p:sp>
        <p:nvSpPr>
          <p:cNvPr id="24" name="Text 67"/>
          <p:cNvSpPr txBox="1"/>
          <p:nvPr/>
        </p:nvSpPr>
        <p:spPr>
          <a:xfrm>
            <a:off x="914400" y="4709160"/>
            <a:ext cx="2905658" cy="1188720"/>
          </a:xfrm>
          <a:prstGeom prst="rect">
            <a:avLst/>
          </a:prstGeom>
          <a:noFill/>
          <a:ln/>
        </p:spPr>
        <p:txBody>
          <a:bodyPr wrap="square" lIns="0" tIns="0" rIns="0" bIns="0" rtlCol="0" anchor="t"/>
          <a:lstStyle/>
          <a:p>
            <a:pPr marL="0" indent="0">
              <a:buNone/>
            </a:pPr>
            <a:r>
              <a:rPr lang="en-US" sz="1500" dirty="0">
                <a:solidFill>
                  <a:schemeClr val="tx1"/>
                </a:solidFill>
              </a:rPr>
              <a:t>An LLM assistant for an asset management firm. It reads 40+ page fund reports and answers investor questions in plain language.</a:t>
            </a:r>
            <a:endParaRPr lang="en-US" sz="1500" dirty="0"/>
          </a:p>
        </p:txBody>
      </p:sp>
      <p:sp>
        <p:nvSpPr>
          <p:cNvPr id="25" name="Card 68"/>
          <p:cNvSpPr/>
          <p:nvPr/>
        </p:nvSpPr>
        <p:spPr>
          <a:xfrm>
            <a:off x="4368698" y="3200400"/>
            <a:ext cx="3454298" cy="2834640"/>
          </a:xfrm>
          <a:prstGeom prst="roundRect">
            <a:avLst>
              <a:gd name="adj" fmla="val 4516"/>
            </a:avLst>
          </a:prstGeom>
          <a:solidFill>
            <a:schemeClr val="bg2">
              <a:alpha val="55000"/>
            </a:schemeClr>
          </a:solidFill>
          <a:ln/>
        </p:spPr>
      </p:sp>
      <p:sp>
        <p:nvSpPr>
          <p:cNvPr id="26" name="Icon circle 69"/>
          <p:cNvSpPr/>
          <p:nvPr/>
        </p:nvSpPr>
        <p:spPr>
          <a:xfrm>
            <a:off x="4643018" y="3474720"/>
            <a:ext cx="548640" cy="548640"/>
          </a:xfrm>
          <a:prstGeom prst="ellipse">
            <a:avLst/>
          </a:prstGeom>
          <a:solidFill>
            <a:schemeClr val="accent1"/>
          </a:solidFill>
          <a:ln/>
        </p:spPr>
      </p:sp>
      <p:pic>
        <p:nvPicPr>
          <p:cNvPr id="27" name="Icon 70" descr="preencoded.png"/>
          <p:cNvPicPr>
            <a:picLocks noChangeAspect="1"/>
          </p:cNvPicPr>
          <p:nvPr/>
        </p:nvPicPr>
        <p:blipFill>
          <a:blip r:embed="rId4"/>
          <a:stretch>
            <a:fillRect/>
          </a:stretch>
        </p:blipFill>
        <p:spPr>
          <a:xfrm>
            <a:off x="4791151" y="3622853"/>
            <a:ext cx="252374" cy="252374"/>
          </a:xfrm>
          <a:prstGeom prst="rect">
            <a:avLst/>
          </a:prstGeom>
        </p:spPr>
      </p:pic>
      <p:sp>
        <p:nvSpPr>
          <p:cNvPr id="28" name="Text 71"/>
          <p:cNvSpPr txBox="1"/>
          <p:nvPr/>
        </p:nvSpPr>
        <p:spPr>
          <a:xfrm>
            <a:off x="5328818" y="3474720"/>
            <a:ext cx="2219858" cy="548640"/>
          </a:xfrm>
          <a:prstGeom prst="rect">
            <a:avLst/>
          </a:prstGeom>
          <a:noFill/>
          <a:ln/>
        </p:spPr>
        <p:txBody>
          <a:bodyPr wrap="square" lIns="0" tIns="0" rIns="0" bIns="0" rtlCol="0" anchor="ctr"/>
          <a:lstStyle/>
          <a:p>
            <a:pPr marL="0" indent="0">
              <a:buNone/>
            </a:pPr>
            <a:r>
              <a:rPr lang="en-US" sz="1200" b="1" kern="0" spc="100" dirty="0">
                <a:solidFill>
                  <a:schemeClr val="accent5"/>
                </a:solidFill>
              </a:rPr>
              <a:t>HEALTHCARE</a:t>
            </a:r>
            <a:endParaRPr lang="en-US" sz="1200" dirty="0"/>
          </a:p>
        </p:txBody>
      </p:sp>
      <p:sp>
        <p:nvSpPr>
          <p:cNvPr id="29" name="Text 72"/>
          <p:cNvSpPr txBox="1"/>
          <p:nvPr/>
        </p:nvSpPr>
        <p:spPr>
          <a:xfrm>
            <a:off x="4643018" y="4206240"/>
            <a:ext cx="2905658" cy="411480"/>
          </a:xfrm>
          <a:prstGeom prst="rect">
            <a:avLst/>
          </a:prstGeom>
          <a:noFill/>
          <a:ln/>
        </p:spPr>
        <p:txBody>
          <a:bodyPr wrap="square" lIns="0" tIns="0" rIns="0" bIns="0" rtlCol="0" anchor="t"/>
          <a:lstStyle/>
          <a:p>
            <a:pPr marL="0" indent="0">
              <a:buNone/>
            </a:pPr>
            <a:r>
              <a:rPr lang="en-US" sz="1800" b="1" dirty="0">
                <a:solidFill>
                  <a:schemeClr val="tx1"/>
                </a:solidFill>
              </a:rPr>
              <a:t>Video search</a:t>
            </a:r>
            <a:endParaRPr lang="en-US" sz="1800" dirty="0"/>
          </a:p>
        </p:txBody>
      </p:sp>
      <p:sp>
        <p:nvSpPr>
          <p:cNvPr id="30" name="Text 73"/>
          <p:cNvSpPr txBox="1"/>
          <p:nvPr/>
        </p:nvSpPr>
        <p:spPr>
          <a:xfrm>
            <a:off x="4643018" y="4709160"/>
            <a:ext cx="2905658" cy="1188720"/>
          </a:xfrm>
          <a:prstGeom prst="rect">
            <a:avLst/>
          </a:prstGeom>
          <a:noFill/>
          <a:ln/>
        </p:spPr>
        <p:txBody>
          <a:bodyPr wrap="square" lIns="0" tIns="0" rIns="0" bIns="0" rtlCol="0" anchor="t"/>
          <a:lstStyle/>
          <a:p>
            <a:pPr marL="0" indent="0">
              <a:buNone/>
            </a:pPr>
            <a:r>
              <a:rPr lang="en-US" sz="1500" dirty="0">
                <a:solidFill>
                  <a:schemeClr val="tx1"/>
                </a:solidFill>
              </a:rPr>
              <a:t>A retrieval system for a Canadian healthcare platform. Staff ask a question and get answers from thousands of recordings.</a:t>
            </a:r>
            <a:endParaRPr lang="en-US" sz="1500" dirty="0"/>
          </a:p>
        </p:txBody>
      </p:sp>
      <p:sp>
        <p:nvSpPr>
          <p:cNvPr id="31" name="Card 74"/>
          <p:cNvSpPr/>
          <p:nvPr/>
        </p:nvSpPr>
        <p:spPr>
          <a:xfrm>
            <a:off x="8097317" y="3200400"/>
            <a:ext cx="3454298" cy="2834640"/>
          </a:xfrm>
          <a:prstGeom prst="roundRect">
            <a:avLst>
              <a:gd name="adj" fmla="val 4516"/>
            </a:avLst>
          </a:prstGeom>
          <a:solidFill>
            <a:schemeClr val="bg2">
              <a:alpha val="55000"/>
            </a:schemeClr>
          </a:solidFill>
          <a:ln/>
        </p:spPr>
      </p:sp>
      <p:sp>
        <p:nvSpPr>
          <p:cNvPr id="32" name="Icon circle 75"/>
          <p:cNvSpPr/>
          <p:nvPr/>
        </p:nvSpPr>
        <p:spPr>
          <a:xfrm>
            <a:off x="8371637" y="3474720"/>
            <a:ext cx="548640" cy="548640"/>
          </a:xfrm>
          <a:prstGeom prst="ellipse">
            <a:avLst/>
          </a:prstGeom>
          <a:solidFill>
            <a:schemeClr val="accent1"/>
          </a:solidFill>
          <a:ln/>
        </p:spPr>
      </p:sp>
      <p:pic>
        <p:nvPicPr>
          <p:cNvPr id="33" name="Icon 76" descr="preencoded.png"/>
          <p:cNvPicPr>
            <a:picLocks noChangeAspect="1"/>
          </p:cNvPicPr>
          <p:nvPr/>
        </p:nvPicPr>
        <p:blipFill>
          <a:blip r:embed="rId5"/>
          <a:stretch>
            <a:fillRect/>
          </a:stretch>
        </p:blipFill>
        <p:spPr>
          <a:xfrm>
            <a:off x="8519770" y="3622853"/>
            <a:ext cx="252374" cy="252374"/>
          </a:xfrm>
          <a:prstGeom prst="rect">
            <a:avLst/>
          </a:prstGeom>
        </p:spPr>
      </p:pic>
      <p:sp>
        <p:nvSpPr>
          <p:cNvPr id="34" name="Text 77"/>
          <p:cNvSpPr txBox="1"/>
          <p:nvPr/>
        </p:nvSpPr>
        <p:spPr>
          <a:xfrm>
            <a:off x="9057437" y="3474720"/>
            <a:ext cx="2219858" cy="548640"/>
          </a:xfrm>
          <a:prstGeom prst="rect">
            <a:avLst/>
          </a:prstGeom>
          <a:noFill/>
          <a:ln/>
        </p:spPr>
        <p:txBody>
          <a:bodyPr wrap="square" lIns="0" tIns="0" rIns="0" bIns="0" rtlCol="0" anchor="ctr"/>
          <a:lstStyle/>
          <a:p>
            <a:pPr marL="0" indent="0">
              <a:buNone/>
            </a:pPr>
            <a:r>
              <a:rPr lang="en-US" sz="1200" b="1" kern="0" spc="100" dirty="0">
                <a:solidFill>
                  <a:schemeClr val="accent5"/>
                </a:solidFill>
              </a:rPr>
              <a:t>FOOD SERVICE</a:t>
            </a:r>
            <a:endParaRPr lang="en-US" sz="1200" dirty="0"/>
          </a:p>
        </p:txBody>
      </p:sp>
      <p:sp>
        <p:nvSpPr>
          <p:cNvPr id="35" name="Text 78"/>
          <p:cNvSpPr txBox="1"/>
          <p:nvPr/>
        </p:nvSpPr>
        <p:spPr>
          <a:xfrm>
            <a:off x="8371637" y="4206240"/>
            <a:ext cx="2905658" cy="411480"/>
          </a:xfrm>
          <a:prstGeom prst="rect">
            <a:avLst/>
          </a:prstGeom>
          <a:noFill/>
          <a:ln/>
        </p:spPr>
        <p:txBody>
          <a:bodyPr wrap="square" lIns="0" tIns="0" rIns="0" bIns="0" rtlCol="0" anchor="t"/>
          <a:lstStyle/>
          <a:p>
            <a:pPr marL="0" indent="0">
              <a:buNone/>
            </a:pPr>
            <a:r>
              <a:rPr lang="en-US" sz="1800" b="1" dirty="0">
                <a:solidFill>
                  <a:schemeClr val="tx1"/>
                </a:solidFill>
              </a:rPr>
              <a:t>AI ordering agent</a:t>
            </a:r>
            <a:endParaRPr lang="en-US" sz="1800" dirty="0"/>
          </a:p>
        </p:txBody>
      </p:sp>
      <p:sp>
        <p:nvSpPr>
          <p:cNvPr id="36" name="Text 79"/>
          <p:cNvSpPr txBox="1"/>
          <p:nvPr/>
        </p:nvSpPr>
        <p:spPr>
          <a:xfrm>
            <a:off x="8371637" y="4709160"/>
            <a:ext cx="2905658" cy="1188720"/>
          </a:xfrm>
          <a:prstGeom prst="rect">
            <a:avLst/>
          </a:prstGeom>
          <a:noFill/>
          <a:ln/>
        </p:spPr>
        <p:txBody>
          <a:bodyPr wrap="square" lIns="0" tIns="0" rIns="0" bIns="0" rtlCol="0" anchor="t"/>
          <a:lstStyle/>
          <a:p>
            <a:pPr marL="0" indent="0">
              <a:buNone/>
            </a:pPr>
            <a:r>
              <a:rPr lang="en-US" sz="1500" dirty="0">
                <a:solidFill>
                  <a:schemeClr val="tx1"/>
                </a:solidFill>
              </a:rPr>
              <a:t>xServe, our ordering product, deployed for a fast food chain in Saudi Arabia.</a:t>
            </a:r>
            <a:endParaRPr lang="en-US" sz="1500" dirty="0"/>
          </a:p>
        </p:txBody>
      </p:sp>
      <p:sp>
        <p:nvSpPr>
          <p:cNvPr id="3"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We attack them before anyone else does</a:t>
            </a:r>
            <a:endParaRPr lang="en-US" sz="3400" dirty="0"/>
          </a:p>
        </p:txBody>
      </p:sp>
      <p:sp>
        <p:nvSpPr>
          <p:cNvPr id="4" name="Icon circle 80"/>
          <p:cNvSpPr/>
          <p:nvPr/>
        </p:nvSpPr>
        <p:spPr>
          <a:xfrm>
            <a:off x="640080" y="1828800"/>
            <a:ext cx="640080" cy="640080"/>
          </a:xfrm>
          <a:prstGeom prst="ellipse">
            <a:avLst/>
          </a:prstGeom>
          <a:solidFill>
            <a:schemeClr val="accent1"/>
          </a:solidFill>
          <a:ln/>
        </p:spPr>
      </p:sp>
      <p:pic>
        <p:nvPicPr>
          <p:cNvPr id="5" name="Icon 81" descr="preencoded.png"/>
          <p:cNvPicPr>
            <a:picLocks noChangeAspect="1"/>
          </p:cNvPicPr>
          <p:nvPr/>
        </p:nvPicPr>
        <p:blipFill>
          <a:blip r:embed="rId3"/>
          <a:stretch>
            <a:fillRect/>
          </a:stretch>
        </p:blipFill>
        <p:spPr>
          <a:xfrm>
            <a:off x="812902" y="2001622"/>
            <a:ext cx="294437" cy="294437"/>
          </a:xfrm>
          <a:prstGeom prst="rect">
            <a:avLst/>
          </a:prstGeom>
        </p:spPr>
      </p:pic>
      <p:sp>
        <p:nvSpPr>
          <p:cNvPr id="6" name="Text 82"/>
          <p:cNvSpPr txBox="1"/>
          <p:nvPr/>
        </p:nvSpPr>
        <p:spPr>
          <a:xfrm>
            <a:off x="1508760" y="1783080"/>
            <a:ext cx="4663440" cy="347472"/>
          </a:xfrm>
          <a:prstGeom prst="rect">
            <a:avLst/>
          </a:prstGeom>
          <a:noFill/>
          <a:ln/>
        </p:spPr>
        <p:txBody>
          <a:bodyPr wrap="square" lIns="0" tIns="0" rIns="0" bIns="0" rtlCol="0" anchor="t"/>
          <a:lstStyle/>
          <a:p>
            <a:pPr marL="0" indent="0">
              <a:buNone/>
            </a:pPr>
            <a:r>
              <a:rPr lang="en-US" sz="1900" b="1" dirty="0">
                <a:solidFill>
                  <a:schemeClr val="tx1"/>
                </a:solidFill>
              </a:rPr>
              <a:t>AI red teaming</a:t>
            </a:r>
            <a:endParaRPr lang="en-US" sz="1900" dirty="0"/>
          </a:p>
        </p:txBody>
      </p:sp>
      <p:sp>
        <p:nvSpPr>
          <p:cNvPr id="7" name="Text 83"/>
          <p:cNvSpPr txBox="1"/>
          <p:nvPr/>
        </p:nvSpPr>
        <p:spPr>
          <a:xfrm>
            <a:off x="1508760" y="2157984"/>
            <a:ext cx="4663440" cy="594360"/>
          </a:xfrm>
          <a:prstGeom prst="rect">
            <a:avLst/>
          </a:prstGeom>
          <a:noFill/>
          <a:ln/>
        </p:spPr>
        <p:txBody>
          <a:bodyPr wrap="square" lIns="0" tIns="0" rIns="0" bIns="0" rtlCol="0" anchor="t"/>
          <a:lstStyle/>
          <a:p>
            <a:pPr marL="0" indent="0">
              <a:buNone/>
            </a:pPr>
            <a:r>
              <a:rPr lang="en-US" sz="1600" dirty="0">
                <a:solidFill>
                  <a:schemeClr val="tx1"/>
                </a:solidFill>
              </a:rPr>
              <a:t>We attack models, prompts and agents the way an adversary would.</a:t>
            </a:r>
            <a:endParaRPr lang="en-US" sz="1600" dirty="0"/>
          </a:p>
        </p:txBody>
      </p:sp>
      <p:sp>
        <p:nvSpPr>
          <p:cNvPr id="8" name="Icon circle 84"/>
          <p:cNvSpPr/>
          <p:nvPr/>
        </p:nvSpPr>
        <p:spPr>
          <a:xfrm>
            <a:off x="640080" y="2907792"/>
            <a:ext cx="640080" cy="640080"/>
          </a:xfrm>
          <a:prstGeom prst="ellipse">
            <a:avLst/>
          </a:prstGeom>
          <a:solidFill>
            <a:schemeClr val="accent1"/>
          </a:solidFill>
          <a:ln/>
        </p:spPr>
      </p:sp>
      <p:pic>
        <p:nvPicPr>
          <p:cNvPr id="9" name="Icon 85" descr="preencoded.png"/>
          <p:cNvPicPr>
            <a:picLocks noChangeAspect="1"/>
          </p:cNvPicPr>
          <p:nvPr/>
        </p:nvPicPr>
        <p:blipFill>
          <a:blip r:embed="rId4"/>
          <a:stretch>
            <a:fillRect/>
          </a:stretch>
        </p:blipFill>
        <p:spPr>
          <a:xfrm>
            <a:off x="812902" y="3080614"/>
            <a:ext cx="294437" cy="294437"/>
          </a:xfrm>
          <a:prstGeom prst="rect">
            <a:avLst/>
          </a:prstGeom>
        </p:spPr>
      </p:pic>
      <p:sp>
        <p:nvSpPr>
          <p:cNvPr id="10" name="Text 86"/>
          <p:cNvSpPr txBox="1"/>
          <p:nvPr/>
        </p:nvSpPr>
        <p:spPr>
          <a:xfrm>
            <a:off x="1508760" y="2862072"/>
            <a:ext cx="4663440" cy="347472"/>
          </a:xfrm>
          <a:prstGeom prst="rect">
            <a:avLst/>
          </a:prstGeom>
          <a:noFill/>
          <a:ln/>
        </p:spPr>
        <p:txBody>
          <a:bodyPr wrap="square" lIns="0" tIns="0" rIns="0" bIns="0" rtlCol="0" anchor="t"/>
          <a:lstStyle/>
          <a:p>
            <a:pPr marL="0" indent="0">
              <a:buNone/>
            </a:pPr>
            <a:r>
              <a:rPr lang="en-US" sz="1900" b="1" dirty="0">
                <a:solidFill>
                  <a:schemeClr val="tx1"/>
                </a:solidFill>
              </a:rPr>
              <a:t>AI security audit</a:t>
            </a:r>
            <a:endParaRPr lang="en-US" sz="1900" dirty="0"/>
          </a:p>
        </p:txBody>
      </p:sp>
      <p:sp>
        <p:nvSpPr>
          <p:cNvPr id="11" name="Text 87"/>
          <p:cNvSpPr txBox="1"/>
          <p:nvPr/>
        </p:nvSpPr>
        <p:spPr>
          <a:xfrm>
            <a:off x="1508760" y="3236976"/>
            <a:ext cx="4663440" cy="594360"/>
          </a:xfrm>
          <a:prstGeom prst="rect">
            <a:avLst/>
          </a:prstGeom>
          <a:noFill/>
          <a:ln/>
        </p:spPr>
        <p:txBody>
          <a:bodyPr wrap="square" lIns="0" tIns="0" rIns="0" bIns="0" rtlCol="0" anchor="t"/>
          <a:lstStyle/>
          <a:p>
            <a:pPr marL="0" indent="0">
              <a:buNone/>
            </a:pPr>
            <a:r>
              <a:rPr lang="en-US" sz="1600" dirty="0">
                <a:solidFill>
                  <a:schemeClr val="tx1"/>
                </a:solidFill>
              </a:rPr>
              <a:t>We review architecture, data flows and access before launch.</a:t>
            </a:r>
            <a:endParaRPr lang="en-US" sz="1600" dirty="0"/>
          </a:p>
        </p:txBody>
      </p:sp>
      <p:sp>
        <p:nvSpPr>
          <p:cNvPr id="12" name="Icon circle 88"/>
          <p:cNvSpPr/>
          <p:nvPr/>
        </p:nvSpPr>
        <p:spPr>
          <a:xfrm>
            <a:off x="640080" y="3986784"/>
            <a:ext cx="640080" cy="640080"/>
          </a:xfrm>
          <a:prstGeom prst="ellipse">
            <a:avLst/>
          </a:prstGeom>
          <a:solidFill>
            <a:schemeClr val="accent1"/>
          </a:solidFill>
          <a:ln/>
        </p:spPr>
      </p:sp>
      <p:pic>
        <p:nvPicPr>
          <p:cNvPr id="13" name="Icon 89" descr="preencoded.png"/>
          <p:cNvPicPr>
            <a:picLocks noChangeAspect="1"/>
          </p:cNvPicPr>
          <p:nvPr/>
        </p:nvPicPr>
        <p:blipFill>
          <a:blip r:embed="rId5"/>
          <a:stretch>
            <a:fillRect/>
          </a:stretch>
        </p:blipFill>
        <p:spPr>
          <a:xfrm>
            <a:off x="812902" y="4159606"/>
            <a:ext cx="294437" cy="294437"/>
          </a:xfrm>
          <a:prstGeom prst="rect">
            <a:avLst/>
          </a:prstGeom>
        </p:spPr>
      </p:pic>
      <p:sp>
        <p:nvSpPr>
          <p:cNvPr id="14" name="Text 90"/>
          <p:cNvSpPr txBox="1"/>
          <p:nvPr/>
        </p:nvSpPr>
        <p:spPr>
          <a:xfrm>
            <a:off x="1508760" y="3941064"/>
            <a:ext cx="4663440" cy="347472"/>
          </a:xfrm>
          <a:prstGeom prst="rect">
            <a:avLst/>
          </a:prstGeom>
          <a:noFill/>
          <a:ln/>
        </p:spPr>
        <p:txBody>
          <a:bodyPr wrap="square" lIns="0" tIns="0" rIns="0" bIns="0" rtlCol="0" anchor="t"/>
          <a:lstStyle/>
          <a:p>
            <a:pPr marL="0" indent="0">
              <a:buNone/>
            </a:pPr>
            <a:r>
              <a:rPr lang="en-US" sz="1900" b="1" dirty="0">
                <a:solidFill>
                  <a:schemeClr val="tx1"/>
                </a:solidFill>
              </a:rPr>
              <a:t>AI monitoring</a:t>
            </a:r>
            <a:endParaRPr lang="en-US" sz="1900" dirty="0"/>
          </a:p>
        </p:txBody>
      </p:sp>
      <p:sp>
        <p:nvSpPr>
          <p:cNvPr id="15" name="Text 91"/>
          <p:cNvSpPr txBox="1"/>
          <p:nvPr/>
        </p:nvSpPr>
        <p:spPr>
          <a:xfrm>
            <a:off x="1508760" y="4315968"/>
            <a:ext cx="4663440" cy="594360"/>
          </a:xfrm>
          <a:prstGeom prst="rect">
            <a:avLst/>
          </a:prstGeom>
          <a:noFill/>
          <a:ln/>
        </p:spPr>
        <p:txBody>
          <a:bodyPr wrap="square" lIns="0" tIns="0" rIns="0" bIns="0" rtlCol="0" anchor="t"/>
          <a:lstStyle/>
          <a:p>
            <a:pPr marL="0" indent="0">
              <a:buNone/>
            </a:pPr>
            <a:r>
              <a:rPr lang="en-US" sz="1600" dirty="0">
                <a:solidFill>
                  <a:schemeClr val="tx1"/>
                </a:solidFill>
              </a:rPr>
              <a:t>We watch AI systems in production for misuse and failures.</a:t>
            </a:r>
            <a:endParaRPr lang="en-US" sz="1600" dirty="0"/>
          </a:p>
        </p:txBody>
      </p:sp>
      <p:sp>
        <p:nvSpPr>
          <p:cNvPr id="16" name="Icon circle 92"/>
          <p:cNvSpPr/>
          <p:nvPr/>
        </p:nvSpPr>
        <p:spPr>
          <a:xfrm>
            <a:off x="640080" y="5065776"/>
            <a:ext cx="640080" cy="640080"/>
          </a:xfrm>
          <a:prstGeom prst="ellipse">
            <a:avLst/>
          </a:prstGeom>
          <a:solidFill>
            <a:schemeClr val="accent1"/>
          </a:solidFill>
          <a:ln/>
        </p:spPr>
      </p:sp>
      <p:pic>
        <p:nvPicPr>
          <p:cNvPr id="17" name="Icon 93" descr="preencoded.png"/>
          <p:cNvPicPr>
            <a:picLocks noChangeAspect="1"/>
          </p:cNvPicPr>
          <p:nvPr/>
        </p:nvPicPr>
        <p:blipFill>
          <a:blip r:embed="rId6"/>
          <a:stretch>
            <a:fillRect/>
          </a:stretch>
        </p:blipFill>
        <p:spPr>
          <a:xfrm>
            <a:off x="812902" y="5238598"/>
            <a:ext cx="294437" cy="294437"/>
          </a:xfrm>
          <a:prstGeom prst="rect">
            <a:avLst/>
          </a:prstGeom>
        </p:spPr>
      </p:pic>
      <p:sp>
        <p:nvSpPr>
          <p:cNvPr id="18" name="Text 94"/>
          <p:cNvSpPr txBox="1"/>
          <p:nvPr/>
        </p:nvSpPr>
        <p:spPr>
          <a:xfrm>
            <a:off x="1508760" y="5020056"/>
            <a:ext cx="4663440" cy="347472"/>
          </a:xfrm>
          <a:prstGeom prst="rect">
            <a:avLst/>
          </a:prstGeom>
          <a:noFill/>
          <a:ln/>
        </p:spPr>
        <p:txBody>
          <a:bodyPr wrap="square" lIns="0" tIns="0" rIns="0" bIns="0" rtlCol="0" anchor="t"/>
          <a:lstStyle/>
          <a:p>
            <a:pPr marL="0" indent="0">
              <a:buNone/>
            </a:pPr>
            <a:r>
              <a:rPr lang="en-US" sz="1900" b="1" dirty="0">
                <a:solidFill>
                  <a:schemeClr val="tx1"/>
                </a:solidFill>
              </a:rPr>
              <a:t>AI governance</a:t>
            </a:r>
            <a:endParaRPr lang="en-US" sz="1900" dirty="0"/>
          </a:p>
        </p:txBody>
      </p:sp>
      <p:sp>
        <p:nvSpPr>
          <p:cNvPr id="19" name="Text 95"/>
          <p:cNvSpPr txBox="1"/>
          <p:nvPr/>
        </p:nvSpPr>
        <p:spPr>
          <a:xfrm>
            <a:off x="1508760" y="5394960"/>
            <a:ext cx="4663440" cy="594360"/>
          </a:xfrm>
          <a:prstGeom prst="rect">
            <a:avLst/>
          </a:prstGeom>
          <a:noFill/>
          <a:ln/>
        </p:spPr>
        <p:txBody>
          <a:bodyPr wrap="square" lIns="0" tIns="0" rIns="0" bIns="0" rtlCol="0" anchor="t"/>
          <a:lstStyle/>
          <a:p>
            <a:pPr marL="0" indent="0">
              <a:buNone/>
            </a:pPr>
            <a:r>
              <a:rPr lang="en-US" sz="1600" dirty="0">
                <a:solidFill>
                  <a:schemeClr val="tx1"/>
                </a:solidFill>
              </a:rPr>
              <a:t>Policies, roles and records your auditors can follow.</a:t>
            </a:r>
            <a:endParaRPr lang="en-US" sz="1600" dirty="0"/>
          </a:p>
        </p:txBody>
      </p:sp>
      <p:sp>
        <p:nvSpPr>
          <p:cNvPr id="20" name="Card 96"/>
          <p:cNvSpPr/>
          <p:nvPr/>
        </p:nvSpPr>
        <p:spPr>
          <a:xfrm>
            <a:off x="6492240" y="1828800"/>
            <a:ext cx="5059375" cy="2240280"/>
          </a:xfrm>
          <a:prstGeom prst="roundRect">
            <a:avLst>
              <a:gd name="adj" fmla="val 5714"/>
            </a:avLst>
          </a:prstGeom>
          <a:solidFill>
            <a:schemeClr val="tx1"/>
          </a:solidFill>
          <a:ln/>
        </p:spPr>
      </p:sp>
      <p:sp>
        <p:nvSpPr>
          <p:cNvPr id="21" name="Text 97"/>
          <p:cNvSpPr txBox="1"/>
          <p:nvPr/>
        </p:nvSpPr>
        <p:spPr>
          <a:xfrm>
            <a:off x="6812280" y="2011680"/>
            <a:ext cx="2103120" cy="822960"/>
          </a:xfrm>
          <a:prstGeom prst="rect">
            <a:avLst/>
          </a:prstGeom>
          <a:noFill/>
          <a:ln/>
        </p:spPr>
        <p:txBody>
          <a:bodyPr wrap="square" lIns="0" tIns="0" rIns="0" bIns="0" rtlCol="0" anchor="ctr"/>
          <a:lstStyle/>
          <a:p>
            <a:pPr marL="0" indent="0">
              <a:buNone/>
            </a:pPr>
            <a:r>
              <a:rPr lang="en-US" sz="4800" b="1" dirty="0">
                <a:solidFill>
                  <a:schemeClr val="accent2"/>
                </a:solidFill>
              </a:rPr>
              <a:t>200+</a:t>
            </a:r>
            <a:endParaRPr lang="en-US" sz="4800" dirty="0"/>
          </a:p>
        </p:txBody>
      </p:sp>
      <p:sp>
        <p:nvSpPr>
          <p:cNvPr id="22" name="Text 98"/>
          <p:cNvSpPr txBox="1"/>
          <p:nvPr/>
        </p:nvSpPr>
        <p:spPr>
          <a:xfrm>
            <a:off x="6812280" y="2880360"/>
            <a:ext cx="2103120" cy="1051560"/>
          </a:xfrm>
          <a:prstGeom prst="rect">
            <a:avLst/>
          </a:prstGeom>
          <a:noFill/>
          <a:ln/>
        </p:spPr>
        <p:txBody>
          <a:bodyPr wrap="square" lIns="0" tIns="0" rIns="0" bIns="0" rtlCol="0" anchor="t"/>
          <a:lstStyle/>
          <a:p>
            <a:pPr marL="0" indent="0">
              <a:buNone/>
            </a:pPr>
            <a:r>
              <a:rPr lang="en-US" sz="1500" dirty="0">
                <a:solidFill>
                  <a:schemeClr val="bg1"/>
                </a:solidFill>
              </a:rPr>
              <a:t>domains tested for a healthcare platform</a:t>
            </a:r>
            <a:endParaRPr lang="en-US" sz="1500" dirty="0"/>
          </a:p>
        </p:txBody>
      </p:sp>
      <p:sp>
        <p:nvSpPr>
          <p:cNvPr id="23" name="Text 99"/>
          <p:cNvSpPr txBox="1"/>
          <p:nvPr/>
        </p:nvSpPr>
        <p:spPr>
          <a:xfrm>
            <a:off x="9189720" y="2011680"/>
            <a:ext cx="2103120" cy="822960"/>
          </a:xfrm>
          <a:prstGeom prst="rect">
            <a:avLst/>
          </a:prstGeom>
          <a:noFill/>
          <a:ln/>
        </p:spPr>
        <p:txBody>
          <a:bodyPr wrap="square" lIns="0" tIns="0" rIns="0" bIns="0" rtlCol="0" anchor="ctr"/>
          <a:lstStyle/>
          <a:p>
            <a:pPr marL="0" indent="0">
              <a:buNone/>
            </a:pPr>
            <a:r>
              <a:rPr lang="en-US" sz="4800" b="1" dirty="0">
                <a:solidFill>
                  <a:schemeClr val="accent2"/>
                </a:solidFill>
              </a:rPr>
              <a:t>25%</a:t>
            </a:r>
            <a:endParaRPr lang="en-US" sz="4800" dirty="0"/>
          </a:p>
        </p:txBody>
      </p:sp>
      <p:sp>
        <p:nvSpPr>
          <p:cNvPr id="24" name="Text 100"/>
          <p:cNvSpPr txBox="1"/>
          <p:nvPr/>
        </p:nvSpPr>
        <p:spPr>
          <a:xfrm>
            <a:off x="9189720" y="2880360"/>
            <a:ext cx="2103120" cy="1051560"/>
          </a:xfrm>
          <a:prstGeom prst="rect">
            <a:avLst/>
          </a:prstGeom>
          <a:noFill/>
          <a:ln/>
        </p:spPr>
        <p:txBody>
          <a:bodyPr wrap="square" lIns="0" tIns="0" rIns="0" bIns="0" rtlCol="0" anchor="t"/>
          <a:lstStyle/>
          <a:p>
            <a:pPr marL="0" indent="0">
              <a:buNone/>
            </a:pPr>
            <a:r>
              <a:rPr lang="en-US" sz="1500" dirty="0">
                <a:solidFill>
                  <a:schemeClr val="bg1"/>
                </a:solidFill>
              </a:rPr>
              <a:t>of findings rated high risk</a:t>
            </a:r>
            <a:endParaRPr lang="en-US" sz="1500" dirty="0"/>
          </a:p>
        </p:txBody>
      </p:sp>
      <p:sp>
        <p:nvSpPr>
          <p:cNvPr id="25" name="Card 101"/>
          <p:cNvSpPr/>
          <p:nvPr/>
        </p:nvSpPr>
        <p:spPr>
          <a:xfrm>
            <a:off x="6492240" y="4251960"/>
            <a:ext cx="5059375" cy="822960"/>
          </a:xfrm>
          <a:prstGeom prst="roundRect">
            <a:avLst>
              <a:gd name="adj" fmla="val 15556"/>
            </a:avLst>
          </a:prstGeom>
          <a:solidFill>
            <a:schemeClr val="bg2">
              <a:alpha val="55000"/>
            </a:schemeClr>
          </a:solidFill>
          <a:ln/>
        </p:spPr>
      </p:sp>
      <p:sp>
        <p:nvSpPr>
          <p:cNvPr id="26" name="Icon circle 102"/>
          <p:cNvSpPr/>
          <p:nvPr/>
        </p:nvSpPr>
        <p:spPr>
          <a:xfrm>
            <a:off x="6720840" y="4389120"/>
            <a:ext cx="548640" cy="548640"/>
          </a:xfrm>
          <a:prstGeom prst="ellipse">
            <a:avLst/>
          </a:prstGeom>
          <a:solidFill>
            <a:schemeClr val="accent2"/>
          </a:solidFill>
          <a:ln/>
        </p:spPr>
      </p:sp>
      <p:pic>
        <p:nvPicPr>
          <p:cNvPr id="27" name="Icon 103" descr="preencoded.png"/>
          <p:cNvPicPr>
            <a:picLocks noChangeAspect="1"/>
          </p:cNvPicPr>
          <p:nvPr/>
        </p:nvPicPr>
        <p:blipFill>
          <a:blip r:embed="rId7"/>
          <a:stretch>
            <a:fillRect/>
          </a:stretch>
        </p:blipFill>
        <p:spPr>
          <a:xfrm>
            <a:off x="6868973" y="4537253"/>
            <a:ext cx="252374" cy="252374"/>
          </a:xfrm>
          <a:prstGeom prst="rect">
            <a:avLst/>
          </a:prstGeom>
        </p:spPr>
      </p:pic>
      <p:sp>
        <p:nvSpPr>
          <p:cNvPr id="28" name="Text 104"/>
          <p:cNvSpPr txBox="1"/>
          <p:nvPr/>
        </p:nvSpPr>
        <p:spPr>
          <a:xfrm>
            <a:off x="7452360" y="4251960"/>
            <a:ext cx="3870655" cy="822960"/>
          </a:xfrm>
          <a:prstGeom prst="rect">
            <a:avLst/>
          </a:prstGeom>
          <a:noFill/>
          <a:ln/>
        </p:spPr>
        <p:txBody>
          <a:bodyPr wrap="square" lIns="0" tIns="0" rIns="0" bIns="0" rtlCol="0" anchor="ctr"/>
          <a:lstStyle/>
          <a:p>
            <a:pPr marL="0" indent="0">
              <a:buNone/>
            </a:pPr>
            <a:r>
              <a:rPr lang="en-US" sz="1500" b="1" dirty="0">
                <a:solidFill>
                  <a:schemeClr val="tx1"/>
                </a:solidFill>
              </a:rPr>
              <a:t>Certified ISO 42001 and ISO 27001 Lead Auditors on our team</a:t>
            </a:r>
            <a:endParaRPr lang="en-US" sz="1500" dirty="0"/>
          </a:p>
        </p:txBody>
      </p:sp>
      <p:sp>
        <p:nvSpPr>
          <p:cNvPr id="29" name="Card 105"/>
          <p:cNvSpPr/>
          <p:nvPr/>
        </p:nvSpPr>
        <p:spPr>
          <a:xfrm>
            <a:off x="6492240" y="5212080"/>
            <a:ext cx="5059375" cy="822960"/>
          </a:xfrm>
          <a:prstGeom prst="roundRect">
            <a:avLst>
              <a:gd name="adj" fmla="val 15556"/>
            </a:avLst>
          </a:prstGeom>
          <a:solidFill>
            <a:schemeClr val="bg2">
              <a:alpha val="55000"/>
            </a:schemeClr>
          </a:solidFill>
          <a:ln/>
        </p:spPr>
      </p:sp>
      <p:sp>
        <p:nvSpPr>
          <p:cNvPr id="30" name="Icon circle 106"/>
          <p:cNvSpPr/>
          <p:nvPr/>
        </p:nvSpPr>
        <p:spPr>
          <a:xfrm>
            <a:off x="6720840" y="5349240"/>
            <a:ext cx="548640" cy="548640"/>
          </a:xfrm>
          <a:prstGeom prst="ellipse">
            <a:avLst/>
          </a:prstGeom>
          <a:solidFill>
            <a:schemeClr val="accent2"/>
          </a:solidFill>
          <a:ln/>
        </p:spPr>
      </p:sp>
      <p:pic>
        <p:nvPicPr>
          <p:cNvPr id="31" name="Icon 107" descr="preencoded.png"/>
          <p:cNvPicPr>
            <a:picLocks noChangeAspect="1"/>
          </p:cNvPicPr>
          <p:nvPr/>
        </p:nvPicPr>
        <p:blipFill>
          <a:blip r:embed="rId8"/>
          <a:stretch>
            <a:fillRect/>
          </a:stretch>
        </p:blipFill>
        <p:spPr>
          <a:xfrm>
            <a:off x="6868973" y="5497373"/>
            <a:ext cx="252374" cy="252374"/>
          </a:xfrm>
          <a:prstGeom prst="rect">
            <a:avLst/>
          </a:prstGeom>
        </p:spPr>
      </p:pic>
      <p:sp>
        <p:nvSpPr>
          <p:cNvPr id="32" name="Text 108"/>
          <p:cNvSpPr txBox="1"/>
          <p:nvPr/>
        </p:nvSpPr>
        <p:spPr>
          <a:xfrm>
            <a:off x="7452360" y="5212080"/>
            <a:ext cx="3870655" cy="822960"/>
          </a:xfrm>
          <a:prstGeom prst="rect">
            <a:avLst/>
          </a:prstGeom>
          <a:noFill/>
          <a:ln/>
        </p:spPr>
        <p:txBody>
          <a:bodyPr wrap="square" lIns="0" tIns="0" rIns="0" bIns="0" rtlCol="0" anchor="ctr"/>
          <a:lstStyle/>
          <a:p>
            <a:pPr marL="0" indent="0">
              <a:buNone/>
            </a:pPr>
            <a:r>
              <a:rPr lang="en-US" sz="1500" b="1" dirty="0">
                <a:solidFill>
                  <a:schemeClr val="tx1"/>
                </a:solidFill>
              </a:rPr>
              <a:t>Mobile banking apps secured toward PCI-DSS compliance</a:t>
            </a:r>
            <a:endParaRPr lang="en-US" sz="1500" dirty="0"/>
          </a:p>
        </p:txBody>
      </p:sp>
      <p:sp>
        <p:nvSpPr>
          <p:cNvPr id="3"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We get the data ready first</a:t>
            </a:r>
            <a:endParaRPr lang="en-US" sz="3400" dirty="0"/>
          </a:p>
        </p:txBody>
      </p:sp>
      <p:sp>
        <p:nvSpPr>
          <p:cNvPr id="4" name="Icon circle 109"/>
          <p:cNvSpPr/>
          <p:nvPr/>
        </p:nvSpPr>
        <p:spPr>
          <a:xfrm>
            <a:off x="640080" y="1828800"/>
            <a:ext cx="822960" cy="822960"/>
          </a:xfrm>
          <a:prstGeom prst="ellipse">
            <a:avLst/>
          </a:prstGeom>
          <a:solidFill>
            <a:schemeClr val="accent1"/>
          </a:solidFill>
          <a:ln/>
        </p:spPr>
      </p:sp>
      <p:pic>
        <p:nvPicPr>
          <p:cNvPr id="5" name="Icon 110" descr="preencoded.png"/>
          <p:cNvPicPr>
            <a:picLocks noChangeAspect="1"/>
          </p:cNvPicPr>
          <p:nvPr/>
        </p:nvPicPr>
        <p:blipFill>
          <a:blip r:embed="rId3"/>
          <a:stretch>
            <a:fillRect/>
          </a:stretch>
        </p:blipFill>
        <p:spPr>
          <a:xfrm>
            <a:off x="862279" y="2050999"/>
            <a:ext cx="378562" cy="378562"/>
          </a:xfrm>
          <a:prstGeom prst="rect">
            <a:avLst/>
          </a:prstGeom>
        </p:spPr>
      </p:pic>
      <p:sp>
        <p:nvSpPr>
          <p:cNvPr id="6" name="Text 111"/>
          <p:cNvSpPr txBox="1"/>
          <p:nvPr/>
        </p:nvSpPr>
        <p:spPr>
          <a:xfrm>
            <a:off x="640080" y="2880360"/>
            <a:ext cx="3291840" cy="2926080"/>
          </a:xfrm>
          <a:prstGeom prst="rect">
            <a:avLst/>
          </a:prstGeom>
          <a:noFill/>
          <a:ln/>
        </p:spPr>
        <p:txBody>
          <a:bodyPr wrap="square" lIns="0" tIns="0" rIns="0" bIns="0" rtlCol="0" anchor="t"/>
          <a:lstStyle/>
          <a:p>
            <a:pPr marL="0" indent="0">
              <a:buNone/>
            </a:pPr>
            <a:r>
              <a:rPr lang="en-US" sz="1800" dirty="0">
                <a:solidFill>
                  <a:schemeClr val="tx1"/>
                </a:solidFill>
              </a:rPr>
              <a:t>Agents give wrong answers when data is scattered. We fix the foundation first, and only as far as the use case needs.</a:t>
            </a:r>
            <a:endParaRPr lang="en-US" sz="1800" dirty="0"/>
          </a:p>
        </p:txBody>
      </p:sp>
      <p:sp>
        <p:nvSpPr>
          <p:cNvPr id="7" name="Card 112"/>
          <p:cNvSpPr/>
          <p:nvPr/>
        </p:nvSpPr>
        <p:spPr>
          <a:xfrm>
            <a:off x="4297680" y="1828800"/>
            <a:ext cx="3489808" cy="4206240"/>
          </a:xfrm>
          <a:prstGeom prst="roundRect">
            <a:avLst>
              <a:gd name="adj" fmla="val 3668"/>
            </a:avLst>
          </a:prstGeom>
          <a:solidFill>
            <a:schemeClr val="bg2">
              <a:alpha val="55000"/>
            </a:schemeClr>
          </a:solidFill>
          <a:ln/>
        </p:spPr>
      </p:sp>
      <p:sp>
        <p:nvSpPr>
          <p:cNvPr id="8" name="Text 113"/>
          <p:cNvSpPr txBox="1"/>
          <p:nvPr/>
        </p:nvSpPr>
        <p:spPr>
          <a:xfrm>
            <a:off x="4617720" y="2057400"/>
            <a:ext cx="2849728" cy="274320"/>
          </a:xfrm>
          <a:prstGeom prst="rect">
            <a:avLst/>
          </a:prstGeom>
          <a:noFill/>
          <a:ln/>
        </p:spPr>
        <p:txBody>
          <a:bodyPr wrap="square" lIns="0" tIns="0" rIns="0" bIns="0" rtlCol="0" anchor="t"/>
          <a:lstStyle/>
          <a:p>
            <a:pPr marL="0" indent="0">
              <a:buNone/>
            </a:pPr>
            <a:r>
              <a:rPr lang="en-US" sz="1200" b="1" kern="0" spc="100" dirty="0">
                <a:solidFill>
                  <a:schemeClr val="accent5"/>
                </a:solidFill>
              </a:rPr>
              <a:t>RETAIL</a:t>
            </a:r>
            <a:endParaRPr lang="en-US" sz="1200" dirty="0"/>
          </a:p>
        </p:txBody>
      </p:sp>
      <p:sp>
        <p:nvSpPr>
          <p:cNvPr id="9" name="Text 114"/>
          <p:cNvSpPr txBox="1"/>
          <p:nvPr/>
        </p:nvSpPr>
        <p:spPr>
          <a:xfrm>
            <a:off x="4617720" y="2423160"/>
            <a:ext cx="2849728" cy="914400"/>
          </a:xfrm>
          <a:prstGeom prst="rect">
            <a:avLst/>
          </a:prstGeom>
          <a:noFill/>
          <a:ln/>
        </p:spPr>
        <p:txBody>
          <a:bodyPr wrap="square" lIns="0" tIns="0" rIns="0" bIns="0" rtlCol="0" anchor="ctr"/>
          <a:lstStyle/>
          <a:p>
            <a:pPr marL="0" indent="0">
              <a:buNone/>
            </a:pPr>
            <a:r>
              <a:rPr lang="en-US" sz="6000" b="1" dirty="0">
                <a:solidFill>
                  <a:schemeClr val="accent1"/>
                </a:solidFill>
              </a:rPr>
              <a:t>1</a:t>
            </a:r>
            <a:endParaRPr lang="en-US" sz="6000" dirty="0"/>
          </a:p>
        </p:txBody>
      </p:sp>
      <p:sp>
        <p:nvSpPr>
          <p:cNvPr id="10" name="Text 115"/>
          <p:cNvSpPr txBox="1"/>
          <p:nvPr/>
        </p:nvSpPr>
        <p:spPr>
          <a:xfrm>
            <a:off x="4617720" y="3383280"/>
            <a:ext cx="2849728" cy="411480"/>
          </a:xfrm>
          <a:prstGeom prst="rect">
            <a:avLst/>
          </a:prstGeom>
          <a:noFill/>
          <a:ln/>
        </p:spPr>
        <p:txBody>
          <a:bodyPr wrap="square" lIns="0" tIns="0" rIns="0" bIns="0" rtlCol="0" anchor="t"/>
          <a:lstStyle/>
          <a:p>
            <a:pPr marL="0" indent="0">
              <a:buNone/>
            </a:pPr>
            <a:r>
              <a:rPr lang="en-US" sz="2000" b="1" dirty="0">
                <a:solidFill>
                  <a:schemeClr val="tx1"/>
                </a:solidFill>
              </a:rPr>
              <a:t>source of truth</a:t>
            </a:r>
            <a:endParaRPr lang="en-US" sz="2000" dirty="0"/>
          </a:p>
        </p:txBody>
      </p:sp>
      <p:sp>
        <p:nvSpPr>
          <p:cNvPr id="11" name="Text 116"/>
          <p:cNvSpPr txBox="1"/>
          <p:nvPr/>
        </p:nvSpPr>
        <p:spPr>
          <a:xfrm>
            <a:off x="4617720" y="3977640"/>
            <a:ext cx="2849728" cy="1965960"/>
          </a:xfrm>
          <a:prstGeom prst="rect">
            <a:avLst/>
          </a:prstGeom>
          <a:noFill/>
          <a:ln/>
        </p:spPr>
        <p:txBody>
          <a:bodyPr wrap="square" lIns="0" tIns="0" rIns="0" bIns="0" rtlCol="0" anchor="t"/>
          <a:lstStyle/>
          <a:p>
            <a:pPr marL="0" indent="0">
              <a:buNone/>
            </a:pPr>
            <a:r>
              <a:rPr lang="en-US" sz="1500" dirty="0">
                <a:solidFill>
                  <a:schemeClr val="tx1"/>
                </a:solidFill>
              </a:rPr>
              <a:t>Data from SAP ERP, SAP BW and application databases consolidated on Snowflake for a leading South African retailer. Reporting, data science and AI now run from one trusted source.</a:t>
            </a:r>
            <a:endParaRPr lang="en-US" sz="1500" dirty="0"/>
          </a:p>
        </p:txBody>
      </p:sp>
      <p:sp>
        <p:nvSpPr>
          <p:cNvPr id="12" name="Card 117"/>
          <p:cNvSpPr/>
          <p:nvPr/>
        </p:nvSpPr>
        <p:spPr>
          <a:xfrm>
            <a:off x="8061808" y="1828800"/>
            <a:ext cx="3489808" cy="4206240"/>
          </a:xfrm>
          <a:prstGeom prst="roundRect">
            <a:avLst>
              <a:gd name="adj" fmla="val 3668"/>
            </a:avLst>
          </a:prstGeom>
          <a:solidFill>
            <a:schemeClr val="bg2">
              <a:alpha val="55000"/>
            </a:schemeClr>
          </a:solidFill>
          <a:ln/>
        </p:spPr>
      </p:sp>
      <p:sp>
        <p:nvSpPr>
          <p:cNvPr id="13" name="Text 118"/>
          <p:cNvSpPr txBox="1"/>
          <p:nvPr/>
        </p:nvSpPr>
        <p:spPr>
          <a:xfrm>
            <a:off x="8381848" y="2057400"/>
            <a:ext cx="2849728" cy="274320"/>
          </a:xfrm>
          <a:prstGeom prst="rect">
            <a:avLst/>
          </a:prstGeom>
          <a:noFill/>
          <a:ln/>
        </p:spPr>
        <p:txBody>
          <a:bodyPr wrap="square" lIns="0" tIns="0" rIns="0" bIns="0" rtlCol="0" anchor="t"/>
          <a:lstStyle/>
          <a:p>
            <a:pPr marL="0" indent="0">
              <a:buNone/>
            </a:pPr>
            <a:r>
              <a:rPr lang="en-US" sz="1200" b="1" kern="0" spc="100" dirty="0">
                <a:solidFill>
                  <a:schemeClr val="accent5"/>
                </a:solidFill>
              </a:rPr>
              <a:t>HEALTHCARE</a:t>
            </a:r>
            <a:endParaRPr lang="en-US" sz="1200" dirty="0"/>
          </a:p>
        </p:txBody>
      </p:sp>
      <p:sp>
        <p:nvSpPr>
          <p:cNvPr id="14" name="Text 119"/>
          <p:cNvSpPr txBox="1"/>
          <p:nvPr/>
        </p:nvSpPr>
        <p:spPr>
          <a:xfrm>
            <a:off x="8381848" y="2423160"/>
            <a:ext cx="2849728" cy="914400"/>
          </a:xfrm>
          <a:prstGeom prst="rect">
            <a:avLst/>
          </a:prstGeom>
          <a:noFill/>
          <a:ln/>
        </p:spPr>
        <p:txBody>
          <a:bodyPr wrap="square" lIns="0" tIns="0" rIns="0" bIns="0" rtlCol="0" anchor="ctr"/>
          <a:lstStyle/>
          <a:p>
            <a:pPr marL="0" indent="0">
              <a:buNone/>
            </a:pPr>
            <a:r>
              <a:rPr lang="en-US" sz="6000" b="1" dirty="0">
                <a:solidFill>
                  <a:schemeClr val="accent1"/>
                </a:solidFill>
              </a:rPr>
              <a:t>1B+</a:t>
            </a:r>
            <a:endParaRPr lang="en-US" sz="6000" dirty="0"/>
          </a:p>
        </p:txBody>
      </p:sp>
      <p:sp>
        <p:nvSpPr>
          <p:cNvPr id="15" name="Text 120"/>
          <p:cNvSpPr txBox="1"/>
          <p:nvPr/>
        </p:nvSpPr>
        <p:spPr>
          <a:xfrm>
            <a:off x="8381848" y="3383280"/>
            <a:ext cx="2849728" cy="411480"/>
          </a:xfrm>
          <a:prstGeom prst="rect">
            <a:avLst/>
          </a:prstGeom>
          <a:noFill/>
          <a:ln/>
        </p:spPr>
        <p:txBody>
          <a:bodyPr wrap="square" lIns="0" tIns="0" rIns="0" bIns="0" rtlCol="0" anchor="t"/>
          <a:lstStyle/>
          <a:p>
            <a:pPr marL="0" indent="0">
              <a:buNone/>
            </a:pPr>
            <a:r>
              <a:rPr lang="en-US" sz="2000" b="1" dirty="0">
                <a:solidFill>
                  <a:schemeClr val="tx1"/>
                </a:solidFill>
              </a:rPr>
              <a:t>health records</a:t>
            </a:r>
            <a:endParaRPr lang="en-US" sz="2000" dirty="0"/>
          </a:p>
        </p:txBody>
      </p:sp>
      <p:sp>
        <p:nvSpPr>
          <p:cNvPr id="16" name="Text 121"/>
          <p:cNvSpPr txBox="1"/>
          <p:nvPr/>
        </p:nvSpPr>
        <p:spPr>
          <a:xfrm>
            <a:off x="8381848" y="3977640"/>
            <a:ext cx="2849728" cy="1965960"/>
          </a:xfrm>
          <a:prstGeom prst="rect">
            <a:avLst/>
          </a:prstGeom>
          <a:noFill/>
          <a:ln/>
        </p:spPr>
        <p:txBody>
          <a:bodyPr wrap="square" lIns="0" tIns="0" rIns="0" bIns="0" rtlCol="0" anchor="t"/>
          <a:lstStyle/>
          <a:p>
            <a:pPr marL="0" indent="0">
              <a:buNone/>
            </a:pPr>
            <a:r>
              <a:rPr lang="en-US" sz="1500" dirty="0">
                <a:solidFill>
                  <a:schemeClr val="tx1"/>
                </a:solidFill>
              </a:rPr>
              <a:t>A national immunization platform scaled for one of Pakistan's leading NGOs. It supports 4,000+ frontline health workers.</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Your people can run it after we leave</a:t>
            </a:r>
            <a:endParaRPr lang="en-US" sz="3400" dirty="0"/>
          </a:p>
        </p:txBody>
      </p:sp>
      <p:sp>
        <p:nvSpPr>
          <p:cNvPr id="4" name="Card 122"/>
          <p:cNvSpPr/>
          <p:nvPr/>
        </p:nvSpPr>
        <p:spPr>
          <a:xfrm>
            <a:off x="640080" y="1828800"/>
            <a:ext cx="3423818" cy="3017520"/>
          </a:xfrm>
          <a:prstGeom prst="roundRect">
            <a:avLst>
              <a:gd name="adj" fmla="val 4242"/>
            </a:avLst>
          </a:prstGeom>
          <a:solidFill>
            <a:schemeClr val="bg2">
              <a:alpha val="55000"/>
            </a:schemeClr>
          </a:solidFill>
          <a:ln/>
        </p:spPr>
      </p:sp>
      <p:sp>
        <p:nvSpPr>
          <p:cNvPr id="5" name="Icon circle 123"/>
          <p:cNvSpPr/>
          <p:nvPr/>
        </p:nvSpPr>
        <p:spPr>
          <a:xfrm>
            <a:off x="960120" y="2148840"/>
            <a:ext cx="822960" cy="822960"/>
          </a:xfrm>
          <a:prstGeom prst="ellipse">
            <a:avLst/>
          </a:prstGeom>
          <a:solidFill>
            <a:schemeClr val="accent1"/>
          </a:solidFill>
          <a:ln/>
        </p:spPr>
      </p:sp>
      <p:pic>
        <p:nvPicPr>
          <p:cNvPr id="6" name="Icon 124" descr="preencoded.png"/>
          <p:cNvPicPr>
            <a:picLocks noChangeAspect="1"/>
          </p:cNvPicPr>
          <p:nvPr/>
        </p:nvPicPr>
        <p:blipFill>
          <a:blip r:embed="rId3"/>
          <a:stretch>
            <a:fillRect/>
          </a:stretch>
        </p:blipFill>
        <p:spPr>
          <a:xfrm>
            <a:off x="1182319" y="2371039"/>
            <a:ext cx="378562" cy="378562"/>
          </a:xfrm>
          <a:prstGeom prst="rect">
            <a:avLst/>
          </a:prstGeom>
        </p:spPr>
      </p:pic>
      <p:sp>
        <p:nvSpPr>
          <p:cNvPr id="7" name="Text 125"/>
          <p:cNvSpPr txBox="1"/>
          <p:nvPr/>
        </p:nvSpPr>
        <p:spPr>
          <a:xfrm>
            <a:off x="960120" y="3154680"/>
            <a:ext cx="2783738" cy="411480"/>
          </a:xfrm>
          <a:prstGeom prst="rect">
            <a:avLst/>
          </a:prstGeom>
          <a:noFill/>
          <a:ln/>
        </p:spPr>
        <p:txBody>
          <a:bodyPr wrap="square" lIns="0" tIns="0" rIns="0" bIns="0" rtlCol="0" anchor="t"/>
          <a:lstStyle/>
          <a:p>
            <a:pPr marL="0" indent="0">
              <a:buNone/>
            </a:pPr>
            <a:r>
              <a:rPr lang="en-US" sz="2000" b="1" dirty="0">
                <a:solidFill>
                  <a:schemeClr val="tx1"/>
                </a:solidFill>
              </a:rPr>
              <a:t>Team training</a:t>
            </a:r>
            <a:endParaRPr lang="en-US" sz="2000" dirty="0"/>
          </a:p>
        </p:txBody>
      </p:sp>
      <p:sp>
        <p:nvSpPr>
          <p:cNvPr id="8" name="Text 126"/>
          <p:cNvSpPr txBox="1"/>
          <p:nvPr/>
        </p:nvSpPr>
        <p:spPr>
          <a:xfrm>
            <a:off x="960120" y="3657600"/>
            <a:ext cx="2783738" cy="1097280"/>
          </a:xfrm>
          <a:prstGeom prst="rect">
            <a:avLst/>
          </a:prstGeom>
          <a:noFill/>
          <a:ln/>
        </p:spPr>
        <p:txBody>
          <a:bodyPr wrap="square" lIns="0" tIns="0" rIns="0" bIns="0" rtlCol="0" anchor="t"/>
          <a:lstStyle/>
          <a:p>
            <a:pPr marL="0" indent="0">
              <a:buNone/>
            </a:pPr>
            <a:r>
              <a:rPr lang="en-US" sz="1600" dirty="0">
                <a:solidFill>
                  <a:schemeClr val="tx1"/>
                </a:solidFill>
              </a:rPr>
              <a:t>Our xCelerate programs teach business and technical teams to work with AI.</a:t>
            </a:r>
            <a:endParaRPr lang="en-US" sz="1600" dirty="0"/>
          </a:p>
        </p:txBody>
      </p:sp>
      <p:sp>
        <p:nvSpPr>
          <p:cNvPr id="9" name="Card 127"/>
          <p:cNvSpPr/>
          <p:nvPr/>
        </p:nvSpPr>
        <p:spPr>
          <a:xfrm>
            <a:off x="4383938" y="1828800"/>
            <a:ext cx="3423818" cy="3017520"/>
          </a:xfrm>
          <a:prstGeom prst="roundRect">
            <a:avLst>
              <a:gd name="adj" fmla="val 4242"/>
            </a:avLst>
          </a:prstGeom>
          <a:solidFill>
            <a:schemeClr val="bg2">
              <a:alpha val="55000"/>
            </a:schemeClr>
          </a:solidFill>
          <a:ln/>
        </p:spPr>
      </p:sp>
      <p:sp>
        <p:nvSpPr>
          <p:cNvPr id="10" name="Icon circle 128"/>
          <p:cNvSpPr/>
          <p:nvPr/>
        </p:nvSpPr>
        <p:spPr>
          <a:xfrm>
            <a:off x="4703978" y="2148840"/>
            <a:ext cx="822960" cy="822960"/>
          </a:xfrm>
          <a:prstGeom prst="ellipse">
            <a:avLst/>
          </a:prstGeom>
          <a:solidFill>
            <a:schemeClr val="accent1"/>
          </a:solidFill>
          <a:ln/>
        </p:spPr>
      </p:sp>
      <p:pic>
        <p:nvPicPr>
          <p:cNvPr id="11" name="Icon 129" descr="preencoded.png"/>
          <p:cNvPicPr>
            <a:picLocks noChangeAspect="1"/>
          </p:cNvPicPr>
          <p:nvPr/>
        </p:nvPicPr>
        <p:blipFill>
          <a:blip r:embed="rId4"/>
          <a:stretch>
            <a:fillRect/>
          </a:stretch>
        </p:blipFill>
        <p:spPr>
          <a:xfrm>
            <a:off x="4926178" y="2371039"/>
            <a:ext cx="378562" cy="378562"/>
          </a:xfrm>
          <a:prstGeom prst="rect">
            <a:avLst/>
          </a:prstGeom>
        </p:spPr>
      </p:pic>
      <p:sp>
        <p:nvSpPr>
          <p:cNvPr id="12" name="Text 130"/>
          <p:cNvSpPr txBox="1"/>
          <p:nvPr/>
        </p:nvSpPr>
        <p:spPr>
          <a:xfrm>
            <a:off x="4703978" y="3154680"/>
            <a:ext cx="2783738" cy="411480"/>
          </a:xfrm>
          <a:prstGeom prst="rect">
            <a:avLst/>
          </a:prstGeom>
          <a:noFill/>
          <a:ln/>
        </p:spPr>
        <p:txBody>
          <a:bodyPr wrap="square" lIns="0" tIns="0" rIns="0" bIns="0" rtlCol="0" anchor="t"/>
          <a:lstStyle/>
          <a:p>
            <a:pPr marL="0" indent="0">
              <a:buNone/>
            </a:pPr>
            <a:r>
              <a:rPr lang="en-US" sz="2000" b="1" dirty="0">
                <a:solidFill>
                  <a:schemeClr val="tx1"/>
                </a:solidFill>
              </a:rPr>
              <a:t>Already delivered</a:t>
            </a:r>
            <a:endParaRPr lang="en-US" sz="2000" dirty="0"/>
          </a:p>
        </p:txBody>
      </p:sp>
      <p:sp>
        <p:nvSpPr>
          <p:cNvPr id="13" name="Text 131"/>
          <p:cNvSpPr txBox="1"/>
          <p:nvPr/>
        </p:nvSpPr>
        <p:spPr>
          <a:xfrm>
            <a:off x="4703978" y="3657600"/>
            <a:ext cx="2783738" cy="1097280"/>
          </a:xfrm>
          <a:prstGeom prst="rect">
            <a:avLst/>
          </a:prstGeom>
          <a:noFill/>
          <a:ln/>
        </p:spPr>
        <p:txBody>
          <a:bodyPr wrap="square" lIns="0" tIns="0" rIns="0" bIns="0" rtlCol="0" anchor="t"/>
          <a:lstStyle/>
          <a:p>
            <a:pPr marL="0" indent="0">
              <a:buNone/>
            </a:pPr>
            <a:r>
              <a:rPr lang="en-US" sz="1600" dirty="0">
                <a:solidFill>
                  <a:schemeClr val="tx1"/>
                </a:solidFill>
              </a:rPr>
              <a:t>We ran AI training with Mari Energies across two cohorts.</a:t>
            </a:r>
            <a:endParaRPr lang="en-US" sz="1600" dirty="0"/>
          </a:p>
        </p:txBody>
      </p:sp>
      <p:sp>
        <p:nvSpPr>
          <p:cNvPr id="14" name="Card 132"/>
          <p:cNvSpPr/>
          <p:nvPr/>
        </p:nvSpPr>
        <p:spPr>
          <a:xfrm>
            <a:off x="8127797" y="1828800"/>
            <a:ext cx="3423818" cy="3017520"/>
          </a:xfrm>
          <a:prstGeom prst="roundRect">
            <a:avLst>
              <a:gd name="adj" fmla="val 4242"/>
            </a:avLst>
          </a:prstGeom>
          <a:solidFill>
            <a:schemeClr val="bg2">
              <a:alpha val="55000"/>
            </a:schemeClr>
          </a:solidFill>
          <a:ln/>
        </p:spPr>
      </p:sp>
      <p:sp>
        <p:nvSpPr>
          <p:cNvPr id="15" name="Icon circle 133"/>
          <p:cNvSpPr/>
          <p:nvPr/>
        </p:nvSpPr>
        <p:spPr>
          <a:xfrm>
            <a:off x="8447837" y="2148840"/>
            <a:ext cx="822960" cy="822960"/>
          </a:xfrm>
          <a:prstGeom prst="ellipse">
            <a:avLst/>
          </a:prstGeom>
          <a:solidFill>
            <a:schemeClr val="accent1"/>
          </a:solidFill>
          <a:ln/>
        </p:spPr>
      </p:sp>
      <p:pic>
        <p:nvPicPr>
          <p:cNvPr id="16" name="Icon 134" descr="preencoded.png"/>
          <p:cNvPicPr>
            <a:picLocks noChangeAspect="1"/>
          </p:cNvPicPr>
          <p:nvPr/>
        </p:nvPicPr>
        <p:blipFill>
          <a:blip r:embed="rId5"/>
          <a:stretch>
            <a:fillRect/>
          </a:stretch>
        </p:blipFill>
        <p:spPr>
          <a:xfrm>
            <a:off x="8670036" y="2371039"/>
            <a:ext cx="378562" cy="378562"/>
          </a:xfrm>
          <a:prstGeom prst="rect">
            <a:avLst/>
          </a:prstGeom>
        </p:spPr>
      </p:pic>
      <p:sp>
        <p:nvSpPr>
          <p:cNvPr id="17" name="Text 135"/>
          <p:cNvSpPr txBox="1"/>
          <p:nvPr/>
        </p:nvSpPr>
        <p:spPr>
          <a:xfrm>
            <a:off x="8447837" y="3154680"/>
            <a:ext cx="2783738" cy="411480"/>
          </a:xfrm>
          <a:prstGeom prst="rect">
            <a:avLst/>
          </a:prstGeom>
          <a:noFill/>
          <a:ln/>
        </p:spPr>
        <p:txBody>
          <a:bodyPr wrap="square" lIns="0" tIns="0" rIns="0" bIns="0" rtlCol="0" anchor="t"/>
          <a:lstStyle/>
          <a:p>
            <a:pPr marL="0" indent="0">
              <a:buNone/>
            </a:pPr>
            <a:r>
              <a:rPr lang="en-US" sz="2000" b="1" dirty="0">
                <a:solidFill>
                  <a:schemeClr val="tx1"/>
                </a:solidFill>
              </a:rPr>
              <a:t>Full handover</a:t>
            </a:r>
            <a:endParaRPr lang="en-US" sz="2000" dirty="0"/>
          </a:p>
        </p:txBody>
      </p:sp>
      <p:sp>
        <p:nvSpPr>
          <p:cNvPr id="18" name="Text 136"/>
          <p:cNvSpPr txBox="1"/>
          <p:nvPr/>
        </p:nvSpPr>
        <p:spPr>
          <a:xfrm>
            <a:off x="8447837" y="3657600"/>
            <a:ext cx="2783738" cy="1097280"/>
          </a:xfrm>
          <a:prstGeom prst="rect">
            <a:avLst/>
          </a:prstGeom>
          <a:noFill/>
          <a:ln/>
        </p:spPr>
        <p:txBody>
          <a:bodyPr wrap="square" lIns="0" tIns="0" rIns="0" bIns="0" rtlCol="0" anchor="t"/>
          <a:lstStyle/>
          <a:p>
            <a:pPr marL="0" indent="0">
              <a:buNone/>
            </a:pPr>
            <a:r>
              <a:rPr lang="en-US" sz="1600" dirty="0">
                <a:solidFill>
                  <a:schemeClr val="tx1"/>
                </a:solidFill>
              </a:rPr>
              <a:t>Architecture, runbooks and governance documents are handed over at the end.</a:t>
            </a:r>
            <a:endParaRPr lang="en-US" sz="1600" dirty="0"/>
          </a:p>
        </p:txBody>
      </p:sp>
      <p:sp>
        <p:nvSpPr>
          <p:cNvPr id="19" name="Card 137"/>
          <p:cNvSpPr/>
          <p:nvPr/>
        </p:nvSpPr>
        <p:spPr>
          <a:xfrm>
            <a:off x="640080" y="5120640"/>
            <a:ext cx="10911535" cy="914400"/>
          </a:xfrm>
          <a:prstGeom prst="roundRect">
            <a:avLst>
              <a:gd name="adj" fmla="val 14000"/>
            </a:avLst>
          </a:prstGeom>
          <a:solidFill>
            <a:schemeClr val="tx1"/>
          </a:solidFill>
          <a:ln/>
        </p:spPr>
      </p:sp>
      <p:sp>
        <p:nvSpPr>
          <p:cNvPr id="20" name="Text 138"/>
          <p:cNvSpPr txBox="1"/>
          <p:nvPr/>
        </p:nvSpPr>
        <p:spPr>
          <a:xfrm>
            <a:off x="1005840" y="5120640"/>
            <a:ext cx="10180015" cy="914400"/>
          </a:xfrm>
          <a:prstGeom prst="rect">
            <a:avLst/>
          </a:prstGeom>
          <a:noFill/>
          <a:ln/>
        </p:spPr>
        <p:txBody>
          <a:bodyPr wrap="square" lIns="0" tIns="0" rIns="0" bIns="0" rtlCol="0" anchor="ctr"/>
          <a:lstStyle/>
          <a:p>
            <a:pPr marL="0" indent="0">
              <a:buNone/>
            </a:pPr>
            <a:r>
              <a:rPr lang="en-US" sz="2200" b="1" dirty="0">
                <a:solidFill>
                  <a:schemeClr val="bg1"/>
                </a:solidFill>
              </a:rPr>
              <a:t>Our own engineers trained in AI with Emeritus.</a:t>
            </a:r>
            <a:endParaRPr lang="en-US" sz="22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Already delivering in Poland and Europe</a:t>
            </a:r>
            <a:endParaRPr lang="en-US" sz="3400" dirty="0"/>
          </a:p>
        </p:txBody>
      </p:sp>
      <p:sp>
        <p:nvSpPr>
          <p:cNvPr id="4" name="Card 139"/>
          <p:cNvSpPr/>
          <p:nvPr/>
        </p:nvSpPr>
        <p:spPr>
          <a:xfrm>
            <a:off x="640080" y="1828800"/>
            <a:ext cx="6309360" cy="3154680"/>
          </a:xfrm>
          <a:prstGeom prst="roundRect">
            <a:avLst>
              <a:gd name="adj" fmla="val 4058"/>
            </a:avLst>
          </a:prstGeom>
          <a:solidFill>
            <a:schemeClr val="tx1"/>
          </a:solidFill>
          <a:ln/>
        </p:spPr>
      </p:sp>
      <p:sp>
        <p:nvSpPr>
          <p:cNvPr id="5" name="Icon circle 140"/>
          <p:cNvSpPr/>
          <p:nvPr/>
        </p:nvSpPr>
        <p:spPr>
          <a:xfrm>
            <a:off x="1005840" y="2103120"/>
            <a:ext cx="594360" cy="594360"/>
          </a:xfrm>
          <a:prstGeom prst="ellipse">
            <a:avLst/>
          </a:prstGeom>
          <a:solidFill>
            <a:schemeClr val="accent2"/>
          </a:solidFill>
          <a:ln/>
        </p:spPr>
      </p:sp>
      <p:pic>
        <p:nvPicPr>
          <p:cNvPr id="6" name="Icon 141" descr="preencoded.png"/>
          <p:cNvPicPr>
            <a:picLocks noChangeAspect="1"/>
          </p:cNvPicPr>
          <p:nvPr/>
        </p:nvPicPr>
        <p:blipFill>
          <a:blip r:embed="rId3"/>
          <a:stretch>
            <a:fillRect/>
          </a:stretch>
        </p:blipFill>
        <p:spPr>
          <a:xfrm>
            <a:off x="1166317" y="2263597"/>
            <a:ext cx="273406" cy="273406"/>
          </a:xfrm>
          <a:prstGeom prst="rect">
            <a:avLst/>
          </a:prstGeom>
        </p:spPr>
      </p:pic>
      <p:sp>
        <p:nvSpPr>
          <p:cNvPr id="7" name="Text 142"/>
          <p:cNvSpPr txBox="1"/>
          <p:nvPr/>
        </p:nvSpPr>
        <p:spPr>
          <a:xfrm>
            <a:off x="1005840" y="2834640"/>
            <a:ext cx="5577840" cy="1188720"/>
          </a:xfrm>
          <a:prstGeom prst="rect">
            <a:avLst/>
          </a:prstGeom>
          <a:noFill/>
          <a:ln/>
        </p:spPr>
        <p:txBody>
          <a:bodyPr wrap="square" lIns="0" tIns="0" rIns="0" bIns="0" rtlCol="0" anchor="t"/>
          <a:lstStyle/>
          <a:p>
            <a:pPr marL="0" indent="0">
              <a:buNone/>
            </a:pPr>
            <a:r>
              <a:rPr lang="en-US" sz="2000" i="1" dirty="0">
                <a:solidFill>
                  <a:schemeClr val="bg1"/>
                </a:solidFill>
              </a:rPr>
              <a:t>“xLoop architects meticulously planned and executed the migration, ensuring minimal disruption to our operations.”</a:t>
            </a:r>
            <a:endParaRPr lang="en-US" sz="2000" dirty="0"/>
          </a:p>
        </p:txBody>
      </p:sp>
      <p:sp>
        <p:nvSpPr>
          <p:cNvPr id="8" name="Text 143"/>
          <p:cNvSpPr txBox="1"/>
          <p:nvPr/>
        </p:nvSpPr>
        <p:spPr>
          <a:xfrm>
            <a:off x="1005840" y="4160520"/>
            <a:ext cx="5577840" cy="640080"/>
          </a:xfrm>
          <a:prstGeom prst="rect">
            <a:avLst/>
          </a:prstGeom>
          <a:noFill/>
          <a:ln/>
        </p:spPr>
        <p:txBody>
          <a:bodyPr wrap="square" lIns="0" tIns="0" rIns="0" bIns="0" rtlCol="0" anchor="t"/>
          <a:lstStyle/>
          <a:p>
            <a:pPr marL="0" indent="0">
              <a:buNone/>
            </a:pPr>
            <a:r>
              <a:rPr lang="en-US" sz="1500" b="1" dirty="0">
                <a:solidFill>
                  <a:schemeClr val="accent4"/>
                </a:solidFill>
              </a:rPr>
              <a:t>John Waterhouse</a:t>
            </a:r>
            <a:endParaRPr lang="en-US" sz="1500" dirty="0"/>
          </a:p>
          <a:p>
            <a:pPr marL="0" indent="0">
              <a:buNone/>
            </a:pPr>
            <a:r>
              <a:rPr lang="en-US" sz="1500" dirty="0">
                <a:solidFill>
                  <a:schemeClr val="accent4"/>
                </a:solidFill>
              </a:rPr>
              <a:t>Founder and CEO, Cloud Titans Ltd</a:t>
            </a:r>
            <a:endParaRPr lang="en-US" sz="1500" dirty="0"/>
          </a:p>
        </p:txBody>
      </p:sp>
      <p:sp>
        <p:nvSpPr>
          <p:cNvPr id="9" name="Icon circle 144"/>
          <p:cNvSpPr/>
          <p:nvPr/>
        </p:nvSpPr>
        <p:spPr>
          <a:xfrm>
            <a:off x="7315200" y="1828800"/>
            <a:ext cx="640080" cy="640080"/>
          </a:xfrm>
          <a:prstGeom prst="ellipse">
            <a:avLst/>
          </a:prstGeom>
          <a:solidFill>
            <a:schemeClr val="accent1"/>
          </a:solidFill>
          <a:ln/>
        </p:spPr>
      </p:sp>
      <p:pic>
        <p:nvPicPr>
          <p:cNvPr id="10" name="Icon 145" descr="preencoded.png"/>
          <p:cNvPicPr>
            <a:picLocks noChangeAspect="1"/>
          </p:cNvPicPr>
          <p:nvPr/>
        </p:nvPicPr>
        <p:blipFill>
          <a:blip r:embed="rId4"/>
          <a:stretch>
            <a:fillRect/>
          </a:stretch>
        </p:blipFill>
        <p:spPr>
          <a:xfrm>
            <a:off x="7488022" y="2001622"/>
            <a:ext cx="294437" cy="294437"/>
          </a:xfrm>
          <a:prstGeom prst="rect">
            <a:avLst/>
          </a:prstGeom>
        </p:spPr>
      </p:pic>
      <p:sp>
        <p:nvSpPr>
          <p:cNvPr id="11" name="Text 146"/>
          <p:cNvSpPr txBox="1"/>
          <p:nvPr/>
        </p:nvSpPr>
        <p:spPr>
          <a:xfrm>
            <a:off x="8183880" y="1783080"/>
            <a:ext cx="3367735" cy="347472"/>
          </a:xfrm>
          <a:prstGeom prst="rect">
            <a:avLst/>
          </a:prstGeom>
          <a:noFill/>
          <a:ln/>
        </p:spPr>
        <p:txBody>
          <a:bodyPr wrap="square" lIns="0" tIns="0" rIns="0" bIns="0" rtlCol="0" anchor="t"/>
          <a:lstStyle/>
          <a:p>
            <a:pPr marL="0" indent="0">
              <a:buNone/>
            </a:pPr>
            <a:r>
              <a:rPr lang="en-US" sz="1800" b="1" dirty="0">
                <a:solidFill>
                  <a:schemeClr val="tx1"/>
                </a:solidFill>
              </a:rPr>
              <a:t>Work for Cloud Titans</a:t>
            </a:r>
            <a:endParaRPr lang="en-US" sz="1800" dirty="0"/>
          </a:p>
        </p:txBody>
      </p:sp>
      <p:sp>
        <p:nvSpPr>
          <p:cNvPr id="12" name="Text 147"/>
          <p:cNvSpPr txBox="1"/>
          <p:nvPr/>
        </p:nvSpPr>
        <p:spPr>
          <a:xfrm>
            <a:off x="8183880" y="2157984"/>
            <a:ext cx="3367735" cy="640080"/>
          </a:xfrm>
          <a:prstGeom prst="rect">
            <a:avLst/>
          </a:prstGeom>
          <a:noFill/>
          <a:ln/>
        </p:spPr>
        <p:txBody>
          <a:bodyPr wrap="square" lIns="0" tIns="0" rIns="0" bIns="0" rtlCol="0" anchor="t"/>
          <a:lstStyle/>
          <a:p>
            <a:pPr marL="0" indent="0">
              <a:buNone/>
            </a:pPr>
            <a:r>
              <a:rPr lang="en-US" sz="1500" dirty="0">
                <a:solidFill>
                  <a:schemeClr val="tx1"/>
                </a:solidFill>
              </a:rPr>
              <a:t>Application modernization and a SIEM migration.</a:t>
            </a:r>
            <a:endParaRPr lang="en-US" sz="1500" dirty="0"/>
          </a:p>
        </p:txBody>
      </p:sp>
      <p:sp>
        <p:nvSpPr>
          <p:cNvPr id="13" name="Icon circle 148"/>
          <p:cNvSpPr/>
          <p:nvPr/>
        </p:nvSpPr>
        <p:spPr>
          <a:xfrm>
            <a:off x="7315200" y="2926080"/>
            <a:ext cx="640080" cy="640080"/>
          </a:xfrm>
          <a:prstGeom prst="ellipse">
            <a:avLst/>
          </a:prstGeom>
          <a:solidFill>
            <a:schemeClr val="accent1"/>
          </a:solidFill>
          <a:ln/>
        </p:spPr>
      </p:sp>
      <p:pic>
        <p:nvPicPr>
          <p:cNvPr id="14" name="Icon 149" descr="preencoded.png"/>
          <p:cNvPicPr>
            <a:picLocks noChangeAspect="1"/>
          </p:cNvPicPr>
          <p:nvPr/>
        </p:nvPicPr>
        <p:blipFill>
          <a:blip r:embed="rId5"/>
          <a:stretch>
            <a:fillRect/>
          </a:stretch>
        </p:blipFill>
        <p:spPr>
          <a:xfrm>
            <a:off x="7488022" y="3098902"/>
            <a:ext cx="294437" cy="294437"/>
          </a:xfrm>
          <a:prstGeom prst="rect">
            <a:avLst/>
          </a:prstGeom>
        </p:spPr>
      </p:pic>
      <p:sp>
        <p:nvSpPr>
          <p:cNvPr id="15" name="Text 150"/>
          <p:cNvSpPr txBox="1"/>
          <p:nvPr/>
        </p:nvSpPr>
        <p:spPr>
          <a:xfrm>
            <a:off x="8183880" y="2880360"/>
            <a:ext cx="3367735" cy="347472"/>
          </a:xfrm>
          <a:prstGeom prst="rect">
            <a:avLst/>
          </a:prstGeom>
          <a:noFill/>
          <a:ln/>
        </p:spPr>
        <p:txBody>
          <a:bodyPr wrap="square" lIns="0" tIns="0" rIns="0" bIns="0" rtlCol="0" anchor="t"/>
          <a:lstStyle/>
          <a:p>
            <a:pPr marL="0" indent="0">
              <a:buNone/>
            </a:pPr>
            <a:r>
              <a:rPr lang="en-US" sz="1800" b="1" dirty="0">
                <a:solidFill>
                  <a:schemeClr val="tx1"/>
                </a:solidFill>
              </a:rPr>
              <a:t>People in Europe</a:t>
            </a:r>
            <a:endParaRPr lang="en-US" sz="1800" dirty="0"/>
          </a:p>
        </p:txBody>
      </p:sp>
      <p:sp>
        <p:nvSpPr>
          <p:cNvPr id="16" name="Text 151"/>
          <p:cNvSpPr txBox="1"/>
          <p:nvPr/>
        </p:nvSpPr>
        <p:spPr>
          <a:xfrm>
            <a:off x="8183880" y="3255264"/>
            <a:ext cx="3367735" cy="640080"/>
          </a:xfrm>
          <a:prstGeom prst="rect">
            <a:avLst/>
          </a:prstGeom>
          <a:noFill/>
          <a:ln/>
        </p:spPr>
        <p:txBody>
          <a:bodyPr wrap="square" lIns="0" tIns="0" rIns="0" bIns="0" rtlCol="0" anchor="t"/>
          <a:lstStyle/>
          <a:p>
            <a:pPr marL="0" indent="0">
              <a:buNone/>
            </a:pPr>
            <a:r>
              <a:rPr lang="en-US" sz="1500" dirty="0">
                <a:solidFill>
                  <a:schemeClr val="tx1"/>
                </a:solidFill>
              </a:rPr>
              <a:t>Team members based in Hungary work in your time zone.</a:t>
            </a:r>
            <a:endParaRPr lang="en-US" sz="1500" dirty="0"/>
          </a:p>
        </p:txBody>
      </p:sp>
      <p:sp>
        <p:nvSpPr>
          <p:cNvPr id="17" name="Icon circle 152"/>
          <p:cNvSpPr/>
          <p:nvPr/>
        </p:nvSpPr>
        <p:spPr>
          <a:xfrm>
            <a:off x="7315200" y="4023360"/>
            <a:ext cx="640080" cy="640080"/>
          </a:xfrm>
          <a:prstGeom prst="ellipse">
            <a:avLst/>
          </a:prstGeom>
          <a:solidFill>
            <a:schemeClr val="accent1"/>
          </a:solidFill>
          <a:ln/>
        </p:spPr>
      </p:sp>
      <p:pic>
        <p:nvPicPr>
          <p:cNvPr id="18" name="Icon 153" descr="preencoded.png"/>
          <p:cNvPicPr>
            <a:picLocks noChangeAspect="1"/>
          </p:cNvPicPr>
          <p:nvPr/>
        </p:nvPicPr>
        <p:blipFill>
          <a:blip r:embed="rId6"/>
          <a:stretch>
            <a:fillRect/>
          </a:stretch>
        </p:blipFill>
        <p:spPr>
          <a:xfrm>
            <a:off x="7488022" y="4196182"/>
            <a:ext cx="294437" cy="294437"/>
          </a:xfrm>
          <a:prstGeom prst="rect">
            <a:avLst/>
          </a:prstGeom>
        </p:spPr>
      </p:pic>
      <p:sp>
        <p:nvSpPr>
          <p:cNvPr id="19" name="Text 154"/>
          <p:cNvSpPr txBox="1"/>
          <p:nvPr/>
        </p:nvSpPr>
        <p:spPr>
          <a:xfrm>
            <a:off x="8183880" y="3977640"/>
            <a:ext cx="3367735" cy="347472"/>
          </a:xfrm>
          <a:prstGeom prst="rect">
            <a:avLst/>
          </a:prstGeom>
          <a:noFill/>
          <a:ln/>
        </p:spPr>
        <p:txBody>
          <a:bodyPr wrap="square" lIns="0" tIns="0" rIns="0" bIns="0" rtlCol="0" anchor="t"/>
          <a:lstStyle/>
          <a:p>
            <a:pPr marL="0" indent="0">
              <a:buNone/>
            </a:pPr>
            <a:r>
              <a:rPr lang="en-US" sz="1800" b="1" dirty="0">
                <a:solidFill>
                  <a:schemeClr val="tx1"/>
                </a:solidFill>
              </a:rPr>
              <a:t>European partnership</a:t>
            </a:r>
            <a:endParaRPr lang="en-US" sz="1800" dirty="0"/>
          </a:p>
        </p:txBody>
      </p:sp>
      <p:sp>
        <p:nvSpPr>
          <p:cNvPr id="20" name="Text 155"/>
          <p:cNvSpPr txBox="1"/>
          <p:nvPr/>
        </p:nvSpPr>
        <p:spPr>
          <a:xfrm>
            <a:off x="8183880" y="4352544"/>
            <a:ext cx="3367735" cy="640080"/>
          </a:xfrm>
          <a:prstGeom prst="rect">
            <a:avLst/>
          </a:prstGeom>
          <a:noFill/>
          <a:ln/>
        </p:spPr>
        <p:txBody>
          <a:bodyPr wrap="square" lIns="0" tIns="0" rIns="0" bIns="0" rtlCol="0" anchor="t"/>
          <a:lstStyle/>
          <a:p>
            <a:pPr marL="0" indent="0">
              <a:buNone/>
            </a:pPr>
            <a:r>
              <a:rPr lang="en-US" sz="1500" dirty="0">
                <a:solidFill>
                  <a:schemeClr val="tx1"/>
                </a:solidFill>
              </a:rPr>
              <a:t>A signed partnership with Optimaze.</a:t>
            </a:r>
            <a:endParaRPr lang="en-US" sz="1500" dirty="0"/>
          </a:p>
        </p:txBody>
      </p:sp>
      <p:sp>
        <p:nvSpPr>
          <p:cNvPr id="21" name="Card 156"/>
          <p:cNvSpPr/>
          <p:nvPr/>
        </p:nvSpPr>
        <p:spPr>
          <a:xfrm>
            <a:off x="640080" y="5212080"/>
            <a:ext cx="2377440" cy="868680"/>
          </a:xfrm>
          <a:prstGeom prst="roundRect">
            <a:avLst>
              <a:gd name="adj" fmla="val 14737"/>
            </a:avLst>
          </a:prstGeom>
          <a:solidFill>
            <a:schemeClr val="bg2">
              <a:alpha val="55000"/>
            </a:schemeClr>
          </a:solidFill>
          <a:ln/>
        </p:spPr>
      </p:sp>
      <p:sp>
        <p:nvSpPr>
          <p:cNvPr id="22" name="Text 157"/>
          <p:cNvSpPr txBox="1"/>
          <p:nvPr/>
        </p:nvSpPr>
        <p:spPr>
          <a:xfrm>
            <a:off x="914400" y="5212080"/>
            <a:ext cx="868680" cy="868680"/>
          </a:xfrm>
          <a:prstGeom prst="rect">
            <a:avLst/>
          </a:prstGeom>
          <a:noFill/>
          <a:ln/>
        </p:spPr>
        <p:txBody>
          <a:bodyPr wrap="square" lIns="0" tIns="0" rIns="0" bIns="0" rtlCol="0" anchor="ctr"/>
          <a:lstStyle/>
          <a:p>
            <a:pPr marL="0" indent="0">
              <a:buNone/>
            </a:pPr>
            <a:r>
              <a:rPr lang="en-US" sz="3200" b="1" dirty="0">
                <a:solidFill>
                  <a:schemeClr val="accent1"/>
                </a:solidFill>
              </a:rPr>
              <a:t>90</a:t>
            </a:r>
            <a:endParaRPr lang="en-US" sz="3200" dirty="0"/>
          </a:p>
        </p:txBody>
      </p:sp>
      <p:sp>
        <p:nvSpPr>
          <p:cNvPr id="23" name="Text 158"/>
          <p:cNvSpPr txBox="1"/>
          <p:nvPr/>
        </p:nvSpPr>
        <p:spPr>
          <a:xfrm>
            <a:off x="1828800" y="5212080"/>
            <a:ext cx="1005840" cy="868680"/>
          </a:xfrm>
          <a:prstGeom prst="rect">
            <a:avLst/>
          </a:prstGeom>
          <a:noFill/>
          <a:ln/>
        </p:spPr>
        <p:txBody>
          <a:bodyPr wrap="square" lIns="0" tIns="0" rIns="0" bIns="0" rtlCol="0" anchor="ctr"/>
          <a:lstStyle/>
          <a:p>
            <a:pPr marL="0" indent="0">
              <a:buNone/>
            </a:pPr>
            <a:r>
              <a:rPr lang="en-US" sz="1500" dirty="0">
                <a:solidFill>
                  <a:schemeClr val="tx1"/>
                </a:solidFill>
              </a:rPr>
              <a:t>people</a:t>
            </a:r>
            <a:endParaRPr lang="en-US" sz="1500" dirty="0"/>
          </a:p>
        </p:txBody>
      </p:sp>
      <p:sp>
        <p:nvSpPr>
          <p:cNvPr id="24" name="Card 159"/>
          <p:cNvSpPr/>
          <p:nvPr/>
        </p:nvSpPr>
        <p:spPr>
          <a:xfrm>
            <a:off x="3291840" y="5212080"/>
            <a:ext cx="3017520" cy="868680"/>
          </a:xfrm>
          <a:prstGeom prst="roundRect">
            <a:avLst>
              <a:gd name="adj" fmla="val 14737"/>
            </a:avLst>
          </a:prstGeom>
          <a:solidFill>
            <a:schemeClr val="bg2">
              <a:alpha val="55000"/>
            </a:schemeClr>
          </a:solidFill>
          <a:ln/>
        </p:spPr>
      </p:sp>
      <p:sp>
        <p:nvSpPr>
          <p:cNvPr id="25" name="Text 160"/>
          <p:cNvSpPr txBox="1"/>
          <p:nvPr/>
        </p:nvSpPr>
        <p:spPr>
          <a:xfrm>
            <a:off x="3566160" y="5212080"/>
            <a:ext cx="1371600" cy="868680"/>
          </a:xfrm>
          <a:prstGeom prst="rect">
            <a:avLst/>
          </a:prstGeom>
          <a:noFill/>
          <a:ln/>
        </p:spPr>
        <p:txBody>
          <a:bodyPr wrap="square" lIns="0" tIns="0" rIns="0" bIns="0" rtlCol="0" anchor="ctr"/>
          <a:lstStyle/>
          <a:p>
            <a:pPr marL="0" indent="0">
              <a:buNone/>
            </a:pPr>
            <a:r>
              <a:rPr lang="en-US" sz="3200" b="1" dirty="0">
                <a:solidFill>
                  <a:schemeClr val="accent1"/>
                </a:solidFill>
              </a:rPr>
              <a:t>2022</a:t>
            </a:r>
            <a:endParaRPr lang="en-US" sz="3200" dirty="0"/>
          </a:p>
        </p:txBody>
      </p:sp>
      <p:sp>
        <p:nvSpPr>
          <p:cNvPr id="26" name="Text 161"/>
          <p:cNvSpPr txBox="1"/>
          <p:nvPr/>
        </p:nvSpPr>
        <p:spPr>
          <a:xfrm>
            <a:off x="5029200" y="5212080"/>
            <a:ext cx="1097280" cy="868680"/>
          </a:xfrm>
          <a:prstGeom prst="rect">
            <a:avLst/>
          </a:prstGeom>
          <a:noFill/>
          <a:ln/>
        </p:spPr>
        <p:txBody>
          <a:bodyPr wrap="square" lIns="0" tIns="0" rIns="0" bIns="0" rtlCol="0" anchor="ctr"/>
          <a:lstStyle/>
          <a:p>
            <a:pPr marL="0" indent="0">
              <a:buNone/>
            </a:pPr>
            <a:r>
              <a:rPr lang="en-US" sz="1500" dirty="0">
                <a:solidFill>
                  <a:schemeClr val="tx1"/>
                </a:solidFill>
              </a:rPr>
              <a:t>founded</a:t>
            </a:r>
            <a:endParaRPr lang="en-US" sz="1500" dirty="0"/>
          </a:p>
        </p:txBody>
      </p:sp>
      <p:sp>
        <p:nvSpPr>
          <p:cNvPr id="27" name="Card 162"/>
          <p:cNvSpPr/>
          <p:nvPr/>
        </p:nvSpPr>
        <p:spPr>
          <a:xfrm>
            <a:off x="6583680" y="5212080"/>
            <a:ext cx="4967935" cy="868680"/>
          </a:xfrm>
          <a:prstGeom prst="roundRect">
            <a:avLst>
              <a:gd name="adj" fmla="val 14737"/>
            </a:avLst>
          </a:prstGeom>
          <a:solidFill>
            <a:schemeClr val="bg2">
              <a:alpha val="55000"/>
            </a:schemeClr>
          </a:solidFill>
          <a:ln/>
        </p:spPr>
      </p:sp>
      <p:sp>
        <p:nvSpPr>
          <p:cNvPr id="28" name="Text 163"/>
          <p:cNvSpPr txBox="1"/>
          <p:nvPr/>
        </p:nvSpPr>
        <p:spPr>
          <a:xfrm>
            <a:off x="6858000" y="5212080"/>
            <a:ext cx="868680" cy="868680"/>
          </a:xfrm>
          <a:prstGeom prst="rect">
            <a:avLst/>
          </a:prstGeom>
          <a:noFill/>
          <a:ln/>
        </p:spPr>
        <p:txBody>
          <a:bodyPr wrap="square" lIns="0" tIns="0" rIns="0" bIns="0" rtlCol="0" anchor="ctr"/>
          <a:lstStyle/>
          <a:p>
            <a:pPr marL="0" indent="0">
              <a:buNone/>
            </a:pPr>
            <a:r>
              <a:rPr lang="en-US" sz="3200" b="1" dirty="0">
                <a:solidFill>
                  <a:schemeClr val="accent1"/>
                </a:solidFill>
              </a:rPr>
              <a:t>4</a:t>
            </a:r>
            <a:endParaRPr lang="en-US" sz="3200" dirty="0"/>
          </a:p>
        </p:txBody>
      </p:sp>
      <p:sp>
        <p:nvSpPr>
          <p:cNvPr id="29" name="Text 164"/>
          <p:cNvSpPr txBox="1"/>
          <p:nvPr/>
        </p:nvSpPr>
        <p:spPr>
          <a:xfrm>
            <a:off x="7772400" y="5212080"/>
            <a:ext cx="3596335" cy="868680"/>
          </a:xfrm>
          <a:prstGeom prst="rect">
            <a:avLst/>
          </a:prstGeom>
          <a:noFill/>
          <a:ln/>
        </p:spPr>
        <p:txBody>
          <a:bodyPr wrap="square" lIns="0" tIns="0" rIns="0" bIns="0" rtlCol="0" anchor="ctr"/>
          <a:lstStyle/>
          <a:p>
            <a:pPr marL="0" indent="0">
              <a:buNone/>
            </a:pPr>
            <a:r>
              <a:rPr lang="en-US" sz="1500" dirty="0">
                <a:solidFill>
                  <a:schemeClr val="tx1"/>
                </a:solidFill>
              </a:rPr>
              <a:t>offices: San Mateo, Dubai, Doha, Karachi</a:t>
            </a:r>
            <a:endParaRPr lang="en-US" sz="1500" dirty="0"/>
          </a:p>
        </p:txBody>
      </p:sp>
      <p:sp>
        <p:nvSpPr>
          <p:cNvPr id="3"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502920"/>
            <a:ext cx="9509760" cy="1143000"/>
          </a:xfrm>
          <a:prstGeom prst="rect">
            <a:avLst/>
          </a:prstGeom>
          <a:noFill/>
          <a:ln/>
        </p:spPr>
        <p:txBody>
          <a:bodyPr wrap="square" lIns="0" tIns="0" rIns="0" bIns="0" rtlCol="0" anchor="t"/>
          <a:lstStyle/>
          <a:p>
            <a:pPr marL="0" indent="0" algn="l">
              <a:buNone/>
            </a:pPr>
            <a:r>
              <a:rPr lang="en-US" sz="3400" b="1" dirty="0">
                <a:solidFill>
                  <a:schemeClr val="tx1"/>
                </a:solidFill>
              </a:rPr>
              <a:t>How we start with your first business</a:t>
            </a:r>
            <a:endParaRPr lang="en-US" sz="3400" dirty="0"/>
          </a:p>
        </p:txBody>
      </p:sp>
      <p:sp>
        <p:nvSpPr>
          <p:cNvPr id="4" name="Card 165"/>
          <p:cNvSpPr/>
          <p:nvPr/>
        </p:nvSpPr>
        <p:spPr>
          <a:xfrm>
            <a:off x="640080" y="1783080"/>
            <a:ext cx="2487854" cy="2606040"/>
          </a:xfrm>
          <a:prstGeom prst="roundRect">
            <a:avLst>
              <a:gd name="adj" fmla="val 5146"/>
            </a:avLst>
          </a:prstGeom>
          <a:solidFill>
            <a:schemeClr val="bg2">
              <a:alpha val="55000"/>
            </a:schemeClr>
          </a:solidFill>
          <a:ln/>
        </p:spPr>
      </p:sp>
      <p:sp>
        <p:nvSpPr>
          <p:cNvPr id="5" name="Number circle 166"/>
          <p:cNvSpPr/>
          <p:nvPr/>
        </p:nvSpPr>
        <p:spPr>
          <a:xfrm>
            <a:off x="914400" y="2057400"/>
            <a:ext cx="548640" cy="548640"/>
          </a:xfrm>
          <a:prstGeom prst="ellipse">
            <a:avLst/>
          </a:prstGeom>
          <a:solidFill>
            <a:schemeClr val="accent1"/>
          </a:solidFill>
          <a:ln/>
        </p:spPr>
      </p:sp>
      <p:sp>
        <p:nvSpPr>
          <p:cNvPr id="6" name="Number 167"/>
          <p:cNvSpPr txBox="1"/>
          <p:nvPr/>
        </p:nvSpPr>
        <p:spPr>
          <a:xfrm>
            <a:off x="914400" y="20574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Icon circle 168"/>
          <p:cNvSpPr/>
          <p:nvPr/>
        </p:nvSpPr>
        <p:spPr>
          <a:xfrm>
            <a:off x="2304974" y="2057400"/>
            <a:ext cx="548640" cy="548640"/>
          </a:xfrm>
          <a:prstGeom prst="ellipse">
            <a:avLst/>
          </a:prstGeom>
          <a:solidFill>
            <a:schemeClr val="accent2"/>
          </a:solidFill>
          <a:ln/>
        </p:spPr>
      </p:sp>
      <p:pic>
        <p:nvPicPr>
          <p:cNvPr id="8" name="Icon 169" descr="preencoded.png"/>
          <p:cNvPicPr>
            <a:picLocks noChangeAspect="1"/>
          </p:cNvPicPr>
          <p:nvPr/>
        </p:nvPicPr>
        <p:blipFill>
          <a:blip r:embed="rId3"/>
          <a:stretch>
            <a:fillRect/>
          </a:stretch>
        </p:blipFill>
        <p:spPr>
          <a:xfrm>
            <a:off x="2453107" y="2205533"/>
            <a:ext cx="252374" cy="252374"/>
          </a:xfrm>
          <a:prstGeom prst="rect">
            <a:avLst/>
          </a:prstGeom>
        </p:spPr>
      </p:pic>
      <p:sp>
        <p:nvSpPr>
          <p:cNvPr id="9" name="Text 170"/>
          <p:cNvSpPr txBox="1"/>
          <p:nvPr/>
        </p:nvSpPr>
        <p:spPr>
          <a:xfrm>
            <a:off x="868680" y="2743200"/>
            <a:ext cx="2030654" cy="411480"/>
          </a:xfrm>
          <a:prstGeom prst="rect">
            <a:avLst/>
          </a:prstGeom>
          <a:noFill/>
          <a:ln/>
        </p:spPr>
        <p:txBody>
          <a:bodyPr wrap="square" lIns="0" tIns="0" rIns="0" bIns="0" rtlCol="0" anchor="t"/>
          <a:lstStyle/>
          <a:p>
            <a:pPr marL="0" indent="0">
              <a:buNone/>
            </a:pPr>
            <a:r>
              <a:rPr lang="en-US" sz="2000" b="1" dirty="0">
                <a:solidFill>
                  <a:schemeClr val="tx1"/>
                </a:solidFill>
              </a:rPr>
              <a:t>Discover</a:t>
            </a:r>
            <a:endParaRPr lang="en-US" sz="2000" dirty="0"/>
          </a:p>
        </p:txBody>
      </p:sp>
      <p:sp>
        <p:nvSpPr>
          <p:cNvPr id="10" name="Text 171"/>
          <p:cNvSpPr txBox="1"/>
          <p:nvPr/>
        </p:nvSpPr>
        <p:spPr>
          <a:xfrm>
            <a:off x="868680" y="3200400"/>
            <a:ext cx="2030654" cy="1097280"/>
          </a:xfrm>
          <a:prstGeom prst="rect">
            <a:avLst/>
          </a:prstGeom>
          <a:noFill/>
          <a:ln/>
        </p:spPr>
        <p:txBody>
          <a:bodyPr wrap="square" lIns="0" tIns="0" rIns="0" bIns="0" rtlCol="0" anchor="t"/>
          <a:lstStyle/>
          <a:p>
            <a:pPr marL="0" indent="0">
              <a:buNone/>
            </a:pPr>
            <a:r>
              <a:rPr lang="en-US" sz="1500" dirty="0">
                <a:solidFill>
                  <a:schemeClr val="tx1"/>
                </a:solidFill>
              </a:rPr>
              <a:t>Pick one use case. Check the data and the risks.</a:t>
            </a:r>
            <a:endParaRPr lang="en-US" sz="1500" dirty="0"/>
          </a:p>
        </p:txBody>
      </p:sp>
      <p:sp>
        <p:nvSpPr>
          <p:cNvPr id="11" name="Card 172"/>
          <p:cNvSpPr/>
          <p:nvPr/>
        </p:nvSpPr>
        <p:spPr>
          <a:xfrm>
            <a:off x="3447974" y="1783080"/>
            <a:ext cx="2487854" cy="2606040"/>
          </a:xfrm>
          <a:prstGeom prst="roundRect">
            <a:avLst>
              <a:gd name="adj" fmla="val 5146"/>
            </a:avLst>
          </a:prstGeom>
          <a:solidFill>
            <a:schemeClr val="bg2">
              <a:alpha val="55000"/>
            </a:schemeClr>
          </a:solidFill>
          <a:ln/>
        </p:spPr>
      </p:sp>
      <p:sp>
        <p:nvSpPr>
          <p:cNvPr id="12" name="Number circle 173"/>
          <p:cNvSpPr/>
          <p:nvPr/>
        </p:nvSpPr>
        <p:spPr>
          <a:xfrm>
            <a:off x="3722294" y="2057400"/>
            <a:ext cx="548640" cy="548640"/>
          </a:xfrm>
          <a:prstGeom prst="ellipse">
            <a:avLst/>
          </a:prstGeom>
          <a:solidFill>
            <a:schemeClr val="accent1"/>
          </a:solidFill>
          <a:ln/>
        </p:spPr>
      </p:sp>
      <p:sp>
        <p:nvSpPr>
          <p:cNvPr id="13" name="Number 174"/>
          <p:cNvSpPr txBox="1"/>
          <p:nvPr/>
        </p:nvSpPr>
        <p:spPr>
          <a:xfrm>
            <a:off x="3722294" y="20574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4" name="Icon circle 175"/>
          <p:cNvSpPr/>
          <p:nvPr/>
        </p:nvSpPr>
        <p:spPr>
          <a:xfrm>
            <a:off x="5112868" y="2057400"/>
            <a:ext cx="548640" cy="548640"/>
          </a:xfrm>
          <a:prstGeom prst="ellipse">
            <a:avLst/>
          </a:prstGeom>
          <a:solidFill>
            <a:schemeClr val="accent2"/>
          </a:solidFill>
          <a:ln/>
        </p:spPr>
      </p:sp>
      <p:pic>
        <p:nvPicPr>
          <p:cNvPr id="15" name="Icon 176" descr="preencoded.png"/>
          <p:cNvPicPr>
            <a:picLocks noChangeAspect="1"/>
          </p:cNvPicPr>
          <p:nvPr/>
        </p:nvPicPr>
        <p:blipFill>
          <a:blip r:embed="rId4"/>
          <a:stretch>
            <a:fillRect/>
          </a:stretch>
        </p:blipFill>
        <p:spPr>
          <a:xfrm>
            <a:off x="5261000" y="2205533"/>
            <a:ext cx="252374" cy="252374"/>
          </a:xfrm>
          <a:prstGeom prst="rect">
            <a:avLst/>
          </a:prstGeom>
        </p:spPr>
      </p:pic>
      <p:sp>
        <p:nvSpPr>
          <p:cNvPr id="16" name="Text 177"/>
          <p:cNvSpPr txBox="1"/>
          <p:nvPr/>
        </p:nvSpPr>
        <p:spPr>
          <a:xfrm>
            <a:off x="3676574" y="2743200"/>
            <a:ext cx="2030654" cy="411480"/>
          </a:xfrm>
          <a:prstGeom prst="rect">
            <a:avLst/>
          </a:prstGeom>
          <a:noFill/>
          <a:ln/>
        </p:spPr>
        <p:txBody>
          <a:bodyPr wrap="square" lIns="0" tIns="0" rIns="0" bIns="0" rtlCol="0" anchor="t"/>
          <a:lstStyle/>
          <a:p>
            <a:pPr marL="0" indent="0">
              <a:buNone/>
            </a:pPr>
            <a:r>
              <a:rPr lang="en-US" sz="2000" b="1" dirty="0">
                <a:solidFill>
                  <a:schemeClr val="tx1"/>
                </a:solidFill>
              </a:rPr>
              <a:t>Build</a:t>
            </a:r>
            <a:endParaRPr lang="en-US" sz="2000" dirty="0"/>
          </a:p>
        </p:txBody>
      </p:sp>
      <p:sp>
        <p:nvSpPr>
          <p:cNvPr id="17" name="Text 178"/>
          <p:cNvSpPr txBox="1"/>
          <p:nvPr/>
        </p:nvSpPr>
        <p:spPr>
          <a:xfrm>
            <a:off x="3676574" y="3200400"/>
            <a:ext cx="2030654" cy="1097280"/>
          </a:xfrm>
          <a:prstGeom prst="rect">
            <a:avLst/>
          </a:prstGeom>
          <a:noFill/>
          <a:ln/>
        </p:spPr>
        <p:txBody>
          <a:bodyPr wrap="square" lIns="0" tIns="0" rIns="0" bIns="0" rtlCol="0" anchor="t"/>
          <a:lstStyle/>
          <a:p>
            <a:pPr marL="0" indent="0">
              <a:buNone/>
            </a:pPr>
            <a:r>
              <a:rPr lang="en-US" sz="1500" dirty="0">
                <a:solidFill>
                  <a:schemeClr val="tx1"/>
                </a:solidFill>
              </a:rPr>
              <a:t>Deliver a working agent with guardrails.</a:t>
            </a:r>
            <a:endParaRPr lang="en-US" sz="1500" dirty="0"/>
          </a:p>
        </p:txBody>
      </p:sp>
      <p:sp>
        <p:nvSpPr>
          <p:cNvPr id="18" name="Card 179"/>
          <p:cNvSpPr/>
          <p:nvPr/>
        </p:nvSpPr>
        <p:spPr>
          <a:xfrm>
            <a:off x="6255868" y="1783080"/>
            <a:ext cx="2487854" cy="2606040"/>
          </a:xfrm>
          <a:prstGeom prst="roundRect">
            <a:avLst>
              <a:gd name="adj" fmla="val 5146"/>
            </a:avLst>
          </a:prstGeom>
          <a:solidFill>
            <a:schemeClr val="bg2">
              <a:alpha val="55000"/>
            </a:schemeClr>
          </a:solidFill>
          <a:ln/>
        </p:spPr>
      </p:sp>
      <p:sp>
        <p:nvSpPr>
          <p:cNvPr id="19" name="Number circle 180"/>
          <p:cNvSpPr/>
          <p:nvPr/>
        </p:nvSpPr>
        <p:spPr>
          <a:xfrm>
            <a:off x="6530188" y="2057400"/>
            <a:ext cx="548640" cy="548640"/>
          </a:xfrm>
          <a:prstGeom prst="ellipse">
            <a:avLst/>
          </a:prstGeom>
          <a:solidFill>
            <a:schemeClr val="accent1"/>
          </a:solidFill>
          <a:ln/>
        </p:spPr>
      </p:sp>
      <p:sp>
        <p:nvSpPr>
          <p:cNvPr id="20" name="Number 181"/>
          <p:cNvSpPr txBox="1"/>
          <p:nvPr/>
        </p:nvSpPr>
        <p:spPr>
          <a:xfrm>
            <a:off x="6530188" y="20574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1" name="Icon circle 182"/>
          <p:cNvSpPr/>
          <p:nvPr/>
        </p:nvSpPr>
        <p:spPr>
          <a:xfrm>
            <a:off x="7920761" y="2057400"/>
            <a:ext cx="548640" cy="548640"/>
          </a:xfrm>
          <a:prstGeom prst="ellipse">
            <a:avLst/>
          </a:prstGeom>
          <a:solidFill>
            <a:schemeClr val="accent2"/>
          </a:solidFill>
          <a:ln/>
        </p:spPr>
      </p:sp>
      <p:pic>
        <p:nvPicPr>
          <p:cNvPr id="22" name="Icon 183" descr="preencoded.png"/>
          <p:cNvPicPr>
            <a:picLocks noChangeAspect="1"/>
          </p:cNvPicPr>
          <p:nvPr/>
        </p:nvPicPr>
        <p:blipFill>
          <a:blip r:embed="rId5"/>
          <a:stretch>
            <a:fillRect/>
          </a:stretch>
        </p:blipFill>
        <p:spPr>
          <a:xfrm>
            <a:off x="8068894" y="2205533"/>
            <a:ext cx="252374" cy="252374"/>
          </a:xfrm>
          <a:prstGeom prst="rect">
            <a:avLst/>
          </a:prstGeom>
        </p:spPr>
      </p:pic>
      <p:sp>
        <p:nvSpPr>
          <p:cNvPr id="23" name="Text 184"/>
          <p:cNvSpPr txBox="1"/>
          <p:nvPr/>
        </p:nvSpPr>
        <p:spPr>
          <a:xfrm>
            <a:off x="6484468" y="2743200"/>
            <a:ext cx="2030654" cy="411480"/>
          </a:xfrm>
          <a:prstGeom prst="rect">
            <a:avLst/>
          </a:prstGeom>
          <a:noFill/>
          <a:ln/>
        </p:spPr>
        <p:txBody>
          <a:bodyPr wrap="square" lIns="0" tIns="0" rIns="0" bIns="0" rtlCol="0" anchor="t"/>
          <a:lstStyle/>
          <a:p>
            <a:pPr marL="0" indent="0">
              <a:buNone/>
            </a:pPr>
            <a:r>
              <a:rPr lang="en-US" sz="2000" b="1" dirty="0">
                <a:solidFill>
                  <a:schemeClr val="tx1"/>
                </a:solidFill>
              </a:rPr>
              <a:t>Test</a:t>
            </a:r>
            <a:endParaRPr lang="en-US" sz="2000" dirty="0"/>
          </a:p>
        </p:txBody>
      </p:sp>
      <p:sp>
        <p:nvSpPr>
          <p:cNvPr id="24" name="Text 185"/>
          <p:cNvSpPr txBox="1"/>
          <p:nvPr/>
        </p:nvSpPr>
        <p:spPr>
          <a:xfrm>
            <a:off x="6484468" y="3200400"/>
            <a:ext cx="2030654" cy="1097280"/>
          </a:xfrm>
          <a:prstGeom prst="rect">
            <a:avLst/>
          </a:prstGeom>
          <a:noFill/>
          <a:ln/>
        </p:spPr>
        <p:txBody>
          <a:bodyPr wrap="square" lIns="0" tIns="0" rIns="0" bIns="0" rtlCol="0" anchor="t"/>
          <a:lstStyle/>
          <a:p>
            <a:pPr marL="0" indent="0">
              <a:buNone/>
            </a:pPr>
            <a:r>
              <a:rPr lang="en-US" sz="1500" dirty="0">
                <a:solidFill>
                  <a:schemeClr val="tx1"/>
                </a:solidFill>
              </a:rPr>
              <a:t>Red team it and audit it before launch.</a:t>
            </a:r>
            <a:endParaRPr lang="en-US" sz="1500" dirty="0"/>
          </a:p>
        </p:txBody>
      </p:sp>
      <p:sp>
        <p:nvSpPr>
          <p:cNvPr id="25" name="Card 186"/>
          <p:cNvSpPr/>
          <p:nvPr/>
        </p:nvSpPr>
        <p:spPr>
          <a:xfrm>
            <a:off x="9063761" y="1783080"/>
            <a:ext cx="2487854" cy="2606040"/>
          </a:xfrm>
          <a:prstGeom prst="roundRect">
            <a:avLst>
              <a:gd name="adj" fmla="val 5146"/>
            </a:avLst>
          </a:prstGeom>
          <a:solidFill>
            <a:schemeClr val="bg2">
              <a:alpha val="55000"/>
            </a:schemeClr>
          </a:solidFill>
          <a:ln/>
        </p:spPr>
      </p:sp>
      <p:sp>
        <p:nvSpPr>
          <p:cNvPr id="26" name="Number circle 187"/>
          <p:cNvSpPr/>
          <p:nvPr/>
        </p:nvSpPr>
        <p:spPr>
          <a:xfrm>
            <a:off x="9338081" y="2057400"/>
            <a:ext cx="548640" cy="548640"/>
          </a:xfrm>
          <a:prstGeom prst="ellipse">
            <a:avLst/>
          </a:prstGeom>
          <a:solidFill>
            <a:schemeClr val="accent1"/>
          </a:solidFill>
          <a:ln/>
        </p:spPr>
      </p:sp>
      <p:sp>
        <p:nvSpPr>
          <p:cNvPr id="27" name="Number 188"/>
          <p:cNvSpPr txBox="1"/>
          <p:nvPr/>
        </p:nvSpPr>
        <p:spPr>
          <a:xfrm>
            <a:off x="9338081" y="20574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8" name="Icon circle 189"/>
          <p:cNvSpPr/>
          <p:nvPr/>
        </p:nvSpPr>
        <p:spPr>
          <a:xfrm>
            <a:off x="10728655" y="2057400"/>
            <a:ext cx="548640" cy="548640"/>
          </a:xfrm>
          <a:prstGeom prst="ellipse">
            <a:avLst/>
          </a:prstGeom>
          <a:solidFill>
            <a:schemeClr val="accent2"/>
          </a:solidFill>
          <a:ln/>
        </p:spPr>
      </p:sp>
      <p:pic>
        <p:nvPicPr>
          <p:cNvPr id="29" name="Icon 190" descr="preencoded.png"/>
          <p:cNvPicPr>
            <a:picLocks noChangeAspect="1"/>
          </p:cNvPicPr>
          <p:nvPr/>
        </p:nvPicPr>
        <p:blipFill>
          <a:blip r:embed="rId6"/>
          <a:stretch>
            <a:fillRect/>
          </a:stretch>
        </p:blipFill>
        <p:spPr>
          <a:xfrm>
            <a:off x="10876788" y="2205533"/>
            <a:ext cx="252374" cy="252374"/>
          </a:xfrm>
          <a:prstGeom prst="rect">
            <a:avLst/>
          </a:prstGeom>
        </p:spPr>
      </p:pic>
      <p:sp>
        <p:nvSpPr>
          <p:cNvPr id="30" name="Text 191"/>
          <p:cNvSpPr txBox="1"/>
          <p:nvPr/>
        </p:nvSpPr>
        <p:spPr>
          <a:xfrm>
            <a:off x="9292361" y="2743200"/>
            <a:ext cx="2030654" cy="411480"/>
          </a:xfrm>
          <a:prstGeom prst="rect">
            <a:avLst/>
          </a:prstGeom>
          <a:noFill/>
          <a:ln/>
        </p:spPr>
        <p:txBody>
          <a:bodyPr wrap="square" lIns="0" tIns="0" rIns="0" bIns="0" rtlCol="0" anchor="t"/>
          <a:lstStyle/>
          <a:p>
            <a:pPr marL="0" indent="0">
              <a:buNone/>
            </a:pPr>
            <a:r>
              <a:rPr lang="en-US" sz="2000" b="1" dirty="0">
                <a:solidFill>
                  <a:schemeClr val="tx1"/>
                </a:solidFill>
              </a:rPr>
              <a:t>Hand over</a:t>
            </a:r>
            <a:endParaRPr lang="en-US" sz="2000" dirty="0"/>
          </a:p>
        </p:txBody>
      </p:sp>
      <p:sp>
        <p:nvSpPr>
          <p:cNvPr id="31" name="Text 192"/>
          <p:cNvSpPr txBox="1"/>
          <p:nvPr/>
        </p:nvSpPr>
        <p:spPr>
          <a:xfrm>
            <a:off x="9292361" y="3200400"/>
            <a:ext cx="2030654" cy="1097280"/>
          </a:xfrm>
          <a:prstGeom prst="rect">
            <a:avLst/>
          </a:prstGeom>
          <a:noFill/>
          <a:ln/>
        </p:spPr>
        <p:txBody>
          <a:bodyPr wrap="square" lIns="0" tIns="0" rIns="0" bIns="0" rtlCol="0" anchor="t"/>
          <a:lstStyle/>
          <a:p>
            <a:pPr marL="0" indent="0">
              <a:buNone/>
            </a:pPr>
            <a:r>
              <a:rPr lang="en-US" sz="1500" dirty="0">
                <a:solidFill>
                  <a:schemeClr val="tx1"/>
                </a:solidFill>
              </a:rPr>
              <a:t>Train your team. Leave the records with you.</a:t>
            </a:r>
            <a:endParaRPr lang="en-US" sz="1500" dirty="0"/>
          </a:p>
        </p:txBody>
      </p:sp>
      <p:sp>
        <p:nvSpPr>
          <p:cNvPr id="32" name="Text 193"/>
          <p:cNvSpPr txBox="1"/>
          <p:nvPr/>
        </p:nvSpPr>
        <p:spPr>
          <a:xfrm>
            <a:off x="640080" y="4544568"/>
            <a:ext cx="10911535" cy="274320"/>
          </a:xfrm>
          <a:prstGeom prst="rect">
            <a:avLst/>
          </a:prstGeom>
          <a:noFill/>
          <a:ln/>
        </p:spPr>
        <p:txBody>
          <a:bodyPr wrap="square" lIns="0" tIns="0" rIns="0" bIns="0" rtlCol="0" anchor="t"/>
          <a:lstStyle/>
          <a:p>
            <a:pPr marL="0" indent="0">
              <a:buNone/>
            </a:pPr>
            <a:r>
              <a:rPr lang="en-US" sz="1200" b="1" kern="0" spc="100" dirty="0">
                <a:solidFill>
                  <a:schemeClr val="accent5"/>
                </a:solidFill>
              </a:rPr>
              <a:t>THE TEAM YOU WORK WITH</a:t>
            </a:r>
            <a:endParaRPr lang="en-US" sz="1200" dirty="0"/>
          </a:p>
        </p:txBody>
      </p:sp>
      <p:sp>
        <p:nvSpPr>
          <p:cNvPr id="33" name="Card 194"/>
          <p:cNvSpPr/>
          <p:nvPr/>
        </p:nvSpPr>
        <p:spPr>
          <a:xfrm>
            <a:off x="640080" y="4892040"/>
            <a:ext cx="3423818" cy="1143000"/>
          </a:xfrm>
          <a:prstGeom prst="roundRect">
            <a:avLst>
              <a:gd name="adj" fmla="val 11200"/>
            </a:avLst>
          </a:prstGeom>
          <a:solidFill>
            <a:schemeClr val="tx1"/>
          </a:solidFill>
          <a:ln/>
        </p:spPr>
      </p:sp>
      <p:sp>
        <p:nvSpPr>
          <p:cNvPr id="34" name="Icon circle 195"/>
          <p:cNvSpPr/>
          <p:nvPr/>
        </p:nvSpPr>
        <p:spPr>
          <a:xfrm>
            <a:off x="868680" y="5138928"/>
            <a:ext cx="640080" cy="640080"/>
          </a:xfrm>
          <a:prstGeom prst="ellipse">
            <a:avLst/>
          </a:prstGeom>
          <a:solidFill>
            <a:schemeClr val="accent2"/>
          </a:solidFill>
          <a:ln/>
        </p:spPr>
      </p:sp>
      <p:pic>
        <p:nvPicPr>
          <p:cNvPr id="35" name="Icon 196" descr="preencoded.png"/>
          <p:cNvPicPr>
            <a:picLocks noChangeAspect="1"/>
          </p:cNvPicPr>
          <p:nvPr/>
        </p:nvPicPr>
        <p:blipFill>
          <a:blip r:embed="rId7"/>
          <a:stretch>
            <a:fillRect/>
          </a:stretch>
        </p:blipFill>
        <p:spPr>
          <a:xfrm>
            <a:off x="1041502" y="5311750"/>
            <a:ext cx="294437" cy="294437"/>
          </a:xfrm>
          <a:prstGeom prst="rect">
            <a:avLst/>
          </a:prstGeom>
        </p:spPr>
      </p:pic>
      <p:sp>
        <p:nvSpPr>
          <p:cNvPr id="36" name="Text 197"/>
          <p:cNvSpPr txBox="1"/>
          <p:nvPr/>
        </p:nvSpPr>
        <p:spPr>
          <a:xfrm>
            <a:off x="1645920" y="5001768"/>
            <a:ext cx="2326538" cy="365760"/>
          </a:xfrm>
          <a:prstGeom prst="rect">
            <a:avLst/>
          </a:prstGeom>
          <a:noFill/>
          <a:ln/>
        </p:spPr>
        <p:txBody>
          <a:bodyPr wrap="square" lIns="0" tIns="0" rIns="0" bIns="0" rtlCol="0" anchor="ctr"/>
          <a:lstStyle/>
          <a:p>
            <a:pPr marL="0" indent="0">
              <a:buNone/>
            </a:pPr>
            <a:r>
              <a:rPr lang="en-US" sz="1500" b="1" dirty="0">
                <a:solidFill>
                  <a:schemeClr val="bg1"/>
                </a:solidFill>
              </a:rPr>
              <a:t>Daniyal Abbasi</a:t>
            </a:r>
            <a:endParaRPr lang="en-US" sz="1500" dirty="0"/>
          </a:p>
        </p:txBody>
      </p:sp>
      <p:sp>
        <p:nvSpPr>
          <p:cNvPr id="37" name="Text 198"/>
          <p:cNvSpPr txBox="1"/>
          <p:nvPr/>
        </p:nvSpPr>
        <p:spPr>
          <a:xfrm>
            <a:off x="1645920" y="5376672"/>
            <a:ext cx="2326538" cy="548640"/>
          </a:xfrm>
          <a:prstGeom prst="rect">
            <a:avLst/>
          </a:prstGeom>
          <a:noFill/>
          <a:ln/>
        </p:spPr>
        <p:txBody>
          <a:bodyPr wrap="square" lIns="0" tIns="0" rIns="0" bIns="0" rtlCol="0" anchor="t"/>
          <a:lstStyle/>
          <a:p>
            <a:pPr marL="0" indent="0">
              <a:buNone/>
            </a:pPr>
            <a:r>
              <a:rPr lang="en-US" sz="1300" dirty="0">
                <a:solidFill>
                  <a:schemeClr val="accent4"/>
                </a:solidFill>
              </a:rPr>
              <a:t>Chief Operating Officer</a:t>
            </a:r>
            <a:endParaRPr lang="en-US" sz="1300" dirty="0"/>
          </a:p>
        </p:txBody>
      </p:sp>
      <p:sp>
        <p:nvSpPr>
          <p:cNvPr id="38" name="Card 199"/>
          <p:cNvSpPr/>
          <p:nvPr/>
        </p:nvSpPr>
        <p:spPr>
          <a:xfrm>
            <a:off x="4383938" y="4892040"/>
            <a:ext cx="3423818" cy="1143000"/>
          </a:xfrm>
          <a:prstGeom prst="roundRect">
            <a:avLst>
              <a:gd name="adj" fmla="val 11200"/>
            </a:avLst>
          </a:prstGeom>
          <a:solidFill>
            <a:schemeClr val="tx1"/>
          </a:solidFill>
          <a:ln/>
        </p:spPr>
      </p:sp>
      <p:sp>
        <p:nvSpPr>
          <p:cNvPr id="39" name="Icon circle 200"/>
          <p:cNvSpPr/>
          <p:nvPr/>
        </p:nvSpPr>
        <p:spPr>
          <a:xfrm>
            <a:off x="4612538" y="5138928"/>
            <a:ext cx="640080" cy="640080"/>
          </a:xfrm>
          <a:prstGeom prst="ellipse">
            <a:avLst/>
          </a:prstGeom>
          <a:solidFill>
            <a:schemeClr val="accent2"/>
          </a:solidFill>
          <a:ln/>
        </p:spPr>
      </p:sp>
      <p:pic>
        <p:nvPicPr>
          <p:cNvPr id="40" name="Icon 201" descr="preencoded.png"/>
          <p:cNvPicPr>
            <a:picLocks noChangeAspect="1"/>
          </p:cNvPicPr>
          <p:nvPr/>
        </p:nvPicPr>
        <p:blipFill>
          <a:blip r:embed="rId7"/>
          <a:stretch>
            <a:fillRect/>
          </a:stretch>
        </p:blipFill>
        <p:spPr>
          <a:xfrm>
            <a:off x="4785360" y="5311750"/>
            <a:ext cx="294437" cy="294437"/>
          </a:xfrm>
          <a:prstGeom prst="rect">
            <a:avLst/>
          </a:prstGeom>
        </p:spPr>
      </p:pic>
      <p:sp>
        <p:nvSpPr>
          <p:cNvPr id="41" name="Text 202"/>
          <p:cNvSpPr txBox="1"/>
          <p:nvPr/>
        </p:nvSpPr>
        <p:spPr>
          <a:xfrm>
            <a:off x="5389778" y="5001768"/>
            <a:ext cx="2326538" cy="365760"/>
          </a:xfrm>
          <a:prstGeom prst="rect">
            <a:avLst/>
          </a:prstGeom>
          <a:noFill/>
          <a:ln/>
        </p:spPr>
        <p:txBody>
          <a:bodyPr wrap="square" lIns="0" tIns="0" rIns="0" bIns="0" rtlCol="0" anchor="ctr"/>
          <a:lstStyle/>
          <a:p>
            <a:pPr marL="0" indent="0">
              <a:buNone/>
            </a:pPr>
            <a:r>
              <a:rPr lang="en-US" sz="1500" b="1" dirty="0">
                <a:solidFill>
                  <a:schemeClr val="bg1"/>
                </a:solidFill>
              </a:rPr>
              <a:t>Irfan Shaikh</a:t>
            </a:r>
            <a:endParaRPr lang="en-US" sz="1500" dirty="0"/>
          </a:p>
        </p:txBody>
      </p:sp>
      <p:sp>
        <p:nvSpPr>
          <p:cNvPr id="42" name="Text 203"/>
          <p:cNvSpPr txBox="1"/>
          <p:nvPr/>
        </p:nvSpPr>
        <p:spPr>
          <a:xfrm>
            <a:off x="5389778" y="5376672"/>
            <a:ext cx="2326538" cy="548640"/>
          </a:xfrm>
          <a:prstGeom prst="rect">
            <a:avLst/>
          </a:prstGeom>
          <a:noFill/>
          <a:ln/>
        </p:spPr>
        <p:txBody>
          <a:bodyPr wrap="square" lIns="0" tIns="0" rIns="0" bIns="0" rtlCol="0" anchor="t"/>
          <a:lstStyle/>
          <a:p>
            <a:pPr marL="0" indent="0">
              <a:buNone/>
            </a:pPr>
            <a:r>
              <a:rPr lang="en-US" sz="1300" dirty="0">
                <a:solidFill>
                  <a:schemeClr val="accent4"/>
                </a:solidFill>
              </a:rPr>
              <a:t>Senior Solution Architect</a:t>
            </a:r>
            <a:endParaRPr lang="en-US" sz="1300" dirty="0"/>
          </a:p>
        </p:txBody>
      </p:sp>
      <p:sp>
        <p:nvSpPr>
          <p:cNvPr id="43" name="Card 204"/>
          <p:cNvSpPr/>
          <p:nvPr/>
        </p:nvSpPr>
        <p:spPr>
          <a:xfrm>
            <a:off x="8127797" y="4892040"/>
            <a:ext cx="3423818" cy="1143000"/>
          </a:xfrm>
          <a:prstGeom prst="roundRect">
            <a:avLst>
              <a:gd name="adj" fmla="val 11200"/>
            </a:avLst>
          </a:prstGeom>
          <a:solidFill>
            <a:schemeClr val="tx1"/>
          </a:solidFill>
          <a:ln/>
        </p:spPr>
      </p:sp>
      <p:sp>
        <p:nvSpPr>
          <p:cNvPr id="44" name="Icon circle 205"/>
          <p:cNvSpPr/>
          <p:nvPr/>
        </p:nvSpPr>
        <p:spPr>
          <a:xfrm>
            <a:off x="8356397" y="5138928"/>
            <a:ext cx="640080" cy="640080"/>
          </a:xfrm>
          <a:prstGeom prst="ellipse">
            <a:avLst/>
          </a:prstGeom>
          <a:solidFill>
            <a:schemeClr val="accent2"/>
          </a:solidFill>
          <a:ln/>
        </p:spPr>
      </p:sp>
      <p:pic>
        <p:nvPicPr>
          <p:cNvPr id="45" name="Icon 206" descr="preencoded.png"/>
          <p:cNvPicPr>
            <a:picLocks noChangeAspect="1"/>
          </p:cNvPicPr>
          <p:nvPr/>
        </p:nvPicPr>
        <p:blipFill>
          <a:blip r:embed="rId7"/>
          <a:stretch>
            <a:fillRect/>
          </a:stretch>
        </p:blipFill>
        <p:spPr>
          <a:xfrm>
            <a:off x="8529218" y="5311750"/>
            <a:ext cx="294437" cy="294437"/>
          </a:xfrm>
          <a:prstGeom prst="rect">
            <a:avLst/>
          </a:prstGeom>
        </p:spPr>
      </p:pic>
      <p:sp>
        <p:nvSpPr>
          <p:cNvPr id="46" name="Text 207"/>
          <p:cNvSpPr txBox="1"/>
          <p:nvPr/>
        </p:nvSpPr>
        <p:spPr>
          <a:xfrm>
            <a:off x="9133637" y="5001768"/>
            <a:ext cx="2326538" cy="365760"/>
          </a:xfrm>
          <a:prstGeom prst="rect">
            <a:avLst/>
          </a:prstGeom>
          <a:noFill/>
          <a:ln/>
        </p:spPr>
        <p:txBody>
          <a:bodyPr wrap="square" lIns="0" tIns="0" rIns="0" bIns="0" rtlCol="0" anchor="ctr"/>
          <a:lstStyle/>
          <a:p>
            <a:pPr marL="0" indent="0">
              <a:buNone/>
            </a:pPr>
            <a:r>
              <a:rPr lang="en-US" sz="1500" b="1" dirty="0">
                <a:solidFill>
                  <a:schemeClr val="bg1"/>
                </a:solidFill>
              </a:rPr>
              <a:t>Muhammad Humza</a:t>
            </a:r>
            <a:endParaRPr lang="en-US" sz="1500" dirty="0"/>
          </a:p>
        </p:txBody>
      </p:sp>
      <p:sp>
        <p:nvSpPr>
          <p:cNvPr id="47" name="Text 208"/>
          <p:cNvSpPr txBox="1"/>
          <p:nvPr/>
        </p:nvSpPr>
        <p:spPr>
          <a:xfrm>
            <a:off x="9133637" y="5376672"/>
            <a:ext cx="2326538" cy="548640"/>
          </a:xfrm>
          <a:prstGeom prst="rect">
            <a:avLst/>
          </a:prstGeom>
          <a:noFill/>
          <a:ln/>
        </p:spPr>
        <p:txBody>
          <a:bodyPr wrap="square" lIns="0" tIns="0" rIns="0" bIns="0" rtlCol="0" anchor="t"/>
          <a:lstStyle/>
          <a:p>
            <a:pPr marL="0" indent="0">
              <a:buNone/>
            </a:pPr>
            <a:r>
              <a:rPr lang="en-US" sz="1300" dirty="0">
                <a:solidFill>
                  <a:schemeClr val="accent4"/>
                </a:solidFill>
              </a:rPr>
              <a:t>ISO 42001 and ISO 27001 Lead Auditor</a:t>
            </a:r>
            <a:endParaRPr lang="en-US" sz="1300" dirty="0"/>
          </a:p>
        </p:txBody>
      </p:sp>
      <p:sp>
        <p:nvSpPr>
          <p:cNvPr id="3"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40080" y="2103120"/>
            <a:ext cx="7040880" cy="2103120"/>
          </a:xfrm>
          <a:prstGeom prst="rect">
            <a:avLst/>
          </a:prstGeom>
          <a:noFill/>
          <a:ln/>
        </p:spPr>
        <p:txBody>
          <a:bodyPr wrap="square" lIns="0" tIns="0" rIns="0" bIns="0" rtlCol="0" anchor="t"/>
          <a:lstStyle/>
          <a:p>
            <a:pPr marL="0" indent="0" algn="l">
              <a:buNone/>
            </a:pPr>
            <a:r>
              <a:rPr lang="en-US" sz="4400" b="1" dirty="0">
                <a:solidFill>
                  <a:schemeClr val="bg1"/>
                </a:solidFill>
              </a:rPr>
              <a:t>We build the agents. Then we attack them before anyone else does</a:t>
            </a:r>
            <a:endParaRPr lang="en-US" sz="4400" dirty="0"/>
          </a:p>
        </p:txBody>
      </p:sp>
      <p:sp>
        <p:nvSpPr>
          <p:cNvPr id="3" name="Text 0"/>
          <p:cNvSpPr>
            <a:spLocks noGrp="1"/>
          </p:cNvSpPr>
          <p:nvPr>
            <p:ph type="body" idx="102" hasCustomPrompt="1"/>
          </p:nvPr>
        </p:nvSpPr>
        <p:spPr>
          <a:xfrm>
            <a:off x="640080" y="4526280"/>
            <a:ext cx="6766560" cy="1097280"/>
          </a:xfrm>
          <a:prstGeom prst="rect">
            <a:avLst/>
          </a:prstGeom>
          <a:noFill/>
          <a:ln/>
        </p:spPr>
        <p:txBody>
          <a:bodyPr wrap="square" lIns="0" tIns="0" rIns="0" bIns="0" rtlCol="0" anchor="t"/>
          <a:lstStyle/>
          <a:p>
            <a:pPr marL="0" indent="0">
              <a:buNone/>
            </a:pPr>
            <a:r>
              <a:rPr lang="en-US" sz="2200" dirty="0">
                <a:solidFill>
                  <a:schemeClr val="accent4"/>
                </a:solidFill>
              </a:rPr>
              <a:t>Next step: choose one business and one use case. We start with discovery.</a:t>
            </a:r>
            <a:endParaRPr lang="en-US" sz="2200" dirty="0"/>
          </a:p>
        </p:txBody>
      </p:sp>
      <p:sp>
        <p:nvSpPr>
          <p:cNvPr id="4" name="Motif circle 1"/>
          <p:cNvSpPr/>
          <p:nvPr/>
        </p:nvSpPr>
        <p:spPr>
          <a:xfrm>
            <a:off x="9144000" y="1463040"/>
            <a:ext cx="3291840" cy="3291840"/>
          </a:xfrm>
          <a:prstGeom prst="ellipse">
            <a:avLst/>
          </a:prstGeom>
          <a:solidFill>
            <a:schemeClr val="accent1"/>
          </a:solidFill>
          <a:ln/>
        </p:spPr>
      </p:sp>
      <p:sp>
        <p:nvSpPr>
          <p:cNvPr id="5" name="Motif circle 2"/>
          <p:cNvSpPr/>
          <p:nvPr/>
        </p:nvSpPr>
        <p:spPr>
          <a:xfrm>
            <a:off x="8595360" y="3566160"/>
            <a:ext cx="2011680" cy="2011680"/>
          </a:xfrm>
          <a:prstGeom prst="ellipse">
            <a:avLst/>
          </a:prstGeom>
          <a:solidFill>
            <a:schemeClr val="accent2">
              <a:alpha val="85000"/>
            </a:schemeClr>
          </a:solidFill>
          <a:ln/>
        </p:spPr>
      </p:sp>
      <p:pic>
        <p:nvPicPr>
          <p:cNvPr id="6" name="Motif icon" descr="preencoded.png"/>
          <p:cNvPicPr>
            <a:picLocks noChangeAspect="1"/>
          </p:cNvPicPr>
          <p:nvPr/>
        </p:nvPicPr>
        <p:blipFill>
          <a:blip r:embed="rId3"/>
          <a:stretch>
            <a:fillRect/>
          </a:stretch>
        </p:blipFill>
        <p:spPr>
          <a:xfrm>
            <a:off x="10241280" y="2560320"/>
            <a:ext cx="1097280" cy="1097280"/>
          </a:xfrm>
          <a:prstGeom prst="rect">
            <a:avLst/>
          </a:prstGeom>
        </p:spPr>
      </p:pic>
      <p:sp>
        <p:nvSpPr>
          <p:cNvPr id="7" name="Text 209"/>
          <p:cNvSpPr txBox="1"/>
          <p:nvPr/>
        </p:nvSpPr>
        <p:spPr>
          <a:xfrm>
            <a:off x="640080" y="5852160"/>
            <a:ext cx="7315200" cy="365760"/>
          </a:xfrm>
          <a:prstGeom prst="rect">
            <a:avLst/>
          </a:prstGeom>
          <a:noFill/>
          <a:ln/>
        </p:spPr>
        <p:txBody>
          <a:bodyPr wrap="square" lIns="0" tIns="0" rIns="0" bIns="0" rtlCol="0" anchor="t"/>
          <a:lstStyle/>
          <a:p>
            <a:pPr marL="0" indent="0">
              <a:buNone/>
            </a:pPr>
            <a:r>
              <a:rPr lang="en-US" sz="1600" dirty="0">
                <a:solidFill>
                  <a:schemeClr val="bg1"/>
                </a:solidFill>
              </a:rPr>
              <a:t>sales@xloopdigital.com     www.xloopdigital.com</a:t>
            </a:r>
            <a:endParaRPr lang="en-US" sz="1600" dirty="0"/>
          </a:p>
        </p:txBody>
      </p:sp>
    </p:spTree>
  </p:cSld>
  <p:clrMapOvr>
    <a:masterClrMapping/>
  </p:clrMapOvr>
</p:sld>
</file>

<file path=ppt/theme/theme1.xml><?xml version="1.0" encoding="utf-8"?>
<a:theme xmlns:a="http://schemas.openxmlformats.org/drawingml/2006/main" name="xLoop Digital">
  <a:themeElements>
    <a:clrScheme name="xLoop Digital">
      <a:dk1>
        <a:srgbClr val="22205D"/>
      </a:dk1>
      <a:lt1>
        <a:srgbClr val="FFFFFF"/>
      </a:lt1>
      <a:dk2>
        <a:srgbClr val="3D67B1"/>
      </a:dk2>
      <a:lt2>
        <a:srgbClr val="E6E6E6"/>
      </a:lt2>
      <a:accent1>
        <a:srgbClr val="0061F6"/>
      </a:accent1>
      <a:accent2>
        <a:srgbClr val="5CC3AE"/>
      </a:accent2>
      <a:accent3>
        <a:srgbClr val="0098D8"/>
      </a:accent3>
      <a:accent4>
        <a:srgbClr val="50BFE6"/>
      </a:accent4>
      <a:accent5>
        <a:srgbClr val="3D67B1"/>
      </a:accent5>
      <a:accent6>
        <a:srgbClr val="22205D"/>
      </a:accent6>
      <a:hlink>
        <a:srgbClr val="0061F6"/>
      </a:hlink>
      <a:folHlink>
        <a:srgbClr val="3D67B1"/>
      </a:folHlink>
    </a:clrScheme>
    <a:fontScheme name="xLoop Digital">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1213</Words>
  <Application>Microsoft Office PowerPoint</Application>
  <PresentationFormat>Widescreen</PresentationFormat>
  <Paragraphs>151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Poppins</vt:lpstr>
      <vt:lpstr>xLoop Digital</vt:lpstr>
      <vt:lpstr>AI agents for Polish businesses</vt:lpstr>
      <vt:lpstr>Why AI projects stall after the pilot</vt:lpstr>
      <vt:lpstr>See an agent at work</vt:lpstr>
      <vt:lpstr>One team for all three</vt:lpstr>
      <vt:lpstr>We build agents for production</vt:lpstr>
      <vt:lpstr>We attack them before anyone else does</vt:lpstr>
      <vt:lpstr>We get the data ready first</vt:lpstr>
      <vt:lpstr>Your people can run it after we leave</vt:lpstr>
      <vt:lpstr>Already delivering in Poland and Europe</vt:lpstr>
      <vt:lpstr>How we start with your first business</vt:lpstr>
      <vt:lpstr>We build the agents. Then we attack them before anyone else does</vt:lpstr>
    </vt:vector>
  </TitlesOfParts>
  <Company>xLoop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xLoop Digital: AI agents for Polish businesses</dc:title>
  <dc:subject>PptxGenJS Presentation</dc:subject>
  <dc:creator>xLoop Digital</dc:creator>
  <cp:lastModifiedBy>Sana Qazi</cp:lastModifiedBy>
  <cp:revision>2</cp:revision>
  <dcterms:created xsi:type="dcterms:W3CDTF">2026-10-13T05:00:43Z</dcterms:created>
  <dcterms:modified xsi:type="dcterms:W3CDTF">2026-10-13T05:00:46Z</dcterms:modified>
</cp:coreProperties>
</file>