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3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sldSz cx="12192000" cy="6858000"/>
  <p:notesSz cx="6858000" cy="12192000"/>
  <p:embeddedFontLst>
    <p:embeddedFont>
      <p:font typeface="Calibri" panose="020F0502020204030204" pitchFamily="34" charset="0"/>
      <p:regular r:id="rId31"/>
      <p:bold r:id="rId32"/>
      <p:italic r:id="rId33"/>
      <p:boldItalic r:id="rId34"/>
    </p:embeddedFont>
    <p:embeddedFont>
      <p:font typeface="Funnel Display" pitchFamily="2" charset="0"/>
      <p:regular r:id="rId35"/>
      <p:bold r:id="rId36"/>
    </p:embeddedFont>
    <p:embeddedFont>
      <p:font typeface="Funnel Display SemiBold" pitchFamily="2" charset="0"/>
      <p:bold r:id="rId37"/>
    </p:embeddedFont>
    <p:embeddedFont>
      <p:font typeface="JetBrains Mono" panose="02000009000000000000" pitchFamily="49" charset="0"/>
      <p:regular r:id="rId38"/>
    </p:embeddedFont>
    <p:embeddedFont>
      <p:font typeface="JetBrains Mono Medium" panose="02000009000000000000" pitchFamily="49" charset="0"/>
      <p:regular r:id="rId39"/>
    </p:embeddedFont>
    <p:embeddedFont>
      <p:font typeface="Wix Madefor Text" panose="020B0503020203020203" pitchFamily="34" charset="0"/>
      <p:regular r:id="rId40"/>
      <p:bold r:id="rId41"/>
    </p:embeddedFont>
    <p:embeddedFont>
      <p:font typeface="Wix Madefor Text SemiBold" panose="020B0503020203020203" pitchFamily="34" charset="0"/>
      <p:bold r:id="rId42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9.fntdata"/><Relationship Id="rId21" Type="http://schemas.openxmlformats.org/officeDocument/2006/relationships/slide" Target="slides/slide20.xml"/><Relationship Id="rId34" Type="http://schemas.openxmlformats.org/officeDocument/2006/relationships/font" Target="fonts/font4.fntdata"/><Relationship Id="rId42" Type="http://schemas.openxmlformats.org/officeDocument/2006/relationships/font" Target="fonts/font12.fnt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2.fntdata"/><Relationship Id="rId37" Type="http://schemas.openxmlformats.org/officeDocument/2006/relationships/font" Target="fonts/font7.fntdata"/><Relationship Id="rId40" Type="http://schemas.openxmlformats.org/officeDocument/2006/relationships/font" Target="fonts/font10.fntdata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6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.fntdata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openxmlformats.org/officeDocument/2006/relationships/font" Target="fonts/font5.fntdata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3.fntdata"/><Relationship Id="rId38" Type="http://schemas.openxmlformats.org/officeDocument/2006/relationships/font" Target="fonts/font8.fntdata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font" Target="fonts/font1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273669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1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13" Type="http://schemas.openxmlformats.org/officeDocument/2006/relationships/image" Target="../media/image28.png"/><Relationship Id="rId3" Type="http://schemas.openxmlformats.org/officeDocument/2006/relationships/image" Target="../media/image19.png"/><Relationship Id="rId7" Type="http://schemas.openxmlformats.org/officeDocument/2006/relationships/image" Target="../media/image17.png"/><Relationship Id="rId12" Type="http://schemas.openxmlformats.org/officeDocument/2006/relationships/image" Target="../media/image27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11" Type="http://schemas.openxmlformats.org/officeDocument/2006/relationships/image" Target="../media/image26.png"/><Relationship Id="rId5" Type="http://schemas.openxmlformats.org/officeDocument/2006/relationships/image" Target="../media/image21.png"/><Relationship Id="rId10" Type="http://schemas.openxmlformats.org/officeDocument/2006/relationships/image" Target="../media/image25.png"/><Relationship Id="rId4" Type="http://schemas.openxmlformats.org/officeDocument/2006/relationships/image" Target="../media/image20.png"/><Relationship Id="rId9" Type="http://schemas.openxmlformats.org/officeDocument/2006/relationships/image" Target="../media/image24.png"/><Relationship Id="rId14" Type="http://schemas.openxmlformats.org/officeDocument/2006/relationships/image" Target="../media/image8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14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/Claude-Projects/Projects/TekRevol/01-brand-system/deck-v6/art/cyan-iter-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4445000"/>
            <a:ext cx="12192000" cy="2413000"/>
          </a:xfrm>
          <a:prstGeom prst="rect">
            <a:avLst/>
          </a:prstGeom>
          <a:solidFill>
            <a:srgbClr val="FF4A1C"/>
          </a:solidFill>
          <a:ln/>
        </p:spPr>
      </p:sp>
      <p:pic>
        <p:nvPicPr>
          <p:cNvPr id="4" name="Image 1" descr="C:/Claude-Projects/Projects/TekRevol/01-brand-system/deck-v6/art/logo-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609600"/>
            <a:ext cx="1905000" cy="2794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87400" y="3810000"/>
            <a:ext cx="7620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00" kern="0" spc="162" dirty="0">
                <a:solidFill>
                  <a:srgbClr val="FFFFFF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BRAND GUIDELINES  ·  2026</a:t>
            </a:r>
            <a:endParaRPr lang="en-US" sz="900" dirty="0"/>
          </a:p>
        </p:txBody>
      </p:sp>
      <p:sp>
        <p:nvSpPr>
          <p:cNvPr id="6" name="Text 2"/>
          <p:cNvSpPr/>
          <p:nvPr/>
        </p:nvSpPr>
        <p:spPr>
          <a:xfrm>
            <a:off x="736600" y="4711700"/>
            <a:ext cx="10795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6400" b="1" kern="0" spc="-154" dirty="0">
                <a:solidFill>
                  <a:srgbClr val="1D1E2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Better with every layer.</a:t>
            </a:r>
            <a:endParaRPr lang="en-US" sz="6400" dirty="0"/>
          </a:p>
        </p:txBody>
      </p:sp>
      <p:sp>
        <p:nvSpPr>
          <p:cNvPr id="7" name="Text 3"/>
          <p:cNvSpPr/>
          <p:nvPr/>
        </p:nvSpPr>
        <p:spPr>
          <a:xfrm>
            <a:off x="787400" y="5778500"/>
            <a:ext cx="9525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400" dirty="0">
                <a:solidFill>
                  <a:srgbClr val="1D1E21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The identity of TekRevol, an AI-first software development company.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1270000"/>
            <a:ext cx="7620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00" kern="0" spc="144" dirty="0">
                <a:solidFill>
                  <a:srgbClr val="C2340E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CONTENTS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736600" y="1587500"/>
            <a:ext cx="7620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4400" b="1" kern="0" spc="-106" dirty="0">
                <a:solidFill>
                  <a:srgbClr val="1D1E2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Inside this guide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762000" y="2984500"/>
            <a:ext cx="3302000" cy="19050"/>
          </a:xfrm>
          <a:prstGeom prst="rect">
            <a:avLst/>
          </a:prstGeom>
          <a:solidFill>
            <a:srgbClr val="FF4A1C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3175000"/>
            <a:ext cx="762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800" b="1" kern="0" spc="-100" dirty="0">
                <a:solidFill>
                  <a:srgbClr val="FF4A1C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01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762000" y="3683000"/>
            <a:ext cx="3302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500" dirty="0">
                <a:solidFill>
                  <a:srgbClr val="1D1E21"/>
                </a:solidFill>
                <a:latin typeface="Funnel Display SemiBold" pitchFamily="34" charset="0"/>
                <a:ea typeface="Funnel Display SemiBold" pitchFamily="34" charset="-122"/>
                <a:cs typeface="Funnel Display SemiBold" pitchFamily="34" charset="-120"/>
              </a:rPr>
              <a:t>The TekRevolution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62000" y="3962400"/>
            <a:ext cx="3302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50" dirty="0">
                <a:solidFill>
                  <a:srgbClr val="5E6166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Story, positioning, idea, personality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381500" y="2984500"/>
            <a:ext cx="3302000" cy="19050"/>
          </a:xfrm>
          <a:prstGeom prst="rect">
            <a:avLst/>
          </a:prstGeom>
          <a:solidFill>
            <a:srgbClr val="1D1E21"/>
          </a:solidFill>
          <a:ln/>
        </p:spPr>
      </p:sp>
      <p:sp>
        <p:nvSpPr>
          <p:cNvPr id="9" name="Text 7"/>
          <p:cNvSpPr/>
          <p:nvPr/>
        </p:nvSpPr>
        <p:spPr>
          <a:xfrm>
            <a:off x="4381500" y="3175000"/>
            <a:ext cx="762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800" b="1" kern="0" spc="-100" dirty="0">
                <a:solidFill>
                  <a:srgbClr val="1D1E2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02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4381500" y="3683000"/>
            <a:ext cx="3302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500" dirty="0">
                <a:solidFill>
                  <a:srgbClr val="1D1E21"/>
                </a:solidFill>
                <a:latin typeface="Funnel Display SemiBold" pitchFamily="34" charset="0"/>
                <a:ea typeface="Funnel Display SemiBold" pitchFamily="34" charset="-122"/>
                <a:cs typeface="Funnel Display SemiBold" pitchFamily="34" charset="-120"/>
              </a:rPr>
              <a:t>Logo and color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381500" y="3962400"/>
            <a:ext cx="3302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50" dirty="0">
                <a:solidFill>
                  <a:srgbClr val="5E6166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Logo, palette, accessibility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8001000" y="2984500"/>
            <a:ext cx="3302000" cy="19050"/>
          </a:xfrm>
          <a:prstGeom prst="rect">
            <a:avLst/>
          </a:prstGeom>
          <a:solidFill>
            <a:srgbClr val="1D1E21"/>
          </a:solidFill>
          <a:ln/>
        </p:spPr>
      </p:sp>
      <p:sp>
        <p:nvSpPr>
          <p:cNvPr id="13" name="Text 11"/>
          <p:cNvSpPr/>
          <p:nvPr/>
        </p:nvSpPr>
        <p:spPr>
          <a:xfrm>
            <a:off x="8001000" y="3175000"/>
            <a:ext cx="762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800" b="1" kern="0" spc="-100" dirty="0">
                <a:solidFill>
                  <a:srgbClr val="1D1E2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03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8001000" y="3683000"/>
            <a:ext cx="3302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500" dirty="0">
                <a:solidFill>
                  <a:srgbClr val="1D1E21"/>
                </a:solidFill>
                <a:latin typeface="Funnel Display SemiBold" pitchFamily="34" charset="0"/>
                <a:ea typeface="Funnel Display SemiBold" pitchFamily="34" charset="-122"/>
                <a:cs typeface="Funnel Display SemiBold" pitchFamily="34" charset="-120"/>
              </a:rPr>
              <a:t>Typography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001000" y="3962400"/>
            <a:ext cx="3302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50" dirty="0">
                <a:solidFill>
                  <a:srgbClr val="5E6166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Typefaces, scale, hierarchy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762000" y="4572000"/>
            <a:ext cx="3302000" cy="19050"/>
          </a:xfrm>
          <a:prstGeom prst="rect">
            <a:avLst/>
          </a:prstGeom>
          <a:solidFill>
            <a:srgbClr val="1D1E21"/>
          </a:solidFill>
          <a:ln/>
        </p:spPr>
      </p:sp>
      <p:sp>
        <p:nvSpPr>
          <p:cNvPr id="17" name="Text 15"/>
          <p:cNvSpPr/>
          <p:nvPr/>
        </p:nvSpPr>
        <p:spPr>
          <a:xfrm>
            <a:off x="762000" y="4762500"/>
            <a:ext cx="762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800" b="1" kern="0" spc="-100" dirty="0">
                <a:solidFill>
                  <a:srgbClr val="1D1E2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04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762000" y="5270500"/>
            <a:ext cx="3302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500" dirty="0">
                <a:solidFill>
                  <a:srgbClr val="1D1E21"/>
                </a:solidFill>
                <a:latin typeface="Funnel Display SemiBold" pitchFamily="34" charset="0"/>
                <a:ea typeface="Funnel Display SemiBold" pitchFamily="34" charset="-122"/>
                <a:cs typeface="Funnel Display SemiBold" pitchFamily="34" charset="-120"/>
              </a:rPr>
              <a:t>Graphic language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62000" y="5549900"/>
            <a:ext cx="3302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50" dirty="0">
                <a:solidFill>
                  <a:srgbClr val="5E6166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Patterns, diagrams, layers, icons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381500" y="4572000"/>
            <a:ext cx="3302000" cy="19050"/>
          </a:xfrm>
          <a:prstGeom prst="rect">
            <a:avLst/>
          </a:prstGeom>
          <a:solidFill>
            <a:srgbClr val="1D1E21"/>
          </a:solidFill>
          <a:ln/>
        </p:spPr>
      </p:sp>
      <p:sp>
        <p:nvSpPr>
          <p:cNvPr id="21" name="Text 19"/>
          <p:cNvSpPr/>
          <p:nvPr/>
        </p:nvSpPr>
        <p:spPr>
          <a:xfrm>
            <a:off x="4381500" y="4762500"/>
            <a:ext cx="762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800" b="1" kern="0" spc="-100" dirty="0">
                <a:solidFill>
                  <a:srgbClr val="1D1E2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05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4381500" y="5270500"/>
            <a:ext cx="3302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500" dirty="0">
                <a:solidFill>
                  <a:srgbClr val="1D1E21"/>
                </a:solidFill>
                <a:latin typeface="Funnel Display SemiBold" pitchFamily="34" charset="0"/>
                <a:ea typeface="Funnel Display SemiBold" pitchFamily="34" charset="-122"/>
                <a:cs typeface="Funnel Display SemiBold" pitchFamily="34" charset="-120"/>
              </a:rPr>
              <a:t>Imagery and voice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381500" y="5549900"/>
            <a:ext cx="3302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50" dirty="0">
                <a:solidFill>
                  <a:srgbClr val="5E6166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Image direction, prompts, tone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8001000" y="4572000"/>
            <a:ext cx="3302000" cy="19050"/>
          </a:xfrm>
          <a:prstGeom prst="rect">
            <a:avLst/>
          </a:prstGeom>
          <a:solidFill>
            <a:srgbClr val="1D1E21"/>
          </a:solidFill>
          <a:ln/>
        </p:spPr>
      </p:sp>
      <p:sp>
        <p:nvSpPr>
          <p:cNvPr id="25" name="Text 23"/>
          <p:cNvSpPr/>
          <p:nvPr/>
        </p:nvSpPr>
        <p:spPr>
          <a:xfrm>
            <a:off x="8001000" y="4762500"/>
            <a:ext cx="762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800" b="1" kern="0" spc="-100" dirty="0">
                <a:solidFill>
                  <a:srgbClr val="1D1E2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06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8001000" y="5270500"/>
            <a:ext cx="3302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500" dirty="0">
                <a:solidFill>
                  <a:srgbClr val="1D1E21"/>
                </a:solidFill>
                <a:latin typeface="Funnel Display SemiBold" pitchFamily="34" charset="0"/>
                <a:ea typeface="Funnel Display SemiBold" pitchFamily="34" charset="-122"/>
                <a:cs typeface="Funnel Display SemiBold" pitchFamily="34" charset="-120"/>
              </a:rPr>
              <a:t>In use and tested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8001000" y="5549900"/>
            <a:ext cx="3302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50" dirty="0">
                <a:solidFill>
                  <a:srgbClr val="5E6166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Applications, checks, files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762000" y="6350000"/>
            <a:ext cx="3810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750" dirty="0">
                <a:solidFill>
                  <a:srgbClr val="8A9097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TekRevol Brand Guidelines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10160000" y="6350000"/>
            <a:ext cx="1270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15000"/>
              </a:lnSpc>
              <a:buNone/>
            </a:pPr>
            <a:r>
              <a:rPr lang="en-US" sz="750" dirty="0">
                <a:solidFill>
                  <a:srgbClr val="8A9097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02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826000" cy="6858000"/>
          </a:xfrm>
          <a:prstGeom prst="rect">
            <a:avLst/>
          </a:prstGeom>
          <a:solidFill>
            <a:srgbClr val="FF4A1C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1270000"/>
            <a:ext cx="7620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00" kern="0" spc="144" dirty="0">
                <a:solidFill>
                  <a:srgbClr val="1D1E21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THE TEKREVOLUTION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6600" y="1587500"/>
            <a:ext cx="3556000" cy="209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4200" b="1" kern="0" spc="-101" dirty="0">
                <a:solidFill>
                  <a:srgbClr val="1D1E2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It all started with a vision.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762000" y="4064000"/>
            <a:ext cx="3429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200" dirty="0">
                <a:solidFill>
                  <a:srgbClr val="1D1E21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“TekRevol was created to give our people a platform where they are free to think critically and innovate, to create a better world.”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588000" y="1333500"/>
            <a:ext cx="7620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00" kern="0" spc="144" dirty="0">
                <a:solidFill>
                  <a:srgbClr val="8A9097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THEN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588000" y="1587500"/>
            <a:ext cx="5461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300" dirty="0">
                <a:solidFill>
                  <a:srgbClr val="1D1E21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A mobile app studio built on structured chaos: learn, ideate, iterate, incubate and scale, in a constant state of flux.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588000" y="2730500"/>
            <a:ext cx="7620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00" kern="0" spc="144" dirty="0">
                <a:solidFill>
                  <a:srgbClr val="C2340E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NOW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588000" y="2984500"/>
            <a:ext cx="5461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300" dirty="0">
                <a:solidFill>
                  <a:srgbClr val="1D1E21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The same spirit, applied to AI. TekRevol adopts new technology early, experiments fast and keeps rebuilding until it works, then ships software enterprises can rely on.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588000" y="4381500"/>
            <a:ext cx="5461000" cy="12700"/>
          </a:xfrm>
          <a:prstGeom prst="rect">
            <a:avLst/>
          </a:prstGeom>
          <a:solidFill>
            <a:srgbClr val="1D1E21"/>
          </a:solidFill>
          <a:ln/>
        </p:spPr>
      </p:sp>
      <p:sp>
        <p:nvSpPr>
          <p:cNvPr id="11" name="Text 9"/>
          <p:cNvSpPr/>
          <p:nvPr/>
        </p:nvSpPr>
        <p:spPr>
          <a:xfrm>
            <a:off x="5562600" y="4635500"/>
            <a:ext cx="5715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3000" b="1" kern="0" spc="-72" dirty="0">
                <a:solidFill>
                  <a:srgbClr val="1D1E2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Young in approach.</a:t>
            </a:r>
            <a:endParaRPr lang="en-US" sz="3000" dirty="0"/>
          </a:p>
          <a:p>
            <a:pPr marL="0" indent="0" algn="l">
              <a:lnSpc>
                <a:spcPct val="98000"/>
              </a:lnSpc>
              <a:buNone/>
            </a:pPr>
            <a:r>
              <a:rPr lang="en-US" sz="3000" b="1" kern="0" spc="-72" dirty="0">
                <a:solidFill>
                  <a:srgbClr val="1D1E2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Enterprise in output.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762000" y="6350000"/>
            <a:ext cx="3810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750" dirty="0">
                <a:solidFill>
                  <a:srgbClr val="1D1E21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TekRevol Brand Guidelines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10160000" y="6350000"/>
            <a:ext cx="1270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15000"/>
              </a:lnSpc>
              <a:buNone/>
            </a:pPr>
            <a:r>
              <a:rPr lang="en-US" sz="750" dirty="0">
                <a:solidFill>
                  <a:srgbClr val="8A9097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03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EEF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33400"/>
            <a:ext cx="7620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700" kern="0" spc="126" dirty="0">
                <a:solidFill>
                  <a:srgbClr val="8A9097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THE TEKREVOLUTION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762000" y="6350000"/>
            <a:ext cx="3810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750" dirty="0">
                <a:solidFill>
                  <a:srgbClr val="8A9097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TekRevol Brand Guidelines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10160000" y="6350000"/>
            <a:ext cx="1270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15000"/>
              </a:lnSpc>
              <a:buNone/>
            </a:pPr>
            <a:r>
              <a:rPr lang="en-US" sz="750" dirty="0">
                <a:solidFill>
                  <a:srgbClr val="8A9097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04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762000" y="1587500"/>
            <a:ext cx="7620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00" kern="0" spc="144" dirty="0">
                <a:solidFill>
                  <a:srgbClr val="C2340E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WHAT TEKREVOL IS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36600" y="1905000"/>
            <a:ext cx="95250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3800" b="1" kern="0" spc="-91" dirty="0">
                <a:solidFill>
                  <a:srgbClr val="1D1E2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TekRevol builds the AI-native software other vendors, and other AI tools, couldn’t finish.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762000" y="4318000"/>
            <a:ext cx="3302000" cy="1460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Shape 6"/>
          <p:cNvSpPr/>
          <p:nvPr/>
        </p:nvSpPr>
        <p:spPr>
          <a:xfrm>
            <a:off x="762000" y="4318000"/>
            <a:ext cx="3302000" cy="25400"/>
          </a:xfrm>
          <a:prstGeom prst="rect">
            <a:avLst/>
          </a:prstGeom>
          <a:solidFill>
            <a:srgbClr val="FF4A1C"/>
          </a:solidFill>
          <a:ln/>
        </p:spPr>
      </p:sp>
      <p:sp>
        <p:nvSpPr>
          <p:cNvPr id="9" name="Text 7"/>
          <p:cNvSpPr/>
          <p:nvPr/>
        </p:nvSpPr>
        <p:spPr>
          <a:xfrm>
            <a:off x="965200" y="4508500"/>
            <a:ext cx="2921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400" dirty="0">
                <a:solidFill>
                  <a:srgbClr val="1D1E21"/>
                </a:solidFill>
                <a:latin typeface="Funnel Display SemiBold" pitchFamily="34" charset="0"/>
                <a:ea typeface="Funnel Display SemiBold" pitchFamily="34" charset="-122"/>
                <a:cs typeface="Funnel Display SemiBold" pitchFamily="34" charset="-120"/>
              </a:rPr>
              <a:t>Category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65200" y="4826000"/>
            <a:ext cx="2921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 dirty="0">
                <a:solidFill>
                  <a:srgbClr val="5E6166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AI-first software development company. Software development stays the parent category; AI leads.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381500" y="4318000"/>
            <a:ext cx="3302000" cy="1460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Shape 10"/>
          <p:cNvSpPr/>
          <p:nvPr/>
        </p:nvSpPr>
        <p:spPr>
          <a:xfrm>
            <a:off x="4381500" y="4318000"/>
            <a:ext cx="3302000" cy="25400"/>
          </a:xfrm>
          <a:prstGeom prst="rect">
            <a:avLst/>
          </a:prstGeom>
          <a:solidFill>
            <a:srgbClr val="1D1E21"/>
          </a:solidFill>
          <a:ln/>
        </p:spPr>
      </p:sp>
      <p:sp>
        <p:nvSpPr>
          <p:cNvPr id="13" name="Text 11"/>
          <p:cNvSpPr/>
          <p:nvPr/>
        </p:nvSpPr>
        <p:spPr>
          <a:xfrm>
            <a:off x="4584700" y="4508500"/>
            <a:ext cx="2921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400" dirty="0">
                <a:solidFill>
                  <a:srgbClr val="1D1E21"/>
                </a:solidFill>
                <a:latin typeface="Funnel Display SemiBold" pitchFamily="34" charset="0"/>
                <a:ea typeface="Funnel Display SemiBold" pitchFamily="34" charset="-122"/>
                <a:cs typeface="Funnel Display SemiBold" pitchFamily="34" charset="-120"/>
              </a:rPr>
              <a:t>What we do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84700" y="4826000"/>
            <a:ext cx="2921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 dirty="0">
                <a:solidFill>
                  <a:srgbClr val="5E6166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AI-native products from scratch, and AI-built prototypes taken the rest of the way to production.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001000" y="4318000"/>
            <a:ext cx="3302000" cy="1460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Shape 14"/>
          <p:cNvSpPr/>
          <p:nvPr/>
        </p:nvSpPr>
        <p:spPr>
          <a:xfrm>
            <a:off x="8001000" y="4318000"/>
            <a:ext cx="3302000" cy="25400"/>
          </a:xfrm>
          <a:prstGeom prst="rect">
            <a:avLst/>
          </a:prstGeom>
          <a:solidFill>
            <a:srgbClr val="1D1E21"/>
          </a:solidFill>
          <a:ln/>
        </p:spPr>
      </p:sp>
      <p:sp>
        <p:nvSpPr>
          <p:cNvPr id="17" name="Text 15"/>
          <p:cNvSpPr/>
          <p:nvPr/>
        </p:nvSpPr>
        <p:spPr>
          <a:xfrm>
            <a:off x="8204200" y="4508500"/>
            <a:ext cx="2921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400" dirty="0">
                <a:solidFill>
                  <a:srgbClr val="1D1E21"/>
                </a:solidFill>
                <a:latin typeface="Funnel Display SemiBold" pitchFamily="34" charset="0"/>
                <a:ea typeface="Funnel Display SemiBold" pitchFamily="34" charset="-122"/>
                <a:cs typeface="Funnel Display SemiBold" pitchFamily="34" charset="-120"/>
              </a:rPr>
              <a:t>What backs it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204200" y="4826000"/>
            <a:ext cx="2921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 dirty="0">
                <a:solidFill>
                  <a:srgbClr val="5E6166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Ten years of mobile, web, cloud and custom software engineering, and 800+ products delivered.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/Claude-Projects/Projects/TekRevol/01-brand-system/deck-v6/art/cyan-exp-l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6477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62000" y="533400"/>
            <a:ext cx="7620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700" kern="0" spc="126" dirty="0">
                <a:solidFill>
                  <a:srgbClr val="8A9097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THE TEKREVOLUTION</a:t>
            </a:r>
            <a:endParaRPr lang="en-US" sz="700" dirty="0"/>
          </a:p>
        </p:txBody>
      </p:sp>
      <p:sp>
        <p:nvSpPr>
          <p:cNvPr id="4" name="Text 1"/>
          <p:cNvSpPr/>
          <p:nvPr/>
        </p:nvSpPr>
        <p:spPr>
          <a:xfrm>
            <a:off x="762000" y="6350000"/>
            <a:ext cx="3810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750" dirty="0">
                <a:solidFill>
                  <a:srgbClr val="8A9097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TekRevol Brand Guidelines</a:t>
            </a:r>
            <a:endParaRPr lang="en-US" sz="750" dirty="0"/>
          </a:p>
        </p:txBody>
      </p:sp>
      <p:sp>
        <p:nvSpPr>
          <p:cNvPr id="5" name="Text 2"/>
          <p:cNvSpPr/>
          <p:nvPr/>
        </p:nvSpPr>
        <p:spPr>
          <a:xfrm>
            <a:off x="10160000" y="6350000"/>
            <a:ext cx="1270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15000"/>
              </a:lnSpc>
              <a:buNone/>
            </a:pPr>
            <a:r>
              <a:rPr lang="en-US" sz="750" dirty="0">
                <a:solidFill>
                  <a:srgbClr val="8A9097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05</a:t>
            </a:r>
            <a:endParaRPr lang="en-US" sz="750" dirty="0"/>
          </a:p>
        </p:txBody>
      </p:sp>
      <p:sp>
        <p:nvSpPr>
          <p:cNvPr id="6" name="Text 3"/>
          <p:cNvSpPr/>
          <p:nvPr/>
        </p:nvSpPr>
        <p:spPr>
          <a:xfrm>
            <a:off x="762000" y="1587500"/>
            <a:ext cx="7620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00" kern="0" spc="144" dirty="0">
                <a:solidFill>
                  <a:srgbClr val="C2340E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THE BRAND IDEA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736600" y="1905000"/>
            <a:ext cx="4826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4400" b="1" kern="0" spc="-106" dirty="0">
                <a:solidFill>
                  <a:srgbClr val="1D1E2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Structured chaos.</a:t>
            </a:r>
            <a:endParaRPr lang="en-US" sz="4400" dirty="0"/>
          </a:p>
        </p:txBody>
      </p:sp>
      <p:sp>
        <p:nvSpPr>
          <p:cNvPr id="8" name="Text 5"/>
          <p:cNvSpPr/>
          <p:nvPr/>
        </p:nvSpPr>
        <p:spPr>
          <a:xfrm>
            <a:off x="762000" y="2794000"/>
            <a:ext cx="4445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 dirty="0">
                <a:solidFill>
                  <a:srgbClr val="5E6166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TekRevol tries more paths than most teams would dare, faster than most teams can. Most attempts teach something; one ships. That is how a young, curious team produces enterprise-grade work.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762000" y="4445000"/>
            <a:ext cx="114300" cy="25400"/>
          </a:xfrm>
          <a:prstGeom prst="rect">
            <a:avLst/>
          </a:prstGeom>
          <a:solidFill>
            <a:srgbClr val="3EC5D1"/>
          </a:solidFill>
          <a:ln/>
        </p:spPr>
      </p:sp>
      <p:sp>
        <p:nvSpPr>
          <p:cNvPr id="10" name="Text 7"/>
          <p:cNvSpPr/>
          <p:nvPr/>
        </p:nvSpPr>
        <p:spPr>
          <a:xfrm>
            <a:off x="990600" y="4356100"/>
            <a:ext cx="44450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00" dirty="0">
                <a:solidFill>
                  <a:srgbClr val="1D1E21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Cyan paths: experiments, ideas, prototypes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762000" y="4826000"/>
            <a:ext cx="114300" cy="25400"/>
          </a:xfrm>
          <a:prstGeom prst="rect">
            <a:avLst/>
          </a:prstGeom>
          <a:solidFill>
            <a:srgbClr val="FF4A1C"/>
          </a:solidFill>
          <a:ln/>
        </p:spPr>
      </p:sp>
      <p:sp>
        <p:nvSpPr>
          <p:cNvPr id="12" name="Text 9"/>
          <p:cNvSpPr/>
          <p:nvPr/>
        </p:nvSpPr>
        <p:spPr>
          <a:xfrm>
            <a:off x="990600" y="4737100"/>
            <a:ext cx="44450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00" dirty="0">
                <a:solidFill>
                  <a:srgbClr val="1D1E21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The orange path: what ships, reliably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736600" y="5397500"/>
            <a:ext cx="4826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2000" b="1" kern="0" spc="-48" dirty="0">
                <a:solidFill>
                  <a:srgbClr val="1D1E2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Better with every layer.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D1E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33400"/>
            <a:ext cx="7620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700" kern="0" spc="126" dirty="0">
                <a:solidFill>
                  <a:srgbClr val="8B8E94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THE TEKREVOLUTION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762000" y="6350000"/>
            <a:ext cx="3810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750" dirty="0">
                <a:solidFill>
                  <a:srgbClr val="8B8E94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TekRevol Brand Guidelines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10160000" y="6350000"/>
            <a:ext cx="1270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15000"/>
              </a:lnSpc>
              <a:buNone/>
            </a:pPr>
            <a:r>
              <a:rPr lang="en-US" sz="750" dirty="0">
                <a:solidFill>
                  <a:srgbClr val="8B8E94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06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762000" y="1587500"/>
            <a:ext cx="7620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00" kern="0" spc="144" dirty="0">
                <a:solidFill>
                  <a:srgbClr val="3EC5D1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HOW WE WORK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36600" y="1905000"/>
            <a:ext cx="9525000" cy="146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4200" b="1" kern="0" spc="-101" dirty="0">
                <a:solidFill>
                  <a:srgbClr val="FFFFFF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Learn. Ideate. Iterate.</a:t>
            </a:r>
            <a:endParaRPr lang="en-US" sz="4200" dirty="0"/>
          </a:p>
          <a:p>
            <a:pPr marL="0" indent="0" algn="l">
              <a:lnSpc>
                <a:spcPct val="98000"/>
              </a:lnSpc>
              <a:buNone/>
            </a:pPr>
            <a:r>
              <a:rPr lang="en-US" sz="4200" b="1" kern="0" spc="-101" dirty="0">
                <a:solidFill>
                  <a:srgbClr val="FFFFFF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Incubate. Scale.</a:t>
            </a:r>
            <a:endParaRPr lang="en-US" sz="4200" dirty="0"/>
          </a:p>
        </p:txBody>
      </p:sp>
      <p:sp>
        <p:nvSpPr>
          <p:cNvPr id="7" name="Shape 5"/>
          <p:cNvSpPr/>
          <p:nvPr/>
        </p:nvSpPr>
        <p:spPr>
          <a:xfrm>
            <a:off x="762000" y="4064000"/>
            <a:ext cx="1968500" cy="1651000"/>
          </a:xfrm>
          <a:custGeom>
            <a:avLst/>
            <a:gdLst/>
            <a:ahLst/>
            <a:cxnLst/>
            <a:rect l="l" t="t" r="r" b="b"/>
            <a:pathLst>
              <a:path w="1968500" h="1651000">
                <a:moveTo>
                  <a:pt x="0" y="0"/>
                </a:moveTo>
                <a:lnTo>
                  <a:pt x="1816100" y="0"/>
                </a:lnTo>
                <a:lnTo>
                  <a:pt x="1968500" y="152400"/>
                </a:lnTo>
                <a:lnTo>
                  <a:pt x="1968500" y="1651000"/>
                </a:lnTo>
                <a:lnTo>
                  <a:pt x="0" y="1651000"/>
                </a:lnTo>
                <a:close/>
              </a:path>
            </a:pathLst>
          </a:custGeom>
          <a:solidFill>
            <a:srgbClr val="25272B"/>
          </a:solidFill>
          <a:ln w="9525">
            <a:solidFill>
              <a:srgbClr val="3A3D42"/>
            </a:solidFill>
            <a:prstDash val="solid"/>
          </a:ln>
        </p:spPr>
      </p:sp>
      <p:pic>
        <p:nvPicPr>
          <p:cNvPr id="8" name="Image 0" descr="C:/Claude-Projects/Projects/TekRevol/01-brand-system/deck-v6/art/ic-search-3EC5D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9800" y="4241800"/>
            <a:ext cx="215900" cy="2159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2222500" y="4267200"/>
            <a:ext cx="381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15000"/>
              </a:lnSpc>
              <a:buNone/>
            </a:pPr>
            <a:r>
              <a:rPr lang="en-US" sz="800" dirty="0">
                <a:solidFill>
                  <a:srgbClr val="8B8E94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01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939800" y="4635500"/>
            <a:ext cx="1651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Funnel Display SemiBold" pitchFamily="34" charset="0"/>
                <a:ea typeface="Funnel Display SemiBold" pitchFamily="34" charset="-122"/>
                <a:cs typeface="Funnel Display SemiBold" pitchFamily="34" charset="-120"/>
              </a:rPr>
              <a:t>Learn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939800" y="5016500"/>
            <a:ext cx="1651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900" dirty="0">
                <a:solidFill>
                  <a:srgbClr val="C4C7CB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Learn, unlearn and relearn. There is no end to it.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2730500" y="4889500"/>
            <a:ext cx="190500" cy="64"/>
          </a:xfrm>
          <a:prstGeom prst="line">
            <a:avLst/>
          </a:prstGeom>
          <a:noFill/>
          <a:ln w="12700">
            <a:solidFill>
              <a:srgbClr val="3EC5D1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921000" y="4064000"/>
            <a:ext cx="1968500" cy="1651000"/>
          </a:xfrm>
          <a:custGeom>
            <a:avLst/>
            <a:gdLst/>
            <a:ahLst/>
            <a:cxnLst/>
            <a:rect l="l" t="t" r="r" b="b"/>
            <a:pathLst>
              <a:path w="1968500" h="1651000">
                <a:moveTo>
                  <a:pt x="0" y="0"/>
                </a:moveTo>
                <a:lnTo>
                  <a:pt x="1816100" y="0"/>
                </a:lnTo>
                <a:lnTo>
                  <a:pt x="1968500" y="152400"/>
                </a:lnTo>
                <a:lnTo>
                  <a:pt x="1968500" y="1651000"/>
                </a:lnTo>
                <a:lnTo>
                  <a:pt x="0" y="1651000"/>
                </a:lnTo>
                <a:close/>
              </a:path>
            </a:pathLst>
          </a:custGeom>
          <a:solidFill>
            <a:srgbClr val="25272B"/>
          </a:solidFill>
          <a:ln w="9525">
            <a:solidFill>
              <a:srgbClr val="3A3D42"/>
            </a:solidFill>
            <a:prstDash val="solid"/>
          </a:ln>
        </p:spPr>
      </p:sp>
      <p:pic>
        <p:nvPicPr>
          <p:cNvPr id="14" name="Image 1" descr="C:/Claude-Projects/Projects/TekRevol/01-brand-system/deck-v6/art/ic-sparkles-3EC5D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98800" y="4241800"/>
            <a:ext cx="215900" cy="21590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381500" y="4267200"/>
            <a:ext cx="381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15000"/>
              </a:lnSpc>
              <a:buNone/>
            </a:pPr>
            <a:r>
              <a:rPr lang="en-US" sz="800" dirty="0">
                <a:solidFill>
                  <a:srgbClr val="8B8E94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02</a:t>
            </a:r>
            <a:endParaRPr lang="en-US" sz="800" dirty="0"/>
          </a:p>
        </p:txBody>
      </p:sp>
      <p:sp>
        <p:nvSpPr>
          <p:cNvPr id="16" name="Text 12"/>
          <p:cNvSpPr/>
          <p:nvPr/>
        </p:nvSpPr>
        <p:spPr>
          <a:xfrm>
            <a:off x="3098800" y="4635500"/>
            <a:ext cx="1651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Funnel Display SemiBold" pitchFamily="34" charset="0"/>
                <a:ea typeface="Funnel Display SemiBold" pitchFamily="34" charset="-122"/>
                <a:cs typeface="Funnel Display SemiBold" pitchFamily="34" charset="-120"/>
              </a:rPr>
              <a:t>Ideate</a:t>
            </a:r>
            <a:endParaRPr lang="en-US" sz="1700" dirty="0"/>
          </a:p>
        </p:txBody>
      </p:sp>
      <p:sp>
        <p:nvSpPr>
          <p:cNvPr id="17" name="Text 13"/>
          <p:cNvSpPr/>
          <p:nvPr/>
        </p:nvSpPr>
        <p:spPr>
          <a:xfrm>
            <a:off x="3098800" y="5016500"/>
            <a:ext cx="1651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900" dirty="0">
                <a:solidFill>
                  <a:srgbClr val="C4C7CB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Seek better ideas and practices in everything we do.</a:t>
            </a:r>
            <a:endParaRPr lang="en-US" sz="900" dirty="0"/>
          </a:p>
        </p:txBody>
      </p:sp>
      <p:sp>
        <p:nvSpPr>
          <p:cNvPr id="18" name="Shape 14"/>
          <p:cNvSpPr/>
          <p:nvPr/>
        </p:nvSpPr>
        <p:spPr>
          <a:xfrm>
            <a:off x="4889500" y="4889500"/>
            <a:ext cx="190500" cy="64"/>
          </a:xfrm>
          <a:prstGeom prst="line">
            <a:avLst/>
          </a:prstGeom>
          <a:noFill/>
          <a:ln w="12700">
            <a:solidFill>
              <a:srgbClr val="3EC5D1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5080000" y="4064000"/>
            <a:ext cx="1968500" cy="1651000"/>
          </a:xfrm>
          <a:custGeom>
            <a:avLst/>
            <a:gdLst/>
            <a:ahLst/>
            <a:cxnLst/>
            <a:rect l="l" t="t" r="r" b="b"/>
            <a:pathLst>
              <a:path w="1968500" h="1651000">
                <a:moveTo>
                  <a:pt x="0" y="0"/>
                </a:moveTo>
                <a:lnTo>
                  <a:pt x="1816100" y="0"/>
                </a:lnTo>
                <a:lnTo>
                  <a:pt x="1968500" y="152400"/>
                </a:lnTo>
                <a:lnTo>
                  <a:pt x="1968500" y="1651000"/>
                </a:lnTo>
                <a:lnTo>
                  <a:pt x="0" y="1651000"/>
                </a:lnTo>
                <a:close/>
              </a:path>
            </a:pathLst>
          </a:custGeom>
          <a:solidFill>
            <a:srgbClr val="25272B"/>
          </a:solidFill>
          <a:ln w="9525">
            <a:solidFill>
              <a:srgbClr val="3A3D42"/>
            </a:solidFill>
            <a:prstDash val="solid"/>
          </a:ln>
        </p:spPr>
      </p:sp>
      <p:pic>
        <p:nvPicPr>
          <p:cNvPr id="20" name="Image 2" descr="C:/Claude-Projects/Projects/TekRevol/01-brand-system/deck-v6/art/ic-refresh-cw-3EC5D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57800" y="4241800"/>
            <a:ext cx="215900" cy="21590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540500" y="4267200"/>
            <a:ext cx="381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15000"/>
              </a:lnSpc>
              <a:buNone/>
            </a:pPr>
            <a:r>
              <a:rPr lang="en-US" sz="800" dirty="0">
                <a:solidFill>
                  <a:srgbClr val="8B8E94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03</a:t>
            </a:r>
            <a:endParaRPr lang="en-US" sz="800" dirty="0"/>
          </a:p>
        </p:txBody>
      </p:sp>
      <p:sp>
        <p:nvSpPr>
          <p:cNvPr id="22" name="Text 17"/>
          <p:cNvSpPr/>
          <p:nvPr/>
        </p:nvSpPr>
        <p:spPr>
          <a:xfrm>
            <a:off x="5257800" y="4635500"/>
            <a:ext cx="1651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Funnel Display SemiBold" pitchFamily="34" charset="0"/>
                <a:ea typeface="Funnel Display SemiBold" pitchFamily="34" charset="-122"/>
                <a:cs typeface="Funnel Display SemiBold" pitchFamily="34" charset="-120"/>
              </a:rPr>
              <a:t>Iterate</a:t>
            </a:r>
            <a:endParaRPr lang="en-US" sz="1700" dirty="0"/>
          </a:p>
        </p:txBody>
      </p:sp>
      <p:sp>
        <p:nvSpPr>
          <p:cNvPr id="23" name="Text 18"/>
          <p:cNvSpPr/>
          <p:nvPr/>
        </p:nvSpPr>
        <p:spPr>
          <a:xfrm>
            <a:off x="5257800" y="5016500"/>
            <a:ext cx="1651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900" dirty="0">
                <a:solidFill>
                  <a:srgbClr val="C4C7CB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Test and evolve everything: people, products, services.</a:t>
            </a:r>
            <a:endParaRPr lang="en-US" sz="900" dirty="0"/>
          </a:p>
        </p:txBody>
      </p:sp>
      <p:sp>
        <p:nvSpPr>
          <p:cNvPr id="24" name="Shape 19"/>
          <p:cNvSpPr/>
          <p:nvPr/>
        </p:nvSpPr>
        <p:spPr>
          <a:xfrm>
            <a:off x="7048500" y="4889500"/>
            <a:ext cx="190500" cy="64"/>
          </a:xfrm>
          <a:prstGeom prst="line">
            <a:avLst/>
          </a:prstGeom>
          <a:noFill/>
          <a:ln w="12700">
            <a:solidFill>
              <a:srgbClr val="3EC5D1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7239000" y="4064000"/>
            <a:ext cx="1968500" cy="1651000"/>
          </a:xfrm>
          <a:custGeom>
            <a:avLst/>
            <a:gdLst/>
            <a:ahLst/>
            <a:cxnLst/>
            <a:rect l="l" t="t" r="r" b="b"/>
            <a:pathLst>
              <a:path w="1968500" h="1651000">
                <a:moveTo>
                  <a:pt x="0" y="0"/>
                </a:moveTo>
                <a:lnTo>
                  <a:pt x="1816100" y="0"/>
                </a:lnTo>
                <a:lnTo>
                  <a:pt x="1968500" y="152400"/>
                </a:lnTo>
                <a:lnTo>
                  <a:pt x="1968500" y="1651000"/>
                </a:lnTo>
                <a:lnTo>
                  <a:pt x="0" y="1651000"/>
                </a:lnTo>
                <a:close/>
              </a:path>
            </a:pathLst>
          </a:custGeom>
          <a:solidFill>
            <a:srgbClr val="25272B"/>
          </a:solidFill>
          <a:ln w="9525">
            <a:solidFill>
              <a:srgbClr val="3A3D42"/>
            </a:solidFill>
            <a:prstDash val="solid"/>
          </a:ln>
        </p:spPr>
      </p:sp>
      <p:pic>
        <p:nvPicPr>
          <p:cNvPr id="26" name="Image 3" descr="C:/Claude-Projects/Projects/TekRevol/01-brand-system/deck-v6/art/ic-flask-conical-3EC5D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16800" y="4241800"/>
            <a:ext cx="215900" cy="21590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8699500" y="4267200"/>
            <a:ext cx="381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15000"/>
              </a:lnSpc>
              <a:buNone/>
            </a:pPr>
            <a:r>
              <a:rPr lang="en-US" sz="800" dirty="0">
                <a:solidFill>
                  <a:srgbClr val="8B8E94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04</a:t>
            </a:r>
            <a:endParaRPr lang="en-US" sz="800" dirty="0"/>
          </a:p>
        </p:txBody>
      </p:sp>
      <p:sp>
        <p:nvSpPr>
          <p:cNvPr id="28" name="Text 22"/>
          <p:cNvSpPr/>
          <p:nvPr/>
        </p:nvSpPr>
        <p:spPr>
          <a:xfrm>
            <a:off x="7416800" y="4635500"/>
            <a:ext cx="1651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Funnel Display SemiBold" pitchFamily="34" charset="0"/>
                <a:ea typeface="Funnel Display SemiBold" pitchFamily="34" charset="-122"/>
                <a:cs typeface="Funnel Display SemiBold" pitchFamily="34" charset="-120"/>
              </a:rPr>
              <a:t>Incubate</a:t>
            </a:r>
            <a:endParaRPr lang="en-US" sz="1700" dirty="0"/>
          </a:p>
        </p:txBody>
      </p:sp>
      <p:sp>
        <p:nvSpPr>
          <p:cNvPr id="29" name="Text 23"/>
          <p:cNvSpPr/>
          <p:nvPr/>
        </p:nvSpPr>
        <p:spPr>
          <a:xfrm>
            <a:off x="7416800" y="5016500"/>
            <a:ext cx="1651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900" dirty="0">
                <a:solidFill>
                  <a:srgbClr val="C4C7CB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Work hard and be patient on the way to success.</a:t>
            </a:r>
            <a:endParaRPr lang="en-US" sz="900" dirty="0"/>
          </a:p>
        </p:txBody>
      </p:sp>
      <p:sp>
        <p:nvSpPr>
          <p:cNvPr id="30" name="Shape 24"/>
          <p:cNvSpPr/>
          <p:nvPr/>
        </p:nvSpPr>
        <p:spPr>
          <a:xfrm>
            <a:off x="9207500" y="4889500"/>
            <a:ext cx="190500" cy="64"/>
          </a:xfrm>
          <a:prstGeom prst="line">
            <a:avLst/>
          </a:prstGeom>
          <a:noFill/>
          <a:ln w="12700">
            <a:solidFill>
              <a:srgbClr val="3EC5D1"/>
            </a:solidFill>
            <a:prstDash val="solid"/>
          </a:ln>
        </p:spPr>
      </p:sp>
      <p:sp>
        <p:nvSpPr>
          <p:cNvPr id="31" name="Shape 25"/>
          <p:cNvSpPr/>
          <p:nvPr/>
        </p:nvSpPr>
        <p:spPr>
          <a:xfrm>
            <a:off x="9398000" y="4064000"/>
            <a:ext cx="1968500" cy="1651000"/>
          </a:xfrm>
          <a:custGeom>
            <a:avLst/>
            <a:gdLst/>
            <a:ahLst/>
            <a:cxnLst/>
            <a:rect l="l" t="t" r="r" b="b"/>
            <a:pathLst>
              <a:path w="1968500" h="1651000">
                <a:moveTo>
                  <a:pt x="0" y="0"/>
                </a:moveTo>
                <a:lnTo>
                  <a:pt x="1816100" y="0"/>
                </a:lnTo>
                <a:lnTo>
                  <a:pt x="1968500" y="152400"/>
                </a:lnTo>
                <a:lnTo>
                  <a:pt x="1968500" y="1651000"/>
                </a:lnTo>
                <a:lnTo>
                  <a:pt x="0" y="1651000"/>
                </a:lnTo>
                <a:close/>
              </a:path>
            </a:pathLst>
          </a:custGeom>
          <a:solidFill>
            <a:srgbClr val="FF4A1C"/>
          </a:solidFill>
          <a:ln w="9525">
            <a:solidFill>
              <a:srgbClr val="FF4A1C"/>
            </a:solidFill>
            <a:prstDash val="solid"/>
          </a:ln>
        </p:spPr>
      </p:sp>
      <p:pic>
        <p:nvPicPr>
          <p:cNvPr id="32" name="Image 4" descr="C:/Claude-Projects/Projects/TekRevol/01-brand-system/deck-v6/art/ic-rocket-1D1E21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75800" y="4241800"/>
            <a:ext cx="215900" cy="215900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10858500" y="4267200"/>
            <a:ext cx="381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15000"/>
              </a:lnSpc>
              <a:buNone/>
            </a:pPr>
            <a:r>
              <a:rPr lang="en-US" sz="800" dirty="0">
                <a:solidFill>
                  <a:srgbClr val="1D1E21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05</a:t>
            </a:r>
            <a:endParaRPr lang="en-US" sz="800" dirty="0"/>
          </a:p>
        </p:txBody>
      </p:sp>
      <p:sp>
        <p:nvSpPr>
          <p:cNvPr id="34" name="Text 27"/>
          <p:cNvSpPr/>
          <p:nvPr/>
        </p:nvSpPr>
        <p:spPr>
          <a:xfrm>
            <a:off x="9575800" y="4635500"/>
            <a:ext cx="1651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700" dirty="0">
                <a:solidFill>
                  <a:srgbClr val="1D1E21"/>
                </a:solidFill>
                <a:latin typeface="Funnel Display SemiBold" pitchFamily="34" charset="0"/>
                <a:ea typeface="Funnel Display SemiBold" pitchFamily="34" charset="-122"/>
                <a:cs typeface="Funnel Display SemiBold" pitchFamily="34" charset="-120"/>
              </a:rPr>
              <a:t>Scale</a:t>
            </a:r>
            <a:endParaRPr lang="en-US" sz="1700" dirty="0"/>
          </a:p>
        </p:txBody>
      </p:sp>
      <p:sp>
        <p:nvSpPr>
          <p:cNvPr id="35" name="Text 28"/>
          <p:cNvSpPr/>
          <p:nvPr/>
        </p:nvSpPr>
        <p:spPr>
          <a:xfrm>
            <a:off x="9575800" y="5016500"/>
            <a:ext cx="1651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900" dirty="0">
                <a:solidFill>
                  <a:srgbClr val="1D1E21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Grow efficiency through trusted systems and procedures.</a:t>
            </a:r>
            <a:endParaRPr lang="en-US" sz="900" dirty="0"/>
          </a:p>
        </p:txBody>
      </p:sp>
      <p:sp>
        <p:nvSpPr>
          <p:cNvPr id="36" name="Text 29"/>
          <p:cNvSpPr/>
          <p:nvPr/>
        </p:nvSpPr>
        <p:spPr>
          <a:xfrm>
            <a:off x="762000" y="5905500"/>
            <a:ext cx="8890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00" dirty="0">
                <a:solidFill>
                  <a:srgbClr val="8B8E94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The TekRevol cycle, from the original handbook. Still how the team works, now with AI in every step.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/Claude-Projects/Projects/TekRevol/01-brand-system/deck-v6/art/logo-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609600"/>
            <a:ext cx="1524000" cy="2235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62000" y="2667000"/>
            <a:ext cx="7620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00" kern="0" spc="144" dirty="0">
                <a:solidFill>
                  <a:srgbClr val="C2340E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PERSONALITY</a:t>
            </a:r>
            <a:endParaRPr lang="en-US" sz="800" dirty="0"/>
          </a:p>
        </p:txBody>
      </p:sp>
      <p:sp>
        <p:nvSpPr>
          <p:cNvPr id="4" name="Text 1"/>
          <p:cNvSpPr/>
          <p:nvPr/>
        </p:nvSpPr>
        <p:spPr>
          <a:xfrm>
            <a:off x="736600" y="2984500"/>
            <a:ext cx="45720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4600" b="1" kern="0" spc="-110" dirty="0">
                <a:solidFill>
                  <a:srgbClr val="1D1E2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Traits that</a:t>
            </a:r>
            <a:endParaRPr lang="en-US" sz="4600" dirty="0"/>
          </a:p>
          <a:p>
            <a:pPr marL="0" indent="0" algn="l">
              <a:lnSpc>
                <a:spcPct val="98000"/>
              </a:lnSpc>
              <a:buNone/>
            </a:pPr>
            <a:r>
              <a:rPr lang="en-US" sz="4600" b="1" kern="0" spc="-110" dirty="0">
                <a:solidFill>
                  <a:srgbClr val="1D1E2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shape the work.</a:t>
            </a:r>
            <a:endParaRPr lang="en-US" sz="4600" dirty="0"/>
          </a:p>
        </p:txBody>
      </p:sp>
      <p:sp>
        <p:nvSpPr>
          <p:cNvPr id="5" name="Text 2"/>
          <p:cNvSpPr/>
          <p:nvPr/>
        </p:nvSpPr>
        <p:spPr>
          <a:xfrm>
            <a:off x="762000" y="4699000"/>
            <a:ext cx="4064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50" dirty="0">
                <a:solidFill>
                  <a:srgbClr val="5E6166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Six traits, drawn from the original TekRevol values and still true today.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5715000" y="0"/>
            <a:ext cx="2159000" cy="3429000"/>
          </a:xfrm>
          <a:prstGeom prst="rect">
            <a:avLst/>
          </a:prstGeom>
          <a:solidFill>
            <a:srgbClr val="FF4A1C"/>
          </a:solidFill>
          <a:ln/>
        </p:spPr>
      </p:sp>
      <p:sp>
        <p:nvSpPr>
          <p:cNvPr id="7" name="Text 4"/>
          <p:cNvSpPr/>
          <p:nvPr/>
        </p:nvSpPr>
        <p:spPr>
          <a:xfrm>
            <a:off x="5943600" y="381000"/>
            <a:ext cx="508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00" dirty="0">
                <a:solidFill>
                  <a:srgbClr val="1D1E21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01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5943600" y="1714500"/>
            <a:ext cx="1778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300" b="1" kern="0" spc="-60" dirty="0">
                <a:solidFill>
                  <a:srgbClr val="1D1E2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Built</a:t>
            </a:r>
            <a:endParaRPr lang="en-US" sz="2300" dirty="0"/>
          </a:p>
        </p:txBody>
      </p:sp>
      <p:sp>
        <p:nvSpPr>
          <p:cNvPr id="9" name="Text 6"/>
          <p:cNvSpPr/>
          <p:nvPr/>
        </p:nvSpPr>
        <p:spPr>
          <a:xfrm>
            <a:off x="5943600" y="2159000"/>
            <a:ext cx="17145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950" dirty="0">
                <a:solidFill>
                  <a:srgbClr val="1D1E21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Engineered, precise, specific.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7874000" y="0"/>
            <a:ext cx="2159000" cy="3429000"/>
          </a:xfrm>
          <a:prstGeom prst="rect">
            <a:avLst/>
          </a:prstGeom>
          <a:solidFill>
            <a:srgbClr val="1D1E21"/>
          </a:solidFill>
          <a:ln/>
        </p:spPr>
      </p:sp>
      <p:sp>
        <p:nvSpPr>
          <p:cNvPr id="11" name="Text 8"/>
          <p:cNvSpPr/>
          <p:nvPr/>
        </p:nvSpPr>
        <p:spPr>
          <a:xfrm>
            <a:off x="8102600" y="381000"/>
            <a:ext cx="508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00" dirty="0">
                <a:solidFill>
                  <a:srgbClr val="8B8E94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02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8102600" y="1714500"/>
            <a:ext cx="1778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300" b="1" kern="0" spc="-60" dirty="0">
                <a:solidFill>
                  <a:srgbClr val="FFFFFF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Quick</a:t>
            </a:r>
            <a:endParaRPr lang="en-US" sz="2300" dirty="0"/>
          </a:p>
        </p:txBody>
      </p:sp>
      <p:sp>
        <p:nvSpPr>
          <p:cNvPr id="13" name="Text 10"/>
          <p:cNvSpPr/>
          <p:nvPr/>
        </p:nvSpPr>
        <p:spPr>
          <a:xfrm>
            <a:off x="8102600" y="2159000"/>
            <a:ext cx="17145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950" dirty="0">
                <a:solidFill>
                  <a:srgbClr val="D6D8DB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Moves early, ships on schedule.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10033000" y="0"/>
            <a:ext cx="2159000" cy="3429000"/>
          </a:xfrm>
          <a:prstGeom prst="rect">
            <a:avLst/>
          </a:prstGeom>
          <a:solidFill>
            <a:srgbClr val="FF4A1C"/>
          </a:solidFill>
          <a:ln/>
        </p:spPr>
      </p:sp>
      <p:sp>
        <p:nvSpPr>
          <p:cNvPr id="15" name="Text 12"/>
          <p:cNvSpPr/>
          <p:nvPr/>
        </p:nvSpPr>
        <p:spPr>
          <a:xfrm>
            <a:off x="10261600" y="381000"/>
            <a:ext cx="508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00" dirty="0">
                <a:solidFill>
                  <a:srgbClr val="1D1E21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03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0261600" y="1714500"/>
            <a:ext cx="1778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300" b="1" kern="0" spc="-60" dirty="0">
                <a:solidFill>
                  <a:srgbClr val="1D1E2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Evolving</a:t>
            </a:r>
            <a:endParaRPr lang="en-US" sz="2300" dirty="0"/>
          </a:p>
        </p:txBody>
      </p:sp>
      <p:sp>
        <p:nvSpPr>
          <p:cNvPr id="17" name="Text 14"/>
          <p:cNvSpPr/>
          <p:nvPr/>
        </p:nvSpPr>
        <p:spPr>
          <a:xfrm>
            <a:off x="10261600" y="2159000"/>
            <a:ext cx="17145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950" dirty="0">
                <a:solidFill>
                  <a:srgbClr val="1D1E21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Every version better than the last.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5715000" y="3429000"/>
            <a:ext cx="2159000" cy="3429000"/>
          </a:xfrm>
          <a:prstGeom prst="rect">
            <a:avLst/>
          </a:prstGeom>
          <a:solidFill>
            <a:srgbClr val="1D1E21"/>
          </a:solidFill>
          <a:ln/>
        </p:spPr>
      </p:sp>
      <p:sp>
        <p:nvSpPr>
          <p:cNvPr id="19" name="Text 16"/>
          <p:cNvSpPr/>
          <p:nvPr/>
        </p:nvSpPr>
        <p:spPr>
          <a:xfrm>
            <a:off x="5943600" y="3810000"/>
            <a:ext cx="508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00" dirty="0">
                <a:solidFill>
                  <a:srgbClr val="8B8E94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04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5943600" y="5143500"/>
            <a:ext cx="1778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300" b="1" kern="0" spc="-60" dirty="0">
                <a:solidFill>
                  <a:srgbClr val="FFFFFF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Candid</a:t>
            </a:r>
            <a:endParaRPr lang="en-US" sz="2300" dirty="0"/>
          </a:p>
        </p:txBody>
      </p:sp>
      <p:sp>
        <p:nvSpPr>
          <p:cNvPr id="21" name="Text 18"/>
          <p:cNvSpPr/>
          <p:nvPr/>
        </p:nvSpPr>
        <p:spPr>
          <a:xfrm>
            <a:off x="5943600" y="5588000"/>
            <a:ext cx="17145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950" dirty="0">
                <a:solidFill>
                  <a:srgbClr val="D6D8DB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Says what is true, plainly.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7874000" y="3429000"/>
            <a:ext cx="2159000" cy="3429000"/>
          </a:xfrm>
          <a:prstGeom prst="rect">
            <a:avLst/>
          </a:prstGeom>
          <a:solidFill>
            <a:srgbClr val="FF4A1C"/>
          </a:solidFill>
          <a:ln/>
        </p:spPr>
      </p:sp>
      <p:sp>
        <p:nvSpPr>
          <p:cNvPr id="23" name="Text 20"/>
          <p:cNvSpPr/>
          <p:nvPr/>
        </p:nvSpPr>
        <p:spPr>
          <a:xfrm>
            <a:off x="8102600" y="3810000"/>
            <a:ext cx="508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00" dirty="0">
                <a:solidFill>
                  <a:srgbClr val="1D1E21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05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8102600" y="5143500"/>
            <a:ext cx="1778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300" b="1" kern="0" spc="-60" dirty="0">
                <a:solidFill>
                  <a:srgbClr val="1D1E2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Warm</a:t>
            </a:r>
            <a:endParaRPr lang="en-US" sz="2300" dirty="0"/>
          </a:p>
        </p:txBody>
      </p:sp>
      <p:sp>
        <p:nvSpPr>
          <p:cNvPr id="25" name="Text 22"/>
          <p:cNvSpPr/>
          <p:nvPr/>
        </p:nvSpPr>
        <p:spPr>
          <a:xfrm>
            <a:off x="8102600" y="5588000"/>
            <a:ext cx="17145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950" dirty="0">
                <a:solidFill>
                  <a:srgbClr val="1D1E21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Human-centered and real.</a:t>
            </a:r>
            <a:endParaRPr lang="en-US" sz="950" dirty="0"/>
          </a:p>
        </p:txBody>
      </p:sp>
      <p:sp>
        <p:nvSpPr>
          <p:cNvPr id="26" name="Shape 23"/>
          <p:cNvSpPr/>
          <p:nvPr/>
        </p:nvSpPr>
        <p:spPr>
          <a:xfrm>
            <a:off x="10033000" y="3429000"/>
            <a:ext cx="2159000" cy="3429000"/>
          </a:xfrm>
          <a:prstGeom prst="rect">
            <a:avLst/>
          </a:prstGeom>
          <a:solidFill>
            <a:srgbClr val="1D1E21"/>
          </a:solidFill>
          <a:ln/>
        </p:spPr>
      </p:sp>
      <p:sp>
        <p:nvSpPr>
          <p:cNvPr id="27" name="Text 24"/>
          <p:cNvSpPr/>
          <p:nvPr/>
        </p:nvSpPr>
        <p:spPr>
          <a:xfrm>
            <a:off x="10261600" y="3810000"/>
            <a:ext cx="508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00" dirty="0">
                <a:solidFill>
                  <a:srgbClr val="8B8E94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06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10261600" y="5143500"/>
            <a:ext cx="1778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300" b="1" kern="0" spc="-60" dirty="0">
                <a:solidFill>
                  <a:srgbClr val="FFFFFF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Curious</a:t>
            </a:r>
            <a:endParaRPr lang="en-US" sz="2300" dirty="0"/>
          </a:p>
        </p:txBody>
      </p:sp>
      <p:sp>
        <p:nvSpPr>
          <p:cNvPr id="29" name="Text 26"/>
          <p:cNvSpPr/>
          <p:nvPr/>
        </p:nvSpPr>
        <p:spPr>
          <a:xfrm>
            <a:off x="10261600" y="5588000"/>
            <a:ext cx="17145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950" dirty="0">
                <a:solidFill>
                  <a:srgbClr val="D6D8DB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Questions everything, learns fast.</a:t>
            </a:r>
            <a:endParaRPr lang="en-US" sz="950" dirty="0"/>
          </a:p>
        </p:txBody>
      </p:sp>
      <p:sp>
        <p:nvSpPr>
          <p:cNvPr id="30" name="Text 27"/>
          <p:cNvSpPr/>
          <p:nvPr/>
        </p:nvSpPr>
        <p:spPr>
          <a:xfrm>
            <a:off x="3810000" y="6350000"/>
            <a:ext cx="1270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15000"/>
              </a:lnSpc>
              <a:buNone/>
            </a:pPr>
            <a:r>
              <a:rPr lang="en-US" sz="750" dirty="0">
                <a:solidFill>
                  <a:srgbClr val="8A9097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07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4A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2667000"/>
            <a:ext cx="7620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00" kern="0" spc="162" dirty="0">
                <a:solidFill>
                  <a:srgbClr val="1D1E21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02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36600" y="2984500"/>
            <a:ext cx="63500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6000" b="1" kern="0" spc="-144" dirty="0">
                <a:solidFill>
                  <a:srgbClr val="1D1E2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Logo</a:t>
            </a:r>
            <a:endParaRPr lang="en-US" sz="6000" dirty="0"/>
          </a:p>
          <a:p>
            <a:pPr marL="0" indent="0" algn="l">
              <a:lnSpc>
                <a:spcPct val="98000"/>
              </a:lnSpc>
              <a:buNone/>
            </a:pPr>
            <a:r>
              <a:rPr lang="en-US" sz="6000" b="1" kern="0" spc="-144" dirty="0">
                <a:solidFill>
                  <a:srgbClr val="1D1E2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and color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787400" y="4826000"/>
            <a:ext cx="5715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00" dirty="0">
                <a:solidFill>
                  <a:srgbClr val="1D1E21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The fixed parts of every TekRevol layout.</a:t>
            </a:r>
            <a:endParaRPr lang="en-US" sz="1300" dirty="0"/>
          </a:p>
        </p:txBody>
      </p:sp>
      <p:pic>
        <p:nvPicPr>
          <p:cNvPr id="5" name="Image 0" descr="C:/Claude-Projects/Projects/TekRevol/01-brand-system/deck-v6/art/cyan-tile-is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1460500"/>
            <a:ext cx="4826000" cy="36195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62000" y="6350000"/>
            <a:ext cx="3810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750" dirty="0">
                <a:solidFill>
                  <a:srgbClr val="1D1E21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TekRevol Brand Guidelines</a:t>
            </a:r>
            <a:endParaRPr lang="en-US" sz="750" dirty="0"/>
          </a:p>
        </p:txBody>
      </p:sp>
      <p:sp>
        <p:nvSpPr>
          <p:cNvPr id="7" name="Text 4"/>
          <p:cNvSpPr/>
          <p:nvPr/>
        </p:nvSpPr>
        <p:spPr>
          <a:xfrm>
            <a:off x="10160000" y="6350000"/>
            <a:ext cx="1270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15000"/>
              </a:lnSpc>
              <a:buNone/>
            </a:pPr>
            <a:r>
              <a:rPr lang="en-US" sz="750" dirty="0">
                <a:solidFill>
                  <a:srgbClr val="1D1E21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08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33400"/>
            <a:ext cx="7620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700" kern="0" spc="126" dirty="0">
                <a:solidFill>
                  <a:srgbClr val="8A9097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LOGO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762000" y="6350000"/>
            <a:ext cx="3810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750" dirty="0">
                <a:solidFill>
                  <a:srgbClr val="8A9097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TekRevol Brand Guidelines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10160000" y="6350000"/>
            <a:ext cx="1270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15000"/>
              </a:lnSpc>
              <a:buNone/>
            </a:pPr>
            <a:r>
              <a:rPr lang="en-US" sz="750" dirty="0">
                <a:solidFill>
                  <a:srgbClr val="8A9097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09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762000" y="1587500"/>
            <a:ext cx="7620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00" kern="0" spc="144" dirty="0">
                <a:solidFill>
                  <a:srgbClr val="C2340E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PRIMARY LOGO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36600" y="1905000"/>
            <a:ext cx="9525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3800" b="1" kern="0" spc="-91" dirty="0">
                <a:solidFill>
                  <a:srgbClr val="1D1E2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One mark. Same geometry,</a:t>
            </a:r>
            <a:endParaRPr lang="en-US" sz="3800" dirty="0"/>
          </a:p>
          <a:p>
            <a:pPr marL="0" indent="0" algn="l">
              <a:lnSpc>
                <a:spcPct val="98000"/>
              </a:lnSpc>
              <a:buNone/>
            </a:pPr>
            <a:r>
              <a:rPr lang="en-US" sz="3800" b="1" kern="0" spc="-91" dirty="0">
                <a:solidFill>
                  <a:srgbClr val="1D1E2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brighter color.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762000" y="3302000"/>
            <a:ext cx="5207000" cy="24130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ADB"/>
            </a:solidFill>
            <a:prstDash val="solid"/>
          </a:ln>
        </p:spPr>
      </p:sp>
      <p:pic>
        <p:nvPicPr>
          <p:cNvPr id="8" name="Image 0" descr="C:/Claude-Projects/Projects/TekRevol/01-brand-system/deck-v6/art/logo-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0500" y="4254500"/>
            <a:ext cx="3810000" cy="5588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62000" y="5842000"/>
            <a:ext cx="5207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50" dirty="0">
                <a:solidFill>
                  <a:srgbClr val="5E6166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Charcoal ink on white and light backgrounds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6223000" y="3302000"/>
            <a:ext cx="5207000" cy="2413000"/>
          </a:xfrm>
          <a:prstGeom prst="rect">
            <a:avLst/>
          </a:prstGeom>
          <a:solidFill>
            <a:srgbClr val="131417"/>
          </a:solidFill>
          <a:ln/>
        </p:spPr>
      </p:sp>
      <p:pic>
        <p:nvPicPr>
          <p:cNvPr id="11" name="Image 1" descr="C:/Claude-Projects/Projects/TekRevol/01-brand-system/deck-v6/art/logo-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21500" y="4254500"/>
            <a:ext cx="3810000" cy="5588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223000" y="5842000"/>
            <a:ext cx="5207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50" dirty="0">
                <a:solidFill>
                  <a:srgbClr val="5E6166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White ink on charcoal and dark backgrounds</a:t>
            </a:r>
            <a:endParaRPr lang="en-US" sz="850" dirty="0"/>
          </a:p>
        </p:txBody>
      </p:sp>
      <p:sp>
        <p:nvSpPr>
          <p:cNvPr id="13" name="Shape 9"/>
          <p:cNvSpPr/>
          <p:nvPr/>
        </p:nvSpPr>
        <p:spPr>
          <a:xfrm>
            <a:off x="762000" y="6108700"/>
            <a:ext cx="114300" cy="114300"/>
          </a:xfrm>
          <a:prstGeom prst="rect">
            <a:avLst/>
          </a:prstGeom>
          <a:solidFill>
            <a:srgbClr val="FF4A1C"/>
          </a:solidFill>
          <a:ln/>
        </p:spPr>
      </p:sp>
      <p:sp>
        <p:nvSpPr>
          <p:cNvPr id="14" name="Text 10"/>
          <p:cNvSpPr/>
          <p:nvPr/>
        </p:nvSpPr>
        <p:spPr>
          <a:xfrm>
            <a:off x="939800" y="6083300"/>
            <a:ext cx="14605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650" dirty="0">
                <a:solidFill>
                  <a:srgbClr val="8A9097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Left plane  #FF4A1C</a:t>
            </a:r>
            <a:endParaRPr lang="en-US" sz="650" dirty="0"/>
          </a:p>
        </p:txBody>
      </p:sp>
      <p:sp>
        <p:nvSpPr>
          <p:cNvPr id="15" name="Shape 11"/>
          <p:cNvSpPr/>
          <p:nvPr/>
        </p:nvSpPr>
        <p:spPr>
          <a:xfrm>
            <a:off x="2413000" y="6108700"/>
            <a:ext cx="114300" cy="114300"/>
          </a:xfrm>
          <a:prstGeom prst="rect">
            <a:avLst/>
          </a:prstGeom>
          <a:solidFill>
            <a:srgbClr val="FF7A45"/>
          </a:solidFill>
          <a:ln/>
        </p:spPr>
      </p:sp>
      <p:sp>
        <p:nvSpPr>
          <p:cNvPr id="16" name="Text 12"/>
          <p:cNvSpPr/>
          <p:nvPr/>
        </p:nvSpPr>
        <p:spPr>
          <a:xfrm>
            <a:off x="2590800" y="6083300"/>
            <a:ext cx="14605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650" dirty="0">
                <a:solidFill>
                  <a:srgbClr val="8A9097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Right plane  #FF7A45</a:t>
            </a:r>
            <a:endParaRPr lang="en-US" sz="650" dirty="0"/>
          </a:p>
        </p:txBody>
      </p:sp>
      <p:sp>
        <p:nvSpPr>
          <p:cNvPr id="17" name="Shape 13"/>
          <p:cNvSpPr/>
          <p:nvPr/>
        </p:nvSpPr>
        <p:spPr>
          <a:xfrm>
            <a:off x="4064000" y="6108700"/>
            <a:ext cx="114300" cy="114300"/>
          </a:xfrm>
          <a:prstGeom prst="rect">
            <a:avLst/>
          </a:prstGeom>
          <a:solidFill>
            <a:srgbClr val="D93A12"/>
          </a:solidFill>
          <a:ln/>
        </p:spPr>
      </p:sp>
      <p:sp>
        <p:nvSpPr>
          <p:cNvPr id="18" name="Text 14"/>
          <p:cNvSpPr/>
          <p:nvPr/>
        </p:nvSpPr>
        <p:spPr>
          <a:xfrm>
            <a:off x="4241800" y="6083300"/>
            <a:ext cx="14605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650" dirty="0">
                <a:solidFill>
                  <a:srgbClr val="8A9097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Base bar  #D93A12</a:t>
            </a:r>
            <a:endParaRPr lang="en-US" sz="650" dirty="0"/>
          </a:p>
        </p:txBody>
      </p:sp>
      <p:sp>
        <p:nvSpPr>
          <p:cNvPr id="19" name="Shape 15"/>
          <p:cNvSpPr/>
          <p:nvPr/>
        </p:nvSpPr>
        <p:spPr>
          <a:xfrm>
            <a:off x="5715000" y="6108700"/>
            <a:ext cx="114300" cy="114300"/>
          </a:xfrm>
          <a:prstGeom prst="rect">
            <a:avLst/>
          </a:prstGeom>
          <a:solidFill>
            <a:srgbClr val="1D1E21"/>
          </a:solidFill>
          <a:ln/>
        </p:spPr>
      </p:sp>
      <p:sp>
        <p:nvSpPr>
          <p:cNvPr id="20" name="Text 16"/>
          <p:cNvSpPr/>
          <p:nvPr/>
        </p:nvSpPr>
        <p:spPr>
          <a:xfrm>
            <a:off x="5892800" y="6083300"/>
            <a:ext cx="14605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650" dirty="0">
                <a:solidFill>
                  <a:srgbClr val="8A9097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Wordmark  #1D1E21</a:t>
            </a:r>
            <a:endParaRPr lang="en-US" sz="6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EEF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33400"/>
            <a:ext cx="7620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700" kern="0" spc="126" dirty="0">
                <a:solidFill>
                  <a:srgbClr val="8A9097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LOGO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762000" y="6350000"/>
            <a:ext cx="3810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750" dirty="0">
                <a:solidFill>
                  <a:srgbClr val="8A9097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TekRevol Brand Guidelines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10160000" y="6350000"/>
            <a:ext cx="1270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15000"/>
              </a:lnSpc>
              <a:buNone/>
            </a:pPr>
            <a:r>
              <a:rPr lang="en-US" sz="750" dirty="0">
                <a:solidFill>
                  <a:srgbClr val="8A9097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10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762000" y="1587500"/>
            <a:ext cx="7620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00" kern="0" spc="144" dirty="0">
                <a:solidFill>
                  <a:srgbClr val="C2340E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RULES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36600" y="1905000"/>
            <a:ext cx="9525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3800" b="1" kern="0" spc="-91" dirty="0">
                <a:solidFill>
                  <a:srgbClr val="1D1E2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Space, size and misuse.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762000" y="2857500"/>
            <a:ext cx="4826000" cy="1905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Shape 6"/>
          <p:cNvSpPr/>
          <p:nvPr/>
        </p:nvSpPr>
        <p:spPr>
          <a:xfrm>
            <a:off x="1460500" y="3479800"/>
            <a:ext cx="3429000" cy="736600"/>
          </a:xfrm>
          <a:prstGeom prst="rect">
            <a:avLst/>
          </a:prstGeom>
          <a:ln w="9525">
            <a:solidFill>
              <a:srgbClr val="C2340E"/>
            </a:solidFill>
            <a:prstDash val="solid"/>
          </a:ln>
        </p:spPr>
      </p:sp>
      <p:pic>
        <p:nvPicPr>
          <p:cNvPr id="9" name="Image 0" descr="C:/Claude-Projects/Projects/TekRevol/01-brand-system/deck-v6/art/logo-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8000" y="3632200"/>
            <a:ext cx="2794000" cy="409787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498600" y="3302000"/>
            <a:ext cx="254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750" dirty="0">
                <a:solidFill>
                  <a:srgbClr val="C2340E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X</a:t>
            </a:r>
            <a:endParaRPr lang="en-US" sz="750" dirty="0"/>
          </a:p>
        </p:txBody>
      </p:sp>
      <p:sp>
        <p:nvSpPr>
          <p:cNvPr id="11" name="Text 8"/>
          <p:cNvSpPr/>
          <p:nvPr/>
        </p:nvSpPr>
        <p:spPr>
          <a:xfrm>
            <a:off x="762000" y="4927600"/>
            <a:ext cx="4826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50" dirty="0">
                <a:solidFill>
                  <a:srgbClr val="1D1E21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Clear space on every side = X, the height of the letter T.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762000" y="5334000"/>
            <a:ext cx="4826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00" dirty="0">
                <a:solidFill>
                  <a:srgbClr val="1D1E21"/>
                </a:solidFill>
                <a:latin typeface="Wix Madefor Text SemiBold" pitchFamily="34" charset="0"/>
                <a:ea typeface="Wix Madefor Text SemiBold" pitchFamily="34" charset="-122"/>
                <a:cs typeface="Wix Madefor Text SemiBold" pitchFamily="34" charset="-120"/>
              </a:rPr>
              <a:t>Minimum size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762000" y="5575300"/>
            <a:ext cx="4826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50" dirty="0">
                <a:solidFill>
                  <a:srgbClr val="5E6166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Full logo 120 px on screen, 30 mm in print. Mark alone 20 px, 6 mm.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6350000" y="2857500"/>
            <a:ext cx="7620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00" kern="0" spc="144" dirty="0">
                <a:solidFill>
                  <a:srgbClr val="C2340E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DON’T</a:t>
            </a:r>
            <a:endParaRPr lang="en-US" sz="800" dirty="0"/>
          </a:p>
        </p:txBody>
      </p:sp>
      <p:sp>
        <p:nvSpPr>
          <p:cNvPr id="15" name="Shape 12"/>
          <p:cNvSpPr/>
          <p:nvPr/>
        </p:nvSpPr>
        <p:spPr>
          <a:xfrm>
            <a:off x="6350000" y="3111500"/>
            <a:ext cx="241300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ADB"/>
            </a:solidFill>
            <a:prstDash val="solid"/>
          </a:ln>
        </p:spPr>
      </p:sp>
      <p:pic>
        <p:nvPicPr>
          <p:cNvPr id="16" name="Image 1" descr="C:/Claude-Projects/Projects/TekRevol/01-brand-system/deck-v6/art/logo-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0500" y="3581400"/>
            <a:ext cx="2032000" cy="15367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6350000" y="4330700"/>
            <a:ext cx="2413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50" dirty="0">
                <a:solidFill>
                  <a:srgbClr val="5E6166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Stretch or distort</a:t>
            </a:r>
            <a:endParaRPr lang="en-US" sz="850" dirty="0"/>
          </a:p>
        </p:txBody>
      </p:sp>
      <p:sp>
        <p:nvSpPr>
          <p:cNvPr id="18" name="Shape 14"/>
          <p:cNvSpPr/>
          <p:nvPr/>
        </p:nvSpPr>
        <p:spPr>
          <a:xfrm>
            <a:off x="8953500" y="3111500"/>
            <a:ext cx="241300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ADB"/>
            </a:solidFill>
            <a:prstDash val="solid"/>
          </a:ln>
        </p:spPr>
      </p:sp>
      <p:pic>
        <p:nvPicPr>
          <p:cNvPr id="19" name="Image 2" descr="C:/Claude-Projects/Projects/TekRevol/01-brand-system/deck-v6/art/logo-blu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07500" y="3543300"/>
            <a:ext cx="1905000" cy="27940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8953500" y="4330700"/>
            <a:ext cx="2413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50" dirty="0">
                <a:solidFill>
                  <a:srgbClr val="5E6166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Recolor</a:t>
            </a:r>
            <a:endParaRPr lang="en-US" sz="850" dirty="0"/>
          </a:p>
        </p:txBody>
      </p:sp>
      <p:sp>
        <p:nvSpPr>
          <p:cNvPr id="21" name="Shape 16"/>
          <p:cNvSpPr/>
          <p:nvPr/>
        </p:nvSpPr>
        <p:spPr>
          <a:xfrm>
            <a:off x="6350000" y="4699000"/>
            <a:ext cx="2413000" cy="1143000"/>
          </a:xfrm>
          <a:prstGeom prst="rect">
            <a:avLst/>
          </a:prstGeom>
          <a:solidFill>
            <a:srgbClr val="FF4A1C"/>
          </a:solidFill>
          <a:ln w="9525">
            <a:solidFill>
              <a:srgbClr val="D9DADB"/>
            </a:solidFill>
            <a:prstDash val="solid"/>
          </a:ln>
        </p:spPr>
      </p:sp>
      <p:pic>
        <p:nvPicPr>
          <p:cNvPr id="22" name="Image 3" descr="C:/Claude-Projects/Projects/TekRevol/01-brand-system/deck-v6/art/logo-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4000" y="5130800"/>
            <a:ext cx="1905000" cy="27940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6350000" y="5918200"/>
            <a:ext cx="2413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50" dirty="0">
                <a:solidFill>
                  <a:srgbClr val="5E6166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Use full color on orange</a:t>
            </a:r>
            <a:endParaRPr lang="en-US" sz="850" dirty="0"/>
          </a:p>
        </p:txBody>
      </p:sp>
      <p:sp>
        <p:nvSpPr>
          <p:cNvPr id="24" name="Shape 18"/>
          <p:cNvSpPr/>
          <p:nvPr/>
        </p:nvSpPr>
        <p:spPr>
          <a:xfrm>
            <a:off x="8953500" y="4699000"/>
            <a:ext cx="241300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ADB"/>
            </a:solidFill>
            <a:prstDash val="solid"/>
          </a:ln>
        </p:spPr>
      </p:sp>
      <p:pic>
        <p:nvPicPr>
          <p:cNvPr id="25" name="Image 4" descr="C:/Claude-Projects/Projects/TekRevol/01-brand-system/deck-v6/art/logo-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07500" y="5130800"/>
            <a:ext cx="1905000" cy="279400"/>
          </a:xfrm>
          <a:prstGeom prst="rect">
            <a:avLst/>
          </a:prstGeom>
          <a:effectLst>
            <a:outerShdw blurRad="101600" dist="76200" dir="27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26" name="Text 19"/>
          <p:cNvSpPr/>
          <p:nvPr/>
        </p:nvSpPr>
        <p:spPr>
          <a:xfrm>
            <a:off x="8953500" y="5918200"/>
            <a:ext cx="2413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50" dirty="0">
                <a:solidFill>
                  <a:srgbClr val="5E6166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Add shadows or effects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33400"/>
            <a:ext cx="7620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700" kern="0" spc="126" dirty="0">
                <a:solidFill>
                  <a:srgbClr val="8A9097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COLOR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762000" y="6350000"/>
            <a:ext cx="3810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750" dirty="0">
                <a:solidFill>
                  <a:srgbClr val="8A9097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TekRevol Brand Guidelines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10160000" y="6350000"/>
            <a:ext cx="1270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15000"/>
              </a:lnSpc>
              <a:buNone/>
            </a:pPr>
            <a:r>
              <a:rPr lang="en-US" sz="750" dirty="0">
                <a:solidFill>
                  <a:srgbClr val="8A9097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11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762000" y="1587500"/>
            <a:ext cx="7620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00" kern="0" spc="144" dirty="0">
                <a:solidFill>
                  <a:srgbClr val="C2340E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CORE PALETTE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36600" y="1905000"/>
            <a:ext cx="10160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3800" b="1" kern="0" spc="-91" dirty="0">
                <a:solidFill>
                  <a:srgbClr val="1D1E2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Orange leads. Cyan answers.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762000" y="2794000"/>
            <a:ext cx="2571750" cy="1905000"/>
          </a:xfrm>
          <a:prstGeom prst="rect">
            <a:avLst/>
          </a:prstGeom>
          <a:solidFill>
            <a:srgbClr val="FF4A1C"/>
          </a:solidFill>
          <a:ln/>
        </p:spPr>
      </p:sp>
      <p:sp>
        <p:nvSpPr>
          <p:cNvPr id="8" name="Text 6"/>
          <p:cNvSpPr/>
          <p:nvPr/>
        </p:nvSpPr>
        <p:spPr>
          <a:xfrm>
            <a:off x="939800" y="2984500"/>
            <a:ext cx="221615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500" dirty="0">
                <a:solidFill>
                  <a:srgbClr val="1D1E21"/>
                </a:solidFill>
                <a:latin typeface="Funnel Display SemiBold" pitchFamily="34" charset="0"/>
                <a:ea typeface="Funnel Display SemiBold" pitchFamily="34" charset="-122"/>
                <a:cs typeface="Funnel Display SemiBold" pitchFamily="34" charset="-120"/>
              </a:rPr>
              <a:t>TekRevol Orange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39800" y="4381500"/>
            <a:ext cx="221615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750" dirty="0">
                <a:solidFill>
                  <a:srgbClr val="1D1E21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#FF4A1C   RGB 255 74 28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762000" y="4800600"/>
            <a:ext cx="257175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50" dirty="0">
                <a:solidFill>
                  <a:srgbClr val="5E6166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Primary accent: CTAs, the highlight, what ships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460750" y="2794000"/>
            <a:ext cx="2571750" cy="1905000"/>
          </a:xfrm>
          <a:prstGeom prst="rect">
            <a:avLst/>
          </a:prstGeom>
          <a:solidFill>
            <a:srgbClr val="3EC5D1"/>
          </a:solidFill>
          <a:ln/>
        </p:spPr>
      </p:sp>
      <p:sp>
        <p:nvSpPr>
          <p:cNvPr id="12" name="Text 10"/>
          <p:cNvSpPr/>
          <p:nvPr/>
        </p:nvSpPr>
        <p:spPr>
          <a:xfrm>
            <a:off x="3638550" y="2984500"/>
            <a:ext cx="221615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500" dirty="0">
                <a:solidFill>
                  <a:srgbClr val="1D1E21"/>
                </a:solidFill>
                <a:latin typeface="Funnel Display SemiBold" pitchFamily="34" charset="0"/>
                <a:ea typeface="Funnel Display SemiBold" pitchFamily="34" charset="-122"/>
                <a:cs typeface="Funnel Display SemiBold" pitchFamily="34" charset="-120"/>
              </a:rPr>
              <a:t>Ice Cyan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638550" y="4381500"/>
            <a:ext cx="221615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750" dirty="0">
                <a:solidFill>
                  <a:srgbClr val="1D1E21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#3EC5D1   RGB 62 197 209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3460750" y="4800600"/>
            <a:ext cx="257175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50" dirty="0">
                <a:solidFill>
                  <a:srgbClr val="5E6166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Complement: experiments, AI signals, data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6159500" y="2794000"/>
            <a:ext cx="2571750" cy="1905000"/>
          </a:xfrm>
          <a:prstGeom prst="rect">
            <a:avLst/>
          </a:prstGeom>
          <a:solidFill>
            <a:srgbClr val="1D1E21"/>
          </a:solidFill>
          <a:ln/>
        </p:spPr>
      </p:sp>
      <p:sp>
        <p:nvSpPr>
          <p:cNvPr id="16" name="Text 14"/>
          <p:cNvSpPr/>
          <p:nvPr/>
        </p:nvSpPr>
        <p:spPr>
          <a:xfrm>
            <a:off x="6337300" y="2984500"/>
            <a:ext cx="221615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Funnel Display SemiBold" pitchFamily="34" charset="0"/>
                <a:ea typeface="Funnel Display SemiBold" pitchFamily="34" charset="-122"/>
                <a:cs typeface="Funnel Display SemiBold" pitchFamily="34" charset="-120"/>
              </a:rPr>
              <a:t>Charcoal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337300" y="4381500"/>
            <a:ext cx="221615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#1D1E21   RGB 29 30 33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6159500" y="4800600"/>
            <a:ext cx="257175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50" dirty="0">
                <a:solidFill>
                  <a:srgbClr val="5E6166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Headlines, body text, dark sections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8858250" y="2794000"/>
            <a:ext cx="2571750" cy="19050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AD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036050" y="2984500"/>
            <a:ext cx="221615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500" dirty="0">
                <a:solidFill>
                  <a:srgbClr val="1D1E21"/>
                </a:solidFill>
                <a:latin typeface="Funnel Display SemiBold" pitchFamily="34" charset="0"/>
                <a:ea typeface="Funnel Display SemiBold" pitchFamily="34" charset="-122"/>
                <a:cs typeface="Funnel Display SemiBold" pitchFamily="34" charset="-120"/>
              </a:rPr>
              <a:t>White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9036050" y="4381500"/>
            <a:ext cx="221615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750" dirty="0">
                <a:solidFill>
                  <a:srgbClr val="1D1E21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#FFFFFF   RGB 255 255 255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8858250" y="4800600"/>
            <a:ext cx="257175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50" dirty="0">
                <a:solidFill>
                  <a:srgbClr val="5E6166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Primary background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762000" y="5270500"/>
            <a:ext cx="1428750" cy="762000"/>
          </a:xfrm>
          <a:prstGeom prst="rect">
            <a:avLst/>
          </a:prstGeom>
          <a:solidFill>
            <a:srgbClr val="EEEFEF"/>
          </a:solidFill>
          <a:ln/>
        </p:spPr>
      </p:sp>
      <p:sp>
        <p:nvSpPr>
          <p:cNvPr id="24" name="Text 22"/>
          <p:cNvSpPr/>
          <p:nvPr/>
        </p:nvSpPr>
        <p:spPr>
          <a:xfrm>
            <a:off x="876300" y="5397500"/>
            <a:ext cx="12065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00" dirty="0">
                <a:solidFill>
                  <a:srgbClr val="1D1E21"/>
                </a:solidFill>
                <a:latin typeface="Wix Madefor Text SemiBold" pitchFamily="34" charset="0"/>
                <a:ea typeface="Wix Madefor Text SemiBold" pitchFamily="34" charset="-122"/>
                <a:cs typeface="Wix Madefor Text SemiBold" pitchFamily="34" charset="-120"/>
              </a:rPr>
              <a:t>Mist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76300" y="5803900"/>
            <a:ext cx="12065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700" dirty="0">
                <a:solidFill>
                  <a:srgbClr val="1D1E21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#EEEFEF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2286000" y="5270500"/>
            <a:ext cx="1428750" cy="762000"/>
          </a:xfrm>
          <a:prstGeom prst="rect">
            <a:avLst/>
          </a:prstGeom>
          <a:solidFill>
            <a:srgbClr val="C9CCCF"/>
          </a:solidFill>
          <a:ln/>
        </p:spPr>
      </p:sp>
      <p:sp>
        <p:nvSpPr>
          <p:cNvPr id="27" name="Text 25"/>
          <p:cNvSpPr/>
          <p:nvPr/>
        </p:nvSpPr>
        <p:spPr>
          <a:xfrm>
            <a:off x="2400300" y="5397500"/>
            <a:ext cx="12065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00" dirty="0">
                <a:solidFill>
                  <a:srgbClr val="1D1E21"/>
                </a:solidFill>
                <a:latin typeface="Wix Madefor Text SemiBold" pitchFamily="34" charset="0"/>
                <a:ea typeface="Wix Madefor Text SemiBold" pitchFamily="34" charset="-122"/>
                <a:cs typeface="Wix Madefor Text SemiBold" pitchFamily="34" charset="-120"/>
              </a:rPr>
              <a:t>Silver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2400300" y="5803900"/>
            <a:ext cx="12065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700" dirty="0">
                <a:solidFill>
                  <a:srgbClr val="1D1E21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#C9CCCF</a:t>
            </a:r>
            <a:endParaRPr lang="en-US" sz="700" dirty="0"/>
          </a:p>
        </p:txBody>
      </p:sp>
      <p:sp>
        <p:nvSpPr>
          <p:cNvPr id="29" name="Shape 27"/>
          <p:cNvSpPr/>
          <p:nvPr/>
        </p:nvSpPr>
        <p:spPr>
          <a:xfrm>
            <a:off x="3810000" y="5270500"/>
            <a:ext cx="1428750" cy="762000"/>
          </a:xfrm>
          <a:prstGeom prst="rect">
            <a:avLst/>
          </a:prstGeom>
          <a:solidFill>
            <a:srgbClr val="8A9097"/>
          </a:solidFill>
          <a:ln/>
        </p:spPr>
      </p:sp>
      <p:sp>
        <p:nvSpPr>
          <p:cNvPr id="30" name="Text 28"/>
          <p:cNvSpPr/>
          <p:nvPr/>
        </p:nvSpPr>
        <p:spPr>
          <a:xfrm>
            <a:off x="3924300" y="5397500"/>
            <a:ext cx="12065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00" dirty="0">
                <a:solidFill>
                  <a:srgbClr val="1D1E21"/>
                </a:solidFill>
                <a:latin typeface="Wix Madefor Text SemiBold" pitchFamily="34" charset="0"/>
                <a:ea typeface="Wix Madefor Text SemiBold" pitchFamily="34" charset="-122"/>
                <a:cs typeface="Wix Madefor Text SemiBold" pitchFamily="34" charset="-120"/>
              </a:rPr>
              <a:t>Steel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3924300" y="5803900"/>
            <a:ext cx="12065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700" dirty="0">
                <a:solidFill>
                  <a:srgbClr val="1D1E21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#8A9097</a:t>
            </a:r>
            <a:endParaRPr lang="en-US" sz="700" dirty="0"/>
          </a:p>
        </p:txBody>
      </p:sp>
      <p:sp>
        <p:nvSpPr>
          <p:cNvPr id="32" name="Shape 30"/>
          <p:cNvSpPr/>
          <p:nvPr/>
        </p:nvSpPr>
        <p:spPr>
          <a:xfrm>
            <a:off x="5334000" y="5270500"/>
            <a:ext cx="1428750" cy="762000"/>
          </a:xfrm>
          <a:prstGeom prst="rect">
            <a:avLst/>
          </a:prstGeom>
          <a:solidFill>
            <a:srgbClr val="5E6166"/>
          </a:solidFill>
          <a:ln/>
        </p:spPr>
      </p:sp>
      <p:sp>
        <p:nvSpPr>
          <p:cNvPr id="33" name="Text 31"/>
          <p:cNvSpPr/>
          <p:nvPr/>
        </p:nvSpPr>
        <p:spPr>
          <a:xfrm>
            <a:off x="5448300" y="5397500"/>
            <a:ext cx="12065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Wix Madefor Text SemiBold" pitchFamily="34" charset="0"/>
                <a:ea typeface="Wix Madefor Text SemiBold" pitchFamily="34" charset="-122"/>
                <a:cs typeface="Wix Madefor Text SemiBold" pitchFamily="34" charset="-120"/>
              </a:rPr>
              <a:t>Muted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448300" y="5803900"/>
            <a:ext cx="12065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700" dirty="0">
                <a:solidFill>
                  <a:srgbClr val="FFFFFF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#5E6166</a:t>
            </a:r>
            <a:endParaRPr lang="en-US" sz="700" dirty="0"/>
          </a:p>
        </p:txBody>
      </p:sp>
      <p:sp>
        <p:nvSpPr>
          <p:cNvPr id="35" name="Shape 33"/>
          <p:cNvSpPr/>
          <p:nvPr/>
        </p:nvSpPr>
        <p:spPr>
          <a:xfrm>
            <a:off x="6858000" y="5270500"/>
            <a:ext cx="1428750" cy="762000"/>
          </a:xfrm>
          <a:prstGeom prst="rect">
            <a:avLst/>
          </a:prstGeom>
          <a:solidFill>
            <a:srgbClr val="FF7A45"/>
          </a:solidFill>
          <a:ln/>
        </p:spPr>
      </p:sp>
      <p:sp>
        <p:nvSpPr>
          <p:cNvPr id="36" name="Text 34"/>
          <p:cNvSpPr/>
          <p:nvPr/>
        </p:nvSpPr>
        <p:spPr>
          <a:xfrm>
            <a:off x="6972300" y="5397500"/>
            <a:ext cx="12065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00" dirty="0">
                <a:solidFill>
                  <a:srgbClr val="1D1E21"/>
                </a:solidFill>
                <a:latin typeface="Wix Madefor Text SemiBold" pitchFamily="34" charset="0"/>
                <a:ea typeface="Wix Madefor Text SemiBold" pitchFamily="34" charset="-122"/>
                <a:cs typeface="Wix Madefor Text SemiBold" pitchFamily="34" charset="-120"/>
              </a:rPr>
              <a:t>Flare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972300" y="5803900"/>
            <a:ext cx="12065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700" dirty="0">
                <a:solidFill>
                  <a:srgbClr val="1D1E21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#FF7A45</a:t>
            </a:r>
            <a:endParaRPr lang="en-US" sz="700" dirty="0"/>
          </a:p>
        </p:txBody>
      </p:sp>
      <p:sp>
        <p:nvSpPr>
          <p:cNvPr id="38" name="Shape 36"/>
          <p:cNvSpPr/>
          <p:nvPr/>
        </p:nvSpPr>
        <p:spPr>
          <a:xfrm>
            <a:off x="8382000" y="5270500"/>
            <a:ext cx="1428750" cy="762000"/>
          </a:xfrm>
          <a:prstGeom prst="rect">
            <a:avLst/>
          </a:prstGeom>
          <a:solidFill>
            <a:srgbClr val="D93A12"/>
          </a:solidFill>
          <a:ln/>
        </p:spPr>
      </p:sp>
      <p:sp>
        <p:nvSpPr>
          <p:cNvPr id="39" name="Text 37"/>
          <p:cNvSpPr/>
          <p:nvPr/>
        </p:nvSpPr>
        <p:spPr>
          <a:xfrm>
            <a:off x="8496300" y="5397500"/>
            <a:ext cx="12065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Wix Madefor Text SemiBold" pitchFamily="34" charset="0"/>
                <a:ea typeface="Wix Madefor Text SemiBold" pitchFamily="34" charset="-122"/>
                <a:cs typeface="Wix Madefor Text SemiBold" pitchFamily="34" charset="-120"/>
              </a:rPr>
              <a:t>Ember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8496300" y="5803900"/>
            <a:ext cx="12065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700" dirty="0">
                <a:solidFill>
                  <a:srgbClr val="FFFFFF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#D93A12</a:t>
            </a:r>
            <a:endParaRPr lang="en-US" sz="700" dirty="0"/>
          </a:p>
        </p:txBody>
      </p:sp>
      <p:sp>
        <p:nvSpPr>
          <p:cNvPr id="41" name="Shape 39"/>
          <p:cNvSpPr/>
          <p:nvPr/>
        </p:nvSpPr>
        <p:spPr>
          <a:xfrm>
            <a:off x="9906000" y="5270500"/>
            <a:ext cx="1428750" cy="762000"/>
          </a:xfrm>
          <a:prstGeom prst="rect">
            <a:avLst/>
          </a:prstGeom>
          <a:solidFill>
            <a:srgbClr val="C2340E"/>
          </a:solidFill>
          <a:ln/>
        </p:spPr>
      </p:sp>
      <p:sp>
        <p:nvSpPr>
          <p:cNvPr id="42" name="Text 40"/>
          <p:cNvSpPr/>
          <p:nvPr/>
        </p:nvSpPr>
        <p:spPr>
          <a:xfrm>
            <a:off x="10020300" y="5397500"/>
            <a:ext cx="12065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Wix Madefor Text SemiBold" pitchFamily="34" charset="0"/>
                <a:ea typeface="Wix Madefor Text SemiBold" pitchFamily="34" charset="-122"/>
                <a:cs typeface="Wix Madefor Text SemiBold" pitchFamily="34" charset="-120"/>
              </a:rPr>
              <a:t>Orange Ink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10020300" y="5803900"/>
            <a:ext cx="12065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700" dirty="0">
                <a:solidFill>
                  <a:srgbClr val="FFFFFF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#C2340E</a:t>
            </a:r>
            <a:endParaRPr lang="en-US" sz="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33400"/>
            <a:ext cx="7620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700" kern="0" spc="126" dirty="0">
                <a:solidFill>
                  <a:srgbClr val="8A9097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COLOR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762000" y="6350000"/>
            <a:ext cx="3810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750" dirty="0">
                <a:solidFill>
                  <a:srgbClr val="8A9097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TekRevol Brand Guidelines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10160000" y="6350000"/>
            <a:ext cx="1270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15000"/>
              </a:lnSpc>
              <a:buNone/>
            </a:pPr>
            <a:r>
              <a:rPr lang="en-US" sz="750" dirty="0">
                <a:solidFill>
                  <a:srgbClr val="8A9097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12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762000" y="1587500"/>
            <a:ext cx="7620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00" kern="0" spc="144" dirty="0">
                <a:solidFill>
                  <a:srgbClr val="C2340E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WHY ORANGE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36600" y="1905000"/>
            <a:ext cx="10160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3800" b="1" kern="0" spc="-91" dirty="0">
                <a:solidFill>
                  <a:srgbClr val="1D1E2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Out of the blue wall,</a:t>
            </a:r>
            <a:endParaRPr lang="en-US" sz="3800" dirty="0"/>
          </a:p>
          <a:p>
            <a:pPr marL="0" indent="0" algn="l">
              <a:lnSpc>
                <a:spcPct val="98000"/>
              </a:lnSpc>
              <a:buNone/>
            </a:pPr>
            <a:r>
              <a:rPr lang="en-US" sz="3800" b="1" kern="0" spc="-91" dirty="0">
                <a:solidFill>
                  <a:srgbClr val="1D1E2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with a partner color.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762000" y="3556000"/>
            <a:ext cx="1333500" cy="1397000"/>
          </a:xfrm>
          <a:prstGeom prst="rect">
            <a:avLst/>
          </a:prstGeom>
          <a:solidFill>
            <a:srgbClr val="1B54F8"/>
          </a:solidFill>
          <a:ln/>
        </p:spPr>
      </p:sp>
      <p:sp>
        <p:nvSpPr>
          <p:cNvPr id="8" name="Text 6"/>
          <p:cNvSpPr/>
          <p:nvPr/>
        </p:nvSpPr>
        <p:spPr>
          <a:xfrm>
            <a:off x="762000" y="5054600"/>
            <a:ext cx="13335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50" dirty="0">
                <a:solidFill>
                  <a:srgbClr val="5E6166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LeewayHertz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222500" y="3556000"/>
            <a:ext cx="1333500" cy="1397000"/>
          </a:xfrm>
          <a:prstGeom prst="rect">
            <a:avLst/>
          </a:prstGeom>
          <a:solidFill>
            <a:srgbClr val="0000FF"/>
          </a:solidFill>
          <a:ln/>
        </p:spPr>
      </p:sp>
      <p:sp>
        <p:nvSpPr>
          <p:cNvPr id="10" name="Text 8"/>
          <p:cNvSpPr/>
          <p:nvPr/>
        </p:nvSpPr>
        <p:spPr>
          <a:xfrm>
            <a:off x="2222500" y="5054600"/>
            <a:ext cx="13335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50" dirty="0">
                <a:solidFill>
                  <a:srgbClr val="5E6166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Azumo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683000" y="3556000"/>
            <a:ext cx="1333500" cy="1397000"/>
          </a:xfrm>
          <a:prstGeom prst="rect">
            <a:avLst/>
          </a:prstGeom>
          <a:solidFill>
            <a:srgbClr val="005EB8"/>
          </a:solidFill>
          <a:ln/>
        </p:spPr>
      </p:sp>
      <p:sp>
        <p:nvSpPr>
          <p:cNvPr id="12" name="Text 10"/>
          <p:cNvSpPr/>
          <p:nvPr/>
        </p:nvSpPr>
        <p:spPr>
          <a:xfrm>
            <a:off x="3683000" y="5054600"/>
            <a:ext cx="13335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50" dirty="0">
                <a:solidFill>
                  <a:srgbClr val="5E6166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ScienceSoft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5143500" y="3556000"/>
            <a:ext cx="1333500" cy="1397000"/>
          </a:xfrm>
          <a:prstGeom prst="rect">
            <a:avLst/>
          </a:prstGeom>
          <a:solidFill>
            <a:srgbClr val="0227E9"/>
          </a:solidFill>
          <a:ln/>
        </p:spPr>
      </p:sp>
      <p:sp>
        <p:nvSpPr>
          <p:cNvPr id="14" name="Text 12"/>
          <p:cNvSpPr/>
          <p:nvPr/>
        </p:nvSpPr>
        <p:spPr>
          <a:xfrm>
            <a:off x="5143500" y="5054600"/>
            <a:ext cx="13335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50" dirty="0">
                <a:solidFill>
                  <a:srgbClr val="5E6166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Cheesecake Labs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6604000" y="3556000"/>
            <a:ext cx="1333500" cy="1397000"/>
          </a:xfrm>
          <a:prstGeom prst="rect">
            <a:avLst/>
          </a:prstGeom>
          <a:solidFill>
            <a:srgbClr val="3ABDBC"/>
          </a:solidFill>
          <a:ln/>
        </p:spPr>
      </p:sp>
      <p:sp>
        <p:nvSpPr>
          <p:cNvPr id="16" name="Text 14"/>
          <p:cNvSpPr/>
          <p:nvPr/>
        </p:nvSpPr>
        <p:spPr>
          <a:xfrm>
            <a:off x="6604000" y="5054600"/>
            <a:ext cx="13335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50" dirty="0">
                <a:solidFill>
                  <a:srgbClr val="5E6166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HatchWorks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8382000" y="3302000"/>
            <a:ext cx="1905000" cy="1905000"/>
          </a:xfrm>
          <a:prstGeom prst="rect">
            <a:avLst/>
          </a:prstGeom>
          <a:solidFill>
            <a:srgbClr val="FF4A1C"/>
          </a:solidFill>
          <a:ln/>
        </p:spPr>
      </p:sp>
      <p:sp>
        <p:nvSpPr>
          <p:cNvPr id="18" name="Shape 16"/>
          <p:cNvSpPr/>
          <p:nvPr/>
        </p:nvSpPr>
        <p:spPr>
          <a:xfrm>
            <a:off x="10287000" y="3302000"/>
            <a:ext cx="1143000" cy="1905000"/>
          </a:xfrm>
          <a:prstGeom prst="rect">
            <a:avLst/>
          </a:prstGeom>
          <a:solidFill>
            <a:srgbClr val="3EC5D1"/>
          </a:solidFill>
          <a:ln/>
        </p:spPr>
      </p:sp>
      <p:sp>
        <p:nvSpPr>
          <p:cNvPr id="19" name="Text 17"/>
          <p:cNvSpPr/>
          <p:nvPr/>
        </p:nvSpPr>
        <p:spPr>
          <a:xfrm>
            <a:off x="8509000" y="4826000"/>
            <a:ext cx="16510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00" dirty="0">
                <a:solidFill>
                  <a:srgbClr val="1D1E21"/>
                </a:solidFill>
                <a:latin typeface="Wix Madefor Text SemiBold" pitchFamily="34" charset="0"/>
                <a:ea typeface="Wix Madefor Text SemiBold" pitchFamily="34" charset="-122"/>
                <a:cs typeface="Wix Madefor Text SemiBold" pitchFamily="34" charset="-120"/>
              </a:rPr>
              <a:t>TekRevol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0414000" y="4826000"/>
            <a:ext cx="9525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00" dirty="0">
                <a:solidFill>
                  <a:srgbClr val="1D1E21"/>
                </a:solidFill>
                <a:latin typeface="Wix Madefor Text SemiBold" pitchFamily="34" charset="0"/>
                <a:ea typeface="Wix Madefor Text SemiBold" pitchFamily="34" charset="-122"/>
                <a:cs typeface="Wix Madefor Text SemiBold" pitchFamily="34" charset="-120"/>
              </a:rPr>
              <a:t>Ice Cyan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8382000" y="5334000"/>
            <a:ext cx="3048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850" dirty="0">
                <a:solidFill>
                  <a:srgbClr val="5E6166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Cyan only appears beside orange, never alone, so it reads as TekRevol, not as one more category blue.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33400"/>
            <a:ext cx="7620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700" kern="0" spc="126" dirty="0">
                <a:solidFill>
                  <a:srgbClr val="8A9097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COLOR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762000" y="6350000"/>
            <a:ext cx="3810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750" dirty="0">
                <a:solidFill>
                  <a:srgbClr val="8A9097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TekRevol Brand Guidelines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10160000" y="6350000"/>
            <a:ext cx="1270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15000"/>
              </a:lnSpc>
              <a:buNone/>
            </a:pPr>
            <a:r>
              <a:rPr lang="en-US" sz="750" dirty="0">
                <a:solidFill>
                  <a:srgbClr val="8A9097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13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762000" y="1587500"/>
            <a:ext cx="7620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00" kern="0" spc="144" dirty="0">
                <a:solidFill>
                  <a:srgbClr val="C2340E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PROPORTION AND DARK MODE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36600" y="1905000"/>
            <a:ext cx="9525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3800" b="1" kern="0" spc="-91" dirty="0">
                <a:solidFill>
                  <a:srgbClr val="1D1E2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How much of each.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762000" y="2794000"/>
            <a:ext cx="5867400" cy="6985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AD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0900" y="2794000"/>
            <a:ext cx="57404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00" dirty="0">
                <a:solidFill>
                  <a:srgbClr val="1D1E21"/>
                </a:solidFill>
                <a:latin typeface="Wix Madefor Text SemiBold" pitchFamily="34" charset="0"/>
                <a:ea typeface="Wix Madefor Text SemiBold" pitchFamily="34" charset="-122"/>
                <a:cs typeface="Wix Madefor Text SemiBold" pitchFamily="34" charset="-120"/>
              </a:rPr>
              <a:t>White and mist 55%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629400" y="2794000"/>
            <a:ext cx="2453640" cy="698500"/>
          </a:xfrm>
          <a:prstGeom prst="rect">
            <a:avLst/>
          </a:prstGeom>
          <a:solidFill>
            <a:srgbClr val="1D1E21"/>
          </a:solidFill>
          <a:ln/>
        </p:spPr>
      </p:sp>
      <p:sp>
        <p:nvSpPr>
          <p:cNvPr id="10" name="Text 8"/>
          <p:cNvSpPr/>
          <p:nvPr/>
        </p:nvSpPr>
        <p:spPr>
          <a:xfrm>
            <a:off x="6718300" y="2794000"/>
            <a:ext cx="232664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Wix Madefor Text SemiBold" pitchFamily="34" charset="0"/>
                <a:ea typeface="Wix Madefor Text SemiBold" pitchFamily="34" charset="-122"/>
                <a:cs typeface="Wix Madefor Text SemiBold" pitchFamily="34" charset="-120"/>
              </a:rPr>
              <a:t>Charcoal 23%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9083040" y="2794000"/>
            <a:ext cx="1280160" cy="698500"/>
          </a:xfrm>
          <a:prstGeom prst="rect">
            <a:avLst/>
          </a:prstGeom>
          <a:solidFill>
            <a:srgbClr val="FF4A1C"/>
          </a:solidFill>
          <a:ln/>
        </p:spPr>
      </p:sp>
      <p:sp>
        <p:nvSpPr>
          <p:cNvPr id="12" name="Text 10"/>
          <p:cNvSpPr/>
          <p:nvPr/>
        </p:nvSpPr>
        <p:spPr>
          <a:xfrm>
            <a:off x="9171940" y="2794000"/>
            <a:ext cx="115316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00" dirty="0">
                <a:solidFill>
                  <a:srgbClr val="1D1E21"/>
                </a:solidFill>
                <a:latin typeface="Wix Madefor Text SemiBold" pitchFamily="34" charset="0"/>
                <a:ea typeface="Wix Madefor Text SemiBold" pitchFamily="34" charset="-122"/>
                <a:cs typeface="Wix Madefor Text SemiBold" pitchFamily="34" charset="-120"/>
              </a:rPr>
              <a:t>Orange 12%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10363200" y="2794000"/>
            <a:ext cx="533400" cy="698500"/>
          </a:xfrm>
          <a:prstGeom prst="rect">
            <a:avLst/>
          </a:prstGeom>
          <a:solidFill>
            <a:srgbClr val="3EC5D1"/>
          </a:solidFill>
          <a:ln/>
        </p:spPr>
      </p:sp>
      <p:sp>
        <p:nvSpPr>
          <p:cNvPr id="14" name="Text 12"/>
          <p:cNvSpPr/>
          <p:nvPr/>
        </p:nvSpPr>
        <p:spPr>
          <a:xfrm>
            <a:off x="10452100" y="2794000"/>
            <a:ext cx="4064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650" dirty="0">
                <a:solidFill>
                  <a:srgbClr val="1D1E21"/>
                </a:solidFill>
                <a:latin typeface="Wix Madefor Text SemiBold" pitchFamily="34" charset="0"/>
                <a:ea typeface="Wix Madefor Text SemiBold" pitchFamily="34" charset="-122"/>
                <a:cs typeface="Wix Madefor Text SemiBold" pitchFamily="34" charset="-120"/>
              </a:rPr>
              <a:t>Cyan 5%</a:t>
            </a:r>
            <a:endParaRPr lang="en-US" sz="650" dirty="0"/>
          </a:p>
        </p:txBody>
      </p:sp>
      <p:sp>
        <p:nvSpPr>
          <p:cNvPr id="15" name="Shape 13"/>
          <p:cNvSpPr/>
          <p:nvPr/>
        </p:nvSpPr>
        <p:spPr>
          <a:xfrm>
            <a:off x="10896600" y="2794000"/>
            <a:ext cx="533400" cy="698500"/>
          </a:xfrm>
          <a:prstGeom prst="rect">
            <a:avLst/>
          </a:prstGeom>
          <a:solidFill>
            <a:srgbClr val="C9CCCF"/>
          </a:solidFill>
          <a:ln/>
        </p:spPr>
      </p:sp>
      <p:sp>
        <p:nvSpPr>
          <p:cNvPr id="16" name="Text 14"/>
          <p:cNvSpPr/>
          <p:nvPr/>
        </p:nvSpPr>
        <p:spPr>
          <a:xfrm>
            <a:off x="10985500" y="2794000"/>
            <a:ext cx="4064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650" dirty="0">
                <a:solidFill>
                  <a:srgbClr val="1D1E21"/>
                </a:solidFill>
                <a:latin typeface="Wix Madefor Text SemiBold" pitchFamily="34" charset="0"/>
                <a:ea typeface="Wix Madefor Text SemiBold" pitchFamily="34" charset="-122"/>
                <a:cs typeface="Wix Madefor Text SemiBold" pitchFamily="34" charset="-120"/>
              </a:rPr>
              <a:t>Metal 5%</a:t>
            </a:r>
            <a:endParaRPr lang="en-US" sz="650" dirty="0"/>
          </a:p>
        </p:txBody>
      </p:sp>
      <p:sp>
        <p:nvSpPr>
          <p:cNvPr id="17" name="Text 15"/>
          <p:cNvSpPr/>
          <p:nvPr/>
        </p:nvSpPr>
        <p:spPr>
          <a:xfrm>
            <a:off x="762000" y="3632200"/>
            <a:ext cx="10668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950" dirty="0">
                <a:solidFill>
                  <a:srgbClr val="5E6166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One orange focal point per view; the primary button is functional and doesn’t count. Cyan stays secondary: diagrams, data and highlights, never buttons.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762000" y="4191000"/>
            <a:ext cx="10668000" cy="1905000"/>
          </a:xfrm>
          <a:prstGeom prst="rect">
            <a:avLst/>
          </a:prstGeom>
          <a:solidFill>
            <a:srgbClr val="131417"/>
          </a:solidFill>
          <a:ln/>
        </p:spPr>
      </p:sp>
      <p:sp>
        <p:nvSpPr>
          <p:cNvPr id="19" name="Shape 17"/>
          <p:cNvSpPr/>
          <p:nvPr/>
        </p:nvSpPr>
        <p:spPr>
          <a:xfrm>
            <a:off x="965200" y="4406900"/>
            <a:ext cx="1905000" cy="762000"/>
          </a:xfrm>
          <a:prstGeom prst="rect">
            <a:avLst/>
          </a:prstGeom>
          <a:solidFill>
            <a:srgbClr val="131417"/>
          </a:solidFill>
          <a:ln w="9525">
            <a:solidFill>
              <a:srgbClr val="3A3D4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65200" y="5270500"/>
            <a:ext cx="1905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Wix Madefor Text SemiBold" pitchFamily="34" charset="0"/>
                <a:ea typeface="Wix Madefor Text SemiBold" pitchFamily="34" charset="-122"/>
                <a:cs typeface="Wix Madefor Text SemiBold" pitchFamily="34" charset="-120"/>
              </a:rPr>
              <a:t>Deep Charcoal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965200" y="5486400"/>
            <a:ext cx="1905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650" dirty="0">
                <a:solidFill>
                  <a:srgbClr val="8B8E94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#131417  ·  Page background</a:t>
            </a:r>
            <a:endParaRPr lang="en-US" sz="650" dirty="0"/>
          </a:p>
        </p:txBody>
      </p:sp>
      <p:sp>
        <p:nvSpPr>
          <p:cNvPr id="22" name="Shape 20"/>
          <p:cNvSpPr/>
          <p:nvPr/>
        </p:nvSpPr>
        <p:spPr>
          <a:xfrm>
            <a:off x="3060700" y="4406900"/>
            <a:ext cx="1905000" cy="762000"/>
          </a:xfrm>
          <a:prstGeom prst="rect">
            <a:avLst/>
          </a:prstGeom>
          <a:solidFill>
            <a:srgbClr val="1A1B1E"/>
          </a:solidFill>
          <a:ln w="9525">
            <a:solidFill>
              <a:srgbClr val="3A3D4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060700" y="5270500"/>
            <a:ext cx="1905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Wix Madefor Text SemiBold" pitchFamily="34" charset="0"/>
                <a:ea typeface="Wix Madefor Text SemiBold" pitchFamily="34" charset="-122"/>
                <a:cs typeface="Wix Madefor Text SemiBold" pitchFamily="34" charset="-120"/>
              </a:rPr>
              <a:t>Dark Surface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060700" y="5486400"/>
            <a:ext cx="1905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650" dirty="0">
                <a:solidFill>
                  <a:srgbClr val="8B8E94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#1A1B1E  ·  Cards, panels</a:t>
            </a:r>
            <a:endParaRPr lang="en-US" sz="650" dirty="0"/>
          </a:p>
        </p:txBody>
      </p:sp>
      <p:sp>
        <p:nvSpPr>
          <p:cNvPr id="25" name="Shape 23"/>
          <p:cNvSpPr/>
          <p:nvPr/>
        </p:nvSpPr>
        <p:spPr>
          <a:xfrm>
            <a:off x="5156200" y="4406900"/>
            <a:ext cx="1905000" cy="762000"/>
          </a:xfrm>
          <a:prstGeom prst="rect">
            <a:avLst/>
          </a:prstGeom>
          <a:solidFill>
            <a:srgbClr val="2A2C30"/>
          </a:solidFill>
          <a:ln w="9525">
            <a:solidFill>
              <a:srgbClr val="3A3D4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156200" y="5270500"/>
            <a:ext cx="1905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Wix Madefor Text SemiBold" pitchFamily="34" charset="0"/>
                <a:ea typeface="Wix Madefor Text SemiBold" pitchFamily="34" charset="-122"/>
                <a:cs typeface="Wix Madefor Text SemiBold" pitchFamily="34" charset="-120"/>
              </a:rPr>
              <a:t>Dark Border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156200" y="5486400"/>
            <a:ext cx="1905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650" dirty="0">
                <a:solidFill>
                  <a:srgbClr val="8B8E94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#2A2C30  ·  Dividers only</a:t>
            </a:r>
            <a:endParaRPr lang="en-US" sz="650" dirty="0"/>
          </a:p>
        </p:txBody>
      </p:sp>
      <p:sp>
        <p:nvSpPr>
          <p:cNvPr id="28" name="Shape 26"/>
          <p:cNvSpPr/>
          <p:nvPr/>
        </p:nvSpPr>
        <p:spPr>
          <a:xfrm>
            <a:off x="7251700" y="4406900"/>
            <a:ext cx="1905000" cy="762000"/>
          </a:xfrm>
          <a:prstGeom prst="rect">
            <a:avLst/>
          </a:prstGeom>
          <a:solidFill>
            <a:srgbClr val="6E727A"/>
          </a:solidFill>
          <a:ln w="9525">
            <a:solidFill>
              <a:srgbClr val="3A3D4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251700" y="5270500"/>
            <a:ext cx="1905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Wix Madefor Text SemiBold" pitchFamily="34" charset="0"/>
                <a:ea typeface="Wix Madefor Text SemiBold" pitchFamily="34" charset="-122"/>
                <a:cs typeface="Wix Madefor Text SemiBold" pitchFamily="34" charset="-120"/>
              </a:rPr>
              <a:t>Dark Control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7251700" y="5486400"/>
            <a:ext cx="1905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650" dirty="0">
                <a:solidFill>
                  <a:srgbClr val="8B8E94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#6E727A  ·  Input outlines</a:t>
            </a:r>
            <a:endParaRPr lang="en-US" sz="650" dirty="0"/>
          </a:p>
        </p:txBody>
      </p:sp>
      <p:sp>
        <p:nvSpPr>
          <p:cNvPr id="31" name="Shape 29"/>
          <p:cNvSpPr/>
          <p:nvPr/>
        </p:nvSpPr>
        <p:spPr>
          <a:xfrm>
            <a:off x="9347200" y="4406900"/>
            <a:ext cx="1905000" cy="762000"/>
          </a:xfrm>
          <a:prstGeom prst="rect">
            <a:avLst/>
          </a:prstGeom>
          <a:solidFill>
            <a:srgbClr val="8B8E94"/>
          </a:solidFill>
          <a:ln w="9525">
            <a:solidFill>
              <a:srgbClr val="3A3D4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347200" y="5270500"/>
            <a:ext cx="1905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Wix Madefor Text SemiBold" pitchFamily="34" charset="0"/>
                <a:ea typeface="Wix Madefor Text SemiBold" pitchFamily="34" charset="-122"/>
                <a:cs typeface="Wix Madefor Text SemiBold" pitchFamily="34" charset="-120"/>
              </a:rPr>
              <a:t>Dark Muted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9347200" y="5486400"/>
            <a:ext cx="1905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650" dirty="0">
                <a:solidFill>
                  <a:srgbClr val="8B8E94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#8B8E94  ·  Secondary text</a:t>
            </a:r>
            <a:endParaRPr lang="en-US" sz="6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EEEF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33400"/>
            <a:ext cx="7620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700" kern="0" spc="126" dirty="0">
                <a:solidFill>
                  <a:srgbClr val="8A9097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COLOR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762000" y="6350000"/>
            <a:ext cx="3810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750" dirty="0">
                <a:solidFill>
                  <a:srgbClr val="8A9097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TekRevol Brand Guidelines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10160000" y="6350000"/>
            <a:ext cx="1270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15000"/>
              </a:lnSpc>
              <a:buNone/>
            </a:pPr>
            <a:r>
              <a:rPr lang="en-US" sz="750" dirty="0">
                <a:solidFill>
                  <a:srgbClr val="8A9097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14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762000" y="1587500"/>
            <a:ext cx="7620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00" kern="0" spc="144" dirty="0">
                <a:solidFill>
                  <a:srgbClr val="C2340E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ACCESSIBILITY, TESTED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36600" y="1905000"/>
            <a:ext cx="9525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3800" b="1" kern="0" spc="-91" dirty="0">
                <a:solidFill>
                  <a:srgbClr val="1D1E2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Every text pair checked</a:t>
            </a:r>
            <a:endParaRPr lang="en-US" sz="3800" dirty="0"/>
          </a:p>
          <a:p>
            <a:pPr marL="0" indent="0" algn="l">
              <a:lnSpc>
                <a:spcPct val="98000"/>
              </a:lnSpc>
              <a:buNone/>
            </a:pPr>
            <a:r>
              <a:rPr lang="en-US" sz="3800" b="1" kern="0" spc="-91" dirty="0">
                <a:solidFill>
                  <a:srgbClr val="1D1E2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against WCAG 2.2.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762000" y="3429000"/>
            <a:ext cx="5080000" cy="5588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Shape 6"/>
          <p:cNvSpPr/>
          <p:nvPr/>
        </p:nvSpPr>
        <p:spPr>
          <a:xfrm>
            <a:off x="762000" y="3429000"/>
            <a:ext cx="825500" cy="5588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AD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62000" y="3429000"/>
            <a:ext cx="8255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D1E2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Aa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778000" y="3517900"/>
            <a:ext cx="2667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50" dirty="0">
                <a:solidFill>
                  <a:srgbClr val="1D1E21"/>
                </a:solidFill>
                <a:latin typeface="Wix Madefor Text SemiBold" pitchFamily="34" charset="0"/>
                <a:ea typeface="Wix Madefor Text SemiBold" pitchFamily="34" charset="-122"/>
                <a:cs typeface="Wix Madefor Text SemiBold" pitchFamily="34" charset="-120"/>
              </a:rPr>
              <a:t>Charcoal on White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1778000" y="3733800"/>
            <a:ext cx="2667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650" dirty="0">
                <a:solidFill>
                  <a:srgbClr val="8A9097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#1D1E21 on #FFFFFF</a:t>
            </a:r>
            <a:endParaRPr lang="en-US" sz="650" dirty="0"/>
          </a:p>
        </p:txBody>
      </p:sp>
      <p:sp>
        <p:nvSpPr>
          <p:cNvPr id="12" name="Text 10"/>
          <p:cNvSpPr/>
          <p:nvPr/>
        </p:nvSpPr>
        <p:spPr>
          <a:xfrm>
            <a:off x="4318000" y="3429000"/>
            <a:ext cx="7620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15000"/>
              </a:lnSpc>
              <a:buNone/>
            </a:pPr>
            <a:r>
              <a:rPr lang="en-US" sz="1000" dirty="0">
                <a:solidFill>
                  <a:srgbClr val="1D1E21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16.7:1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181600" y="3606800"/>
            <a:ext cx="571500" cy="203200"/>
          </a:xfrm>
          <a:custGeom>
            <a:avLst/>
            <a:gdLst/>
            <a:ahLst/>
            <a:cxnLst/>
            <a:rect l="l" t="t" r="r" b="b"/>
            <a:pathLst>
              <a:path w="571500" h="203200">
                <a:moveTo>
                  <a:pt x="0" y="0"/>
                </a:moveTo>
                <a:lnTo>
                  <a:pt x="533400" y="0"/>
                </a:lnTo>
                <a:lnTo>
                  <a:pt x="571500" y="38100"/>
                </a:lnTo>
                <a:lnTo>
                  <a:pt x="571500" y="203200"/>
                </a:lnTo>
                <a:lnTo>
                  <a:pt x="0" y="203200"/>
                </a:lnTo>
                <a:close/>
              </a:path>
            </a:pathLst>
          </a:custGeom>
          <a:solidFill>
            <a:srgbClr val="1D1E21"/>
          </a:solidFill>
          <a:ln/>
        </p:spPr>
      </p:sp>
      <p:sp>
        <p:nvSpPr>
          <p:cNvPr id="14" name="Text 12"/>
          <p:cNvSpPr/>
          <p:nvPr/>
        </p:nvSpPr>
        <p:spPr>
          <a:xfrm>
            <a:off x="5181600" y="3606800"/>
            <a:ext cx="5715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600" dirty="0">
                <a:solidFill>
                  <a:srgbClr val="FFFFFF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AAA</a:t>
            </a:r>
            <a:endParaRPr lang="en-US" sz="600" dirty="0"/>
          </a:p>
        </p:txBody>
      </p:sp>
      <p:sp>
        <p:nvSpPr>
          <p:cNvPr id="15" name="Shape 13"/>
          <p:cNvSpPr/>
          <p:nvPr/>
        </p:nvSpPr>
        <p:spPr>
          <a:xfrm>
            <a:off x="6223000" y="3429000"/>
            <a:ext cx="5080000" cy="5588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Shape 14"/>
          <p:cNvSpPr/>
          <p:nvPr/>
        </p:nvSpPr>
        <p:spPr>
          <a:xfrm>
            <a:off x="6223000" y="3429000"/>
            <a:ext cx="825500" cy="5588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AD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23000" y="3429000"/>
            <a:ext cx="8255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5E6166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Aa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7239000" y="3517900"/>
            <a:ext cx="2667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50" dirty="0">
                <a:solidFill>
                  <a:srgbClr val="1D1E21"/>
                </a:solidFill>
                <a:latin typeface="Wix Madefor Text SemiBold" pitchFamily="34" charset="0"/>
                <a:ea typeface="Wix Madefor Text SemiBold" pitchFamily="34" charset="-122"/>
                <a:cs typeface="Wix Madefor Text SemiBold" pitchFamily="34" charset="-120"/>
              </a:rPr>
              <a:t>Muted on White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7239000" y="3733800"/>
            <a:ext cx="2667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650" dirty="0">
                <a:solidFill>
                  <a:srgbClr val="8A9097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#5E6166 on #FFFFFF</a:t>
            </a:r>
            <a:endParaRPr lang="en-US" sz="650" dirty="0"/>
          </a:p>
        </p:txBody>
      </p:sp>
      <p:sp>
        <p:nvSpPr>
          <p:cNvPr id="20" name="Text 18"/>
          <p:cNvSpPr/>
          <p:nvPr/>
        </p:nvSpPr>
        <p:spPr>
          <a:xfrm>
            <a:off x="9779000" y="3429000"/>
            <a:ext cx="7620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15000"/>
              </a:lnSpc>
              <a:buNone/>
            </a:pPr>
            <a:r>
              <a:rPr lang="en-US" sz="1000" dirty="0">
                <a:solidFill>
                  <a:srgbClr val="1D1E21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6.2:1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0642600" y="3606800"/>
            <a:ext cx="571500" cy="203200"/>
          </a:xfrm>
          <a:custGeom>
            <a:avLst/>
            <a:gdLst/>
            <a:ahLst/>
            <a:cxnLst/>
            <a:rect l="l" t="t" r="r" b="b"/>
            <a:pathLst>
              <a:path w="571500" h="203200">
                <a:moveTo>
                  <a:pt x="0" y="0"/>
                </a:moveTo>
                <a:lnTo>
                  <a:pt x="533400" y="0"/>
                </a:lnTo>
                <a:lnTo>
                  <a:pt x="571500" y="38100"/>
                </a:lnTo>
                <a:lnTo>
                  <a:pt x="571500" y="203200"/>
                </a:lnTo>
                <a:lnTo>
                  <a:pt x="0" y="203200"/>
                </a:lnTo>
                <a:close/>
              </a:path>
            </a:pathLst>
          </a:custGeom>
          <a:solidFill>
            <a:srgbClr val="1D1E21"/>
          </a:solidFill>
          <a:ln/>
        </p:spPr>
      </p:sp>
      <p:sp>
        <p:nvSpPr>
          <p:cNvPr id="22" name="Text 20"/>
          <p:cNvSpPr/>
          <p:nvPr/>
        </p:nvSpPr>
        <p:spPr>
          <a:xfrm>
            <a:off x="10642600" y="3606800"/>
            <a:ext cx="5715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600" dirty="0">
                <a:solidFill>
                  <a:srgbClr val="FFFFFF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AA</a:t>
            </a:r>
            <a:endParaRPr lang="en-US" sz="600" dirty="0"/>
          </a:p>
        </p:txBody>
      </p:sp>
      <p:sp>
        <p:nvSpPr>
          <p:cNvPr id="23" name="Shape 21"/>
          <p:cNvSpPr/>
          <p:nvPr/>
        </p:nvSpPr>
        <p:spPr>
          <a:xfrm>
            <a:off x="762000" y="4089400"/>
            <a:ext cx="5080000" cy="5588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4" name="Shape 22"/>
          <p:cNvSpPr/>
          <p:nvPr/>
        </p:nvSpPr>
        <p:spPr>
          <a:xfrm>
            <a:off x="762000" y="4089400"/>
            <a:ext cx="825500" cy="558800"/>
          </a:xfrm>
          <a:prstGeom prst="rect">
            <a:avLst/>
          </a:prstGeom>
          <a:solidFill>
            <a:srgbClr val="FF4A1C"/>
          </a:solidFill>
          <a:ln/>
        </p:spPr>
      </p:sp>
      <p:sp>
        <p:nvSpPr>
          <p:cNvPr id="25" name="Text 23"/>
          <p:cNvSpPr/>
          <p:nvPr/>
        </p:nvSpPr>
        <p:spPr>
          <a:xfrm>
            <a:off x="762000" y="4089400"/>
            <a:ext cx="8255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D1E2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Aa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778000" y="4178300"/>
            <a:ext cx="2667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50" dirty="0">
                <a:solidFill>
                  <a:srgbClr val="1D1E21"/>
                </a:solidFill>
                <a:latin typeface="Wix Madefor Text SemiBold" pitchFamily="34" charset="0"/>
                <a:ea typeface="Wix Madefor Text SemiBold" pitchFamily="34" charset="-122"/>
                <a:cs typeface="Wix Madefor Text SemiBold" pitchFamily="34" charset="-120"/>
              </a:rPr>
              <a:t>Charcoal on Orange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1778000" y="4394200"/>
            <a:ext cx="2667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650" dirty="0">
                <a:solidFill>
                  <a:srgbClr val="8A9097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#1D1E21 on #FF4A1C</a:t>
            </a:r>
            <a:endParaRPr lang="en-US" sz="650" dirty="0"/>
          </a:p>
        </p:txBody>
      </p:sp>
      <p:sp>
        <p:nvSpPr>
          <p:cNvPr id="28" name="Text 26"/>
          <p:cNvSpPr/>
          <p:nvPr/>
        </p:nvSpPr>
        <p:spPr>
          <a:xfrm>
            <a:off x="4318000" y="4089400"/>
            <a:ext cx="7620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15000"/>
              </a:lnSpc>
              <a:buNone/>
            </a:pPr>
            <a:r>
              <a:rPr lang="en-US" sz="1000" dirty="0">
                <a:solidFill>
                  <a:srgbClr val="1D1E21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5.0:1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181600" y="4267200"/>
            <a:ext cx="571500" cy="203200"/>
          </a:xfrm>
          <a:custGeom>
            <a:avLst/>
            <a:gdLst/>
            <a:ahLst/>
            <a:cxnLst/>
            <a:rect l="l" t="t" r="r" b="b"/>
            <a:pathLst>
              <a:path w="571500" h="203200">
                <a:moveTo>
                  <a:pt x="0" y="0"/>
                </a:moveTo>
                <a:lnTo>
                  <a:pt x="533400" y="0"/>
                </a:lnTo>
                <a:lnTo>
                  <a:pt x="571500" y="38100"/>
                </a:lnTo>
                <a:lnTo>
                  <a:pt x="571500" y="203200"/>
                </a:lnTo>
                <a:lnTo>
                  <a:pt x="0" y="203200"/>
                </a:lnTo>
                <a:close/>
              </a:path>
            </a:pathLst>
          </a:custGeom>
          <a:solidFill>
            <a:srgbClr val="1D1E21"/>
          </a:solidFill>
          <a:ln/>
        </p:spPr>
      </p:sp>
      <p:sp>
        <p:nvSpPr>
          <p:cNvPr id="30" name="Text 28"/>
          <p:cNvSpPr/>
          <p:nvPr/>
        </p:nvSpPr>
        <p:spPr>
          <a:xfrm>
            <a:off x="5181600" y="4267200"/>
            <a:ext cx="5715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600" dirty="0">
                <a:solidFill>
                  <a:srgbClr val="FFFFFF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AA</a:t>
            </a:r>
            <a:endParaRPr lang="en-US" sz="600" dirty="0"/>
          </a:p>
        </p:txBody>
      </p:sp>
      <p:sp>
        <p:nvSpPr>
          <p:cNvPr id="31" name="Shape 29"/>
          <p:cNvSpPr/>
          <p:nvPr/>
        </p:nvSpPr>
        <p:spPr>
          <a:xfrm>
            <a:off x="6223000" y="4089400"/>
            <a:ext cx="5080000" cy="5588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2" name="Shape 30"/>
          <p:cNvSpPr/>
          <p:nvPr/>
        </p:nvSpPr>
        <p:spPr>
          <a:xfrm>
            <a:off x="6223000" y="4089400"/>
            <a:ext cx="825500" cy="5588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AD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223000" y="4089400"/>
            <a:ext cx="8255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C2340E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Aa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7239000" y="4178300"/>
            <a:ext cx="2667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50" dirty="0">
                <a:solidFill>
                  <a:srgbClr val="1D1E21"/>
                </a:solidFill>
                <a:latin typeface="Wix Madefor Text SemiBold" pitchFamily="34" charset="0"/>
                <a:ea typeface="Wix Madefor Text SemiBold" pitchFamily="34" charset="-122"/>
                <a:cs typeface="Wix Madefor Text SemiBold" pitchFamily="34" charset="-120"/>
              </a:rPr>
              <a:t>Orange Ink on White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7239000" y="4394200"/>
            <a:ext cx="2667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650" dirty="0">
                <a:solidFill>
                  <a:srgbClr val="8A9097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#C2340E on #FFFFFF</a:t>
            </a:r>
            <a:endParaRPr lang="en-US" sz="650" dirty="0"/>
          </a:p>
        </p:txBody>
      </p:sp>
      <p:sp>
        <p:nvSpPr>
          <p:cNvPr id="36" name="Text 34"/>
          <p:cNvSpPr/>
          <p:nvPr/>
        </p:nvSpPr>
        <p:spPr>
          <a:xfrm>
            <a:off x="9779000" y="4089400"/>
            <a:ext cx="7620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15000"/>
              </a:lnSpc>
              <a:buNone/>
            </a:pPr>
            <a:r>
              <a:rPr lang="en-US" sz="1000" dirty="0">
                <a:solidFill>
                  <a:srgbClr val="1D1E21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5.9:1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10642600" y="4267200"/>
            <a:ext cx="571500" cy="203200"/>
          </a:xfrm>
          <a:custGeom>
            <a:avLst/>
            <a:gdLst/>
            <a:ahLst/>
            <a:cxnLst/>
            <a:rect l="l" t="t" r="r" b="b"/>
            <a:pathLst>
              <a:path w="571500" h="203200">
                <a:moveTo>
                  <a:pt x="0" y="0"/>
                </a:moveTo>
                <a:lnTo>
                  <a:pt x="533400" y="0"/>
                </a:lnTo>
                <a:lnTo>
                  <a:pt x="571500" y="38100"/>
                </a:lnTo>
                <a:lnTo>
                  <a:pt x="571500" y="203200"/>
                </a:lnTo>
                <a:lnTo>
                  <a:pt x="0" y="203200"/>
                </a:lnTo>
                <a:close/>
              </a:path>
            </a:pathLst>
          </a:custGeom>
          <a:solidFill>
            <a:srgbClr val="1D1E21"/>
          </a:solidFill>
          <a:ln/>
        </p:spPr>
      </p:sp>
      <p:sp>
        <p:nvSpPr>
          <p:cNvPr id="38" name="Text 36"/>
          <p:cNvSpPr/>
          <p:nvPr/>
        </p:nvSpPr>
        <p:spPr>
          <a:xfrm>
            <a:off x="10642600" y="4267200"/>
            <a:ext cx="5715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600" dirty="0">
                <a:solidFill>
                  <a:srgbClr val="FFFFFF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AA</a:t>
            </a:r>
            <a:endParaRPr lang="en-US" sz="600" dirty="0"/>
          </a:p>
        </p:txBody>
      </p:sp>
      <p:sp>
        <p:nvSpPr>
          <p:cNvPr id="39" name="Shape 37"/>
          <p:cNvSpPr/>
          <p:nvPr/>
        </p:nvSpPr>
        <p:spPr>
          <a:xfrm>
            <a:off x="762000" y="4749800"/>
            <a:ext cx="5080000" cy="5588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0" name="Shape 38"/>
          <p:cNvSpPr/>
          <p:nvPr/>
        </p:nvSpPr>
        <p:spPr>
          <a:xfrm>
            <a:off x="762000" y="4749800"/>
            <a:ext cx="825500" cy="558800"/>
          </a:xfrm>
          <a:prstGeom prst="rect">
            <a:avLst/>
          </a:prstGeom>
          <a:solidFill>
            <a:srgbClr val="131417"/>
          </a:solidFill>
          <a:ln/>
        </p:spPr>
      </p:sp>
      <p:sp>
        <p:nvSpPr>
          <p:cNvPr id="41" name="Text 39"/>
          <p:cNvSpPr/>
          <p:nvPr/>
        </p:nvSpPr>
        <p:spPr>
          <a:xfrm>
            <a:off x="762000" y="4749800"/>
            <a:ext cx="8255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Aa</a:t>
            </a:r>
            <a:endParaRPr lang="en-US" sz="1800" dirty="0"/>
          </a:p>
        </p:txBody>
      </p:sp>
      <p:sp>
        <p:nvSpPr>
          <p:cNvPr id="42" name="Text 40"/>
          <p:cNvSpPr/>
          <p:nvPr/>
        </p:nvSpPr>
        <p:spPr>
          <a:xfrm>
            <a:off x="1778000" y="4838700"/>
            <a:ext cx="2667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50" dirty="0">
                <a:solidFill>
                  <a:srgbClr val="1D1E21"/>
                </a:solidFill>
                <a:latin typeface="Wix Madefor Text SemiBold" pitchFamily="34" charset="0"/>
                <a:ea typeface="Wix Madefor Text SemiBold" pitchFamily="34" charset="-122"/>
                <a:cs typeface="Wix Madefor Text SemiBold" pitchFamily="34" charset="-120"/>
              </a:rPr>
              <a:t>White on Deep Charcoal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1778000" y="5054600"/>
            <a:ext cx="2667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650" dirty="0">
                <a:solidFill>
                  <a:srgbClr val="8A9097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#FFFFFF on #131417</a:t>
            </a:r>
            <a:endParaRPr lang="en-US" sz="650" dirty="0"/>
          </a:p>
        </p:txBody>
      </p:sp>
      <p:sp>
        <p:nvSpPr>
          <p:cNvPr id="44" name="Text 42"/>
          <p:cNvSpPr/>
          <p:nvPr/>
        </p:nvSpPr>
        <p:spPr>
          <a:xfrm>
            <a:off x="4318000" y="4749800"/>
            <a:ext cx="7620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15000"/>
              </a:lnSpc>
              <a:buNone/>
            </a:pPr>
            <a:r>
              <a:rPr lang="en-US" sz="1000" dirty="0">
                <a:solidFill>
                  <a:srgbClr val="1D1E21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18.4:1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5181600" y="4927600"/>
            <a:ext cx="571500" cy="203200"/>
          </a:xfrm>
          <a:custGeom>
            <a:avLst/>
            <a:gdLst/>
            <a:ahLst/>
            <a:cxnLst/>
            <a:rect l="l" t="t" r="r" b="b"/>
            <a:pathLst>
              <a:path w="571500" h="203200">
                <a:moveTo>
                  <a:pt x="0" y="0"/>
                </a:moveTo>
                <a:lnTo>
                  <a:pt x="533400" y="0"/>
                </a:lnTo>
                <a:lnTo>
                  <a:pt x="571500" y="38100"/>
                </a:lnTo>
                <a:lnTo>
                  <a:pt x="571500" y="203200"/>
                </a:lnTo>
                <a:lnTo>
                  <a:pt x="0" y="203200"/>
                </a:lnTo>
                <a:close/>
              </a:path>
            </a:pathLst>
          </a:custGeom>
          <a:solidFill>
            <a:srgbClr val="1D1E21"/>
          </a:solidFill>
          <a:ln/>
        </p:spPr>
      </p:sp>
      <p:sp>
        <p:nvSpPr>
          <p:cNvPr id="46" name="Text 44"/>
          <p:cNvSpPr/>
          <p:nvPr/>
        </p:nvSpPr>
        <p:spPr>
          <a:xfrm>
            <a:off x="5181600" y="4927600"/>
            <a:ext cx="5715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600" dirty="0">
                <a:solidFill>
                  <a:srgbClr val="FFFFFF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AAA</a:t>
            </a:r>
            <a:endParaRPr lang="en-US" sz="600" dirty="0"/>
          </a:p>
        </p:txBody>
      </p:sp>
      <p:sp>
        <p:nvSpPr>
          <p:cNvPr id="47" name="Shape 45"/>
          <p:cNvSpPr/>
          <p:nvPr/>
        </p:nvSpPr>
        <p:spPr>
          <a:xfrm>
            <a:off x="6223000" y="4749800"/>
            <a:ext cx="5080000" cy="5588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8" name="Shape 46"/>
          <p:cNvSpPr/>
          <p:nvPr/>
        </p:nvSpPr>
        <p:spPr>
          <a:xfrm>
            <a:off x="6223000" y="4749800"/>
            <a:ext cx="825500" cy="558800"/>
          </a:xfrm>
          <a:prstGeom prst="rect">
            <a:avLst/>
          </a:prstGeom>
          <a:solidFill>
            <a:srgbClr val="1D1E21"/>
          </a:solidFill>
          <a:ln/>
        </p:spPr>
      </p:sp>
      <p:sp>
        <p:nvSpPr>
          <p:cNvPr id="49" name="Text 47"/>
          <p:cNvSpPr/>
          <p:nvPr/>
        </p:nvSpPr>
        <p:spPr>
          <a:xfrm>
            <a:off x="6223000" y="4749800"/>
            <a:ext cx="8255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3EC5D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Aa</a:t>
            </a:r>
            <a:endParaRPr lang="en-US" sz="1800" dirty="0"/>
          </a:p>
        </p:txBody>
      </p:sp>
      <p:sp>
        <p:nvSpPr>
          <p:cNvPr id="50" name="Text 48"/>
          <p:cNvSpPr/>
          <p:nvPr/>
        </p:nvSpPr>
        <p:spPr>
          <a:xfrm>
            <a:off x="7239000" y="4838700"/>
            <a:ext cx="2667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50" dirty="0">
                <a:solidFill>
                  <a:srgbClr val="1D1E21"/>
                </a:solidFill>
                <a:latin typeface="Wix Madefor Text SemiBold" pitchFamily="34" charset="0"/>
                <a:ea typeface="Wix Madefor Text SemiBold" pitchFamily="34" charset="-122"/>
                <a:cs typeface="Wix Madefor Text SemiBold" pitchFamily="34" charset="-120"/>
              </a:rPr>
              <a:t>Cyan on Charcoal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7239000" y="5054600"/>
            <a:ext cx="2667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650" dirty="0">
                <a:solidFill>
                  <a:srgbClr val="8A9097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#3EC5D1 on #1D1E21</a:t>
            </a:r>
            <a:endParaRPr lang="en-US" sz="650" dirty="0"/>
          </a:p>
        </p:txBody>
      </p:sp>
      <p:sp>
        <p:nvSpPr>
          <p:cNvPr id="52" name="Text 50"/>
          <p:cNvSpPr/>
          <p:nvPr/>
        </p:nvSpPr>
        <p:spPr>
          <a:xfrm>
            <a:off x="9779000" y="4749800"/>
            <a:ext cx="7620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15000"/>
              </a:lnSpc>
              <a:buNone/>
            </a:pPr>
            <a:r>
              <a:rPr lang="en-US" sz="1000" dirty="0">
                <a:solidFill>
                  <a:srgbClr val="1D1E21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8.0:1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10642600" y="4927600"/>
            <a:ext cx="571500" cy="203200"/>
          </a:xfrm>
          <a:custGeom>
            <a:avLst/>
            <a:gdLst/>
            <a:ahLst/>
            <a:cxnLst/>
            <a:rect l="l" t="t" r="r" b="b"/>
            <a:pathLst>
              <a:path w="571500" h="203200">
                <a:moveTo>
                  <a:pt x="0" y="0"/>
                </a:moveTo>
                <a:lnTo>
                  <a:pt x="533400" y="0"/>
                </a:lnTo>
                <a:lnTo>
                  <a:pt x="571500" y="38100"/>
                </a:lnTo>
                <a:lnTo>
                  <a:pt x="571500" y="203200"/>
                </a:lnTo>
                <a:lnTo>
                  <a:pt x="0" y="203200"/>
                </a:lnTo>
                <a:close/>
              </a:path>
            </a:pathLst>
          </a:custGeom>
          <a:solidFill>
            <a:srgbClr val="1D1E21"/>
          </a:solidFill>
          <a:ln/>
        </p:spPr>
      </p:sp>
      <p:sp>
        <p:nvSpPr>
          <p:cNvPr id="54" name="Text 52"/>
          <p:cNvSpPr/>
          <p:nvPr/>
        </p:nvSpPr>
        <p:spPr>
          <a:xfrm>
            <a:off x="10642600" y="4927600"/>
            <a:ext cx="5715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600" dirty="0">
                <a:solidFill>
                  <a:srgbClr val="FFFFFF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AAA</a:t>
            </a:r>
            <a:endParaRPr lang="en-US" sz="600" dirty="0"/>
          </a:p>
        </p:txBody>
      </p:sp>
      <p:sp>
        <p:nvSpPr>
          <p:cNvPr id="55" name="Shape 53"/>
          <p:cNvSpPr/>
          <p:nvPr/>
        </p:nvSpPr>
        <p:spPr>
          <a:xfrm>
            <a:off x="762000" y="5410200"/>
            <a:ext cx="5080000" cy="5588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6" name="Shape 54"/>
          <p:cNvSpPr/>
          <p:nvPr/>
        </p:nvSpPr>
        <p:spPr>
          <a:xfrm>
            <a:off x="762000" y="5410200"/>
            <a:ext cx="825500" cy="558800"/>
          </a:xfrm>
          <a:prstGeom prst="rect">
            <a:avLst/>
          </a:prstGeom>
          <a:solidFill>
            <a:srgbClr val="131417"/>
          </a:solidFill>
          <a:ln/>
        </p:spPr>
      </p:sp>
      <p:sp>
        <p:nvSpPr>
          <p:cNvPr id="57" name="Text 55"/>
          <p:cNvSpPr/>
          <p:nvPr/>
        </p:nvSpPr>
        <p:spPr>
          <a:xfrm>
            <a:off x="762000" y="5410200"/>
            <a:ext cx="8255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8B8E94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Aa</a:t>
            </a:r>
            <a:endParaRPr lang="en-US" sz="1800" dirty="0"/>
          </a:p>
        </p:txBody>
      </p:sp>
      <p:sp>
        <p:nvSpPr>
          <p:cNvPr id="58" name="Text 56"/>
          <p:cNvSpPr/>
          <p:nvPr/>
        </p:nvSpPr>
        <p:spPr>
          <a:xfrm>
            <a:off x="1778000" y="5499100"/>
            <a:ext cx="2667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50" dirty="0">
                <a:solidFill>
                  <a:srgbClr val="1D1E21"/>
                </a:solidFill>
                <a:latin typeface="Wix Madefor Text SemiBold" pitchFamily="34" charset="0"/>
                <a:ea typeface="Wix Madefor Text SemiBold" pitchFamily="34" charset="-122"/>
                <a:cs typeface="Wix Madefor Text SemiBold" pitchFamily="34" charset="-120"/>
              </a:rPr>
              <a:t>Dark Muted on Deep Charcoal</a:t>
            </a:r>
            <a:endParaRPr lang="en-US" sz="950" dirty="0"/>
          </a:p>
        </p:txBody>
      </p:sp>
      <p:sp>
        <p:nvSpPr>
          <p:cNvPr id="59" name="Text 57"/>
          <p:cNvSpPr/>
          <p:nvPr/>
        </p:nvSpPr>
        <p:spPr>
          <a:xfrm>
            <a:off x="1778000" y="5715000"/>
            <a:ext cx="2667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650" dirty="0">
                <a:solidFill>
                  <a:srgbClr val="8A9097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#8B8E94 on #131417</a:t>
            </a:r>
            <a:endParaRPr lang="en-US" sz="650" dirty="0"/>
          </a:p>
        </p:txBody>
      </p:sp>
      <p:sp>
        <p:nvSpPr>
          <p:cNvPr id="60" name="Text 58"/>
          <p:cNvSpPr/>
          <p:nvPr/>
        </p:nvSpPr>
        <p:spPr>
          <a:xfrm>
            <a:off x="4318000" y="5410200"/>
            <a:ext cx="7620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15000"/>
              </a:lnSpc>
              <a:buNone/>
            </a:pPr>
            <a:r>
              <a:rPr lang="en-US" sz="1000" dirty="0">
                <a:solidFill>
                  <a:srgbClr val="1D1E21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5.6:1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5181600" y="5588000"/>
            <a:ext cx="571500" cy="203200"/>
          </a:xfrm>
          <a:custGeom>
            <a:avLst/>
            <a:gdLst/>
            <a:ahLst/>
            <a:cxnLst/>
            <a:rect l="l" t="t" r="r" b="b"/>
            <a:pathLst>
              <a:path w="571500" h="203200">
                <a:moveTo>
                  <a:pt x="0" y="0"/>
                </a:moveTo>
                <a:lnTo>
                  <a:pt x="533400" y="0"/>
                </a:lnTo>
                <a:lnTo>
                  <a:pt x="571500" y="38100"/>
                </a:lnTo>
                <a:lnTo>
                  <a:pt x="571500" y="203200"/>
                </a:lnTo>
                <a:lnTo>
                  <a:pt x="0" y="203200"/>
                </a:lnTo>
                <a:close/>
              </a:path>
            </a:pathLst>
          </a:custGeom>
          <a:solidFill>
            <a:srgbClr val="1D1E21"/>
          </a:solidFill>
          <a:ln/>
        </p:spPr>
      </p:sp>
      <p:sp>
        <p:nvSpPr>
          <p:cNvPr id="62" name="Text 60"/>
          <p:cNvSpPr/>
          <p:nvPr/>
        </p:nvSpPr>
        <p:spPr>
          <a:xfrm>
            <a:off x="5181600" y="5588000"/>
            <a:ext cx="5715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600" dirty="0">
                <a:solidFill>
                  <a:srgbClr val="FFFFFF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AA</a:t>
            </a:r>
            <a:endParaRPr lang="en-US" sz="600" dirty="0"/>
          </a:p>
        </p:txBody>
      </p:sp>
      <p:sp>
        <p:nvSpPr>
          <p:cNvPr id="63" name="Shape 61"/>
          <p:cNvSpPr/>
          <p:nvPr/>
        </p:nvSpPr>
        <p:spPr>
          <a:xfrm>
            <a:off x="6223000" y="5410200"/>
            <a:ext cx="5080000" cy="5588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4" name="Shape 62"/>
          <p:cNvSpPr/>
          <p:nvPr/>
        </p:nvSpPr>
        <p:spPr>
          <a:xfrm>
            <a:off x="6223000" y="5410200"/>
            <a:ext cx="825500" cy="5588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ADB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223000" y="5410200"/>
            <a:ext cx="8255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3EC5D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Aa</a:t>
            </a:r>
            <a:endParaRPr lang="en-US" sz="1800" dirty="0"/>
          </a:p>
        </p:txBody>
      </p:sp>
      <p:sp>
        <p:nvSpPr>
          <p:cNvPr id="66" name="Text 64"/>
          <p:cNvSpPr/>
          <p:nvPr/>
        </p:nvSpPr>
        <p:spPr>
          <a:xfrm>
            <a:off x="7239000" y="5499100"/>
            <a:ext cx="2667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50" dirty="0">
                <a:solidFill>
                  <a:srgbClr val="1D1E21"/>
                </a:solidFill>
                <a:latin typeface="Wix Madefor Text SemiBold" pitchFamily="34" charset="0"/>
                <a:ea typeface="Wix Madefor Text SemiBold" pitchFamily="34" charset="-122"/>
                <a:cs typeface="Wix Madefor Text SemiBold" pitchFamily="34" charset="-120"/>
              </a:rPr>
              <a:t>Cyan on White</a:t>
            </a:r>
            <a:endParaRPr lang="en-US" sz="950" dirty="0"/>
          </a:p>
        </p:txBody>
      </p:sp>
      <p:sp>
        <p:nvSpPr>
          <p:cNvPr id="67" name="Text 65"/>
          <p:cNvSpPr/>
          <p:nvPr/>
        </p:nvSpPr>
        <p:spPr>
          <a:xfrm>
            <a:off x="7239000" y="5715000"/>
            <a:ext cx="2667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650" dirty="0">
                <a:solidFill>
                  <a:srgbClr val="8A9097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#3EC5D1 on #FFFFFF</a:t>
            </a:r>
            <a:endParaRPr lang="en-US" sz="650" dirty="0"/>
          </a:p>
        </p:txBody>
      </p:sp>
      <p:sp>
        <p:nvSpPr>
          <p:cNvPr id="68" name="Text 66"/>
          <p:cNvSpPr/>
          <p:nvPr/>
        </p:nvSpPr>
        <p:spPr>
          <a:xfrm>
            <a:off x="9779000" y="5410200"/>
            <a:ext cx="7620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15000"/>
              </a:lnSpc>
              <a:buNone/>
            </a:pPr>
            <a:r>
              <a:rPr lang="en-US" sz="1000" dirty="0">
                <a:solidFill>
                  <a:srgbClr val="1D1E21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2.1:1</a:t>
            </a:r>
            <a:endParaRPr lang="en-US" sz="1000" dirty="0"/>
          </a:p>
        </p:txBody>
      </p:sp>
      <p:sp>
        <p:nvSpPr>
          <p:cNvPr id="69" name="Shape 67"/>
          <p:cNvSpPr/>
          <p:nvPr/>
        </p:nvSpPr>
        <p:spPr>
          <a:xfrm>
            <a:off x="10642600" y="5588000"/>
            <a:ext cx="571500" cy="203200"/>
          </a:xfrm>
          <a:custGeom>
            <a:avLst/>
            <a:gdLst/>
            <a:ahLst/>
            <a:cxnLst/>
            <a:rect l="l" t="t" r="r" b="b"/>
            <a:pathLst>
              <a:path w="571500" h="203200">
                <a:moveTo>
                  <a:pt x="0" y="0"/>
                </a:moveTo>
                <a:lnTo>
                  <a:pt x="533400" y="0"/>
                </a:lnTo>
                <a:lnTo>
                  <a:pt x="571500" y="38100"/>
                </a:lnTo>
                <a:lnTo>
                  <a:pt x="571500" y="203200"/>
                </a:lnTo>
                <a:lnTo>
                  <a:pt x="0" y="203200"/>
                </a:lnTo>
                <a:close/>
              </a:path>
            </a:pathLst>
          </a:custGeom>
          <a:solidFill>
            <a:srgbClr val="EEEFEF"/>
          </a:solidFill>
          <a:ln/>
        </p:spPr>
      </p:sp>
      <p:sp>
        <p:nvSpPr>
          <p:cNvPr id="70" name="Text 68"/>
          <p:cNvSpPr/>
          <p:nvPr/>
        </p:nvSpPr>
        <p:spPr>
          <a:xfrm>
            <a:off x="10642600" y="5588000"/>
            <a:ext cx="5715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600" dirty="0">
                <a:solidFill>
                  <a:srgbClr val="5E6166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GRAPHICS</a:t>
            </a:r>
            <a:endParaRPr lang="en-US" sz="600" dirty="0"/>
          </a:p>
        </p:txBody>
      </p:sp>
      <p:sp>
        <p:nvSpPr>
          <p:cNvPr id="71" name="Text 69"/>
          <p:cNvSpPr/>
          <p:nvPr/>
        </p:nvSpPr>
        <p:spPr>
          <a:xfrm>
            <a:off x="762000" y="6134100"/>
            <a:ext cx="10668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00" dirty="0">
                <a:solidFill>
                  <a:srgbClr val="5E6166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Cyan is a graphic color on light backgrounds: shapes, lines and fills, never text. As text it is for dark backgrounds only.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D1E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2667000"/>
            <a:ext cx="7620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00" kern="0" spc="162" dirty="0">
                <a:solidFill>
                  <a:srgbClr val="3EC5D1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03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36600" y="2984500"/>
            <a:ext cx="7620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6000" b="1" kern="0" spc="-144" dirty="0">
                <a:solidFill>
                  <a:srgbClr val="FFFFFF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Typography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787400" y="4064000"/>
            <a:ext cx="635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00" dirty="0">
                <a:solidFill>
                  <a:srgbClr val="8B8E94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Headlines with personality. Everything else calm.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112000" y="889000"/>
            <a:ext cx="444500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8000" b="1" kern="0" spc="-1000" dirty="0">
                <a:solidFill>
                  <a:srgbClr val="FF4A1C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Aa</a:t>
            </a:r>
            <a:endParaRPr lang="en-US" sz="28000" dirty="0"/>
          </a:p>
        </p:txBody>
      </p:sp>
      <p:sp>
        <p:nvSpPr>
          <p:cNvPr id="6" name="Text 4"/>
          <p:cNvSpPr/>
          <p:nvPr/>
        </p:nvSpPr>
        <p:spPr>
          <a:xfrm>
            <a:off x="762000" y="6350000"/>
            <a:ext cx="3810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750" dirty="0">
                <a:solidFill>
                  <a:srgbClr val="8B8E94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TekRevol Brand Guidelines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0160000" y="6350000"/>
            <a:ext cx="1270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15000"/>
              </a:lnSpc>
              <a:buNone/>
            </a:pPr>
            <a:r>
              <a:rPr lang="en-US" sz="750" dirty="0">
                <a:solidFill>
                  <a:srgbClr val="8B8E94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15</a:t>
            </a:r>
            <a:endParaRPr lang="en-US" sz="7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33400"/>
            <a:ext cx="7620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700" kern="0" spc="126" dirty="0">
                <a:solidFill>
                  <a:srgbClr val="8A9097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TYPOGRAPHY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762000" y="6350000"/>
            <a:ext cx="3810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750" dirty="0">
                <a:solidFill>
                  <a:srgbClr val="8A9097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TekRevol Brand Guidelines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10160000" y="6350000"/>
            <a:ext cx="1270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15000"/>
              </a:lnSpc>
              <a:buNone/>
            </a:pPr>
            <a:r>
              <a:rPr lang="en-US" sz="750" dirty="0">
                <a:solidFill>
                  <a:srgbClr val="8A9097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16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762000" y="1587500"/>
            <a:ext cx="7620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00" kern="0" spc="144" dirty="0">
                <a:solidFill>
                  <a:srgbClr val="C2340E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TYPEFACES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62000" y="1905000"/>
            <a:ext cx="5715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3600" b="1" kern="0" spc="-100" dirty="0">
                <a:solidFill>
                  <a:srgbClr val="1D1E2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Funnel Display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762000" y="2514600"/>
            <a:ext cx="5715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00" dirty="0">
                <a:solidFill>
                  <a:srgbClr val="5E6166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Headlines. SemiBold and Bold.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62000" y="2921000"/>
            <a:ext cx="5715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800" dirty="0">
                <a:solidFill>
                  <a:srgbClr val="1D1E21"/>
                </a:solidFill>
                <a:latin typeface="Funnel Display SemiBold" pitchFamily="34" charset="0"/>
                <a:ea typeface="Funnel Display SemiBold" pitchFamily="34" charset="-122"/>
                <a:cs typeface="Funnel Display SemiBold" pitchFamily="34" charset="-120"/>
              </a:rPr>
              <a:t>ABCDEFGHIJKLMNOPQRSTUVWXYZ</a:t>
            </a:r>
            <a:endParaRPr lang="en-US" sz="18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800" dirty="0">
                <a:solidFill>
                  <a:srgbClr val="1D1E21"/>
                </a:solidFill>
                <a:latin typeface="Funnel Display SemiBold" pitchFamily="34" charset="0"/>
                <a:ea typeface="Funnel Display SemiBold" pitchFamily="34" charset="-122"/>
                <a:cs typeface="Funnel Display SemiBold" pitchFamily="34" charset="-120"/>
              </a:rPr>
              <a:t>abcdefghijklmnopqrstuvwxyz</a:t>
            </a:r>
            <a:endParaRPr lang="en-US" sz="18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800" dirty="0">
                <a:solidFill>
                  <a:srgbClr val="1D1E21"/>
                </a:solidFill>
                <a:latin typeface="Funnel Display SemiBold" pitchFamily="34" charset="0"/>
                <a:ea typeface="Funnel Display SemiBold" pitchFamily="34" charset="-122"/>
                <a:cs typeface="Funnel Display SemiBold" pitchFamily="34" charset="-120"/>
              </a:rPr>
              <a:t>0123456789 &amp; ? ! @ %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858000" y="1905000"/>
            <a:ext cx="12700" cy="3937000"/>
          </a:xfrm>
          <a:prstGeom prst="rect">
            <a:avLst/>
          </a:prstGeom>
          <a:solidFill>
            <a:srgbClr val="D9DADB"/>
          </a:solidFill>
          <a:ln/>
        </p:spPr>
      </p:sp>
      <p:sp>
        <p:nvSpPr>
          <p:cNvPr id="10" name="Text 8"/>
          <p:cNvSpPr/>
          <p:nvPr/>
        </p:nvSpPr>
        <p:spPr>
          <a:xfrm>
            <a:off x="7239000" y="1905000"/>
            <a:ext cx="4318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600" dirty="0">
                <a:solidFill>
                  <a:srgbClr val="1D1E21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Wix Madefor Text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7239000" y="2413000"/>
            <a:ext cx="4318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00" dirty="0">
                <a:solidFill>
                  <a:srgbClr val="5E6166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Body copy, subheads and UI. Regular, Medium, SemiBold.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239000" y="2730500"/>
            <a:ext cx="4064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400" dirty="0">
                <a:solidFill>
                  <a:srgbClr val="1D1E21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Same team from kickoff to launch. Compliance built in from the first sprint.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239000" y="3937000"/>
            <a:ext cx="4318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200" dirty="0">
                <a:solidFill>
                  <a:srgbClr val="1D1E21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JetBrains Mono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7239000" y="4381500"/>
            <a:ext cx="4064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000" dirty="0">
                <a:solidFill>
                  <a:srgbClr val="5E6166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Labels, node labels, code and proof numbers. Uppercase, +8% tracking.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239000" y="4953000"/>
            <a:ext cx="7620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00" kern="0" spc="162" dirty="0">
                <a:solidFill>
                  <a:srgbClr val="C2340E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AI-FIRST SOFTWARE DEVELOPMENT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7239000" y="5207000"/>
            <a:ext cx="254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4000" dirty="0">
                <a:solidFill>
                  <a:srgbClr val="1D1E21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800+</a:t>
            </a:r>
            <a:endParaRPr lang="en-US" sz="4000" dirty="0"/>
          </a:p>
        </p:txBody>
      </p:sp>
      <p:sp>
        <p:nvSpPr>
          <p:cNvPr id="17" name="Text 15"/>
          <p:cNvSpPr/>
          <p:nvPr/>
        </p:nvSpPr>
        <p:spPr>
          <a:xfrm>
            <a:off x="762000" y="6032500"/>
            <a:ext cx="10668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00" dirty="0">
                <a:solidFill>
                  <a:srgbClr val="8A9097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All three are free under the SIL Open Font License. Install them from the fonts folder before editing this file.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33400"/>
            <a:ext cx="7620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700" kern="0" spc="126" dirty="0">
                <a:solidFill>
                  <a:srgbClr val="8A9097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TYPOGRAPHY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762000" y="6350000"/>
            <a:ext cx="3810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750" dirty="0">
                <a:solidFill>
                  <a:srgbClr val="8A9097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TekRevol Brand Guidelines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10160000" y="6350000"/>
            <a:ext cx="1270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15000"/>
              </a:lnSpc>
              <a:buNone/>
            </a:pPr>
            <a:r>
              <a:rPr lang="en-US" sz="750" dirty="0">
                <a:solidFill>
                  <a:srgbClr val="8A9097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17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762000" y="1587500"/>
            <a:ext cx="7620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00" kern="0" spc="144" dirty="0">
                <a:solidFill>
                  <a:srgbClr val="C2340E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SCALE AND HIERARCHY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36600" y="1905000"/>
            <a:ext cx="9525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3800" b="1" kern="0" spc="-91" dirty="0">
                <a:solidFill>
                  <a:srgbClr val="1D1E2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One clear order on every page.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762000" y="2794000"/>
            <a:ext cx="1270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650" kern="0" spc="150" dirty="0">
                <a:solidFill>
                  <a:srgbClr val="8A9097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STYLE</a:t>
            </a:r>
            <a:endParaRPr lang="en-US" sz="650" dirty="0"/>
          </a:p>
        </p:txBody>
      </p:sp>
      <p:sp>
        <p:nvSpPr>
          <p:cNvPr id="8" name="Text 6"/>
          <p:cNvSpPr/>
          <p:nvPr/>
        </p:nvSpPr>
        <p:spPr>
          <a:xfrm>
            <a:off x="2095500" y="2794000"/>
            <a:ext cx="1270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650" kern="0" spc="150" dirty="0">
                <a:solidFill>
                  <a:srgbClr val="8A9097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TYPEFACE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4064000" y="2794000"/>
            <a:ext cx="1270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650" kern="0" spc="150" dirty="0">
                <a:solidFill>
                  <a:srgbClr val="8A9097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DESKTOP</a:t>
            </a:r>
            <a:endParaRPr lang="en-US" sz="650" dirty="0"/>
          </a:p>
        </p:txBody>
      </p:sp>
      <p:sp>
        <p:nvSpPr>
          <p:cNvPr id="10" name="Text 8"/>
          <p:cNvSpPr/>
          <p:nvPr/>
        </p:nvSpPr>
        <p:spPr>
          <a:xfrm>
            <a:off x="4826000" y="2794000"/>
            <a:ext cx="1270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650" kern="0" spc="150" dirty="0">
                <a:solidFill>
                  <a:srgbClr val="8A9097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MOBILE</a:t>
            </a:r>
            <a:endParaRPr lang="en-US" sz="650" dirty="0"/>
          </a:p>
        </p:txBody>
      </p:sp>
      <p:sp>
        <p:nvSpPr>
          <p:cNvPr id="11" name="Shape 9"/>
          <p:cNvSpPr/>
          <p:nvPr/>
        </p:nvSpPr>
        <p:spPr>
          <a:xfrm>
            <a:off x="762000" y="2984500"/>
            <a:ext cx="4826000" cy="12700"/>
          </a:xfrm>
          <a:prstGeom prst="rect">
            <a:avLst/>
          </a:prstGeom>
          <a:solidFill>
            <a:srgbClr val="1D1E21"/>
          </a:solidFill>
          <a:ln/>
        </p:spPr>
      </p:sp>
      <p:sp>
        <p:nvSpPr>
          <p:cNvPr id="12" name="Text 10"/>
          <p:cNvSpPr/>
          <p:nvPr/>
        </p:nvSpPr>
        <p:spPr>
          <a:xfrm>
            <a:off x="762000" y="3086100"/>
            <a:ext cx="127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50" dirty="0">
                <a:solidFill>
                  <a:srgbClr val="1D1E21"/>
                </a:solidFill>
                <a:latin typeface="Wix Madefor Text SemiBold" pitchFamily="34" charset="0"/>
                <a:ea typeface="Wix Madefor Text SemiBold" pitchFamily="34" charset="-122"/>
                <a:cs typeface="Wix Madefor Text SemiBold" pitchFamily="34" charset="-120"/>
              </a:rPr>
              <a:t>Display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2095500" y="3086100"/>
            <a:ext cx="1905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00" dirty="0">
                <a:solidFill>
                  <a:srgbClr val="5E6166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Funnel Bold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064000" y="3086100"/>
            <a:ext cx="698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50" dirty="0">
                <a:solidFill>
                  <a:srgbClr val="1D1E21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88 px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826000" y="3086100"/>
            <a:ext cx="698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50" dirty="0">
                <a:solidFill>
                  <a:srgbClr val="1D1E21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44 px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762000" y="3352800"/>
            <a:ext cx="4826000" cy="6350"/>
          </a:xfrm>
          <a:prstGeom prst="rect">
            <a:avLst/>
          </a:prstGeom>
          <a:solidFill>
            <a:srgbClr val="D9DADB"/>
          </a:solidFill>
          <a:ln/>
        </p:spPr>
      </p:sp>
      <p:sp>
        <p:nvSpPr>
          <p:cNvPr id="17" name="Text 15"/>
          <p:cNvSpPr/>
          <p:nvPr/>
        </p:nvSpPr>
        <p:spPr>
          <a:xfrm>
            <a:off x="762000" y="3378200"/>
            <a:ext cx="127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50" dirty="0">
                <a:solidFill>
                  <a:srgbClr val="1D1E21"/>
                </a:solidFill>
                <a:latin typeface="Wix Madefor Text SemiBold" pitchFamily="34" charset="0"/>
                <a:ea typeface="Wix Madefor Text SemiBold" pitchFamily="34" charset="-122"/>
                <a:cs typeface="Wix Madefor Text SemiBold" pitchFamily="34" charset="-120"/>
              </a:rPr>
              <a:t>H1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95500" y="3378200"/>
            <a:ext cx="1905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00" dirty="0">
                <a:solidFill>
                  <a:srgbClr val="5E6166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Funnel Bold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064000" y="3378200"/>
            <a:ext cx="698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50" dirty="0">
                <a:solidFill>
                  <a:srgbClr val="1D1E21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56 px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4826000" y="3378200"/>
            <a:ext cx="698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50" dirty="0">
                <a:solidFill>
                  <a:srgbClr val="1D1E21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34 px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762000" y="3644900"/>
            <a:ext cx="4826000" cy="6350"/>
          </a:xfrm>
          <a:prstGeom prst="rect">
            <a:avLst/>
          </a:prstGeom>
          <a:solidFill>
            <a:srgbClr val="D9DADB"/>
          </a:solidFill>
          <a:ln/>
        </p:spPr>
      </p:sp>
      <p:sp>
        <p:nvSpPr>
          <p:cNvPr id="22" name="Text 20"/>
          <p:cNvSpPr/>
          <p:nvPr/>
        </p:nvSpPr>
        <p:spPr>
          <a:xfrm>
            <a:off x="762000" y="3670300"/>
            <a:ext cx="127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50" dirty="0">
                <a:solidFill>
                  <a:srgbClr val="1D1E21"/>
                </a:solidFill>
                <a:latin typeface="Wix Madefor Text SemiBold" pitchFamily="34" charset="0"/>
                <a:ea typeface="Wix Madefor Text SemiBold" pitchFamily="34" charset="-122"/>
                <a:cs typeface="Wix Madefor Text SemiBold" pitchFamily="34" charset="-120"/>
              </a:rPr>
              <a:t>H2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2095500" y="3670300"/>
            <a:ext cx="1905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00" dirty="0">
                <a:solidFill>
                  <a:srgbClr val="5E6166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Funnel SemiBold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064000" y="3670300"/>
            <a:ext cx="698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50" dirty="0">
                <a:solidFill>
                  <a:srgbClr val="1D1E21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40 px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4826000" y="3670300"/>
            <a:ext cx="698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50" dirty="0">
                <a:solidFill>
                  <a:srgbClr val="1D1E21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28 px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762000" y="3937000"/>
            <a:ext cx="4826000" cy="6350"/>
          </a:xfrm>
          <a:prstGeom prst="rect">
            <a:avLst/>
          </a:prstGeom>
          <a:solidFill>
            <a:srgbClr val="D9DADB"/>
          </a:solidFill>
          <a:ln/>
        </p:spPr>
      </p:sp>
      <p:sp>
        <p:nvSpPr>
          <p:cNvPr id="27" name="Text 25"/>
          <p:cNvSpPr/>
          <p:nvPr/>
        </p:nvSpPr>
        <p:spPr>
          <a:xfrm>
            <a:off x="762000" y="3962400"/>
            <a:ext cx="127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50" dirty="0">
                <a:solidFill>
                  <a:srgbClr val="1D1E21"/>
                </a:solidFill>
                <a:latin typeface="Wix Madefor Text SemiBold" pitchFamily="34" charset="0"/>
                <a:ea typeface="Wix Madefor Text SemiBold" pitchFamily="34" charset="-122"/>
                <a:cs typeface="Wix Madefor Text SemiBold" pitchFamily="34" charset="-120"/>
              </a:rPr>
              <a:t>Pull quote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2095500" y="3962400"/>
            <a:ext cx="1905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00" dirty="0">
                <a:solidFill>
                  <a:srgbClr val="5E6166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Funnel SemiBold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064000" y="3962400"/>
            <a:ext cx="698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50" dirty="0">
                <a:solidFill>
                  <a:srgbClr val="1D1E21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32 px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4826000" y="3962400"/>
            <a:ext cx="698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50" dirty="0">
                <a:solidFill>
                  <a:srgbClr val="1D1E21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24 px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762000" y="4229100"/>
            <a:ext cx="4826000" cy="6350"/>
          </a:xfrm>
          <a:prstGeom prst="rect">
            <a:avLst/>
          </a:prstGeom>
          <a:solidFill>
            <a:srgbClr val="D9DADB"/>
          </a:solidFill>
          <a:ln/>
        </p:spPr>
      </p:sp>
      <p:sp>
        <p:nvSpPr>
          <p:cNvPr id="32" name="Text 30"/>
          <p:cNvSpPr/>
          <p:nvPr/>
        </p:nvSpPr>
        <p:spPr>
          <a:xfrm>
            <a:off x="762000" y="4254500"/>
            <a:ext cx="127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50" dirty="0">
                <a:solidFill>
                  <a:srgbClr val="1D1E21"/>
                </a:solidFill>
                <a:latin typeface="Wix Madefor Text SemiBold" pitchFamily="34" charset="0"/>
                <a:ea typeface="Wix Madefor Text SemiBold" pitchFamily="34" charset="-122"/>
                <a:cs typeface="Wix Madefor Text SemiBold" pitchFamily="34" charset="-120"/>
              </a:rPr>
              <a:t>H3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2095500" y="4254500"/>
            <a:ext cx="1905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00" dirty="0">
                <a:solidFill>
                  <a:srgbClr val="5E6166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Funnel SemiBold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064000" y="4254500"/>
            <a:ext cx="698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50" dirty="0">
                <a:solidFill>
                  <a:srgbClr val="1D1E21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28 px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4826000" y="4254500"/>
            <a:ext cx="698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50" dirty="0">
                <a:solidFill>
                  <a:srgbClr val="1D1E21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22 px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762000" y="4521200"/>
            <a:ext cx="4826000" cy="6350"/>
          </a:xfrm>
          <a:prstGeom prst="rect">
            <a:avLst/>
          </a:prstGeom>
          <a:solidFill>
            <a:srgbClr val="D9DADB"/>
          </a:solidFill>
          <a:ln/>
        </p:spPr>
      </p:sp>
      <p:sp>
        <p:nvSpPr>
          <p:cNvPr id="37" name="Text 35"/>
          <p:cNvSpPr/>
          <p:nvPr/>
        </p:nvSpPr>
        <p:spPr>
          <a:xfrm>
            <a:off x="762000" y="4546600"/>
            <a:ext cx="127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50" dirty="0">
                <a:solidFill>
                  <a:srgbClr val="1D1E21"/>
                </a:solidFill>
                <a:latin typeface="Wix Madefor Text SemiBold" pitchFamily="34" charset="0"/>
                <a:ea typeface="Wix Madefor Text SemiBold" pitchFamily="34" charset="-122"/>
                <a:cs typeface="Wix Madefor Text SemiBold" pitchFamily="34" charset="-120"/>
              </a:rPr>
              <a:t>Lead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2095500" y="4546600"/>
            <a:ext cx="1905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00" dirty="0">
                <a:solidFill>
                  <a:srgbClr val="5E6166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Wix Regular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4064000" y="4546600"/>
            <a:ext cx="698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50" dirty="0">
                <a:solidFill>
                  <a:srgbClr val="1D1E21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20 px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4826000" y="4546600"/>
            <a:ext cx="698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50" dirty="0">
                <a:solidFill>
                  <a:srgbClr val="1D1E21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18 px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762000" y="4813300"/>
            <a:ext cx="4826000" cy="6350"/>
          </a:xfrm>
          <a:prstGeom prst="rect">
            <a:avLst/>
          </a:prstGeom>
          <a:solidFill>
            <a:srgbClr val="D9DADB"/>
          </a:solidFill>
          <a:ln/>
        </p:spPr>
      </p:sp>
      <p:sp>
        <p:nvSpPr>
          <p:cNvPr id="42" name="Text 40"/>
          <p:cNvSpPr/>
          <p:nvPr/>
        </p:nvSpPr>
        <p:spPr>
          <a:xfrm>
            <a:off x="762000" y="4838700"/>
            <a:ext cx="127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50" dirty="0">
                <a:solidFill>
                  <a:srgbClr val="1D1E21"/>
                </a:solidFill>
                <a:latin typeface="Wix Madefor Text SemiBold" pitchFamily="34" charset="0"/>
                <a:ea typeface="Wix Madefor Text SemiBold" pitchFamily="34" charset="-122"/>
                <a:cs typeface="Wix Madefor Text SemiBold" pitchFamily="34" charset="-120"/>
              </a:rPr>
              <a:t>Body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2095500" y="4838700"/>
            <a:ext cx="1905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00" dirty="0">
                <a:solidFill>
                  <a:srgbClr val="5E6166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Wix Regular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4064000" y="4838700"/>
            <a:ext cx="698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50" dirty="0">
                <a:solidFill>
                  <a:srgbClr val="1D1E21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16 px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4826000" y="4838700"/>
            <a:ext cx="698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50" dirty="0">
                <a:solidFill>
                  <a:srgbClr val="1D1E21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16 px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762000" y="5105400"/>
            <a:ext cx="4826000" cy="6350"/>
          </a:xfrm>
          <a:prstGeom prst="rect">
            <a:avLst/>
          </a:prstGeom>
          <a:solidFill>
            <a:srgbClr val="D9DADB"/>
          </a:solidFill>
          <a:ln/>
        </p:spPr>
      </p:sp>
      <p:sp>
        <p:nvSpPr>
          <p:cNvPr id="47" name="Text 45"/>
          <p:cNvSpPr/>
          <p:nvPr/>
        </p:nvSpPr>
        <p:spPr>
          <a:xfrm>
            <a:off x="762000" y="5130800"/>
            <a:ext cx="127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50" dirty="0">
                <a:solidFill>
                  <a:srgbClr val="1D1E21"/>
                </a:solidFill>
                <a:latin typeface="Wix Madefor Text SemiBold" pitchFamily="34" charset="0"/>
                <a:ea typeface="Wix Madefor Text SemiBold" pitchFamily="34" charset="-122"/>
                <a:cs typeface="Wix Madefor Text SemiBold" pitchFamily="34" charset="-120"/>
              </a:rPr>
              <a:t>Button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2095500" y="5130800"/>
            <a:ext cx="1905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00" dirty="0">
                <a:solidFill>
                  <a:srgbClr val="5E6166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Wix SemiBold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4064000" y="5130800"/>
            <a:ext cx="698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50" dirty="0">
                <a:solidFill>
                  <a:srgbClr val="1D1E21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15 px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4826000" y="5130800"/>
            <a:ext cx="698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50" dirty="0">
                <a:solidFill>
                  <a:srgbClr val="1D1E21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15 px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762000" y="5397500"/>
            <a:ext cx="4826000" cy="6350"/>
          </a:xfrm>
          <a:prstGeom prst="rect">
            <a:avLst/>
          </a:prstGeom>
          <a:solidFill>
            <a:srgbClr val="D9DADB"/>
          </a:solidFill>
          <a:ln/>
        </p:spPr>
      </p:sp>
      <p:sp>
        <p:nvSpPr>
          <p:cNvPr id="52" name="Text 50"/>
          <p:cNvSpPr/>
          <p:nvPr/>
        </p:nvSpPr>
        <p:spPr>
          <a:xfrm>
            <a:off x="762000" y="5422900"/>
            <a:ext cx="127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50" dirty="0">
                <a:solidFill>
                  <a:srgbClr val="1D1E21"/>
                </a:solidFill>
                <a:latin typeface="Wix Madefor Text SemiBold" pitchFamily="34" charset="0"/>
                <a:ea typeface="Wix Madefor Text SemiBold" pitchFamily="34" charset="-122"/>
                <a:cs typeface="Wix Madefor Text SemiBold" pitchFamily="34" charset="-120"/>
              </a:rPr>
              <a:t>Label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2095500" y="5422900"/>
            <a:ext cx="1905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00" dirty="0">
                <a:solidFill>
                  <a:srgbClr val="5E6166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JetBrains Mono, caps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4064000" y="5422900"/>
            <a:ext cx="698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50" dirty="0">
                <a:solidFill>
                  <a:srgbClr val="1D1E21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12 px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4826000" y="5422900"/>
            <a:ext cx="698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50" dirty="0">
                <a:solidFill>
                  <a:srgbClr val="1D1E21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12 px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762000" y="5689600"/>
            <a:ext cx="4826000" cy="6350"/>
          </a:xfrm>
          <a:prstGeom prst="rect">
            <a:avLst/>
          </a:prstGeom>
          <a:solidFill>
            <a:srgbClr val="D9DADB"/>
          </a:solidFill>
          <a:ln/>
        </p:spPr>
      </p:sp>
      <p:sp>
        <p:nvSpPr>
          <p:cNvPr id="57" name="Text 55"/>
          <p:cNvSpPr/>
          <p:nvPr/>
        </p:nvSpPr>
        <p:spPr>
          <a:xfrm>
            <a:off x="762000" y="5715000"/>
            <a:ext cx="127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50" dirty="0">
                <a:solidFill>
                  <a:srgbClr val="1D1E21"/>
                </a:solidFill>
                <a:latin typeface="Wix Madefor Text SemiBold" pitchFamily="34" charset="0"/>
                <a:ea typeface="Wix Madefor Text SemiBold" pitchFamily="34" charset="-122"/>
                <a:cs typeface="Wix Madefor Text SemiBold" pitchFamily="34" charset="-120"/>
              </a:rPr>
              <a:t>Data large</a:t>
            </a:r>
            <a:endParaRPr lang="en-US" sz="950" dirty="0"/>
          </a:p>
        </p:txBody>
      </p:sp>
      <p:sp>
        <p:nvSpPr>
          <p:cNvPr id="58" name="Text 56"/>
          <p:cNvSpPr/>
          <p:nvPr/>
        </p:nvSpPr>
        <p:spPr>
          <a:xfrm>
            <a:off x="2095500" y="5715000"/>
            <a:ext cx="1905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00" dirty="0">
                <a:solidFill>
                  <a:srgbClr val="5E6166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JetBrains Mono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4064000" y="5715000"/>
            <a:ext cx="698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50" dirty="0">
                <a:solidFill>
                  <a:srgbClr val="1D1E21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48 px</a:t>
            </a:r>
            <a:endParaRPr lang="en-US" sz="850" dirty="0"/>
          </a:p>
        </p:txBody>
      </p:sp>
      <p:sp>
        <p:nvSpPr>
          <p:cNvPr id="60" name="Text 58"/>
          <p:cNvSpPr/>
          <p:nvPr/>
        </p:nvSpPr>
        <p:spPr>
          <a:xfrm>
            <a:off x="4826000" y="5715000"/>
            <a:ext cx="698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50" dirty="0">
                <a:solidFill>
                  <a:srgbClr val="1D1E21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32 px</a:t>
            </a:r>
            <a:endParaRPr lang="en-US" sz="850" dirty="0"/>
          </a:p>
        </p:txBody>
      </p:sp>
      <p:sp>
        <p:nvSpPr>
          <p:cNvPr id="61" name="Shape 59"/>
          <p:cNvSpPr/>
          <p:nvPr/>
        </p:nvSpPr>
        <p:spPr>
          <a:xfrm>
            <a:off x="762000" y="5981700"/>
            <a:ext cx="4826000" cy="6350"/>
          </a:xfrm>
          <a:prstGeom prst="rect">
            <a:avLst/>
          </a:prstGeom>
          <a:solidFill>
            <a:srgbClr val="D9DADB"/>
          </a:solidFill>
          <a:ln/>
        </p:spPr>
      </p:sp>
      <p:sp>
        <p:nvSpPr>
          <p:cNvPr id="62" name="Shape 60"/>
          <p:cNvSpPr/>
          <p:nvPr/>
        </p:nvSpPr>
        <p:spPr>
          <a:xfrm>
            <a:off x="6223000" y="2730500"/>
            <a:ext cx="5207000" cy="3302000"/>
          </a:xfrm>
          <a:prstGeom prst="rect">
            <a:avLst/>
          </a:prstGeom>
          <a:solidFill>
            <a:srgbClr val="EEEFEF"/>
          </a:solidFill>
          <a:ln/>
        </p:spPr>
      </p:sp>
      <p:sp>
        <p:nvSpPr>
          <p:cNvPr id="63" name="Text 61"/>
          <p:cNvSpPr/>
          <p:nvPr/>
        </p:nvSpPr>
        <p:spPr>
          <a:xfrm>
            <a:off x="6604000" y="3111500"/>
            <a:ext cx="7620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750" kern="0" spc="135" dirty="0">
                <a:solidFill>
                  <a:srgbClr val="C2340E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AI-FIRST SOFTWARE DEVELOPMENT</a:t>
            </a:r>
            <a:endParaRPr lang="en-US" sz="750" dirty="0"/>
          </a:p>
        </p:txBody>
      </p:sp>
      <p:sp>
        <p:nvSpPr>
          <p:cNvPr id="64" name="Text 62"/>
          <p:cNvSpPr/>
          <p:nvPr/>
        </p:nvSpPr>
        <p:spPr>
          <a:xfrm>
            <a:off x="6578600" y="3365500"/>
            <a:ext cx="4699000" cy="107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3000" b="1" kern="0" spc="-72" dirty="0">
                <a:solidFill>
                  <a:srgbClr val="1D1E2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Finish what the</a:t>
            </a:r>
            <a:endParaRPr lang="en-US" sz="3000" dirty="0"/>
          </a:p>
          <a:p>
            <a:pPr marL="0" indent="0" algn="l">
              <a:lnSpc>
                <a:spcPct val="98000"/>
              </a:lnSpc>
              <a:buNone/>
            </a:pPr>
            <a:r>
              <a:rPr lang="en-US" sz="3000" b="1" kern="0" spc="-72" dirty="0">
                <a:solidFill>
                  <a:srgbClr val="1D1E2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last team started.</a:t>
            </a:r>
            <a:endParaRPr lang="en-US" sz="3000" dirty="0"/>
          </a:p>
        </p:txBody>
      </p:sp>
      <p:sp>
        <p:nvSpPr>
          <p:cNvPr id="65" name="Text 63"/>
          <p:cNvSpPr/>
          <p:nvPr/>
        </p:nvSpPr>
        <p:spPr>
          <a:xfrm>
            <a:off x="6604000" y="4572000"/>
            <a:ext cx="4445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100" dirty="0">
                <a:solidFill>
                  <a:srgbClr val="5E6166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Stalled build or an AI prototype that hit a wall. One team takes it to launch.</a:t>
            </a:r>
            <a:endParaRPr lang="en-US" sz="1100" dirty="0"/>
          </a:p>
        </p:txBody>
      </p:sp>
      <p:sp>
        <p:nvSpPr>
          <p:cNvPr id="66" name="Shape 64"/>
          <p:cNvSpPr/>
          <p:nvPr/>
        </p:nvSpPr>
        <p:spPr>
          <a:xfrm>
            <a:off x="6604000" y="5334000"/>
            <a:ext cx="1651000" cy="381000"/>
          </a:xfrm>
          <a:custGeom>
            <a:avLst/>
            <a:gdLst/>
            <a:ahLst/>
            <a:cxnLst/>
            <a:rect l="l" t="t" r="r" b="b"/>
            <a:pathLst>
              <a:path w="1651000" h="381000">
                <a:moveTo>
                  <a:pt x="0" y="0"/>
                </a:moveTo>
                <a:lnTo>
                  <a:pt x="1587500" y="0"/>
                </a:lnTo>
                <a:lnTo>
                  <a:pt x="1651000" y="63500"/>
                </a:lnTo>
                <a:lnTo>
                  <a:pt x="1651000" y="381000"/>
                </a:lnTo>
                <a:lnTo>
                  <a:pt x="0" y="381000"/>
                </a:lnTo>
                <a:close/>
              </a:path>
            </a:pathLst>
          </a:custGeom>
          <a:solidFill>
            <a:srgbClr val="FF4A1C"/>
          </a:solidFill>
          <a:ln/>
        </p:spPr>
      </p:sp>
      <p:sp>
        <p:nvSpPr>
          <p:cNvPr id="67" name="Text 65"/>
          <p:cNvSpPr/>
          <p:nvPr/>
        </p:nvSpPr>
        <p:spPr>
          <a:xfrm>
            <a:off x="6604000" y="5334000"/>
            <a:ext cx="1651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900" dirty="0">
                <a:solidFill>
                  <a:srgbClr val="1D1E21"/>
                </a:solidFill>
                <a:latin typeface="Wix Madefor Text SemiBold" pitchFamily="34" charset="0"/>
                <a:ea typeface="Wix Madefor Text SemiBold" pitchFamily="34" charset="-122"/>
                <a:cs typeface="Wix Madefor Text SemiBold" pitchFamily="34" charset="-120"/>
              </a:rPr>
              <a:t>Talk to an engineer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8382000" y="5340350"/>
            <a:ext cx="1460500" cy="368300"/>
          </a:xfrm>
          <a:prstGeom prst="rect">
            <a:avLst/>
          </a:prstGeom>
          <a:ln w="13970">
            <a:solidFill>
              <a:srgbClr val="1D1E21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8382000" y="5340350"/>
            <a:ext cx="1460500" cy="368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900" dirty="0">
                <a:solidFill>
                  <a:srgbClr val="1D1E21"/>
                </a:solidFill>
                <a:latin typeface="Wix Madefor Text SemiBold" pitchFamily="34" charset="0"/>
                <a:ea typeface="Wix Madefor Text SemiBold" pitchFamily="34" charset="-122"/>
                <a:cs typeface="Wix Madefor Text SemiBold" pitchFamily="34" charset="-120"/>
              </a:rPr>
              <a:t>See our work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314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/Claude-Projects/Projects/TekRevol/01-brand-system/deck-v6/art/cyan-exp-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5715000" cy="6858000"/>
          </a:xfrm>
          <a:prstGeom prst="rect">
            <a:avLst/>
          </a:prstGeom>
          <a:solidFill>
            <a:srgbClr val="131417">
              <a:alpha val="85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762000" y="2667000"/>
            <a:ext cx="7620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00" kern="0" spc="162" dirty="0">
                <a:solidFill>
                  <a:srgbClr val="3EC5D1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04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736600" y="2984500"/>
            <a:ext cx="50800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6000" b="1" kern="0" spc="-144" dirty="0">
                <a:solidFill>
                  <a:srgbClr val="FFFFFF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Graphic</a:t>
            </a:r>
            <a:endParaRPr lang="en-US" sz="6000" dirty="0"/>
          </a:p>
          <a:p>
            <a:pPr marL="0" indent="0" algn="l">
              <a:lnSpc>
                <a:spcPct val="98000"/>
              </a:lnSpc>
              <a:buNone/>
            </a:pPr>
            <a:r>
              <a:rPr lang="en-US" sz="6000" b="1" kern="0" spc="-144" dirty="0">
                <a:solidFill>
                  <a:srgbClr val="FFFFFF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language</a:t>
            </a:r>
            <a:endParaRPr lang="en-US" sz="6000" dirty="0"/>
          </a:p>
        </p:txBody>
      </p:sp>
      <p:sp>
        <p:nvSpPr>
          <p:cNvPr id="6" name="Text 3"/>
          <p:cNvSpPr/>
          <p:nvPr/>
        </p:nvSpPr>
        <p:spPr>
          <a:xfrm>
            <a:off x="787400" y="4826000"/>
            <a:ext cx="4445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300" dirty="0">
                <a:solidFill>
                  <a:srgbClr val="8B8E94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Structured chaos, drawn: many attempts, one path that ships.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762000" y="6350000"/>
            <a:ext cx="3810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750" dirty="0">
                <a:solidFill>
                  <a:srgbClr val="8B8E94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TekRevol Brand Guidelines</a:t>
            </a:r>
            <a:endParaRPr lang="en-US" sz="750" dirty="0"/>
          </a:p>
        </p:txBody>
      </p:sp>
      <p:sp>
        <p:nvSpPr>
          <p:cNvPr id="8" name="Text 5"/>
          <p:cNvSpPr/>
          <p:nvPr/>
        </p:nvSpPr>
        <p:spPr>
          <a:xfrm>
            <a:off x="10160000" y="6350000"/>
            <a:ext cx="1270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15000"/>
              </a:lnSpc>
              <a:buNone/>
            </a:pPr>
            <a:r>
              <a:rPr lang="en-US" sz="750" dirty="0">
                <a:solidFill>
                  <a:srgbClr val="8B8E94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18</a:t>
            </a:r>
            <a:endParaRPr lang="en-US" sz="7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33400"/>
            <a:ext cx="7620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700" kern="0" spc="126" dirty="0">
                <a:solidFill>
                  <a:srgbClr val="8A9097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GRAPHIC LANGUAGE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762000" y="6350000"/>
            <a:ext cx="3810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750" dirty="0">
                <a:solidFill>
                  <a:srgbClr val="8A9097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TekRevol Brand Guidelines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10160000" y="6350000"/>
            <a:ext cx="1270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15000"/>
              </a:lnSpc>
              <a:buNone/>
            </a:pPr>
            <a:r>
              <a:rPr lang="en-US" sz="750" dirty="0">
                <a:solidFill>
                  <a:srgbClr val="8A9097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19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762000" y="1587500"/>
            <a:ext cx="7620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00" kern="0" spc="144" dirty="0">
                <a:solidFill>
                  <a:srgbClr val="C2340E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THREE PATTERNS, ONE IDEA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36600" y="1905000"/>
            <a:ext cx="10160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3800" b="1" kern="0" spc="-91" dirty="0">
                <a:solidFill>
                  <a:srgbClr val="1D1E2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Never the same background twice.</a:t>
            </a:r>
            <a:endParaRPr lang="en-US" sz="3800" dirty="0"/>
          </a:p>
        </p:txBody>
      </p:sp>
      <p:pic>
        <p:nvPicPr>
          <p:cNvPr id="7" name="Image 0" descr="C:/Claude-Projects/Projects/TekRevol/01-brand-system/deck-v6/art/cyan-tile-ex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2794000"/>
            <a:ext cx="3429000" cy="257175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62000" y="5511800"/>
            <a:ext cx="3429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400" dirty="0">
                <a:solidFill>
                  <a:srgbClr val="1D1E21"/>
                </a:solidFill>
                <a:latin typeface="Funnel Display SemiBold" pitchFamily="34" charset="0"/>
                <a:ea typeface="Funnel Display SemiBold" pitchFamily="34" charset="-122"/>
                <a:cs typeface="Funnel Display SemiBold" pitchFamily="34" charset="-120"/>
              </a:rPr>
              <a:t>Experiment field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62000" y="5778500"/>
            <a:ext cx="3302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850" dirty="0">
                <a:solidFill>
                  <a:srgbClr val="5E6166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Many tries, one path through. For covers of strategy, process and case-study pages.</a:t>
            </a:r>
            <a:endParaRPr lang="en-US" sz="850" dirty="0"/>
          </a:p>
        </p:txBody>
      </p:sp>
      <p:pic>
        <p:nvPicPr>
          <p:cNvPr id="10" name="Image 1" descr="C:/Claude-Projects/Projects/TekRevol/01-brand-system/deck-v6/art/cyan-tile-it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1500" y="2794000"/>
            <a:ext cx="3429000" cy="257175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381500" y="5511800"/>
            <a:ext cx="3429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400" dirty="0">
                <a:solidFill>
                  <a:srgbClr val="1D1E21"/>
                </a:solidFill>
                <a:latin typeface="Funnel Display SemiBold" pitchFamily="34" charset="0"/>
                <a:ea typeface="Funnel Display SemiBold" pitchFamily="34" charset="-122"/>
                <a:cs typeface="Funnel Display SemiBold" pitchFamily="34" charset="-120"/>
              </a:rPr>
              <a:t>Iteration lines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4381500" y="5778500"/>
            <a:ext cx="3302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850" dirty="0">
                <a:solidFill>
                  <a:srgbClr val="5E6166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Rough attempts that settle into one clean line. For covers and campaign visuals.</a:t>
            </a:r>
            <a:endParaRPr lang="en-US" sz="850" dirty="0"/>
          </a:p>
        </p:txBody>
      </p:sp>
      <p:pic>
        <p:nvPicPr>
          <p:cNvPr id="13" name="Image 2" descr="C:/Claude-Projects/Projects/TekRevol/01-brand-system/deck-v6/art/cyan-tile-is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01000" y="2794000"/>
            <a:ext cx="3429000" cy="257175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001000" y="5511800"/>
            <a:ext cx="3429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400" dirty="0">
                <a:solidFill>
                  <a:srgbClr val="1D1E21"/>
                </a:solidFill>
                <a:latin typeface="Funnel Display SemiBold" pitchFamily="34" charset="0"/>
                <a:ea typeface="Funnel Display SemiBold" pitchFamily="34" charset="-122"/>
                <a:cs typeface="Funnel Display SemiBold" pitchFamily="34" charset="-120"/>
              </a:rPr>
              <a:t>Layer planes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8001000" y="5778500"/>
            <a:ext cx="3302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850" dirty="0">
                <a:solidFill>
                  <a:srgbClr val="5E6166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Stacked layers, the newest lit orange. For architecture and section openers.</a:t>
            </a:r>
            <a:endParaRPr lang="en-US" sz="8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EEEF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33400"/>
            <a:ext cx="7620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700" kern="0" spc="126" dirty="0">
                <a:solidFill>
                  <a:srgbClr val="8A9097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GRAPHIC LANGUAGE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762000" y="6350000"/>
            <a:ext cx="3810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750" dirty="0">
                <a:solidFill>
                  <a:srgbClr val="8A9097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TekRevol Brand Guidelines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10160000" y="6350000"/>
            <a:ext cx="1270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15000"/>
              </a:lnSpc>
              <a:buNone/>
            </a:pPr>
            <a:r>
              <a:rPr lang="en-US" sz="750" dirty="0">
                <a:solidFill>
                  <a:srgbClr val="8A9097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20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762000" y="1587500"/>
            <a:ext cx="7620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00" kern="0" spc="144" dirty="0">
                <a:solidFill>
                  <a:srgbClr val="C2340E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DIAGRAMS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36600" y="1905000"/>
            <a:ext cx="10160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3800" b="1" kern="0" spc="-91" dirty="0">
                <a:solidFill>
                  <a:srgbClr val="1D1E2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Cyan explores. Orange ships.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762000" y="2794000"/>
            <a:ext cx="6731000" cy="3302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Shape 6"/>
          <p:cNvSpPr/>
          <p:nvPr/>
        </p:nvSpPr>
        <p:spPr>
          <a:xfrm>
            <a:off x="1079500" y="3048000"/>
            <a:ext cx="1333500" cy="304800"/>
          </a:xfrm>
          <a:custGeom>
            <a:avLst/>
            <a:gdLst/>
            <a:ahLst/>
            <a:cxnLst/>
            <a:rect l="l" t="t" r="r" b="b"/>
            <a:pathLst>
              <a:path w="1333500" h="304800">
                <a:moveTo>
                  <a:pt x="0" y="0"/>
                </a:moveTo>
                <a:lnTo>
                  <a:pt x="1270000" y="0"/>
                </a:lnTo>
                <a:lnTo>
                  <a:pt x="1333500" y="63500"/>
                </a:lnTo>
                <a:lnTo>
                  <a:pt x="1333500" y="304800"/>
                </a:lnTo>
                <a:lnTo>
                  <a:pt x="0" y="304800"/>
                </a:lnTo>
                <a:close/>
              </a:path>
            </a:pathLst>
          </a:custGeom>
          <a:solidFill>
            <a:srgbClr val="FFFFFF"/>
          </a:solidFill>
          <a:ln w="9525">
            <a:solidFill>
              <a:srgbClr val="C9CCCF"/>
            </a:solidFill>
            <a:prstDash val="solid"/>
          </a:ln>
        </p:spPr>
      </p:sp>
      <p:pic>
        <p:nvPicPr>
          <p:cNvPr id="9" name="Image 0" descr="C:/Claude-Projects/Projects/TekRevol/01-brand-system/deck-v6/art/ic-sparkles-1D1E2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8400" y="3130550"/>
            <a:ext cx="139700" cy="1397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384300" y="3048000"/>
            <a:ext cx="9779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700" kern="0" spc="130" dirty="0">
                <a:solidFill>
                  <a:srgbClr val="1D1E21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PROTOTYPE</a:t>
            </a:r>
            <a:endParaRPr lang="en-US" sz="700" dirty="0"/>
          </a:p>
        </p:txBody>
      </p:sp>
      <p:sp>
        <p:nvSpPr>
          <p:cNvPr id="11" name="Shape 8"/>
          <p:cNvSpPr/>
          <p:nvPr/>
        </p:nvSpPr>
        <p:spPr>
          <a:xfrm>
            <a:off x="2857500" y="3556000"/>
            <a:ext cx="1333500" cy="304800"/>
          </a:xfrm>
          <a:custGeom>
            <a:avLst/>
            <a:gdLst/>
            <a:ahLst/>
            <a:cxnLst/>
            <a:rect l="l" t="t" r="r" b="b"/>
            <a:pathLst>
              <a:path w="1333500" h="304800">
                <a:moveTo>
                  <a:pt x="0" y="0"/>
                </a:moveTo>
                <a:lnTo>
                  <a:pt x="1270000" y="0"/>
                </a:lnTo>
                <a:lnTo>
                  <a:pt x="1333500" y="63500"/>
                </a:lnTo>
                <a:lnTo>
                  <a:pt x="1333500" y="304800"/>
                </a:lnTo>
                <a:lnTo>
                  <a:pt x="0" y="304800"/>
                </a:lnTo>
                <a:close/>
              </a:path>
            </a:pathLst>
          </a:custGeom>
          <a:solidFill>
            <a:srgbClr val="FFFFFF"/>
          </a:solidFill>
          <a:ln w="15875">
            <a:solidFill>
              <a:srgbClr val="3EC5D1"/>
            </a:solidFill>
            <a:prstDash val="solid"/>
          </a:ln>
        </p:spPr>
      </p:sp>
      <p:pic>
        <p:nvPicPr>
          <p:cNvPr id="12" name="Image 1" descr="C:/Claude-Projects/Projects/TekRevol/01-brand-system/deck-v6/art/ic-flask-conical-1D1E2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46400" y="3638550"/>
            <a:ext cx="139700" cy="1397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162300" y="3556000"/>
            <a:ext cx="9779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700" kern="0" spc="130" dirty="0">
                <a:solidFill>
                  <a:srgbClr val="1D1E21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SPIKE A</a:t>
            </a:r>
            <a:endParaRPr lang="en-US" sz="700" dirty="0"/>
          </a:p>
        </p:txBody>
      </p:sp>
      <p:sp>
        <p:nvSpPr>
          <p:cNvPr id="14" name="Shape 10"/>
          <p:cNvSpPr/>
          <p:nvPr/>
        </p:nvSpPr>
        <p:spPr>
          <a:xfrm>
            <a:off x="2857500" y="4318000"/>
            <a:ext cx="1333500" cy="304800"/>
          </a:xfrm>
          <a:custGeom>
            <a:avLst/>
            <a:gdLst/>
            <a:ahLst/>
            <a:cxnLst/>
            <a:rect l="l" t="t" r="r" b="b"/>
            <a:pathLst>
              <a:path w="1333500" h="304800">
                <a:moveTo>
                  <a:pt x="0" y="0"/>
                </a:moveTo>
                <a:lnTo>
                  <a:pt x="1270000" y="0"/>
                </a:lnTo>
                <a:lnTo>
                  <a:pt x="1333500" y="63500"/>
                </a:lnTo>
                <a:lnTo>
                  <a:pt x="1333500" y="304800"/>
                </a:lnTo>
                <a:lnTo>
                  <a:pt x="0" y="304800"/>
                </a:lnTo>
                <a:close/>
              </a:path>
            </a:pathLst>
          </a:custGeom>
          <a:solidFill>
            <a:srgbClr val="FFFFFF"/>
          </a:solidFill>
          <a:ln w="15875">
            <a:solidFill>
              <a:srgbClr val="3EC5D1"/>
            </a:solidFill>
            <a:prstDash val="solid"/>
          </a:ln>
        </p:spPr>
      </p:sp>
      <p:pic>
        <p:nvPicPr>
          <p:cNvPr id="15" name="Image 2" descr="C:/Claude-Projects/Projects/TekRevol/01-brand-system/deck-v6/art/ic-flask-conical-1D1E2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46400" y="4400550"/>
            <a:ext cx="139700" cy="13970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3162300" y="4318000"/>
            <a:ext cx="9779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700" kern="0" spc="130" dirty="0">
                <a:solidFill>
                  <a:srgbClr val="1D1E21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SPIKE B</a:t>
            </a:r>
            <a:endParaRPr lang="en-US" sz="700" dirty="0"/>
          </a:p>
        </p:txBody>
      </p:sp>
      <p:sp>
        <p:nvSpPr>
          <p:cNvPr id="17" name="Shape 12"/>
          <p:cNvSpPr/>
          <p:nvPr/>
        </p:nvSpPr>
        <p:spPr>
          <a:xfrm>
            <a:off x="2857500" y="5080000"/>
            <a:ext cx="1333500" cy="304800"/>
          </a:xfrm>
          <a:custGeom>
            <a:avLst/>
            <a:gdLst/>
            <a:ahLst/>
            <a:cxnLst/>
            <a:rect l="l" t="t" r="r" b="b"/>
            <a:pathLst>
              <a:path w="1333500" h="304800">
                <a:moveTo>
                  <a:pt x="0" y="0"/>
                </a:moveTo>
                <a:lnTo>
                  <a:pt x="1270000" y="0"/>
                </a:lnTo>
                <a:lnTo>
                  <a:pt x="1333500" y="63500"/>
                </a:lnTo>
                <a:lnTo>
                  <a:pt x="1333500" y="304800"/>
                </a:lnTo>
                <a:lnTo>
                  <a:pt x="0" y="304800"/>
                </a:lnTo>
                <a:close/>
              </a:path>
            </a:pathLst>
          </a:custGeom>
          <a:solidFill>
            <a:srgbClr val="FFFFFF"/>
          </a:solidFill>
          <a:ln w="15875">
            <a:solidFill>
              <a:srgbClr val="3EC5D1"/>
            </a:solidFill>
            <a:prstDash val="solid"/>
          </a:ln>
        </p:spPr>
      </p:sp>
      <p:pic>
        <p:nvPicPr>
          <p:cNvPr id="18" name="Image 3" descr="C:/Claude-Projects/Projects/TekRevol/01-brand-system/deck-v6/art/ic-flask-conical-1D1E2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46400" y="5162550"/>
            <a:ext cx="139700" cy="13970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3162300" y="5080000"/>
            <a:ext cx="9779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700" kern="0" spc="130" dirty="0">
                <a:solidFill>
                  <a:srgbClr val="1D1E21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SPIKE C</a:t>
            </a:r>
            <a:endParaRPr lang="en-US" sz="700" dirty="0"/>
          </a:p>
        </p:txBody>
      </p:sp>
      <p:sp>
        <p:nvSpPr>
          <p:cNvPr id="20" name="Shape 14"/>
          <p:cNvSpPr/>
          <p:nvPr/>
        </p:nvSpPr>
        <p:spPr>
          <a:xfrm>
            <a:off x="4635500" y="4318000"/>
            <a:ext cx="1333500" cy="304800"/>
          </a:xfrm>
          <a:custGeom>
            <a:avLst/>
            <a:gdLst/>
            <a:ahLst/>
            <a:cxnLst/>
            <a:rect l="l" t="t" r="r" b="b"/>
            <a:pathLst>
              <a:path w="1333500" h="304800">
                <a:moveTo>
                  <a:pt x="0" y="0"/>
                </a:moveTo>
                <a:lnTo>
                  <a:pt x="1270000" y="0"/>
                </a:lnTo>
                <a:lnTo>
                  <a:pt x="1333500" y="63500"/>
                </a:lnTo>
                <a:lnTo>
                  <a:pt x="1333500" y="304800"/>
                </a:lnTo>
                <a:lnTo>
                  <a:pt x="0" y="304800"/>
                </a:lnTo>
                <a:close/>
              </a:path>
            </a:pathLst>
          </a:custGeom>
          <a:solidFill>
            <a:srgbClr val="FFFFFF"/>
          </a:solidFill>
          <a:ln w="9525">
            <a:solidFill>
              <a:srgbClr val="C9CCCF"/>
            </a:solidFill>
            <a:prstDash val="solid"/>
          </a:ln>
        </p:spPr>
      </p:sp>
      <p:pic>
        <p:nvPicPr>
          <p:cNvPr id="21" name="Image 4" descr="C:/Claude-Projects/Projects/TekRevol/01-brand-system/deck-v6/art/ic-shield-check-1D1E2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24400" y="4400550"/>
            <a:ext cx="139700" cy="13970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4940300" y="4318000"/>
            <a:ext cx="9779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700" kern="0" spc="130" dirty="0">
                <a:solidFill>
                  <a:srgbClr val="1D1E21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HARDEN</a:t>
            </a:r>
            <a:endParaRPr lang="en-US" sz="700" dirty="0"/>
          </a:p>
        </p:txBody>
      </p:sp>
      <p:sp>
        <p:nvSpPr>
          <p:cNvPr id="23" name="Shape 16"/>
          <p:cNvSpPr/>
          <p:nvPr/>
        </p:nvSpPr>
        <p:spPr>
          <a:xfrm>
            <a:off x="5969000" y="5461000"/>
            <a:ext cx="1270000" cy="304800"/>
          </a:xfrm>
          <a:custGeom>
            <a:avLst/>
            <a:gdLst/>
            <a:ahLst/>
            <a:cxnLst/>
            <a:rect l="l" t="t" r="r" b="b"/>
            <a:pathLst>
              <a:path w="1270000" h="304800">
                <a:moveTo>
                  <a:pt x="0" y="0"/>
                </a:moveTo>
                <a:lnTo>
                  <a:pt x="1206500" y="0"/>
                </a:lnTo>
                <a:lnTo>
                  <a:pt x="1270000" y="63500"/>
                </a:lnTo>
                <a:lnTo>
                  <a:pt x="1270000" y="304800"/>
                </a:lnTo>
                <a:lnTo>
                  <a:pt x="0" y="304800"/>
                </a:lnTo>
                <a:close/>
              </a:path>
            </a:pathLst>
          </a:custGeom>
          <a:solidFill>
            <a:srgbClr val="FF4A1C"/>
          </a:solidFill>
          <a:ln w="9525">
            <a:solidFill>
              <a:srgbClr val="FF4A1C"/>
            </a:solidFill>
            <a:prstDash val="solid"/>
          </a:ln>
        </p:spPr>
      </p:sp>
      <p:pic>
        <p:nvPicPr>
          <p:cNvPr id="24" name="Image 5" descr="C:/Claude-Projects/Projects/TekRevol/01-brand-system/deck-v6/art/ic-rocket-1D1E2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57900" y="5543550"/>
            <a:ext cx="139700" cy="13970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6273800" y="5461000"/>
            <a:ext cx="914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700" kern="0" spc="130" dirty="0">
                <a:solidFill>
                  <a:srgbClr val="1D1E21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SHIP</a:t>
            </a:r>
            <a:endParaRPr lang="en-US" sz="700" dirty="0"/>
          </a:p>
        </p:txBody>
      </p:sp>
      <p:sp>
        <p:nvSpPr>
          <p:cNvPr id="26" name="Shape 18"/>
          <p:cNvSpPr/>
          <p:nvPr/>
        </p:nvSpPr>
        <p:spPr>
          <a:xfrm>
            <a:off x="1746250" y="3352800"/>
            <a:ext cx="64" cy="355600"/>
          </a:xfrm>
          <a:prstGeom prst="line">
            <a:avLst/>
          </a:prstGeom>
          <a:noFill/>
          <a:ln w="10160">
            <a:solidFill>
              <a:srgbClr val="3EC5D1"/>
            </a:solidFill>
            <a:prstDash val="dash"/>
          </a:ln>
        </p:spPr>
      </p:sp>
      <p:sp>
        <p:nvSpPr>
          <p:cNvPr id="27" name="Shape 19"/>
          <p:cNvSpPr/>
          <p:nvPr/>
        </p:nvSpPr>
        <p:spPr>
          <a:xfrm>
            <a:off x="1746250" y="3708400"/>
            <a:ext cx="1111250" cy="64"/>
          </a:xfrm>
          <a:prstGeom prst="line">
            <a:avLst/>
          </a:prstGeom>
          <a:noFill/>
          <a:ln w="10160">
            <a:solidFill>
              <a:srgbClr val="3EC5D1"/>
            </a:solidFill>
            <a:prstDash val="dash"/>
          </a:ln>
        </p:spPr>
      </p:sp>
      <p:sp>
        <p:nvSpPr>
          <p:cNvPr id="28" name="Shape 20"/>
          <p:cNvSpPr/>
          <p:nvPr/>
        </p:nvSpPr>
        <p:spPr>
          <a:xfrm>
            <a:off x="1746250" y="3708400"/>
            <a:ext cx="64" cy="1524000"/>
          </a:xfrm>
          <a:prstGeom prst="line">
            <a:avLst/>
          </a:prstGeom>
          <a:noFill/>
          <a:ln w="10160">
            <a:solidFill>
              <a:srgbClr val="3EC5D1"/>
            </a:solidFill>
            <a:prstDash val="dash"/>
          </a:ln>
        </p:spPr>
      </p:sp>
      <p:sp>
        <p:nvSpPr>
          <p:cNvPr id="29" name="Shape 21"/>
          <p:cNvSpPr/>
          <p:nvPr/>
        </p:nvSpPr>
        <p:spPr>
          <a:xfrm>
            <a:off x="1746250" y="5232400"/>
            <a:ext cx="1111250" cy="64"/>
          </a:xfrm>
          <a:prstGeom prst="line">
            <a:avLst/>
          </a:prstGeom>
          <a:noFill/>
          <a:ln w="10160">
            <a:solidFill>
              <a:srgbClr val="3EC5D1"/>
            </a:solidFill>
            <a:prstDash val="dash"/>
          </a:ln>
        </p:spPr>
      </p:sp>
      <p:sp>
        <p:nvSpPr>
          <p:cNvPr id="30" name="Shape 22"/>
          <p:cNvSpPr/>
          <p:nvPr/>
        </p:nvSpPr>
        <p:spPr>
          <a:xfrm>
            <a:off x="4191000" y="3708400"/>
            <a:ext cx="254000" cy="64"/>
          </a:xfrm>
          <a:prstGeom prst="line">
            <a:avLst/>
          </a:prstGeom>
          <a:noFill/>
          <a:ln w="10160">
            <a:solidFill>
              <a:srgbClr val="3EC5D1"/>
            </a:solidFill>
            <a:prstDash val="dash"/>
          </a:ln>
        </p:spPr>
      </p:sp>
      <p:sp>
        <p:nvSpPr>
          <p:cNvPr id="31" name="Shape 23"/>
          <p:cNvSpPr/>
          <p:nvPr/>
        </p:nvSpPr>
        <p:spPr>
          <a:xfrm>
            <a:off x="4191000" y="5232400"/>
            <a:ext cx="254000" cy="64"/>
          </a:xfrm>
          <a:prstGeom prst="line">
            <a:avLst/>
          </a:prstGeom>
          <a:noFill/>
          <a:ln w="10160">
            <a:solidFill>
              <a:srgbClr val="3EC5D1"/>
            </a:solidFill>
            <a:prstDash val="dash"/>
          </a:ln>
        </p:spPr>
      </p:sp>
      <p:sp>
        <p:nvSpPr>
          <p:cNvPr id="32" name="Shape 24"/>
          <p:cNvSpPr/>
          <p:nvPr/>
        </p:nvSpPr>
        <p:spPr>
          <a:xfrm>
            <a:off x="1746250" y="3352800"/>
            <a:ext cx="64" cy="1117600"/>
          </a:xfrm>
          <a:prstGeom prst="line">
            <a:avLst/>
          </a:prstGeom>
          <a:noFill/>
          <a:ln w="19050">
            <a:solidFill>
              <a:srgbClr val="FF4A1C"/>
            </a:solidFill>
            <a:prstDash val="solid"/>
          </a:ln>
        </p:spPr>
      </p:sp>
      <p:sp>
        <p:nvSpPr>
          <p:cNvPr id="33" name="Shape 25"/>
          <p:cNvSpPr/>
          <p:nvPr/>
        </p:nvSpPr>
        <p:spPr>
          <a:xfrm>
            <a:off x="1746250" y="4470400"/>
            <a:ext cx="1111250" cy="64"/>
          </a:xfrm>
          <a:prstGeom prst="line">
            <a:avLst/>
          </a:prstGeom>
          <a:noFill/>
          <a:ln w="19050">
            <a:solidFill>
              <a:srgbClr val="FF4A1C"/>
            </a:solidFill>
            <a:prstDash val="solid"/>
          </a:ln>
        </p:spPr>
      </p:sp>
      <p:sp>
        <p:nvSpPr>
          <p:cNvPr id="34" name="Shape 26"/>
          <p:cNvSpPr/>
          <p:nvPr/>
        </p:nvSpPr>
        <p:spPr>
          <a:xfrm>
            <a:off x="4191000" y="4470400"/>
            <a:ext cx="444500" cy="64"/>
          </a:xfrm>
          <a:prstGeom prst="line">
            <a:avLst/>
          </a:prstGeom>
          <a:noFill/>
          <a:ln w="19050">
            <a:solidFill>
              <a:srgbClr val="FF4A1C"/>
            </a:solidFill>
            <a:prstDash val="solid"/>
          </a:ln>
        </p:spPr>
      </p:sp>
      <p:sp>
        <p:nvSpPr>
          <p:cNvPr id="35" name="Shape 27"/>
          <p:cNvSpPr/>
          <p:nvPr/>
        </p:nvSpPr>
        <p:spPr>
          <a:xfrm>
            <a:off x="5302250" y="4622800"/>
            <a:ext cx="64" cy="990600"/>
          </a:xfrm>
          <a:prstGeom prst="line">
            <a:avLst/>
          </a:prstGeom>
          <a:noFill/>
          <a:ln w="19050">
            <a:solidFill>
              <a:srgbClr val="FF4A1C"/>
            </a:solidFill>
            <a:prstDash val="solid"/>
          </a:ln>
        </p:spPr>
      </p:sp>
      <p:sp>
        <p:nvSpPr>
          <p:cNvPr id="36" name="Shape 28"/>
          <p:cNvSpPr/>
          <p:nvPr/>
        </p:nvSpPr>
        <p:spPr>
          <a:xfrm>
            <a:off x="5302250" y="5613400"/>
            <a:ext cx="666750" cy="64"/>
          </a:xfrm>
          <a:prstGeom prst="line">
            <a:avLst/>
          </a:prstGeom>
          <a:noFill/>
          <a:ln w="19050">
            <a:solidFill>
              <a:srgbClr val="FF4A1C"/>
            </a:solidFill>
            <a:prstDash val="solid"/>
          </a:ln>
        </p:spPr>
      </p:sp>
      <p:sp>
        <p:nvSpPr>
          <p:cNvPr id="37" name="Shape 29"/>
          <p:cNvSpPr/>
          <p:nvPr/>
        </p:nvSpPr>
        <p:spPr>
          <a:xfrm>
            <a:off x="1701800" y="3314700"/>
            <a:ext cx="88900" cy="88900"/>
          </a:xfrm>
          <a:prstGeom prst="ellipse">
            <a:avLst/>
          </a:prstGeom>
          <a:solidFill>
            <a:srgbClr val="FF4A1C"/>
          </a:solidFill>
          <a:ln/>
        </p:spPr>
      </p:sp>
      <p:sp>
        <p:nvSpPr>
          <p:cNvPr id="38" name="Text 30"/>
          <p:cNvSpPr/>
          <p:nvPr/>
        </p:nvSpPr>
        <p:spPr>
          <a:xfrm>
            <a:off x="7874000" y="2857500"/>
            <a:ext cx="35560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00" dirty="0">
                <a:solidFill>
                  <a:srgbClr val="1D1E21"/>
                </a:solidFill>
                <a:latin typeface="Wix Madefor Text SemiBold" pitchFamily="34" charset="0"/>
                <a:ea typeface="Wix Madefor Text SemiBold" pitchFamily="34" charset="-122"/>
                <a:cs typeface="Wix Madefor Text SemiBold" pitchFamily="34" charset="-120"/>
              </a:rPr>
              <a:t>Explore</a:t>
            </a:r>
            <a:endParaRPr lang="en-US" sz="1100" dirty="0"/>
          </a:p>
        </p:txBody>
      </p:sp>
      <p:sp>
        <p:nvSpPr>
          <p:cNvPr id="39" name="Text 31"/>
          <p:cNvSpPr/>
          <p:nvPr/>
        </p:nvSpPr>
        <p:spPr>
          <a:xfrm>
            <a:off x="7874000" y="3098800"/>
            <a:ext cx="3556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900" dirty="0">
                <a:solidFill>
                  <a:srgbClr val="5E6166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Cyan dashed lines and outlined nodes for experiments, options and spikes</a:t>
            </a:r>
            <a:endParaRPr lang="en-US" sz="900" dirty="0"/>
          </a:p>
        </p:txBody>
      </p:sp>
      <p:sp>
        <p:nvSpPr>
          <p:cNvPr id="40" name="Text 32"/>
          <p:cNvSpPr/>
          <p:nvPr/>
        </p:nvSpPr>
        <p:spPr>
          <a:xfrm>
            <a:off x="7874000" y="3619500"/>
            <a:ext cx="35560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00" dirty="0">
                <a:solidFill>
                  <a:srgbClr val="1D1E21"/>
                </a:solidFill>
                <a:latin typeface="Wix Madefor Text SemiBold" pitchFamily="34" charset="0"/>
                <a:ea typeface="Wix Madefor Text SemiBold" pitchFamily="34" charset="-122"/>
                <a:cs typeface="Wix Madefor Text SemiBold" pitchFamily="34" charset="-120"/>
              </a:rPr>
              <a:t>Ship</a:t>
            </a:r>
            <a:endParaRPr lang="en-US" sz="1100" dirty="0"/>
          </a:p>
        </p:txBody>
      </p:sp>
      <p:sp>
        <p:nvSpPr>
          <p:cNvPr id="41" name="Text 33"/>
          <p:cNvSpPr/>
          <p:nvPr/>
        </p:nvSpPr>
        <p:spPr>
          <a:xfrm>
            <a:off x="7874000" y="3860800"/>
            <a:ext cx="3556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900" dirty="0">
                <a:solidFill>
                  <a:srgbClr val="5E6166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One orange solid path, 3 px, from start to the filled orange result</a:t>
            </a:r>
            <a:endParaRPr lang="en-US" sz="900" dirty="0"/>
          </a:p>
        </p:txBody>
      </p:sp>
      <p:sp>
        <p:nvSpPr>
          <p:cNvPr id="42" name="Text 34"/>
          <p:cNvSpPr/>
          <p:nvPr/>
        </p:nvSpPr>
        <p:spPr>
          <a:xfrm>
            <a:off x="7874000" y="4381500"/>
            <a:ext cx="35560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00" dirty="0">
                <a:solidFill>
                  <a:srgbClr val="1D1E21"/>
                </a:solidFill>
                <a:latin typeface="Wix Madefor Text SemiBold" pitchFamily="34" charset="0"/>
                <a:ea typeface="Wix Madefor Text SemiBold" pitchFamily="34" charset="-122"/>
                <a:cs typeface="Wix Madefor Text SemiBold" pitchFamily="34" charset="-120"/>
              </a:rPr>
              <a:t>Shape</a:t>
            </a:r>
            <a:endParaRPr lang="en-US" sz="1100" dirty="0"/>
          </a:p>
        </p:txBody>
      </p:sp>
      <p:sp>
        <p:nvSpPr>
          <p:cNvPr id="43" name="Text 35"/>
          <p:cNvSpPr/>
          <p:nvPr/>
        </p:nvSpPr>
        <p:spPr>
          <a:xfrm>
            <a:off x="7874000" y="4622800"/>
            <a:ext cx="3556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900" dirty="0">
                <a:solidFill>
                  <a:srgbClr val="5E6166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Right angles only; notched nodes with a line icon and a mono label</a:t>
            </a:r>
            <a:endParaRPr lang="en-US" sz="900" dirty="0"/>
          </a:p>
        </p:txBody>
      </p:sp>
      <p:sp>
        <p:nvSpPr>
          <p:cNvPr id="44" name="Text 36"/>
          <p:cNvSpPr/>
          <p:nvPr/>
        </p:nvSpPr>
        <p:spPr>
          <a:xfrm>
            <a:off x="7874000" y="5143500"/>
            <a:ext cx="35560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00" dirty="0">
                <a:solidFill>
                  <a:srgbClr val="1D1E21"/>
                </a:solidFill>
                <a:latin typeface="Wix Madefor Text SemiBold" pitchFamily="34" charset="0"/>
                <a:ea typeface="Wix Madefor Text SemiBold" pitchFamily="34" charset="-122"/>
                <a:cs typeface="Wix Madefor Text SemiBold" pitchFamily="34" charset="-120"/>
              </a:rPr>
              <a:t>Keep it short</a:t>
            </a:r>
            <a:endParaRPr lang="en-US" sz="1100" dirty="0"/>
          </a:p>
        </p:txBody>
      </p:sp>
      <p:sp>
        <p:nvSpPr>
          <p:cNvPr id="45" name="Text 37"/>
          <p:cNvSpPr/>
          <p:nvPr/>
        </p:nvSpPr>
        <p:spPr>
          <a:xfrm>
            <a:off x="7874000" y="5384800"/>
            <a:ext cx="3556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900" dirty="0">
                <a:solidFill>
                  <a:srgbClr val="5E6166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4 to 7 nodes; label with verbs or real components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/Claude-Projects/Projects/TekRevol/01-brand-system/deck-v6/art/cyan-iso-l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4000" y="762000"/>
            <a:ext cx="5461000" cy="5715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62000" y="533400"/>
            <a:ext cx="7620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700" kern="0" spc="126" dirty="0">
                <a:solidFill>
                  <a:srgbClr val="8A9097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GRAPHIC LANGUAGE</a:t>
            </a:r>
            <a:endParaRPr lang="en-US" sz="700" dirty="0"/>
          </a:p>
        </p:txBody>
      </p:sp>
      <p:sp>
        <p:nvSpPr>
          <p:cNvPr id="4" name="Text 1"/>
          <p:cNvSpPr/>
          <p:nvPr/>
        </p:nvSpPr>
        <p:spPr>
          <a:xfrm>
            <a:off x="762000" y="6350000"/>
            <a:ext cx="3810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750" dirty="0">
                <a:solidFill>
                  <a:srgbClr val="8A9097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TekRevol Brand Guidelines</a:t>
            </a:r>
            <a:endParaRPr lang="en-US" sz="750" dirty="0"/>
          </a:p>
        </p:txBody>
      </p:sp>
      <p:sp>
        <p:nvSpPr>
          <p:cNvPr id="5" name="Text 2"/>
          <p:cNvSpPr/>
          <p:nvPr/>
        </p:nvSpPr>
        <p:spPr>
          <a:xfrm>
            <a:off x="10160000" y="6350000"/>
            <a:ext cx="1270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15000"/>
              </a:lnSpc>
              <a:buNone/>
            </a:pPr>
            <a:r>
              <a:rPr lang="en-US" sz="750" dirty="0">
                <a:solidFill>
                  <a:srgbClr val="8A9097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21</a:t>
            </a:r>
            <a:endParaRPr lang="en-US" sz="750" dirty="0"/>
          </a:p>
        </p:txBody>
      </p:sp>
      <p:sp>
        <p:nvSpPr>
          <p:cNvPr id="6" name="Text 3"/>
          <p:cNvSpPr/>
          <p:nvPr/>
        </p:nvSpPr>
        <p:spPr>
          <a:xfrm>
            <a:off x="762000" y="1587500"/>
            <a:ext cx="7620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00" kern="0" spc="144" dirty="0">
                <a:solidFill>
                  <a:srgbClr val="C2340E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SIGNATURE GRAPHIC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736600" y="1905000"/>
            <a:ext cx="5461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3800" b="1" kern="0" spc="-91" dirty="0">
                <a:solidFill>
                  <a:srgbClr val="1D1E2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The layer stack.</a:t>
            </a:r>
            <a:endParaRPr lang="en-US" sz="3800" dirty="0"/>
          </a:p>
        </p:txBody>
      </p:sp>
      <p:sp>
        <p:nvSpPr>
          <p:cNvPr id="8" name="Text 5"/>
          <p:cNvSpPr/>
          <p:nvPr/>
        </p:nvSpPr>
        <p:spPr>
          <a:xfrm>
            <a:off x="762000" y="2730500"/>
            <a:ext cx="5207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150" dirty="0">
                <a:solidFill>
                  <a:srgbClr val="5E6166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The real layers of AI-native software, stacked bottom to top. It is “better with every layer” made literal.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762000" y="3683000"/>
            <a:ext cx="5207000" cy="482600"/>
          </a:xfrm>
          <a:custGeom>
            <a:avLst/>
            <a:gdLst/>
            <a:ahLst/>
            <a:cxnLst/>
            <a:rect l="l" t="t" r="r" b="b"/>
            <a:pathLst>
              <a:path w="5207000" h="482600">
                <a:moveTo>
                  <a:pt x="0" y="0"/>
                </a:moveTo>
                <a:lnTo>
                  <a:pt x="5118100" y="0"/>
                </a:lnTo>
                <a:lnTo>
                  <a:pt x="5207000" y="88900"/>
                </a:lnTo>
                <a:lnTo>
                  <a:pt x="5207000" y="482600"/>
                </a:lnTo>
                <a:lnTo>
                  <a:pt x="0" y="482600"/>
                </a:lnTo>
                <a:close/>
              </a:path>
            </a:pathLst>
          </a:custGeom>
          <a:solidFill>
            <a:srgbClr val="FF4A1C"/>
          </a:solidFill>
          <a:ln w="9525">
            <a:solidFill>
              <a:srgbClr val="FF4A1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52500" y="3683000"/>
            <a:ext cx="3810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00" dirty="0">
                <a:solidFill>
                  <a:srgbClr val="1D1E21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04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1397000" y="3683000"/>
            <a:ext cx="16510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400" dirty="0">
                <a:solidFill>
                  <a:srgbClr val="1D1E21"/>
                </a:solidFill>
                <a:latin typeface="Funnel Display SemiBold" pitchFamily="34" charset="0"/>
                <a:ea typeface="Funnel Display SemiBold" pitchFamily="34" charset="-122"/>
                <a:cs typeface="Funnel Display SemiBold" pitchFamily="34" charset="-120"/>
              </a:rPr>
              <a:t>Product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3175000" y="3683000"/>
            <a:ext cx="26670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50" dirty="0">
                <a:solidFill>
                  <a:srgbClr val="1D1E21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Web, mobile, API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762000" y="4267200"/>
            <a:ext cx="5207000" cy="482600"/>
          </a:xfrm>
          <a:custGeom>
            <a:avLst/>
            <a:gdLst/>
            <a:ahLst/>
            <a:cxnLst/>
            <a:rect l="l" t="t" r="r" b="b"/>
            <a:pathLst>
              <a:path w="5207000" h="482600">
                <a:moveTo>
                  <a:pt x="0" y="0"/>
                </a:moveTo>
                <a:lnTo>
                  <a:pt x="5118100" y="0"/>
                </a:lnTo>
                <a:lnTo>
                  <a:pt x="5207000" y="88900"/>
                </a:lnTo>
                <a:lnTo>
                  <a:pt x="5207000" y="482600"/>
                </a:lnTo>
                <a:lnTo>
                  <a:pt x="0" y="482600"/>
                </a:lnTo>
                <a:close/>
              </a:path>
            </a:pathLst>
          </a:custGeom>
          <a:solidFill>
            <a:srgbClr val="FFFFFF"/>
          </a:solidFill>
          <a:ln w="9525">
            <a:solidFill>
              <a:srgbClr val="C9CCC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952500" y="4267200"/>
            <a:ext cx="3810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00" dirty="0">
                <a:solidFill>
                  <a:srgbClr val="8A9097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03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1397000" y="4267200"/>
            <a:ext cx="16510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400" dirty="0">
                <a:solidFill>
                  <a:srgbClr val="1D1E21"/>
                </a:solidFill>
                <a:latin typeface="Funnel Display SemiBold" pitchFamily="34" charset="0"/>
                <a:ea typeface="Funnel Display SemiBold" pitchFamily="34" charset="-122"/>
                <a:cs typeface="Funnel Display SemiBold" pitchFamily="34" charset="-120"/>
              </a:rPr>
              <a:t>Agents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3175000" y="4267200"/>
            <a:ext cx="26670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50" dirty="0">
                <a:solidFill>
                  <a:srgbClr val="5E6166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Planning, tools, memory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762000" y="4851400"/>
            <a:ext cx="5207000" cy="482600"/>
          </a:xfrm>
          <a:custGeom>
            <a:avLst/>
            <a:gdLst/>
            <a:ahLst/>
            <a:cxnLst/>
            <a:rect l="l" t="t" r="r" b="b"/>
            <a:pathLst>
              <a:path w="5207000" h="482600">
                <a:moveTo>
                  <a:pt x="0" y="0"/>
                </a:moveTo>
                <a:lnTo>
                  <a:pt x="5118100" y="0"/>
                </a:lnTo>
                <a:lnTo>
                  <a:pt x="5207000" y="88900"/>
                </a:lnTo>
                <a:lnTo>
                  <a:pt x="5207000" y="482600"/>
                </a:lnTo>
                <a:lnTo>
                  <a:pt x="0" y="482600"/>
                </a:lnTo>
                <a:close/>
              </a:path>
            </a:pathLst>
          </a:custGeom>
          <a:solidFill>
            <a:srgbClr val="FFFFFF"/>
          </a:solidFill>
          <a:ln w="9525">
            <a:solidFill>
              <a:srgbClr val="C9CCCF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952500" y="4851400"/>
            <a:ext cx="3810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00" dirty="0">
                <a:solidFill>
                  <a:srgbClr val="8A9097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02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1397000" y="4851400"/>
            <a:ext cx="16510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400" dirty="0">
                <a:solidFill>
                  <a:srgbClr val="1D1E21"/>
                </a:solidFill>
                <a:latin typeface="Funnel Display SemiBold" pitchFamily="34" charset="0"/>
                <a:ea typeface="Funnel Display SemiBold" pitchFamily="34" charset="-122"/>
                <a:cs typeface="Funnel Display SemiBold" pitchFamily="34" charset="-120"/>
              </a:rPr>
              <a:t>Models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3175000" y="4851400"/>
            <a:ext cx="26670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50" dirty="0">
                <a:solidFill>
                  <a:srgbClr val="5E6166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LLMs, embeddings, evals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762000" y="5435600"/>
            <a:ext cx="5207000" cy="482600"/>
          </a:xfrm>
          <a:custGeom>
            <a:avLst/>
            <a:gdLst/>
            <a:ahLst/>
            <a:cxnLst/>
            <a:rect l="l" t="t" r="r" b="b"/>
            <a:pathLst>
              <a:path w="5207000" h="482600">
                <a:moveTo>
                  <a:pt x="0" y="0"/>
                </a:moveTo>
                <a:lnTo>
                  <a:pt x="5118100" y="0"/>
                </a:lnTo>
                <a:lnTo>
                  <a:pt x="5207000" y="88900"/>
                </a:lnTo>
                <a:lnTo>
                  <a:pt x="5207000" y="482600"/>
                </a:lnTo>
                <a:lnTo>
                  <a:pt x="0" y="482600"/>
                </a:lnTo>
                <a:close/>
              </a:path>
            </a:pathLst>
          </a:custGeom>
          <a:solidFill>
            <a:srgbClr val="FFFFFF"/>
          </a:solidFill>
          <a:ln w="9525">
            <a:solidFill>
              <a:srgbClr val="C9CCCF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952500" y="5435600"/>
            <a:ext cx="3810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00" dirty="0">
                <a:solidFill>
                  <a:srgbClr val="8A9097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01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1397000" y="5435600"/>
            <a:ext cx="16510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400" dirty="0">
                <a:solidFill>
                  <a:srgbClr val="1D1E21"/>
                </a:solidFill>
                <a:latin typeface="Funnel Display SemiBold" pitchFamily="34" charset="0"/>
                <a:ea typeface="Funnel Display SemiBold" pitchFamily="34" charset="-122"/>
                <a:cs typeface="Funnel Display SemiBold" pitchFamily="34" charset="-120"/>
              </a:rPr>
              <a:t>Data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3175000" y="5435600"/>
            <a:ext cx="26670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50" dirty="0">
                <a:solidFill>
                  <a:srgbClr val="5E6166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Warehouse, APIs, events</a:t>
            </a:r>
            <a:endParaRPr lang="en-US" sz="9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33400"/>
            <a:ext cx="7620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700" kern="0" spc="126" dirty="0">
                <a:solidFill>
                  <a:srgbClr val="8A9097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GRAPHIC LANGUAGE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762000" y="6350000"/>
            <a:ext cx="3810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750" dirty="0">
                <a:solidFill>
                  <a:srgbClr val="8A9097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TekRevol Brand Guidelines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10160000" y="6350000"/>
            <a:ext cx="1270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15000"/>
              </a:lnSpc>
              <a:buNone/>
            </a:pPr>
            <a:r>
              <a:rPr lang="en-US" sz="750" dirty="0">
                <a:solidFill>
                  <a:srgbClr val="8A9097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22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762000" y="1587500"/>
            <a:ext cx="7620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00" kern="0" spc="144" dirty="0">
                <a:solidFill>
                  <a:srgbClr val="C2340E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SHAPE AND SPACE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36600" y="1905000"/>
            <a:ext cx="10160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3800" b="1" kern="0" spc="-91" dirty="0">
                <a:solidFill>
                  <a:srgbClr val="1D1E2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Square, with one signature corner.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762000" y="2794000"/>
            <a:ext cx="3429000" cy="2794000"/>
          </a:xfrm>
          <a:prstGeom prst="rect">
            <a:avLst/>
          </a:prstGeom>
          <a:solidFill>
            <a:srgbClr val="EEEFEF"/>
          </a:solidFill>
          <a:ln/>
        </p:spPr>
      </p:sp>
      <p:sp>
        <p:nvSpPr>
          <p:cNvPr id="8" name="Shape 6"/>
          <p:cNvSpPr/>
          <p:nvPr/>
        </p:nvSpPr>
        <p:spPr>
          <a:xfrm>
            <a:off x="1206500" y="3238500"/>
            <a:ext cx="2540000" cy="1397000"/>
          </a:xfrm>
          <a:custGeom>
            <a:avLst/>
            <a:gdLst/>
            <a:ahLst/>
            <a:cxnLst/>
            <a:rect l="l" t="t" r="r" b="b"/>
            <a:pathLst>
              <a:path w="2540000" h="1397000">
                <a:moveTo>
                  <a:pt x="0" y="0"/>
                </a:moveTo>
                <a:lnTo>
                  <a:pt x="2286000" y="0"/>
                </a:lnTo>
                <a:lnTo>
                  <a:pt x="2540000" y="254000"/>
                </a:lnTo>
                <a:lnTo>
                  <a:pt x="2540000" y="1397000"/>
                </a:lnTo>
                <a:lnTo>
                  <a:pt x="0" y="139700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1206500" y="4889500"/>
            <a:ext cx="1524000" cy="381000"/>
          </a:xfrm>
          <a:custGeom>
            <a:avLst/>
            <a:gdLst/>
            <a:ahLst/>
            <a:cxnLst/>
            <a:rect l="l" t="t" r="r" b="b"/>
            <a:pathLst>
              <a:path w="1524000" h="381000">
                <a:moveTo>
                  <a:pt x="0" y="0"/>
                </a:moveTo>
                <a:lnTo>
                  <a:pt x="1460500" y="0"/>
                </a:lnTo>
                <a:lnTo>
                  <a:pt x="1524000" y="63500"/>
                </a:lnTo>
                <a:lnTo>
                  <a:pt x="1524000" y="381000"/>
                </a:lnTo>
                <a:lnTo>
                  <a:pt x="0" y="381000"/>
                </a:lnTo>
                <a:close/>
              </a:path>
            </a:pathLst>
          </a:custGeom>
          <a:solidFill>
            <a:srgbClr val="FF4A1C"/>
          </a:solidFill>
          <a:ln/>
        </p:spPr>
      </p:sp>
      <p:sp>
        <p:nvSpPr>
          <p:cNvPr id="10" name="Text 8"/>
          <p:cNvSpPr/>
          <p:nvPr/>
        </p:nvSpPr>
        <p:spPr>
          <a:xfrm>
            <a:off x="1206500" y="4889500"/>
            <a:ext cx="1524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900" dirty="0">
                <a:solidFill>
                  <a:srgbClr val="1D1E21"/>
                </a:solidFill>
                <a:latin typeface="Wix Madefor Text SemiBold" pitchFamily="34" charset="0"/>
                <a:ea typeface="Wix Madefor Text SemiBold" pitchFamily="34" charset="-122"/>
                <a:cs typeface="Wix Madefor Text SemiBold" pitchFamily="34" charset="-120"/>
              </a:rPr>
              <a:t>Primary button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397000" y="3479800"/>
            <a:ext cx="7620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700" kern="0" spc="126" dirty="0">
                <a:solidFill>
                  <a:srgbClr val="8A9097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THE NOTCH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1397000" y="3746500"/>
            <a:ext cx="2159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950" dirty="0">
                <a:solidFill>
                  <a:srgbClr val="1D1E21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45° cut taken from the logo. 8 px buttons, 16 px cards, 32 px hero panels. One per view.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445000" y="2794000"/>
            <a:ext cx="3429000" cy="27940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AD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99000" y="3048000"/>
            <a:ext cx="7620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700" kern="0" spc="126" dirty="0">
                <a:solidFill>
                  <a:srgbClr val="8A9097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SPACING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4699000" y="3365500"/>
            <a:ext cx="66040" cy="139700"/>
          </a:xfrm>
          <a:prstGeom prst="rect">
            <a:avLst/>
          </a:prstGeom>
          <a:solidFill>
            <a:srgbClr val="1D1E21"/>
          </a:solidFill>
          <a:ln/>
        </p:spPr>
      </p:sp>
      <p:sp>
        <p:nvSpPr>
          <p:cNvPr id="16" name="Text 14"/>
          <p:cNvSpPr/>
          <p:nvPr/>
        </p:nvSpPr>
        <p:spPr>
          <a:xfrm>
            <a:off x="6985000" y="3365500"/>
            <a:ext cx="7620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700" dirty="0">
                <a:solidFill>
                  <a:srgbClr val="1D1E21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4 px</a:t>
            </a:r>
            <a:endParaRPr 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4699000" y="3594100"/>
            <a:ext cx="132080" cy="139700"/>
          </a:xfrm>
          <a:prstGeom prst="rect">
            <a:avLst/>
          </a:prstGeom>
          <a:solidFill>
            <a:srgbClr val="1D1E21"/>
          </a:solidFill>
          <a:ln/>
        </p:spPr>
      </p:sp>
      <p:sp>
        <p:nvSpPr>
          <p:cNvPr id="18" name="Text 16"/>
          <p:cNvSpPr/>
          <p:nvPr/>
        </p:nvSpPr>
        <p:spPr>
          <a:xfrm>
            <a:off x="6985000" y="3594100"/>
            <a:ext cx="7620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700" dirty="0">
                <a:solidFill>
                  <a:srgbClr val="1D1E21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8 px</a:t>
            </a:r>
            <a:endParaRPr lang="en-US" sz="700" dirty="0"/>
          </a:p>
        </p:txBody>
      </p:sp>
      <p:sp>
        <p:nvSpPr>
          <p:cNvPr id="19" name="Shape 17"/>
          <p:cNvSpPr/>
          <p:nvPr/>
        </p:nvSpPr>
        <p:spPr>
          <a:xfrm>
            <a:off x="4699000" y="3822700"/>
            <a:ext cx="198120" cy="139700"/>
          </a:xfrm>
          <a:prstGeom prst="rect">
            <a:avLst/>
          </a:prstGeom>
          <a:solidFill>
            <a:srgbClr val="1D1E21"/>
          </a:solidFill>
          <a:ln/>
        </p:spPr>
      </p:sp>
      <p:sp>
        <p:nvSpPr>
          <p:cNvPr id="20" name="Text 18"/>
          <p:cNvSpPr/>
          <p:nvPr/>
        </p:nvSpPr>
        <p:spPr>
          <a:xfrm>
            <a:off x="6985000" y="3822700"/>
            <a:ext cx="7620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700" dirty="0">
                <a:solidFill>
                  <a:srgbClr val="1D1E21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12 px</a:t>
            </a:r>
            <a:endParaRPr lang="en-US" sz="700" dirty="0"/>
          </a:p>
        </p:txBody>
      </p:sp>
      <p:sp>
        <p:nvSpPr>
          <p:cNvPr id="21" name="Shape 19"/>
          <p:cNvSpPr/>
          <p:nvPr/>
        </p:nvSpPr>
        <p:spPr>
          <a:xfrm>
            <a:off x="4699000" y="4051300"/>
            <a:ext cx="264160" cy="139700"/>
          </a:xfrm>
          <a:prstGeom prst="rect">
            <a:avLst/>
          </a:prstGeom>
          <a:solidFill>
            <a:srgbClr val="1D1E21"/>
          </a:solidFill>
          <a:ln/>
        </p:spPr>
      </p:sp>
      <p:sp>
        <p:nvSpPr>
          <p:cNvPr id="22" name="Text 20"/>
          <p:cNvSpPr/>
          <p:nvPr/>
        </p:nvSpPr>
        <p:spPr>
          <a:xfrm>
            <a:off x="6985000" y="4051300"/>
            <a:ext cx="7620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700" dirty="0">
                <a:solidFill>
                  <a:srgbClr val="1D1E21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16 px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4699000" y="4279900"/>
            <a:ext cx="396240" cy="139700"/>
          </a:xfrm>
          <a:prstGeom prst="rect">
            <a:avLst/>
          </a:prstGeom>
          <a:solidFill>
            <a:srgbClr val="1D1E21"/>
          </a:solidFill>
          <a:ln/>
        </p:spPr>
      </p:sp>
      <p:sp>
        <p:nvSpPr>
          <p:cNvPr id="24" name="Text 22"/>
          <p:cNvSpPr/>
          <p:nvPr/>
        </p:nvSpPr>
        <p:spPr>
          <a:xfrm>
            <a:off x="6985000" y="4279900"/>
            <a:ext cx="7620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700" dirty="0">
                <a:solidFill>
                  <a:srgbClr val="1D1E21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24 px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4699000" y="4508500"/>
            <a:ext cx="528320" cy="139700"/>
          </a:xfrm>
          <a:prstGeom prst="rect">
            <a:avLst/>
          </a:prstGeom>
          <a:solidFill>
            <a:srgbClr val="1D1E21"/>
          </a:solidFill>
          <a:ln/>
        </p:spPr>
      </p:sp>
      <p:sp>
        <p:nvSpPr>
          <p:cNvPr id="26" name="Text 24"/>
          <p:cNvSpPr/>
          <p:nvPr/>
        </p:nvSpPr>
        <p:spPr>
          <a:xfrm>
            <a:off x="6985000" y="4508500"/>
            <a:ext cx="7620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700" dirty="0">
                <a:solidFill>
                  <a:srgbClr val="1D1E21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32 px</a:t>
            </a:r>
            <a:endParaRPr lang="en-US" sz="700" dirty="0"/>
          </a:p>
        </p:txBody>
      </p:sp>
      <p:sp>
        <p:nvSpPr>
          <p:cNvPr id="27" name="Shape 25"/>
          <p:cNvSpPr/>
          <p:nvPr/>
        </p:nvSpPr>
        <p:spPr>
          <a:xfrm>
            <a:off x="4699000" y="4737100"/>
            <a:ext cx="792480" cy="139700"/>
          </a:xfrm>
          <a:prstGeom prst="rect">
            <a:avLst/>
          </a:prstGeom>
          <a:solidFill>
            <a:srgbClr val="1D1E21"/>
          </a:solidFill>
          <a:ln/>
        </p:spPr>
      </p:sp>
      <p:sp>
        <p:nvSpPr>
          <p:cNvPr id="28" name="Text 26"/>
          <p:cNvSpPr/>
          <p:nvPr/>
        </p:nvSpPr>
        <p:spPr>
          <a:xfrm>
            <a:off x="6985000" y="4737100"/>
            <a:ext cx="7620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700" dirty="0">
                <a:solidFill>
                  <a:srgbClr val="1D1E21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48 px</a:t>
            </a:r>
            <a:endParaRPr lang="en-US" sz="700" dirty="0"/>
          </a:p>
        </p:txBody>
      </p:sp>
      <p:sp>
        <p:nvSpPr>
          <p:cNvPr id="29" name="Shape 27"/>
          <p:cNvSpPr/>
          <p:nvPr/>
        </p:nvSpPr>
        <p:spPr>
          <a:xfrm>
            <a:off x="4699000" y="4965700"/>
            <a:ext cx="1056640" cy="139700"/>
          </a:xfrm>
          <a:prstGeom prst="rect">
            <a:avLst/>
          </a:prstGeom>
          <a:solidFill>
            <a:srgbClr val="1D1E21"/>
          </a:solidFill>
          <a:ln/>
        </p:spPr>
      </p:sp>
      <p:sp>
        <p:nvSpPr>
          <p:cNvPr id="30" name="Text 28"/>
          <p:cNvSpPr/>
          <p:nvPr/>
        </p:nvSpPr>
        <p:spPr>
          <a:xfrm>
            <a:off x="6985000" y="4965700"/>
            <a:ext cx="7620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700" dirty="0">
                <a:solidFill>
                  <a:srgbClr val="1D1E21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64 px</a:t>
            </a:r>
            <a:endParaRPr lang="en-US" sz="700" dirty="0"/>
          </a:p>
        </p:txBody>
      </p:sp>
      <p:sp>
        <p:nvSpPr>
          <p:cNvPr id="31" name="Shape 29"/>
          <p:cNvSpPr/>
          <p:nvPr/>
        </p:nvSpPr>
        <p:spPr>
          <a:xfrm>
            <a:off x="4699000" y="5194300"/>
            <a:ext cx="1584960" cy="139700"/>
          </a:xfrm>
          <a:prstGeom prst="rect">
            <a:avLst/>
          </a:prstGeom>
          <a:solidFill>
            <a:srgbClr val="FF4A1C"/>
          </a:solidFill>
          <a:ln/>
        </p:spPr>
      </p:sp>
      <p:sp>
        <p:nvSpPr>
          <p:cNvPr id="32" name="Text 30"/>
          <p:cNvSpPr/>
          <p:nvPr/>
        </p:nvSpPr>
        <p:spPr>
          <a:xfrm>
            <a:off x="6985000" y="5194300"/>
            <a:ext cx="7620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700" dirty="0">
                <a:solidFill>
                  <a:srgbClr val="1D1E21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96 px</a:t>
            </a:r>
            <a:endParaRPr lang="en-US" sz="700" dirty="0"/>
          </a:p>
        </p:txBody>
      </p:sp>
      <p:sp>
        <p:nvSpPr>
          <p:cNvPr id="33" name="Shape 31"/>
          <p:cNvSpPr/>
          <p:nvPr/>
        </p:nvSpPr>
        <p:spPr>
          <a:xfrm>
            <a:off x="8128000" y="2794000"/>
            <a:ext cx="3302000" cy="2794000"/>
          </a:xfrm>
          <a:prstGeom prst="rect">
            <a:avLst/>
          </a:prstGeom>
          <a:solidFill>
            <a:srgbClr val="131417"/>
          </a:solidFill>
          <a:ln/>
        </p:spPr>
      </p:sp>
      <p:sp>
        <p:nvSpPr>
          <p:cNvPr id="34" name="Text 32"/>
          <p:cNvSpPr/>
          <p:nvPr/>
        </p:nvSpPr>
        <p:spPr>
          <a:xfrm>
            <a:off x="8382000" y="3048000"/>
            <a:ext cx="7620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700" kern="0" spc="126" dirty="0">
                <a:solidFill>
                  <a:srgbClr val="8B8E94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GRID</a:t>
            </a:r>
            <a:endParaRPr lang="en-US" sz="700" dirty="0"/>
          </a:p>
        </p:txBody>
      </p:sp>
      <p:sp>
        <p:nvSpPr>
          <p:cNvPr id="35" name="Shape 33"/>
          <p:cNvSpPr/>
          <p:nvPr/>
        </p:nvSpPr>
        <p:spPr>
          <a:xfrm>
            <a:off x="8382000" y="3365500"/>
            <a:ext cx="184150" cy="1905000"/>
          </a:xfrm>
          <a:prstGeom prst="rect">
            <a:avLst/>
          </a:prstGeom>
          <a:solidFill>
            <a:srgbClr val="3EC5D1"/>
          </a:solidFill>
          <a:ln/>
        </p:spPr>
      </p:sp>
      <p:sp>
        <p:nvSpPr>
          <p:cNvPr id="36" name="Shape 34"/>
          <p:cNvSpPr/>
          <p:nvPr/>
        </p:nvSpPr>
        <p:spPr>
          <a:xfrm>
            <a:off x="8616950" y="3365500"/>
            <a:ext cx="184150" cy="1905000"/>
          </a:xfrm>
          <a:prstGeom prst="rect">
            <a:avLst/>
          </a:prstGeom>
          <a:solidFill>
            <a:srgbClr val="3EC5D1">
              <a:alpha val="1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8851900" y="3365500"/>
            <a:ext cx="184150" cy="1905000"/>
          </a:xfrm>
          <a:prstGeom prst="rect">
            <a:avLst/>
          </a:prstGeom>
          <a:solidFill>
            <a:srgbClr val="3EC5D1">
              <a:alpha val="1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9086850" y="3365500"/>
            <a:ext cx="184150" cy="1905000"/>
          </a:xfrm>
          <a:prstGeom prst="rect">
            <a:avLst/>
          </a:prstGeom>
          <a:solidFill>
            <a:srgbClr val="3EC5D1">
              <a:alpha val="1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9321800" y="3365500"/>
            <a:ext cx="184150" cy="1905000"/>
          </a:xfrm>
          <a:prstGeom prst="rect">
            <a:avLst/>
          </a:prstGeom>
          <a:solidFill>
            <a:srgbClr val="3EC5D1">
              <a:alpha val="1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9556750" y="3365500"/>
            <a:ext cx="184150" cy="1905000"/>
          </a:xfrm>
          <a:prstGeom prst="rect">
            <a:avLst/>
          </a:prstGeom>
          <a:solidFill>
            <a:srgbClr val="3EC5D1">
              <a:alpha val="1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9791700" y="3365500"/>
            <a:ext cx="184150" cy="1905000"/>
          </a:xfrm>
          <a:prstGeom prst="rect">
            <a:avLst/>
          </a:prstGeom>
          <a:solidFill>
            <a:srgbClr val="3EC5D1">
              <a:alpha val="1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10026650" y="3365500"/>
            <a:ext cx="184150" cy="1905000"/>
          </a:xfrm>
          <a:prstGeom prst="rect">
            <a:avLst/>
          </a:prstGeom>
          <a:solidFill>
            <a:srgbClr val="3EC5D1">
              <a:alpha val="1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10261600" y="3365500"/>
            <a:ext cx="184150" cy="1905000"/>
          </a:xfrm>
          <a:prstGeom prst="rect">
            <a:avLst/>
          </a:prstGeom>
          <a:solidFill>
            <a:srgbClr val="3EC5D1">
              <a:alpha val="1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10496550" y="3365500"/>
            <a:ext cx="184150" cy="1905000"/>
          </a:xfrm>
          <a:prstGeom prst="rect">
            <a:avLst/>
          </a:prstGeom>
          <a:solidFill>
            <a:srgbClr val="3EC5D1">
              <a:alpha val="1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10731500" y="3365500"/>
            <a:ext cx="184150" cy="1905000"/>
          </a:xfrm>
          <a:prstGeom prst="rect">
            <a:avLst/>
          </a:prstGeom>
          <a:solidFill>
            <a:srgbClr val="3EC5D1">
              <a:alpha val="1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10966450" y="3365500"/>
            <a:ext cx="184150" cy="1905000"/>
          </a:xfrm>
          <a:prstGeom prst="rect">
            <a:avLst/>
          </a:prstGeom>
          <a:solidFill>
            <a:srgbClr val="3EC5D1">
              <a:alpha val="18000"/>
            </a:srgbClr>
          </a:solidFill>
          <a:ln/>
        </p:spPr>
      </p:sp>
      <p:sp>
        <p:nvSpPr>
          <p:cNvPr id="47" name="Text 45"/>
          <p:cNvSpPr/>
          <p:nvPr/>
        </p:nvSpPr>
        <p:spPr>
          <a:xfrm>
            <a:off x="8382000" y="5372100"/>
            <a:ext cx="27940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650" dirty="0">
                <a:solidFill>
                  <a:srgbClr val="8B8E94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12 columns, 24 px gutters, 1280 px max</a:t>
            </a:r>
            <a:endParaRPr lang="en-US" sz="650" dirty="0"/>
          </a:p>
        </p:txBody>
      </p:sp>
      <p:sp>
        <p:nvSpPr>
          <p:cNvPr id="48" name="Text 46"/>
          <p:cNvSpPr/>
          <p:nvPr/>
        </p:nvSpPr>
        <p:spPr>
          <a:xfrm>
            <a:off x="762000" y="5842000"/>
            <a:ext cx="10668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00" dirty="0">
                <a:solidFill>
                  <a:srgbClr val="5E6166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Sections, images and large cards stay square. Pills only for status dots and avatars.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EEEF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33400"/>
            <a:ext cx="7620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700" kern="0" spc="126" dirty="0">
                <a:solidFill>
                  <a:srgbClr val="8A9097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GRAPHIC LANGUAGE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762000" y="6350000"/>
            <a:ext cx="3810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750" dirty="0">
                <a:solidFill>
                  <a:srgbClr val="8A9097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TekRevol Brand Guidelines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10160000" y="6350000"/>
            <a:ext cx="1270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15000"/>
              </a:lnSpc>
              <a:buNone/>
            </a:pPr>
            <a:r>
              <a:rPr lang="en-US" sz="750" dirty="0">
                <a:solidFill>
                  <a:srgbClr val="8A9097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23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762000" y="1587500"/>
            <a:ext cx="7620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00" kern="0" spc="144" dirty="0">
                <a:solidFill>
                  <a:srgbClr val="C2340E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ICONS AND DATA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36600" y="1905000"/>
            <a:ext cx="9525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3800" b="1" kern="0" spc="-91" dirty="0">
                <a:solidFill>
                  <a:srgbClr val="1D1E2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Thin lines, honest charts.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762000" y="2794000"/>
            <a:ext cx="1016000" cy="7874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8" name="Image 0" descr="C:/Claude-Projects/Projects/TekRevol/01-brand-system/deck-v6/art/ic-database-1D1E2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200" y="3009900"/>
            <a:ext cx="355600" cy="35560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1968500" y="2794000"/>
            <a:ext cx="1016000" cy="787400"/>
          </a:xfrm>
          <a:prstGeom prst="rect">
            <a:avLst/>
          </a:prstGeom>
          <a:solidFill>
            <a:srgbClr val="FF4A1C"/>
          </a:solidFill>
          <a:ln/>
        </p:spPr>
      </p:sp>
      <p:pic>
        <p:nvPicPr>
          <p:cNvPr id="10" name="Image 1" descr="C:/Claude-Projects/Projects/TekRevol/01-brand-system/deck-v6/art/ic-brain-circuit-1D1E2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98700" y="3009900"/>
            <a:ext cx="355600" cy="35560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3175000" y="2794000"/>
            <a:ext cx="1016000" cy="7874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12" name="Image 2" descr="C:/Claude-Projects/Projects/TekRevol/01-brand-system/deck-v6/art/ic-bot-1D1E2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05200" y="3009900"/>
            <a:ext cx="355600" cy="355600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4381500" y="2794000"/>
            <a:ext cx="1016000" cy="7874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14" name="Image 3" descr="C:/Claude-Projects/Projects/TekRevol/01-brand-system/deck-v6/art/ic-workflow-1D1E2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11700" y="3009900"/>
            <a:ext cx="355600" cy="355600"/>
          </a:xfrm>
          <a:prstGeom prst="rect">
            <a:avLst/>
          </a:prstGeom>
        </p:spPr>
      </p:pic>
      <p:sp>
        <p:nvSpPr>
          <p:cNvPr id="15" name="Shape 9"/>
          <p:cNvSpPr/>
          <p:nvPr/>
        </p:nvSpPr>
        <p:spPr>
          <a:xfrm>
            <a:off x="762000" y="3746500"/>
            <a:ext cx="1016000" cy="7874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16" name="Image 4" descr="C:/Claude-Projects/Projects/TekRevol/01-brand-system/deck-v6/art/ic-shield-check-1D1E21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92200" y="3962400"/>
            <a:ext cx="355600" cy="355600"/>
          </a:xfrm>
          <a:prstGeom prst="rect">
            <a:avLst/>
          </a:prstGeom>
        </p:spPr>
      </p:pic>
      <p:sp>
        <p:nvSpPr>
          <p:cNvPr id="17" name="Shape 10"/>
          <p:cNvSpPr/>
          <p:nvPr/>
        </p:nvSpPr>
        <p:spPr>
          <a:xfrm>
            <a:off x="1968500" y="3746500"/>
            <a:ext cx="1016000" cy="7874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18" name="Image 5" descr="C:/Claude-Projects/Projects/TekRevol/01-brand-system/deck-v6/art/ic-cloud-1D1E21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98700" y="3962400"/>
            <a:ext cx="355600" cy="355600"/>
          </a:xfrm>
          <a:prstGeom prst="rect">
            <a:avLst/>
          </a:prstGeom>
        </p:spPr>
      </p:pic>
      <p:sp>
        <p:nvSpPr>
          <p:cNvPr id="19" name="Shape 11"/>
          <p:cNvSpPr/>
          <p:nvPr/>
        </p:nvSpPr>
        <p:spPr>
          <a:xfrm>
            <a:off x="3175000" y="3746500"/>
            <a:ext cx="1016000" cy="7874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20" name="Image 6" descr="C:/Claude-Projects/Projects/TekRevol/01-brand-system/deck-v6/art/ic-code-xml-1D1E21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505200" y="3962400"/>
            <a:ext cx="355600" cy="355600"/>
          </a:xfrm>
          <a:prstGeom prst="rect">
            <a:avLst/>
          </a:prstGeom>
        </p:spPr>
      </p:pic>
      <p:sp>
        <p:nvSpPr>
          <p:cNvPr id="21" name="Shape 12"/>
          <p:cNvSpPr/>
          <p:nvPr/>
        </p:nvSpPr>
        <p:spPr>
          <a:xfrm>
            <a:off x="4381500" y="3746500"/>
            <a:ext cx="1016000" cy="7874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22" name="Image 7" descr="C:/Claude-Projects/Projects/TekRevol/01-brand-system/deck-v6/art/ic-smartphone-1D1E21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711700" y="3962400"/>
            <a:ext cx="355600" cy="355600"/>
          </a:xfrm>
          <a:prstGeom prst="rect">
            <a:avLst/>
          </a:prstGeom>
        </p:spPr>
      </p:pic>
      <p:sp>
        <p:nvSpPr>
          <p:cNvPr id="23" name="Shape 13"/>
          <p:cNvSpPr/>
          <p:nvPr/>
        </p:nvSpPr>
        <p:spPr>
          <a:xfrm>
            <a:off x="762000" y="4699000"/>
            <a:ext cx="1016000" cy="7874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24" name="Image 8" descr="C:/Claude-Projects/Projects/TekRevol/01-brand-system/deck-v6/art/ic-layers-1D1E21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92200" y="4914900"/>
            <a:ext cx="355600" cy="355600"/>
          </a:xfrm>
          <a:prstGeom prst="rect">
            <a:avLst/>
          </a:prstGeom>
        </p:spPr>
      </p:pic>
      <p:sp>
        <p:nvSpPr>
          <p:cNvPr id="25" name="Shape 14"/>
          <p:cNvSpPr/>
          <p:nvPr/>
        </p:nvSpPr>
        <p:spPr>
          <a:xfrm>
            <a:off x="1968500" y="4699000"/>
            <a:ext cx="1016000" cy="7874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26" name="Image 9" descr="C:/Claude-Projects/Projects/TekRevol/01-brand-system/deck-v6/art/ic-git-branch-1D1E21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298700" y="4914900"/>
            <a:ext cx="355600" cy="355600"/>
          </a:xfrm>
          <a:prstGeom prst="rect">
            <a:avLst/>
          </a:prstGeom>
        </p:spPr>
      </p:pic>
      <p:sp>
        <p:nvSpPr>
          <p:cNvPr id="27" name="Shape 15"/>
          <p:cNvSpPr/>
          <p:nvPr/>
        </p:nvSpPr>
        <p:spPr>
          <a:xfrm>
            <a:off x="3175000" y="4699000"/>
            <a:ext cx="1016000" cy="7874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28" name="Image 10" descr="C:/Claude-Projects/Projects/TekRevol/01-brand-system/deck-v6/art/ic-activity-1D1E21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505200" y="4914900"/>
            <a:ext cx="355600" cy="355600"/>
          </a:xfrm>
          <a:prstGeom prst="rect">
            <a:avLst/>
          </a:prstGeom>
        </p:spPr>
      </p:pic>
      <p:sp>
        <p:nvSpPr>
          <p:cNvPr id="29" name="Shape 16"/>
          <p:cNvSpPr/>
          <p:nvPr/>
        </p:nvSpPr>
        <p:spPr>
          <a:xfrm>
            <a:off x="4381500" y="4699000"/>
            <a:ext cx="1016000" cy="7874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0" name="Image 11" descr="C:/Claude-Projects/Projects/TekRevol/01-brand-system/deck-v6/art/ic-rocket-1D1E21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711700" y="4914900"/>
            <a:ext cx="355600" cy="355600"/>
          </a:xfrm>
          <a:prstGeom prst="rect">
            <a:avLst/>
          </a:prstGeom>
        </p:spPr>
      </p:pic>
      <p:sp>
        <p:nvSpPr>
          <p:cNvPr id="31" name="Text 17"/>
          <p:cNvSpPr/>
          <p:nvPr/>
        </p:nvSpPr>
        <p:spPr>
          <a:xfrm>
            <a:off x="762000" y="5791200"/>
            <a:ext cx="4826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50" dirty="0">
                <a:solidFill>
                  <a:srgbClr val="5E6166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Lucide, 1.5 px stroke, charcoal. One active icon may sit on orange.</a:t>
            </a:r>
            <a:endParaRPr lang="en-US" sz="850" dirty="0"/>
          </a:p>
        </p:txBody>
      </p:sp>
      <p:sp>
        <p:nvSpPr>
          <p:cNvPr id="32" name="Shape 18"/>
          <p:cNvSpPr/>
          <p:nvPr/>
        </p:nvSpPr>
        <p:spPr>
          <a:xfrm>
            <a:off x="5969000" y="2794000"/>
            <a:ext cx="5461000" cy="2984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3" name="Text 19"/>
          <p:cNvSpPr/>
          <p:nvPr/>
        </p:nvSpPr>
        <p:spPr>
          <a:xfrm>
            <a:off x="6223000" y="2984500"/>
            <a:ext cx="76200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650" kern="0" spc="117" dirty="0">
                <a:solidFill>
                  <a:srgbClr val="8A9097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ILLUSTRATIVE CHART</a:t>
            </a:r>
            <a:endParaRPr lang="en-US" sz="650" dirty="0"/>
          </a:p>
        </p:txBody>
      </p:sp>
      <p:sp>
        <p:nvSpPr>
          <p:cNvPr id="34" name="Shape 20"/>
          <p:cNvSpPr/>
          <p:nvPr/>
        </p:nvSpPr>
        <p:spPr>
          <a:xfrm>
            <a:off x="6286500" y="3365500"/>
            <a:ext cx="4826000" cy="6350"/>
          </a:xfrm>
          <a:prstGeom prst="rect">
            <a:avLst/>
          </a:prstGeom>
          <a:solidFill>
            <a:srgbClr val="D9DADB"/>
          </a:solidFill>
          <a:ln/>
        </p:spPr>
      </p:sp>
      <p:sp>
        <p:nvSpPr>
          <p:cNvPr id="35" name="Shape 21"/>
          <p:cNvSpPr/>
          <p:nvPr/>
        </p:nvSpPr>
        <p:spPr>
          <a:xfrm>
            <a:off x="6286500" y="3889375"/>
            <a:ext cx="4826000" cy="6350"/>
          </a:xfrm>
          <a:prstGeom prst="rect">
            <a:avLst/>
          </a:prstGeom>
          <a:solidFill>
            <a:srgbClr val="D9DADB"/>
          </a:solidFill>
          <a:ln/>
        </p:spPr>
      </p:sp>
      <p:sp>
        <p:nvSpPr>
          <p:cNvPr id="36" name="Shape 22"/>
          <p:cNvSpPr/>
          <p:nvPr/>
        </p:nvSpPr>
        <p:spPr>
          <a:xfrm>
            <a:off x="6286500" y="4413250"/>
            <a:ext cx="4826000" cy="6350"/>
          </a:xfrm>
          <a:prstGeom prst="rect">
            <a:avLst/>
          </a:prstGeom>
          <a:solidFill>
            <a:srgbClr val="D9DADB"/>
          </a:solidFill>
          <a:ln/>
        </p:spPr>
      </p:sp>
      <p:sp>
        <p:nvSpPr>
          <p:cNvPr id="37" name="Shape 23"/>
          <p:cNvSpPr/>
          <p:nvPr/>
        </p:nvSpPr>
        <p:spPr>
          <a:xfrm>
            <a:off x="6286500" y="4937125"/>
            <a:ext cx="4826000" cy="6350"/>
          </a:xfrm>
          <a:prstGeom prst="rect">
            <a:avLst/>
          </a:prstGeom>
          <a:solidFill>
            <a:srgbClr val="D9DADB"/>
          </a:solidFill>
          <a:ln/>
        </p:spPr>
      </p:sp>
      <p:sp>
        <p:nvSpPr>
          <p:cNvPr id="38" name="Shape 24"/>
          <p:cNvSpPr/>
          <p:nvPr/>
        </p:nvSpPr>
        <p:spPr>
          <a:xfrm>
            <a:off x="6286500" y="5461000"/>
            <a:ext cx="4826000" cy="6350"/>
          </a:xfrm>
          <a:prstGeom prst="rect">
            <a:avLst/>
          </a:prstGeom>
          <a:solidFill>
            <a:srgbClr val="D9DADB"/>
          </a:solidFill>
          <a:ln/>
        </p:spPr>
      </p:sp>
      <p:sp>
        <p:nvSpPr>
          <p:cNvPr id="39" name="Shape 25"/>
          <p:cNvSpPr/>
          <p:nvPr/>
        </p:nvSpPr>
        <p:spPr>
          <a:xfrm flipV="1">
            <a:off x="6286500" y="5143500"/>
            <a:ext cx="603250" cy="63500"/>
          </a:xfrm>
          <a:prstGeom prst="line">
            <a:avLst/>
          </a:prstGeom>
          <a:noFill/>
          <a:ln w="15875">
            <a:solidFill>
              <a:srgbClr val="3EC5D1"/>
            </a:solidFill>
            <a:prstDash val="solid"/>
          </a:ln>
        </p:spPr>
      </p:sp>
      <p:sp>
        <p:nvSpPr>
          <p:cNvPr id="40" name="Shape 26"/>
          <p:cNvSpPr/>
          <p:nvPr/>
        </p:nvSpPr>
        <p:spPr>
          <a:xfrm flipV="1">
            <a:off x="6286500" y="4864100"/>
            <a:ext cx="603250" cy="152400"/>
          </a:xfrm>
          <a:prstGeom prst="line">
            <a:avLst/>
          </a:prstGeom>
          <a:noFill/>
          <a:ln w="25400">
            <a:solidFill>
              <a:srgbClr val="FF4A1C"/>
            </a:solidFill>
            <a:prstDash val="solid"/>
          </a:ln>
        </p:spPr>
      </p:sp>
      <p:sp>
        <p:nvSpPr>
          <p:cNvPr id="41" name="Shape 27"/>
          <p:cNvSpPr/>
          <p:nvPr/>
        </p:nvSpPr>
        <p:spPr>
          <a:xfrm>
            <a:off x="6889750" y="5143500"/>
            <a:ext cx="603250" cy="12700"/>
          </a:xfrm>
          <a:prstGeom prst="line">
            <a:avLst/>
          </a:prstGeom>
          <a:noFill/>
          <a:ln w="15875">
            <a:solidFill>
              <a:srgbClr val="3EC5D1"/>
            </a:solidFill>
            <a:prstDash val="solid"/>
          </a:ln>
        </p:spPr>
      </p:sp>
      <p:sp>
        <p:nvSpPr>
          <p:cNvPr id="42" name="Shape 28"/>
          <p:cNvSpPr/>
          <p:nvPr/>
        </p:nvSpPr>
        <p:spPr>
          <a:xfrm>
            <a:off x="6889750" y="4864100"/>
            <a:ext cx="603250" cy="50800"/>
          </a:xfrm>
          <a:prstGeom prst="line">
            <a:avLst/>
          </a:prstGeom>
          <a:noFill/>
          <a:ln w="25400">
            <a:solidFill>
              <a:srgbClr val="FF4A1C"/>
            </a:solidFill>
            <a:prstDash val="solid"/>
          </a:ln>
        </p:spPr>
      </p:sp>
      <p:sp>
        <p:nvSpPr>
          <p:cNvPr id="43" name="Shape 29"/>
          <p:cNvSpPr/>
          <p:nvPr/>
        </p:nvSpPr>
        <p:spPr>
          <a:xfrm flipV="1">
            <a:off x="7493000" y="5029200"/>
            <a:ext cx="603250" cy="127000"/>
          </a:xfrm>
          <a:prstGeom prst="line">
            <a:avLst/>
          </a:prstGeom>
          <a:noFill/>
          <a:ln w="15875">
            <a:solidFill>
              <a:srgbClr val="3EC5D1"/>
            </a:solidFill>
            <a:prstDash val="solid"/>
          </a:ln>
        </p:spPr>
      </p:sp>
      <p:sp>
        <p:nvSpPr>
          <p:cNvPr id="44" name="Shape 30"/>
          <p:cNvSpPr/>
          <p:nvPr/>
        </p:nvSpPr>
        <p:spPr>
          <a:xfrm flipV="1">
            <a:off x="7493000" y="4610100"/>
            <a:ext cx="603250" cy="304800"/>
          </a:xfrm>
          <a:prstGeom prst="line">
            <a:avLst/>
          </a:prstGeom>
          <a:noFill/>
          <a:ln w="25400">
            <a:solidFill>
              <a:srgbClr val="FF4A1C"/>
            </a:solidFill>
            <a:prstDash val="solid"/>
          </a:ln>
        </p:spPr>
      </p:sp>
      <p:sp>
        <p:nvSpPr>
          <p:cNvPr id="45" name="Shape 31"/>
          <p:cNvSpPr/>
          <p:nvPr/>
        </p:nvSpPr>
        <p:spPr>
          <a:xfrm flipV="1">
            <a:off x="8096250" y="4953000"/>
            <a:ext cx="603250" cy="76200"/>
          </a:xfrm>
          <a:prstGeom prst="line">
            <a:avLst/>
          </a:prstGeom>
          <a:noFill/>
          <a:ln w="15875">
            <a:solidFill>
              <a:srgbClr val="3EC5D1"/>
            </a:solidFill>
            <a:prstDash val="solid"/>
          </a:ln>
        </p:spPr>
      </p:sp>
      <p:sp>
        <p:nvSpPr>
          <p:cNvPr id="46" name="Shape 32"/>
          <p:cNvSpPr/>
          <p:nvPr/>
        </p:nvSpPr>
        <p:spPr>
          <a:xfrm flipV="1">
            <a:off x="8096250" y="4508500"/>
            <a:ext cx="603250" cy="101600"/>
          </a:xfrm>
          <a:prstGeom prst="line">
            <a:avLst/>
          </a:prstGeom>
          <a:noFill/>
          <a:ln w="25400">
            <a:solidFill>
              <a:srgbClr val="FF4A1C"/>
            </a:solidFill>
            <a:prstDash val="solid"/>
          </a:ln>
        </p:spPr>
      </p:sp>
      <p:sp>
        <p:nvSpPr>
          <p:cNvPr id="47" name="Shape 33"/>
          <p:cNvSpPr/>
          <p:nvPr/>
        </p:nvSpPr>
        <p:spPr>
          <a:xfrm flipV="1">
            <a:off x="8699500" y="4864100"/>
            <a:ext cx="603250" cy="88900"/>
          </a:xfrm>
          <a:prstGeom prst="line">
            <a:avLst/>
          </a:prstGeom>
          <a:noFill/>
          <a:ln w="15875">
            <a:solidFill>
              <a:srgbClr val="3EC5D1"/>
            </a:solidFill>
            <a:prstDash val="solid"/>
          </a:ln>
        </p:spPr>
      </p:sp>
      <p:sp>
        <p:nvSpPr>
          <p:cNvPr id="48" name="Shape 34"/>
          <p:cNvSpPr/>
          <p:nvPr/>
        </p:nvSpPr>
        <p:spPr>
          <a:xfrm flipV="1">
            <a:off x="8699500" y="4241800"/>
            <a:ext cx="603250" cy="266700"/>
          </a:xfrm>
          <a:prstGeom prst="line">
            <a:avLst/>
          </a:prstGeom>
          <a:noFill/>
          <a:ln w="25400">
            <a:solidFill>
              <a:srgbClr val="FF4A1C"/>
            </a:solidFill>
            <a:prstDash val="solid"/>
          </a:ln>
        </p:spPr>
      </p:sp>
      <p:sp>
        <p:nvSpPr>
          <p:cNvPr id="49" name="Shape 35"/>
          <p:cNvSpPr/>
          <p:nvPr/>
        </p:nvSpPr>
        <p:spPr>
          <a:xfrm flipV="1">
            <a:off x="9302750" y="4762500"/>
            <a:ext cx="603250" cy="101600"/>
          </a:xfrm>
          <a:prstGeom prst="line">
            <a:avLst/>
          </a:prstGeom>
          <a:noFill/>
          <a:ln w="15875">
            <a:solidFill>
              <a:srgbClr val="3EC5D1"/>
            </a:solidFill>
            <a:prstDash val="solid"/>
          </a:ln>
        </p:spPr>
      </p:sp>
      <p:sp>
        <p:nvSpPr>
          <p:cNvPr id="50" name="Shape 36"/>
          <p:cNvSpPr/>
          <p:nvPr/>
        </p:nvSpPr>
        <p:spPr>
          <a:xfrm flipV="1">
            <a:off x="9302750" y="4114800"/>
            <a:ext cx="603250" cy="127000"/>
          </a:xfrm>
          <a:prstGeom prst="line">
            <a:avLst/>
          </a:prstGeom>
          <a:noFill/>
          <a:ln w="25400">
            <a:solidFill>
              <a:srgbClr val="FF4A1C"/>
            </a:solidFill>
            <a:prstDash val="solid"/>
          </a:ln>
        </p:spPr>
      </p:sp>
      <p:sp>
        <p:nvSpPr>
          <p:cNvPr id="51" name="Shape 37"/>
          <p:cNvSpPr/>
          <p:nvPr/>
        </p:nvSpPr>
        <p:spPr>
          <a:xfrm flipV="1">
            <a:off x="9906000" y="4673600"/>
            <a:ext cx="603250" cy="88900"/>
          </a:xfrm>
          <a:prstGeom prst="line">
            <a:avLst/>
          </a:prstGeom>
          <a:noFill/>
          <a:ln w="15875">
            <a:solidFill>
              <a:srgbClr val="3EC5D1"/>
            </a:solidFill>
            <a:prstDash val="solid"/>
          </a:ln>
        </p:spPr>
      </p:sp>
      <p:sp>
        <p:nvSpPr>
          <p:cNvPr id="52" name="Shape 38"/>
          <p:cNvSpPr/>
          <p:nvPr/>
        </p:nvSpPr>
        <p:spPr>
          <a:xfrm flipV="1">
            <a:off x="9906000" y="3835400"/>
            <a:ext cx="603250" cy="279400"/>
          </a:xfrm>
          <a:prstGeom prst="line">
            <a:avLst/>
          </a:prstGeom>
          <a:noFill/>
          <a:ln w="25400">
            <a:solidFill>
              <a:srgbClr val="FF4A1C"/>
            </a:solidFill>
            <a:prstDash val="solid"/>
          </a:ln>
        </p:spPr>
      </p:sp>
      <p:sp>
        <p:nvSpPr>
          <p:cNvPr id="53" name="Shape 39"/>
          <p:cNvSpPr/>
          <p:nvPr/>
        </p:nvSpPr>
        <p:spPr>
          <a:xfrm flipV="1">
            <a:off x="10509250" y="4572000"/>
            <a:ext cx="603250" cy="101600"/>
          </a:xfrm>
          <a:prstGeom prst="line">
            <a:avLst/>
          </a:prstGeom>
          <a:noFill/>
          <a:ln w="15875">
            <a:solidFill>
              <a:srgbClr val="3EC5D1"/>
            </a:solidFill>
            <a:prstDash val="solid"/>
          </a:ln>
        </p:spPr>
      </p:sp>
      <p:sp>
        <p:nvSpPr>
          <p:cNvPr id="54" name="Shape 40"/>
          <p:cNvSpPr/>
          <p:nvPr/>
        </p:nvSpPr>
        <p:spPr>
          <a:xfrm flipV="1">
            <a:off x="10509250" y="3695700"/>
            <a:ext cx="603250" cy="139700"/>
          </a:xfrm>
          <a:prstGeom prst="line">
            <a:avLst/>
          </a:prstGeom>
          <a:noFill/>
          <a:ln w="25400">
            <a:solidFill>
              <a:srgbClr val="FF4A1C"/>
            </a:solidFill>
            <a:prstDash val="solid"/>
          </a:ln>
        </p:spPr>
      </p:sp>
      <p:sp>
        <p:nvSpPr>
          <p:cNvPr id="55" name="Shape 41"/>
          <p:cNvSpPr/>
          <p:nvPr/>
        </p:nvSpPr>
        <p:spPr>
          <a:xfrm>
            <a:off x="11061700" y="3644900"/>
            <a:ext cx="101600" cy="101600"/>
          </a:xfrm>
          <a:prstGeom prst="ellipse">
            <a:avLst/>
          </a:prstGeom>
          <a:solidFill>
            <a:srgbClr val="FF4A1C"/>
          </a:solidFill>
          <a:ln/>
        </p:spPr>
      </p:sp>
      <p:sp>
        <p:nvSpPr>
          <p:cNvPr id="56" name="Text 42"/>
          <p:cNvSpPr/>
          <p:nvPr/>
        </p:nvSpPr>
        <p:spPr>
          <a:xfrm>
            <a:off x="6223000" y="5524500"/>
            <a:ext cx="5080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00" dirty="0">
                <a:solidFill>
                  <a:srgbClr val="5E6166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TekRevol in orange, comparison in cyan. No 3D, no gradients on bars.</a:t>
            </a:r>
            <a:endParaRPr lang="en-US" sz="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33400"/>
            <a:ext cx="7620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700" kern="0" spc="126" dirty="0">
                <a:solidFill>
                  <a:srgbClr val="8A9097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IMAGERY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762000" y="6350000"/>
            <a:ext cx="3810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750" dirty="0">
                <a:solidFill>
                  <a:srgbClr val="8A9097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TekRevol Brand Guidelines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10160000" y="6350000"/>
            <a:ext cx="1270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15000"/>
              </a:lnSpc>
              <a:buNone/>
            </a:pPr>
            <a:r>
              <a:rPr lang="en-US" sz="750" dirty="0">
                <a:solidFill>
                  <a:srgbClr val="8A9097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24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762000" y="1587500"/>
            <a:ext cx="7620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00" kern="0" spc="144" dirty="0">
                <a:solidFill>
                  <a:srgbClr val="C2340E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IMAGE DIRECTION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36600" y="1905000"/>
            <a:ext cx="10160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3800" b="1" kern="0" spc="-91" dirty="0">
                <a:solidFill>
                  <a:srgbClr val="1D1E2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Show the build, then the builders.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762000" y="2794000"/>
            <a:ext cx="3302000" cy="25400"/>
          </a:xfrm>
          <a:prstGeom prst="rect">
            <a:avLst/>
          </a:prstGeom>
          <a:solidFill>
            <a:srgbClr val="FF4A1C"/>
          </a:solidFill>
          <a:ln/>
        </p:spPr>
      </p:sp>
      <p:sp>
        <p:nvSpPr>
          <p:cNvPr id="8" name="Text 6"/>
          <p:cNvSpPr/>
          <p:nvPr/>
        </p:nvSpPr>
        <p:spPr>
          <a:xfrm>
            <a:off x="762000" y="2984500"/>
            <a:ext cx="3302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400" dirty="0">
                <a:solidFill>
                  <a:srgbClr val="1D1E21"/>
                </a:solidFill>
                <a:latin typeface="Funnel Display SemiBold" pitchFamily="34" charset="0"/>
                <a:ea typeface="Funnel Display SemiBold" pitchFamily="34" charset="-122"/>
                <a:cs typeface="Funnel Display SemiBold" pitchFamily="34" charset="-120"/>
              </a:rPr>
              <a:t>Patterns first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62000" y="3302000"/>
            <a:ext cx="3175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50" dirty="0">
                <a:solidFill>
                  <a:srgbClr val="5E6166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Experiment fields, iteration lines and layer planes lead covers, slides and social posts.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381500" y="2794000"/>
            <a:ext cx="3302000" cy="25400"/>
          </a:xfrm>
          <a:prstGeom prst="rect">
            <a:avLst/>
          </a:prstGeom>
          <a:solidFill>
            <a:srgbClr val="1D1E21"/>
          </a:solidFill>
          <a:ln/>
        </p:spPr>
      </p:sp>
      <p:sp>
        <p:nvSpPr>
          <p:cNvPr id="11" name="Text 9"/>
          <p:cNvSpPr/>
          <p:nvPr/>
        </p:nvSpPr>
        <p:spPr>
          <a:xfrm>
            <a:off x="4381500" y="2984500"/>
            <a:ext cx="3302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400" dirty="0">
                <a:solidFill>
                  <a:srgbClr val="1D1E21"/>
                </a:solidFill>
                <a:latin typeface="Funnel Display SemiBold" pitchFamily="34" charset="0"/>
                <a:ea typeface="Funnel Display SemiBold" pitchFamily="34" charset="-122"/>
                <a:cs typeface="Funnel Display SemiBold" pitchFamily="34" charset="-120"/>
              </a:rPr>
              <a:t>Real people, real work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381500" y="3302000"/>
            <a:ext cx="3175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50" dirty="0">
                <a:solidFill>
                  <a:srgbClr val="5E6166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Documentary photos of the team: whiteboards, code reviews, launches. One orange detail per frame.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8001000" y="2794000"/>
            <a:ext cx="3302000" cy="25400"/>
          </a:xfrm>
          <a:prstGeom prst="rect">
            <a:avLst/>
          </a:prstGeom>
          <a:solidFill>
            <a:srgbClr val="1D1E21"/>
          </a:solidFill>
          <a:ln/>
        </p:spPr>
      </p:sp>
      <p:sp>
        <p:nvSpPr>
          <p:cNvPr id="14" name="Text 12"/>
          <p:cNvSpPr/>
          <p:nvPr/>
        </p:nvSpPr>
        <p:spPr>
          <a:xfrm>
            <a:off x="8001000" y="2984500"/>
            <a:ext cx="3302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400" dirty="0">
                <a:solidFill>
                  <a:srgbClr val="1D1E21"/>
                </a:solidFill>
                <a:latin typeface="Funnel Display SemiBold" pitchFamily="34" charset="0"/>
                <a:ea typeface="Funnel Display SemiBold" pitchFamily="34" charset="-122"/>
                <a:cs typeface="Funnel Display SemiBold" pitchFamily="34" charset="-120"/>
              </a:rPr>
              <a:t>Product on screen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001000" y="3302000"/>
            <a:ext cx="3175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50" dirty="0">
                <a:solidFill>
                  <a:srgbClr val="5E6166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Real TekRevol interfaces on devices on light surfaces. Screens are always real UI, never generated.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762000" y="4381500"/>
            <a:ext cx="10668000" cy="1587500"/>
          </a:xfrm>
          <a:prstGeom prst="rect">
            <a:avLst/>
          </a:prstGeom>
          <a:solidFill>
            <a:srgbClr val="EEEFEF"/>
          </a:solidFill>
          <a:ln/>
        </p:spPr>
      </p:sp>
      <p:sp>
        <p:nvSpPr>
          <p:cNvPr id="17" name="Text 15"/>
          <p:cNvSpPr/>
          <p:nvPr/>
        </p:nvSpPr>
        <p:spPr>
          <a:xfrm>
            <a:off x="952500" y="4572000"/>
            <a:ext cx="7620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700" kern="0" spc="126" dirty="0">
                <a:solidFill>
                  <a:srgbClr val="C2340E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AI IMAGE PROMPT, PASTE AFTER YOUR SUBJECT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952500" y="4826000"/>
            <a:ext cx="10287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50" dirty="0">
                <a:solidFill>
                  <a:srgbClr val="1D1E2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Style: TekRevol brand. Clean, bright, modern workspace in white and light grey, charcoal details, one bright red-orange accent (#FF4A1C), a hint of ice cyan light (#3EC5D1). Documentary photography, real people and devices, soft daylight, shallow depth of field, generous negative space, editorial quality. Avoid: robots, glowing brains, holograms, purple light, neon, text, logos, clutter.</a:t>
            </a:r>
            <a:endParaRPr lang="en-US" sz="8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33400"/>
            <a:ext cx="7620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700" kern="0" spc="126" dirty="0">
                <a:solidFill>
                  <a:srgbClr val="8A9097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VOICE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762000" y="6350000"/>
            <a:ext cx="3810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750" dirty="0">
                <a:solidFill>
                  <a:srgbClr val="8A9097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TekRevol Brand Guidelines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10160000" y="6350000"/>
            <a:ext cx="1270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15000"/>
              </a:lnSpc>
              <a:buNone/>
            </a:pPr>
            <a:r>
              <a:rPr lang="en-US" sz="750" dirty="0">
                <a:solidFill>
                  <a:srgbClr val="8A9097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25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762000" y="1587500"/>
            <a:ext cx="7620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00" kern="0" spc="144" dirty="0">
                <a:solidFill>
                  <a:srgbClr val="C2340E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TONE OF VOICE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36600" y="1905000"/>
            <a:ext cx="6350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3600" b="1" kern="0" spc="-86" dirty="0">
                <a:solidFill>
                  <a:srgbClr val="1D1E2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Young in approach.</a:t>
            </a:r>
            <a:endParaRPr lang="en-US" sz="3600" dirty="0"/>
          </a:p>
          <a:p>
            <a:pPr marL="0" indent="0" algn="l">
              <a:lnSpc>
                <a:spcPct val="98000"/>
              </a:lnSpc>
              <a:buNone/>
            </a:pPr>
            <a:r>
              <a:rPr lang="en-US" sz="3600" b="1" kern="0" spc="-86" dirty="0">
                <a:solidFill>
                  <a:srgbClr val="1D1E2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Enterprise in output.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762000" y="3556000"/>
            <a:ext cx="381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500" dirty="0">
                <a:solidFill>
                  <a:srgbClr val="1D1E21"/>
                </a:solidFill>
                <a:latin typeface="Funnel Display SemiBold" pitchFamily="34" charset="0"/>
                <a:ea typeface="Funnel Display SemiBold" pitchFamily="34" charset="-122"/>
                <a:cs typeface="Funnel Display SemiBold" pitchFamily="34" charset="-120"/>
              </a:rPr>
              <a:t>Clear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62000" y="3810000"/>
            <a:ext cx="4064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50" dirty="0">
                <a:solidFill>
                  <a:srgbClr val="5E6166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Short, active sentences. One idea each.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762000" y="4165600"/>
            <a:ext cx="381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500" dirty="0">
                <a:solidFill>
                  <a:srgbClr val="1D1E21"/>
                </a:solidFill>
                <a:latin typeface="Funnel Display SemiBold" pitchFamily="34" charset="0"/>
                <a:ea typeface="Funnel Display SemiBold" pitchFamily="34" charset="-122"/>
                <a:cs typeface="Funnel Display SemiBold" pitchFamily="34" charset="-120"/>
              </a:rPr>
              <a:t>Specific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62000" y="4419600"/>
            <a:ext cx="4064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50" dirty="0">
                <a:solidFill>
                  <a:srgbClr val="5E6166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Real numbers, named standards, real work.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762000" y="4775200"/>
            <a:ext cx="381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500" dirty="0">
                <a:solidFill>
                  <a:srgbClr val="1D1E21"/>
                </a:solidFill>
                <a:latin typeface="Funnel Display SemiBold" pitchFamily="34" charset="0"/>
                <a:ea typeface="Funnel Display SemiBold" pitchFamily="34" charset="-122"/>
                <a:cs typeface="Funnel Display SemiBold" pitchFamily="34" charset="-120"/>
              </a:rPr>
              <a:t>Candid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62000" y="5029200"/>
            <a:ext cx="4064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50" dirty="0">
                <a:solidFill>
                  <a:srgbClr val="5E6166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Name the situation, never the vendor.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762000" y="5715000"/>
            <a:ext cx="4826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00" dirty="0">
                <a:solidFill>
                  <a:srgbClr val="1D1E21"/>
                </a:solidFill>
                <a:latin typeface="Wix Madefor Text SemiBold" pitchFamily="34" charset="0"/>
                <a:ea typeface="Wix Madefor Text SemiBold" pitchFamily="34" charset="-122"/>
                <a:cs typeface="Wix Madefor Text SemiBold" pitchFamily="34" charset="-120"/>
              </a:rPr>
              <a:t>No em dashes. No invented statistics. US spelling. Sentence case.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715000" y="3175000"/>
            <a:ext cx="7620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700" kern="0" spc="126" dirty="0">
                <a:solidFill>
                  <a:srgbClr val="C2340E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SAY THIS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8636000" y="3175000"/>
            <a:ext cx="7620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700" kern="0" spc="126" dirty="0">
                <a:solidFill>
                  <a:srgbClr val="8A9097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NOT THIS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5715000" y="3429000"/>
            <a:ext cx="2730500" cy="698500"/>
          </a:xfrm>
          <a:prstGeom prst="rect">
            <a:avLst/>
          </a:prstGeom>
          <a:solidFill>
            <a:srgbClr val="FF4A1C"/>
          </a:solidFill>
          <a:ln/>
        </p:spPr>
      </p:sp>
      <p:sp>
        <p:nvSpPr>
          <p:cNvPr id="17" name="Text 15"/>
          <p:cNvSpPr/>
          <p:nvPr/>
        </p:nvSpPr>
        <p:spPr>
          <a:xfrm>
            <a:off x="5880100" y="3429000"/>
            <a:ext cx="2413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 dirty="0">
                <a:solidFill>
                  <a:srgbClr val="1D1E21"/>
                </a:solidFill>
                <a:latin typeface="Wix Madefor Text SemiBold" pitchFamily="34" charset="0"/>
                <a:ea typeface="Wix Madefor Text SemiBold" pitchFamily="34" charset="-122"/>
                <a:cs typeface="Wix Madefor Text SemiBold" pitchFamily="34" charset="-120"/>
              </a:rPr>
              <a:t>Finish what the last team started.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8636000" y="3429000"/>
            <a:ext cx="2794000" cy="6985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AD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801100" y="3429000"/>
            <a:ext cx="24765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 dirty="0">
                <a:solidFill>
                  <a:srgbClr val="8A9097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Revolutionary AI-powered solutions.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715000" y="4254500"/>
            <a:ext cx="2730500" cy="698500"/>
          </a:xfrm>
          <a:prstGeom prst="rect">
            <a:avLst/>
          </a:prstGeom>
          <a:solidFill>
            <a:srgbClr val="FF4A1C"/>
          </a:solidFill>
          <a:ln/>
        </p:spPr>
      </p:sp>
      <p:sp>
        <p:nvSpPr>
          <p:cNvPr id="21" name="Text 19"/>
          <p:cNvSpPr/>
          <p:nvPr/>
        </p:nvSpPr>
        <p:spPr>
          <a:xfrm>
            <a:off x="5880100" y="4254500"/>
            <a:ext cx="2413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 dirty="0">
                <a:solidFill>
                  <a:srgbClr val="1D1E21"/>
                </a:solidFill>
                <a:latin typeface="Wix Madefor Text SemiBold" pitchFamily="34" charset="0"/>
                <a:ea typeface="Wix Madefor Text SemiBold" pitchFamily="34" charset="-122"/>
                <a:cs typeface="Wix Madefor Text SemiBold" pitchFamily="34" charset="-120"/>
              </a:rPr>
              <a:t>Built for HIPAA from the first sprint.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636000" y="4254500"/>
            <a:ext cx="2794000" cy="6985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AD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801100" y="4254500"/>
            <a:ext cx="24765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 dirty="0">
                <a:solidFill>
                  <a:srgbClr val="8A9097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Cutting-edge, robust, seamless security.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715000" y="5080000"/>
            <a:ext cx="2730500" cy="698500"/>
          </a:xfrm>
          <a:prstGeom prst="rect">
            <a:avLst/>
          </a:prstGeom>
          <a:solidFill>
            <a:srgbClr val="FF4A1C"/>
          </a:solidFill>
          <a:ln/>
        </p:spPr>
      </p:sp>
      <p:sp>
        <p:nvSpPr>
          <p:cNvPr id="25" name="Text 23"/>
          <p:cNvSpPr/>
          <p:nvPr/>
        </p:nvSpPr>
        <p:spPr>
          <a:xfrm>
            <a:off x="5880100" y="5080000"/>
            <a:ext cx="2413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 dirty="0">
                <a:solidFill>
                  <a:srgbClr val="1D1E21"/>
                </a:solidFill>
                <a:latin typeface="Wix Madefor Text SemiBold" pitchFamily="34" charset="0"/>
                <a:ea typeface="Wix Madefor Text SemiBold" pitchFamily="34" charset="-122"/>
                <a:cs typeface="Wix Madefor Text SemiBold" pitchFamily="34" charset="-120"/>
              </a:rPr>
              <a:t>Your AI prototype got you 80% of the way.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8636000" y="5080000"/>
            <a:ext cx="2794000" cy="6985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AD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801100" y="5080000"/>
            <a:ext cx="24765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 dirty="0">
                <a:solidFill>
                  <a:srgbClr val="8A9097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Unleash the power of AI today.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EEEF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33400"/>
            <a:ext cx="7620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700" kern="0" spc="126" dirty="0">
                <a:solidFill>
                  <a:srgbClr val="8A9097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IN USE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762000" y="6350000"/>
            <a:ext cx="3810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750" dirty="0">
                <a:solidFill>
                  <a:srgbClr val="8A9097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TekRevol Brand Guidelines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10160000" y="6350000"/>
            <a:ext cx="1270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15000"/>
              </a:lnSpc>
              <a:buNone/>
            </a:pPr>
            <a:r>
              <a:rPr lang="en-US" sz="750" dirty="0">
                <a:solidFill>
                  <a:srgbClr val="8A9097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26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762000" y="1587500"/>
            <a:ext cx="7620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00" kern="0" spc="144" dirty="0">
                <a:solidFill>
                  <a:srgbClr val="C2340E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APPLICATIONS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36600" y="1905000"/>
            <a:ext cx="9525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3800" b="1" kern="0" spc="-91" dirty="0">
                <a:solidFill>
                  <a:srgbClr val="1D1E2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The system at work.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762000" y="2794000"/>
            <a:ext cx="2540000" cy="3175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8" name="Image 0" descr="C:/Claude-Projects/Projects/TekRevol/01-brand-system/deck-v6/art/cyan-tile-ex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2794000"/>
            <a:ext cx="2540000" cy="19050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39800" y="4826000"/>
            <a:ext cx="7620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600" kern="0" spc="108" dirty="0">
                <a:solidFill>
                  <a:srgbClr val="C2340E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AI-NATIVE SOFTWARE</a:t>
            </a:r>
            <a:endParaRPr lang="en-US" sz="600" dirty="0"/>
          </a:p>
        </p:txBody>
      </p:sp>
      <p:sp>
        <p:nvSpPr>
          <p:cNvPr id="10" name="Text 7"/>
          <p:cNvSpPr/>
          <p:nvPr/>
        </p:nvSpPr>
        <p:spPr>
          <a:xfrm>
            <a:off x="939800" y="5016500"/>
            <a:ext cx="21844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kern="0" spc="-30" dirty="0">
                <a:solidFill>
                  <a:srgbClr val="1D1E2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Your AI prototype got you 80% of the way.</a:t>
            </a:r>
            <a:endParaRPr lang="en-US" sz="1500" dirty="0"/>
          </a:p>
        </p:txBody>
      </p:sp>
      <p:pic>
        <p:nvPicPr>
          <p:cNvPr id="11" name="Image 1" descr="C:/Claude-Projects/Projects/TekRevol/01-brand-system/deck-v6/art/logo-dar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9800" y="5727700"/>
            <a:ext cx="825500" cy="12107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62000" y="6045200"/>
            <a:ext cx="2540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650" dirty="0">
                <a:solidFill>
                  <a:srgbClr val="8A9097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LinkedIn post, 4:5</a:t>
            </a:r>
            <a:endParaRPr lang="en-US" sz="650" dirty="0"/>
          </a:p>
        </p:txBody>
      </p:sp>
      <p:sp>
        <p:nvSpPr>
          <p:cNvPr id="13" name="Shape 9"/>
          <p:cNvSpPr/>
          <p:nvPr/>
        </p:nvSpPr>
        <p:spPr>
          <a:xfrm>
            <a:off x="3556000" y="2794000"/>
            <a:ext cx="2540000" cy="3175000"/>
          </a:xfrm>
          <a:prstGeom prst="rect">
            <a:avLst/>
          </a:prstGeom>
          <a:solidFill>
            <a:srgbClr val="131417"/>
          </a:solidFill>
          <a:ln/>
        </p:spPr>
      </p:sp>
      <p:pic>
        <p:nvPicPr>
          <p:cNvPr id="14" name="Image 2" descr="C:/Claude-Projects/Projects/TekRevol/01-brand-system/deck-v6/art/cyan-tile-is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56000" y="2794000"/>
            <a:ext cx="2540000" cy="19050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733800" y="4826000"/>
            <a:ext cx="7620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600" kern="0" spc="108" dirty="0">
                <a:solidFill>
                  <a:srgbClr val="3EC5D1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HOW WE WORK</a:t>
            </a:r>
            <a:endParaRPr lang="en-US" sz="600" dirty="0"/>
          </a:p>
        </p:txBody>
      </p:sp>
      <p:sp>
        <p:nvSpPr>
          <p:cNvPr id="16" name="Text 11"/>
          <p:cNvSpPr/>
          <p:nvPr/>
        </p:nvSpPr>
        <p:spPr>
          <a:xfrm>
            <a:off x="3733800" y="5016500"/>
            <a:ext cx="21844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kern="0" spc="-30" dirty="0">
                <a:solidFill>
                  <a:srgbClr val="FFFFFF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Every stage builds on the last.</a:t>
            </a:r>
            <a:endParaRPr lang="en-US" sz="1500" dirty="0"/>
          </a:p>
        </p:txBody>
      </p:sp>
      <p:pic>
        <p:nvPicPr>
          <p:cNvPr id="17" name="Image 3" descr="C:/Claude-Projects/Projects/TekRevol/01-brand-system/deck-v6/art/logo-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33800" y="5727700"/>
            <a:ext cx="825500" cy="121073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3556000" y="6045200"/>
            <a:ext cx="2540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650" dirty="0">
                <a:solidFill>
                  <a:srgbClr val="8A9097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Carousel cover, dark</a:t>
            </a:r>
            <a:endParaRPr lang="en-US" sz="650" dirty="0"/>
          </a:p>
        </p:txBody>
      </p:sp>
      <p:sp>
        <p:nvSpPr>
          <p:cNvPr id="19" name="Shape 13"/>
          <p:cNvSpPr/>
          <p:nvPr/>
        </p:nvSpPr>
        <p:spPr>
          <a:xfrm>
            <a:off x="6350000" y="2794000"/>
            <a:ext cx="5080000" cy="1460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20" name="Image 4" descr="C:/Claude-Projects/Projects/TekRevol/01-brand-system/deck-v6/art/logo-dar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4000" y="3048000"/>
            <a:ext cx="2095500" cy="307340"/>
          </a:xfrm>
          <a:prstGeom prst="rect">
            <a:avLst/>
          </a:prstGeom>
        </p:spPr>
      </p:pic>
      <p:sp>
        <p:nvSpPr>
          <p:cNvPr id="21" name="Shape 14"/>
          <p:cNvSpPr/>
          <p:nvPr/>
        </p:nvSpPr>
        <p:spPr>
          <a:xfrm>
            <a:off x="6604000" y="3937000"/>
            <a:ext cx="762000" cy="25400"/>
          </a:xfrm>
          <a:prstGeom prst="rect">
            <a:avLst/>
          </a:prstGeom>
          <a:solidFill>
            <a:srgbClr val="FF4A1C"/>
          </a:solidFill>
          <a:ln/>
        </p:spPr>
      </p:sp>
      <p:sp>
        <p:nvSpPr>
          <p:cNvPr id="22" name="Text 15"/>
          <p:cNvSpPr/>
          <p:nvPr/>
        </p:nvSpPr>
        <p:spPr>
          <a:xfrm>
            <a:off x="7493000" y="3835400"/>
            <a:ext cx="1905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750" dirty="0">
                <a:solidFill>
                  <a:srgbClr val="8A9097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tekrevol.com</a:t>
            </a:r>
            <a:endParaRPr lang="en-US" sz="750" dirty="0"/>
          </a:p>
        </p:txBody>
      </p:sp>
      <p:sp>
        <p:nvSpPr>
          <p:cNvPr id="23" name="Shape 16"/>
          <p:cNvSpPr/>
          <p:nvPr/>
        </p:nvSpPr>
        <p:spPr>
          <a:xfrm>
            <a:off x="6350000" y="4381500"/>
            <a:ext cx="5080000" cy="1587500"/>
          </a:xfrm>
          <a:prstGeom prst="rect">
            <a:avLst/>
          </a:prstGeom>
          <a:solidFill>
            <a:srgbClr val="FF4A1C"/>
          </a:solidFill>
          <a:ln/>
        </p:spPr>
      </p:sp>
      <p:sp>
        <p:nvSpPr>
          <p:cNvPr id="24" name="Text 17"/>
          <p:cNvSpPr/>
          <p:nvPr/>
        </p:nvSpPr>
        <p:spPr>
          <a:xfrm>
            <a:off x="6604000" y="4635500"/>
            <a:ext cx="3175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D1E2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Name Surname</a:t>
            </a:r>
            <a:endParaRPr lang="en-US" sz="1800" dirty="0"/>
          </a:p>
        </p:txBody>
      </p:sp>
      <p:sp>
        <p:nvSpPr>
          <p:cNvPr id="25" name="Text 18"/>
          <p:cNvSpPr/>
          <p:nvPr/>
        </p:nvSpPr>
        <p:spPr>
          <a:xfrm>
            <a:off x="6604000" y="4991100"/>
            <a:ext cx="2540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50" dirty="0">
                <a:solidFill>
                  <a:srgbClr val="1D1E21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Job title</a:t>
            </a:r>
            <a:endParaRPr lang="en-US" sz="950" dirty="0"/>
          </a:p>
        </p:txBody>
      </p:sp>
      <p:sp>
        <p:nvSpPr>
          <p:cNvPr id="26" name="Text 19"/>
          <p:cNvSpPr/>
          <p:nvPr/>
        </p:nvSpPr>
        <p:spPr>
          <a:xfrm>
            <a:off x="6604000" y="5372100"/>
            <a:ext cx="3175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50" dirty="0">
                <a:solidFill>
                  <a:srgbClr val="1D1E21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name@tekrevol.com</a:t>
            </a:r>
            <a:endParaRPr lang="en-US" sz="75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750" dirty="0">
                <a:solidFill>
                  <a:srgbClr val="1D1E21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+1 000 000 0000</a:t>
            </a:r>
            <a:endParaRPr lang="en-US" sz="750" dirty="0"/>
          </a:p>
        </p:txBody>
      </p:sp>
      <p:pic>
        <p:nvPicPr>
          <p:cNvPr id="27" name="Image 5" descr="C:/Claude-Projects/Projects/TekRevol/01-brand-system/deck-v6/art/mark-dark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541000" y="5207000"/>
            <a:ext cx="635000" cy="527050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6350000" y="6045200"/>
            <a:ext cx="3810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650" dirty="0">
                <a:solidFill>
                  <a:srgbClr val="8A9097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Business card, front and back</a:t>
            </a:r>
            <a:endParaRPr lang="en-US" sz="6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33400"/>
            <a:ext cx="7620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700" kern="0" spc="126" dirty="0">
                <a:solidFill>
                  <a:srgbClr val="8A9097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TESTED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762000" y="6350000"/>
            <a:ext cx="3810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750" dirty="0">
                <a:solidFill>
                  <a:srgbClr val="8A9097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TekRevol Brand Guidelines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10160000" y="6350000"/>
            <a:ext cx="1270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15000"/>
              </a:lnSpc>
              <a:buNone/>
            </a:pPr>
            <a:r>
              <a:rPr lang="en-US" sz="750" dirty="0">
                <a:solidFill>
                  <a:srgbClr val="8A9097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27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762000" y="1587500"/>
            <a:ext cx="7620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00" kern="0" spc="144" dirty="0">
                <a:solidFill>
                  <a:srgbClr val="C2340E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HOW THIS SYSTEM WAS TESTED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36600" y="1905000"/>
            <a:ext cx="9525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3800" b="1" kern="0" spc="-91" dirty="0">
                <a:solidFill>
                  <a:srgbClr val="1D1E2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Checked before it ships.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762000" y="2895600"/>
            <a:ext cx="215900" cy="215900"/>
          </a:xfrm>
          <a:custGeom>
            <a:avLst/>
            <a:gdLst/>
            <a:ahLst/>
            <a:cxnLst/>
            <a:rect l="l" t="t" r="r" b="b"/>
            <a:pathLst>
              <a:path w="215900" h="215900">
                <a:moveTo>
                  <a:pt x="0" y="0"/>
                </a:moveTo>
                <a:lnTo>
                  <a:pt x="171450" y="0"/>
                </a:lnTo>
                <a:lnTo>
                  <a:pt x="215900" y="44450"/>
                </a:lnTo>
                <a:lnTo>
                  <a:pt x="215900" y="215900"/>
                </a:lnTo>
                <a:lnTo>
                  <a:pt x="0" y="215900"/>
                </a:lnTo>
                <a:close/>
              </a:path>
            </a:pathLst>
          </a:custGeom>
          <a:solidFill>
            <a:srgbClr val="1D1E21"/>
          </a:solidFill>
          <a:ln/>
        </p:spPr>
      </p:sp>
      <p:pic>
        <p:nvPicPr>
          <p:cNvPr id="8" name="Image 0" descr="C:/Claude-Projects/Projects/TekRevol/01-brand-system/deck-v6/art/ic-check-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50" y="2927350"/>
            <a:ext cx="152400" cy="1524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43000" y="2857500"/>
            <a:ext cx="19050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00" dirty="0">
                <a:solidFill>
                  <a:srgbClr val="1D1E21"/>
                </a:solidFill>
                <a:latin typeface="Wix Madefor Text SemiBold" pitchFamily="34" charset="0"/>
                <a:ea typeface="Wix Madefor Text SemiBold" pitchFamily="34" charset="-122"/>
                <a:cs typeface="Wix Madefor Text SemiBold" pitchFamily="34" charset="-120"/>
              </a:rPr>
              <a:t>Contrast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3302000" y="2857500"/>
            <a:ext cx="81280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50" dirty="0">
                <a:solidFill>
                  <a:srgbClr val="5E6166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Every text pair measured against WCAG 2.2; body text passes AA, most pairs AAA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762000" y="3238500"/>
            <a:ext cx="10668000" cy="6350"/>
          </a:xfrm>
          <a:prstGeom prst="rect">
            <a:avLst/>
          </a:prstGeom>
          <a:solidFill>
            <a:srgbClr val="D9DADB"/>
          </a:solidFill>
          <a:ln/>
        </p:spPr>
      </p:sp>
      <p:sp>
        <p:nvSpPr>
          <p:cNvPr id="12" name="Shape 9"/>
          <p:cNvSpPr/>
          <p:nvPr/>
        </p:nvSpPr>
        <p:spPr>
          <a:xfrm>
            <a:off x="762000" y="3365500"/>
            <a:ext cx="215900" cy="215900"/>
          </a:xfrm>
          <a:custGeom>
            <a:avLst/>
            <a:gdLst/>
            <a:ahLst/>
            <a:cxnLst/>
            <a:rect l="l" t="t" r="r" b="b"/>
            <a:pathLst>
              <a:path w="215900" h="215900">
                <a:moveTo>
                  <a:pt x="0" y="0"/>
                </a:moveTo>
                <a:lnTo>
                  <a:pt x="171450" y="0"/>
                </a:lnTo>
                <a:lnTo>
                  <a:pt x="215900" y="44450"/>
                </a:lnTo>
                <a:lnTo>
                  <a:pt x="215900" y="215900"/>
                </a:lnTo>
                <a:lnTo>
                  <a:pt x="0" y="215900"/>
                </a:lnTo>
                <a:close/>
              </a:path>
            </a:pathLst>
          </a:custGeom>
          <a:solidFill>
            <a:srgbClr val="1D1E21"/>
          </a:solidFill>
          <a:ln/>
        </p:spPr>
      </p:sp>
      <p:pic>
        <p:nvPicPr>
          <p:cNvPr id="13" name="Image 1" descr="C:/Claude-Projects/Projects/TekRevol/01-brand-system/deck-v6/art/ic-check-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50" y="3397250"/>
            <a:ext cx="152400" cy="1524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143000" y="3327400"/>
            <a:ext cx="19050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00" dirty="0">
                <a:solidFill>
                  <a:srgbClr val="1D1E21"/>
                </a:solidFill>
                <a:latin typeface="Wix Madefor Text SemiBold" pitchFamily="34" charset="0"/>
                <a:ea typeface="Wix Madefor Text SemiBold" pitchFamily="34" charset="-122"/>
                <a:cs typeface="Wix Madefor Text SemiBold" pitchFamily="34" charset="-120"/>
              </a:rPr>
              <a:t>Legibility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3302000" y="3327400"/>
            <a:ext cx="81280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50" dirty="0">
                <a:solidFill>
                  <a:srgbClr val="5E6166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Type scale checked from 12 px labels to 88 px display, desktop and mobile</a:t>
            </a:r>
            <a:endParaRPr lang="en-US" sz="950" dirty="0"/>
          </a:p>
        </p:txBody>
      </p:sp>
      <p:sp>
        <p:nvSpPr>
          <p:cNvPr id="16" name="Shape 12"/>
          <p:cNvSpPr/>
          <p:nvPr/>
        </p:nvSpPr>
        <p:spPr>
          <a:xfrm>
            <a:off x="762000" y="3708400"/>
            <a:ext cx="10668000" cy="6350"/>
          </a:xfrm>
          <a:prstGeom prst="rect">
            <a:avLst/>
          </a:prstGeom>
          <a:solidFill>
            <a:srgbClr val="D9DADB"/>
          </a:solidFill>
          <a:ln/>
        </p:spPr>
      </p:sp>
      <p:sp>
        <p:nvSpPr>
          <p:cNvPr id="17" name="Shape 13"/>
          <p:cNvSpPr/>
          <p:nvPr/>
        </p:nvSpPr>
        <p:spPr>
          <a:xfrm>
            <a:off x="762000" y="3835400"/>
            <a:ext cx="215900" cy="215900"/>
          </a:xfrm>
          <a:custGeom>
            <a:avLst/>
            <a:gdLst/>
            <a:ahLst/>
            <a:cxnLst/>
            <a:rect l="l" t="t" r="r" b="b"/>
            <a:pathLst>
              <a:path w="215900" h="215900">
                <a:moveTo>
                  <a:pt x="0" y="0"/>
                </a:moveTo>
                <a:lnTo>
                  <a:pt x="171450" y="0"/>
                </a:lnTo>
                <a:lnTo>
                  <a:pt x="215900" y="44450"/>
                </a:lnTo>
                <a:lnTo>
                  <a:pt x="215900" y="215900"/>
                </a:lnTo>
                <a:lnTo>
                  <a:pt x="0" y="215900"/>
                </a:lnTo>
                <a:close/>
              </a:path>
            </a:pathLst>
          </a:custGeom>
          <a:solidFill>
            <a:srgbClr val="1D1E21"/>
          </a:solidFill>
          <a:ln/>
        </p:spPr>
      </p:sp>
      <p:pic>
        <p:nvPicPr>
          <p:cNvPr id="18" name="Image 2" descr="C:/Claude-Projects/Projects/TekRevol/01-brand-system/deck-v6/art/ic-check-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50" y="3867150"/>
            <a:ext cx="152400" cy="15240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143000" y="3797300"/>
            <a:ext cx="19050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00" dirty="0">
                <a:solidFill>
                  <a:srgbClr val="1D1E21"/>
                </a:solidFill>
                <a:latin typeface="Wix Madefor Text SemiBold" pitchFamily="34" charset="0"/>
                <a:ea typeface="Wix Madefor Text SemiBold" pitchFamily="34" charset="-122"/>
                <a:cs typeface="Wix Madefor Text SemiBold" pitchFamily="34" charset="-120"/>
              </a:rPr>
              <a:t>Dark mode</a:t>
            </a:r>
            <a:endParaRPr lang="en-US" sz="1100" dirty="0"/>
          </a:p>
        </p:txBody>
      </p:sp>
      <p:sp>
        <p:nvSpPr>
          <p:cNvPr id="20" name="Text 15"/>
          <p:cNvSpPr/>
          <p:nvPr/>
        </p:nvSpPr>
        <p:spPr>
          <a:xfrm>
            <a:off x="3302000" y="3797300"/>
            <a:ext cx="81280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50" dirty="0">
                <a:solidFill>
                  <a:srgbClr val="5E6166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Every color has a dark equivalent; control outlines meet 3:1</a:t>
            </a:r>
            <a:endParaRPr lang="en-US" sz="950" dirty="0"/>
          </a:p>
        </p:txBody>
      </p:sp>
      <p:sp>
        <p:nvSpPr>
          <p:cNvPr id="21" name="Shape 16"/>
          <p:cNvSpPr/>
          <p:nvPr/>
        </p:nvSpPr>
        <p:spPr>
          <a:xfrm>
            <a:off x="762000" y="4178300"/>
            <a:ext cx="10668000" cy="6350"/>
          </a:xfrm>
          <a:prstGeom prst="rect">
            <a:avLst/>
          </a:prstGeom>
          <a:solidFill>
            <a:srgbClr val="D9DADB"/>
          </a:solidFill>
          <a:ln/>
        </p:spPr>
      </p:sp>
      <p:sp>
        <p:nvSpPr>
          <p:cNvPr id="22" name="Shape 17"/>
          <p:cNvSpPr/>
          <p:nvPr/>
        </p:nvSpPr>
        <p:spPr>
          <a:xfrm>
            <a:off x="762000" y="4305300"/>
            <a:ext cx="215900" cy="215900"/>
          </a:xfrm>
          <a:custGeom>
            <a:avLst/>
            <a:gdLst/>
            <a:ahLst/>
            <a:cxnLst/>
            <a:rect l="l" t="t" r="r" b="b"/>
            <a:pathLst>
              <a:path w="215900" h="215900">
                <a:moveTo>
                  <a:pt x="0" y="0"/>
                </a:moveTo>
                <a:lnTo>
                  <a:pt x="171450" y="0"/>
                </a:lnTo>
                <a:lnTo>
                  <a:pt x="215900" y="44450"/>
                </a:lnTo>
                <a:lnTo>
                  <a:pt x="215900" y="215900"/>
                </a:lnTo>
                <a:lnTo>
                  <a:pt x="0" y="215900"/>
                </a:lnTo>
                <a:close/>
              </a:path>
            </a:pathLst>
          </a:custGeom>
          <a:solidFill>
            <a:srgbClr val="1D1E21"/>
          </a:solidFill>
          <a:ln/>
        </p:spPr>
      </p:sp>
      <p:pic>
        <p:nvPicPr>
          <p:cNvPr id="23" name="Image 3" descr="C:/Claude-Projects/Projects/TekRevol/01-brand-system/deck-v6/art/ic-check-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50" y="4337050"/>
            <a:ext cx="152400" cy="15240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143000" y="4267200"/>
            <a:ext cx="19050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00" dirty="0">
                <a:solidFill>
                  <a:srgbClr val="1D1E21"/>
                </a:solidFill>
                <a:latin typeface="Wix Madefor Text SemiBold" pitchFamily="34" charset="0"/>
                <a:ea typeface="Wix Madefor Text SemiBold" pitchFamily="34" charset="-122"/>
                <a:cs typeface="Wix Madefor Text SemiBold" pitchFamily="34" charset="-120"/>
              </a:rPr>
              <a:t>Color blindness</a:t>
            </a:r>
            <a:endParaRPr lang="en-US" sz="1100" dirty="0"/>
          </a:p>
        </p:txBody>
      </p:sp>
      <p:sp>
        <p:nvSpPr>
          <p:cNvPr id="25" name="Text 19"/>
          <p:cNvSpPr/>
          <p:nvPr/>
        </p:nvSpPr>
        <p:spPr>
          <a:xfrm>
            <a:off x="3302000" y="4267200"/>
            <a:ext cx="81280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50" dirty="0">
                <a:solidFill>
                  <a:srgbClr val="5E6166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Orange, cyan and charcoal differ in lightness, so meaning never relies on hue alone</a:t>
            </a:r>
            <a:endParaRPr lang="en-US" sz="950" dirty="0"/>
          </a:p>
        </p:txBody>
      </p:sp>
      <p:sp>
        <p:nvSpPr>
          <p:cNvPr id="26" name="Shape 20"/>
          <p:cNvSpPr/>
          <p:nvPr/>
        </p:nvSpPr>
        <p:spPr>
          <a:xfrm>
            <a:off x="762000" y="4648200"/>
            <a:ext cx="10668000" cy="6350"/>
          </a:xfrm>
          <a:prstGeom prst="rect">
            <a:avLst/>
          </a:prstGeom>
          <a:solidFill>
            <a:srgbClr val="D9DADB"/>
          </a:solidFill>
          <a:ln/>
        </p:spPr>
      </p:sp>
      <p:sp>
        <p:nvSpPr>
          <p:cNvPr id="27" name="Shape 21"/>
          <p:cNvSpPr/>
          <p:nvPr/>
        </p:nvSpPr>
        <p:spPr>
          <a:xfrm>
            <a:off x="762000" y="4775200"/>
            <a:ext cx="215900" cy="215900"/>
          </a:xfrm>
          <a:custGeom>
            <a:avLst/>
            <a:gdLst/>
            <a:ahLst/>
            <a:cxnLst/>
            <a:rect l="l" t="t" r="r" b="b"/>
            <a:pathLst>
              <a:path w="215900" h="215900">
                <a:moveTo>
                  <a:pt x="0" y="0"/>
                </a:moveTo>
                <a:lnTo>
                  <a:pt x="171450" y="0"/>
                </a:lnTo>
                <a:lnTo>
                  <a:pt x="215900" y="44450"/>
                </a:lnTo>
                <a:lnTo>
                  <a:pt x="215900" y="215900"/>
                </a:lnTo>
                <a:lnTo>
                  <a:pt x="0" y="215900"/>
                </a:lnTo>
                <a:close/>
              </a:path>
            </a:pathLst>
          </a:custGeom>
          <a:solidFill>
            <a:srgbClr val="1D1E21"/>
          </a:solidFill>
          <a:ln/>
        </p:spPr>
      </p:sp>
      <p:pic>
        <p:nvPicPr>
          <p:cNvPr id="28" name="Image 4" descr="C:/Claude-Projects/Projects/TekRevol/01-brand-system/deck-v6/art/ic-check-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50" y="4806950"/>
            <a:ext cx="152400" cy="152400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1143000" y="4737100"/>
            <a:ext cx="19050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00" dirty="0">
                <a:solidFill>
                  <a:srgbClr val="1D1E21"/>
                </a:solidFill>
                <a:latin typeface="Wix Madefor Text SemiBold" pitchFamily="34" charset="0"/>
                <a:ea typeface="Wix Madefor Text SemiBold" pitchFamily="34" charset="-122"/>
                <a:cs typeface="Wix Madefor Text SemiBold" pitchFamily="34" charset="-120"/>
              </a:rPr>
              <a:t>Fonts</a:t>
            </a:r>
            <a:endParaRPr lang="en-US" sz="1100" dirty="0"/>
          </a:p>
        </p:txBody>
      </p:sp>
      <p:sp>
        <p:nvSpPr>
          <p:cNvPr id="30" name="Text 23"/>
          <p:cNvSpPr/>
          <p:nvPr/>
        </p:nvSpPr>
        <p:spPr>
          <a:xfrm>
            <a:off x="3302000" y="4737100"/>
            <a:ext cx="81280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50" dirty="0">
                <a:solidFill>
                  <a:srgbClr val="5E6166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Free under the SIL Open Font License; files included</a:t>
            </a:r>
            <a:endParaRPr lang="en-US" sz="950" dirty="0"/>
          </a:p>
        </p:txBody>
      </p:sp>
      <p:sp>
        <p:nvSpPr>
          <p:cNvPr id="31" name="Shape 24"/>
          <p:cNvSpPr/>
          <p:nvPr/>
        </p:nvSpPr>
        <p:spPr>
          <a:xfrm>
            <a:off x="762000" y="5118100"/>
            <a:ext cx="10668000" cy="6350"/>
          </a:xfrm>
          <a:prstGeom prst="rect">
            <a:avLst/>
          </a:prstGeom>
          <a:solidFill>
            <a:srgbClr val="D9DADB"/>
          </a:solidFill>
          <a:ln/>
        </p:spPr>
      </p:sp>
      <p:sp>
        <p:nvSpPr>
          <p:cNvPr id="32" name="Shape 25"/>
          <p:cNvSpPr/>
          <p:nvPr/>
        </p:nvSpPr>
        <p:spPr>
          <a:xfrm>
            <a:off x="762000" y="5245100"/>
            <a:ext cx="215900" cy="215900"/>
          </a:xfrm>
          <a:custGeom>
            <a:avLst/>
            <a:gdLst/>
            <a:ahLst/>
            <a:cxnLst/>
            <a:rect l="l" t="t" r="r" b="b"/>
            <a:pathLst>
              <a:path w="215900" h="215900">
                <a:moveTo>
                  <a:pt x="0" y="0"/>
                </a:moveTo>
                <a:lnTo>
                  <a:pt x="171450" y="0"/>
                </a:lnTo>
                <a:lnTo>
                  <a:pt x="215900" y="44450"/>
                </a:lnTo>
                <a:lnTo>
                  <a:pt x="215900" y="215900"/>
                </a:lnTo>
                <a:lnTo>
                  <a:pt x="0" y="215900"/>
                </a:lnTo>
                <a:close/>
              </a:path>
            </a:pathLst>
          </a:custGeom>
          <a:solidFill>
            <a:srgbClr val="1D1E21"/>
          </a:solidFill>
          <a:ln/>
        </p:spPr>
      </p:sp>
      <p:pic>
        <p:nvPicPr>
          <p:cNvPr id="33" name="Image 5" descr="C:/Claude-Projects/Projects/TekRevol/01-brand-system/deck-v6/art/ic-check-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50" y="5276850"/>
            <a:ext cx="152400" cy="152400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1143000" y="5207000"/>
            <a:ext cx="19050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00" dirty="0">
                <a:solidFill>
                  <a:srgbClr val="1D1E21"/>
                </a:solidFill>
                <a:latin typeface="Wix Madefor Text SemiBold" pitchFamily="34" charset="0"/>
                <a:ea typeface="Wix Madefor Text SemiBold" pitchFamily="34" charset="-122"/>
                <a:cs typeface="Wix Madefor Text SemiBold" pitchFamily="34" charset="-120"/>
              </a:rPr>
              <a:t>Editable</a:t>
            </a:r>
            <a:endParaRPr lang="en-US" sz="1100" dirty="0"/>
          </a:p>
        </p:txBody>
      </p:sp>
      <p:sp>
        <p:nvSpPr>
          <p:cNvPr id="35" name="Text 27"/>
          <p:cNvSpPr/>
          <p:nvPr/>
        </p:nvSpPr>
        <p:spPr>
          <a:xfrm>
            <a:off x="3302000" y="5207000"/>
            <a:ext cx="81280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50" dirty="0">
                <a:solidFill>
                  <a:srgbClr val="5E6166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Every text box and diagram in this file is native and editable in PowerPoint</a:t>
            </a:r>
            <a:endParaRPr lang="en-US" sz="950" dirty="0"/>
          </a:p>
        </p:txBody>
      </p:sp>
      <p:sp>
        <p:nvSpPr>
          <p:cNvPr id="36" name="Shape 28"/>
          <p:cNvSpPr/>
          <p:nvPr/>
        </p:nvSpPr>
        <p:spPr>
          <a:xfrm>
            <a:off x="762000" y="5588000"/>
            <a:ext cx="10668000" cy="6350"/>
          </a:xfrm>
          <a:prstGeom prst="rect">
            <a:avLst/>
          </a:prstGeom>
          <a:solidFill>
            <a:srgbClr val="D9DADB"/>
          </a:solidFill>
          <a:ln/>
        </p:spPr>
      </p:sp>
      <p:sp>
        <p:nvSpPr>
          <p:cNvPr id="37" name="Shape 29"/>
          <p:cNvSpPr/>
          <p:nvPr/>
        </p:nvSpPr>
        <p:spPr>
          <a:xfrm>
            <a:off x="762000" y="5715000"/>
            <a:ext cx="215900" cy="215900"/>
          </a:xfrm>
          <a:custGeom>
            <a:avLst/>
            <a:gdLst/>
            <a:ahLst/>
            <a:cxnLst/>
            <a:rect l="l" t="t" r="r" b="b"/>
            <a:pathLst>
              <a:path w="215900" h="215900">
                <a:moveTo>
                  <a:pt x="0" y="0"/>
                </a:moveTo>
                <a:lnTo>
                  <a:pt x="171450" y="0"/>
                </a:lnTo>
                <a:lnTo>
                  <a:pt x="215900" y="44450"/>
                </a:lnTo>
                <a:lnTo>
                  <a:pt x="215900" y="215900"/>
                </a:lnTo>
                <a:lnTo>
                  <a:pt x="0" y="215900"/>
                </a:lnTo>
                <a:close/>
              </a:path>
            </a:pathLst>
          </a:custGeom>
          <a:solidFill>
            <a:srgbClr val="1D1E21"/>
          </a:solidFill>
          <a:ln/>
        </p:spPr>
      </p:sp>
      <p:pic>
        <p:nvPicPr>
          <p:cNvPr id="38" name="Image 6" descr="C:/Claude-Projects/Projects/TekRevol/01-brand-system/deck-v6/art/ic-check-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50" y="5746750"/>
            <a:ext cx="152400" cy="152400"/>
          </a:xfrm>
          <a:prstGeom prst="rect">
            <a:avLst/>
          </a:prstGeom>
        </p:spPr>
      </p:pic>
      <p:sp>
        <p:nvSpPr>
          <p:cNvPr id="39" name="Text 30"/>
          <p:cNvSpPr/>
          <p:nvPr/>
        </p:nvSpPr>
        <p:spPr>
          <a:xfrm>
            <a:off x="1143000" y="5676900"/>
            <a:ext cx="19050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00" dirty="0">
                <a:solidFill>
                  <a:srgbClr val="1D1E21"/>
                </a:solidFill>
                <a:latin typeface="Wix Madefor Text SemiBold" pitchFamily="34" charset="0"/>
                <a:ea typeface="Wix Madefor Text SemiBold" pitchFamily="34" charset="-122"/>
                <a:cs typeface="Wix Madefor Text SemiBold" pitchFamily="34" charset="-120"/>
              </a:rPr>
              <a:t>Applied</a:t>
            </a:r>
            <a:endParaRPr lang="en-US" sz="1100" dirty="0"/>
          </a:p>
        </p:txBody>
      </p:sp>
      <p:sp>
        <p:nvSpPr>
          <p:cNvPr id="40" name="Text 31"/>
          <p:cNvSpPr/>
          <p:nvPr/>
        </p:nvSpPr>
        <p:spPr>
          <a:xfrm>
            <a:off x="3302000" y="5676900"/>
            <a:ext cx="81280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50" dirty="0">
                <a:solidFill>
                  <a:srgbClr val="5E6166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Tested on social, presentation, business card and web layouts</a:t>
            </a:r>
            <a:endParaRPr lang="en-US" sz="950" dirty="0"/>
          </a:p>
        </p:txBody>
      </p:sp>
      <p:sp>
        <p:nvSpPr>
          <p:cNvPr id="41" name="Shape 32"/>
          <p:cNvSpPr/>
          <p:nvPr/>
        </p:nvSpPr>
        <p:spPr>
          <a:xfrm>
            <a:off x="762000" y="6057900"/>
            <a:ext cx="10668000" cy="6350"/>
          </a:xfrm>
          <a:prstGeom prst="rect">
            <a:avLst/>
          </a:prstGeom>
          <a:solidFill>
            <a:srgbClr val="D9DADB"/>
          </a:solidFill>
          <a:ln/>
        </p:spPr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314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/Claude-Projects/Projects/TekRevol/01-brand-system/deck-v6/art/cyan-iter-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4445000"/>
            <a:ext cx="12192000" cy="2413000"/>
          </a:xfrm>
          <a:prstGeom prst="rect">
            <a:avLst/>
          </a:prstGeom>
          <a:solidFill>
            <a:srgbClr val="3EC5D1"/>
          </a:solidFill>
          <a:ln/>
        </p:spPr>
      </p:sp>
      <p:pic>
        <p:nvPicPr>
          <p:cNvPr id="4" name="Image 1" descr="C:/Claude-Projects/Projects/TekRevol/01-brand-system/deck-v6/art/logo-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609600"/>
            <a:ext cx="1905000" cy="2794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36600" y="1143000"/>
            <a:ext cx="9525000" cy="146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4800" b="1" kern="0" spc="-115" dirty="0">
                <a:solidFill>
                  <a:srgbClr val="FFFFFF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Learn. Build. Ship.</a:t>
            </a:r>
            <a:endParaRPr lang="en-US" sz="4800" dirty="0"/>
          </a:p>
          <a:p>
            <a:pPr marL="0" indent="0" algn="l">
              <a:lnSpc>
                <a:spcPct val="98000"/>
              </a:lnSpc>
              <a:buNone/>
            </a:pPr>
            <a:r>
              <a:rPr lang="en-US" sz="4800" b="1" kern="0" spc="-115" dirty="0">
                <a:solidFill>
                  <a:srgbClr val="FFFFFF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Then do it better.</a:t>
            </a:r>
            <a:endParaRPr lang="en-US" sz="4800" dirty="0"/>
          </a:p>
        </p:txBody>
      </p:sp>
      <p:sp>
        <p:nvSpPr>
          <p:cNvPr id="6" name="Text 2"/>
          <p:cNvSpPr/>
          <p:nvPr/>
        </p:nvSpPr>
        <p:spPr>
          <a:xfrm>
            <a:off x="787400" y="4889500"/>
            <a:ext cx="9525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00" dirty="0">
                <a:solidFill>
                  <a:srgbClr val="1D1E21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Files: logos, fonts, tokens and patterns in Projects / TekRevol / 01-brand-system</a:t>
            </a:r>
            <a:endParaRPr lang="en-US" sz="900" dirty="0"/>
          </a:p>
        </p:txBody>
      </p:sp>
      <p:sp>
        <p:nvSpPr>
          <p:cNvPr id="7" name="Text 3"/>
          <p:cNvSpPr/>
          <p:nvPr/>
        </p:nvSpPr>
        <p:spPr>
          <a:xfrm>
            <a:off x="787400" y="5207000"/>
            <a:ext cx="635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200" dirty="0">
                <a:solidFill>
                  <a:srgbClr val="1D1E21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TekRevol Brand Guidelines  ·  2026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2143</Words>
  <Application>Microsoft Office PowerPoint</Application>
  <PresentationFormat>Widescreen</PresentationFormat>
  <Paragraphs>509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7" baseType="lpstr">
      <vt:lpstr>JetBrains Mono Medium</vt:lpstr>
      <vt:lpstr>Wix Madefor Text SemiBold</vt:lpstr>
      <vt:lpstr>Wix Madefor Text</vt:lpstr>
      <vt:lpstr>Arial</vt:lpstr>
      <vt:lpstr>Funnel Display SemiBold</vt:lpstr>
      <vt:lpstr>Funnel Display</vt:lpstr>
      <vt:lpstr>JetBrains Mono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TekRevol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TekRevol Brand Guidelines</dc:title>
  <dc:subject>PptxGenJS Presentation</dc:subject>
  <dc:creator>TekRevol Marketing</dc:creator>
  <cp:lastModifiedBy>Sana Qazi</cp:lastModifiedBy>
  <cp:revision>2</cp:revision>
  <dcterms:created xsi:type="dcterms:W3CDTF">2026-10-05T07:49:26Z</dcterms:created>
  <dcterms:modified xsi:type="dcterms:W3CDTF">2026-10-05T07:49:47Z</dcterms:modified>
</cp:coreProperties>
</file>