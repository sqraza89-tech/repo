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Funnel Display" pitchFamily="2" charset="0"/>
      <p:regular r:id="rId35"/>
      <p:bold r:id="rId36"/>
    </p:embeddedFont>
    <p:embeddedFont>
      <p:font typeface="Funnel Display SemiBold" pitchFamily="2" charset="0"/>
      <p:bold r:id="rId37"/>
    </p:embeddedFont>
    <p:embeddedFont>
      <p:font typeface="JetBrains Mono" panose="02000009000000000000" pitchFamily="49" charset="0"/>
      <p:regular r:id="rId38"/>
    </p:embeddedFont>
    <p:embeddedFont>
      <p:font typeface="JetBrains Mono Medium" panose="02000009000000000000" pitchFamily="49" charset="0"/>
      <p:regular r:id="rId39"/>
    </p:embeddedFont>
    <p:embeddedFont>
      <p:font typeface="Wix Madefor Text" panose="020B0503020203020203" pitchFamily="34" charset="0"/>
      <p:regular r:id="rId40"/>
      <p:bold r:id="rId41"/>
    </p:embeddedFont>
    <p:embeddedFont>
      <p:font typeface="Wix Madefor Text SemiBold" panose="020B0503020203020203" pitchFamily="34" charset="0"/>
      <p:bold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85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mono-it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45000"/>
            <a:ext cx="12192000" cy="24130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4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400" y="3810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BRAND GUIDELINES  ·  2026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36600" y="47117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400" b="1" kern="0" spc="-15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 every layer.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787400" y="5778500"/>
            <a:ext cx="952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identity of TekRevol, an AI-first software development company.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6600" y="1587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Inside this guide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2984500"/>
            <a:ext cx="3302000" cy="1905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The TekRevolution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Story, positioning, idea, personality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15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15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Logo and color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15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Logo, palette, accessibility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1000" y="29845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1750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3683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9624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Typefaces, scale, hierarchy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2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Graphic language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Patterns, diagrams, layers, icons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15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15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Imagery and voice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15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Image direction, prompts, tone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4572000"/>
            <a:ext cx="3302000" cy="1905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47625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01000" y="5270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 use and tested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55499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Applications, checks, files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6600" y="1587500"/>
            <a:ext cx="355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It all started with a vision.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4064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“TekRevol was created to give our people a platform where they are free to think critically and innovate, to create a better world.”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8000" y="1333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88000" y="1587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mobile app studio built on structured chaos: learn, ideate, iterate, incubate and scale, in a constant state of flux.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8000" y="2730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8000" y="2984500"/>
            <a:ext cx="546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same spirit, applied to AI. TekRevol adopts new technology early, experiments fast and keeps rebuilding until it works, then ships software enterprises can rely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88000" y="4381500"/>
            <a:ext cx="5461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463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WHAT TEKREVOL 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TekRevol builds the AI-native software other vendors, and other AI tools, couldn’t finish.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4318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AI-first software development company. Software development stays the parent category; AI leads.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15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15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7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47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AI-native products from scratch, and AI-built prototypes taken the rest of the way to production.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4318000"/>
            <a:ext cx="3302000" cy="146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4318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7" name="Text 15"/>
          <p:cNvSpPr/>
          <p:nvPr/>
        </p:nvSpPr>
        <p:spPr>
          <a:xfrm>
            <a:off x="8204200" y="45085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What backs 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4200" y="4826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Ten years of mobile, web, cloud and custom software engineering, and 800+ products delivered.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mono-exp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BRAND IDEA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kern="0" spc="-10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chaos.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62000" y="2794000"/>
            <a:ext cx="444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tries more paths than most teams would dare, faster than most teams can. Most attempts teach something; one ships. That is how a young, curious team produces enterprise-grade work.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2000" y="4445000"/>
            <a:ext cx="114300" cy="25400"/>
          </a:xfrm>
          <a:prstGeom prst="rect">
            <a:avLst/>
          </a:prstGeom>
          <a:solidFill>
            <a:srgbClr val="8A9097"/>
          </a:solidFill>
          <a:ln/>
        </p:spPr>
      </p:sp>
      <p:sp>
        <p:nvSpPr>
          <p:cNvPr id="10" name="Text 7"/>
          <p:cNvSpPr/>
          <p:nvPr/>
        </p:nvSpPr>
        <p:spPr>
          <a:xfrm>
            <a:off x="990600" y="43561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Grey paths: experiments, ideas, prototypes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2000" y="4826000"/>
            <a:ext cx="1143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47371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orange path: what ships, reliably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6600" y="5397500"/>
            <a:ext cx="482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kern="0" spc="-48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Better with every layer.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TEKREVOLUTION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Ideate. Iterate.</a:t>
            </a:r>
            <a:endParaRPr lang="en-US" sz="4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200" b="1" kern="0" spc="-10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Incubate. Scale.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62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8" name="Image 0" descr="C:/Claude-Projects/Projects/TekRevol/01-brand-system/deck-v6/art/ic-sear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4241800"/>
            <a:ext cx="215900" cy="215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22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39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Learn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9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Learn, unlearn and relearn. There is no end to it.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30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14" name="Image 1" descr="C:/Claude-Projects/Projects/TekRevol/01-brand-system/deck-v6/art/ic-sparkles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4241800"/>
            <a:ext cx="215900" cy="215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1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098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Ideate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098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Seek better ideas and practices in everything we do.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89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0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0" name="Image 2" descr="C:/Claude-Projects/Projects/TekRevol/01-brand-system/deck-v6/art/ic-refresh-cw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241800"/>
            <a:ext cx="215900" cy="215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0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257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7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 and evolve everything: people, products, services.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048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39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25272B"/>
          </a:solidFill>
          <a:ln w="9525">
            <a:solidFill>
              <a:srgbClr val="3A3D42"/>
            </a:solidFill>
            <a:prstDash val="solid"/>
          </a:ln>
        </p:spPr>
      </p:sp>
      <p:pic>
        <p:nvPicPr>
          <p:cNvPr id="26" name="Image 3" descr="C:/Claude-Projects/Projects/TekRevol/01-brand-system/deck-v6/art/ic-flask-conical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4241800"/>
            <a:ext cx="215900" cy="215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99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416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Incubate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16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C4C7C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Work hard and be patient on the way to success.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207500" y="4889500"/>
            <a:ext cx="190500" cy="64"/>
          </a:xfrm>
          <a:prstGeom prst="line">
            <a:avLst/>
          </a:prstGeom>
          <a:noFill/>
          <a:ln w="12700">
            <a:solidFill>
              <a:srgbClr val="8A909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398000" y="4064000"/>
            <a:ext cx="1968500" cy="1651000"/>
          </a:xfrm>
          <a:custGeom>
            <a:avLst/>
            <a:gdLst/>
            <a:ahLst/>
            <a:cxnLst/>
            <a:rect l="l" t="t" r="r" b="b"/>
            <a:pathLst>
              <a:path w="1968500" h="1651000">
                <a:moveTo>
                  <a:pt x="0" y="0"/>
                </a:moveTo>
                <a:lnTo>
                  <a:pt x="1816100" y="0"/>
                </a:lnTo>
                <a:lnTo>
                  <a:pt x="1968500" y="152400"/>
                </a:lnTo>
                <a:lnTo>
                  <a:pt x="1968500" y="1651000"/>
                </a:lnTo>
                <a:lnTo>
                  <a:pt x="0" y="16510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32" name="Image 4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4241800"/>
            <a:ext cx="215900" cy="215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858500" y="4267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9575800" y="4635500"/>
            <a:ext cx="165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9575800" y="5016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Grow efficiency through trusted systems and procedures.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62000" y="59055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TekRevol cycle, from the original handbook. Still how the team works, now with AI in every step.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"/>
            <a:ext cx="1524000" cy="223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6670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PERSONALITY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6600" y="29845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Traits that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kern="0" spc="-11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shape the work.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62000" y="4699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Six traits, drawn from the original TekRevol values and still true today.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43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Engineered, precise, specific.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74000" y="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8"/>
          <p:cNvSpPr/>
          <p:nvPr/>
        </p:nvSpPr>
        <p:spPr>
          <a:xfrm>
            <a:off x="8102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02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Quick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102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Moves early, ships on schedule.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33000" y="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5" name="Text 12"/>
          <p:cNvSpPr/>
          <p:nvPr/>
        </p:nvSpPr>
        <p:spPr>
          <a:xfrm>
            <a:off x="10261600" y="381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261600" y="1714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Evolving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261600" y="2159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version better than the last.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Candid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943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Says what is true, plainly.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74000" y="3429000"/>
            <a:ext cx="2159000" cy="3429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3" name="Text 20"/>
          <p:cNvSpPr/>
          <p:nvPr/>
        </p:nvSpPr>
        <p:spPr>
          <a:xfrm>
            <a:off x="8102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102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Warm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102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Human-centered and real.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033000" y="3429000"/>
            <a:ext cx="2159000" cy="3429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7" name="Text 24"/>
          <p:cNvSpPr/>
          <p:nvPr/>
        </p:nvSpPr>
        <p:spPr>
          <a:xfrm>
            <a:off x="10261600" y="3810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261600" y="5143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b="1" kern="0" spc="-6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Curious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10261600" y="5588000"/>
            <a:ext cx="171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D6D8D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Questions everything, learns fast.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1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4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Logo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and color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8260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fixed parts of every TekRevol layout.</a:t>
            </a:r>
            <a:endParaRPr lang="en-US" sz="1300" dirty="0"/>
          </a:p>
        </p:txBody>
      </p:sp>
      <p:pic>
        <p:nvPicPr>
          <p:cNvPr id="5" name="Image 0" descr="C:/Claude-Projects/Projects/TekRevol/01-brand-system/deck-v6/art/mono-tile-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0500"/>
            <a:ext cx="48260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PRIMARY LOGO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mark. Same geometry,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brighter color.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5207000" cy="241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8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254500"/>
            <a:ext cx="3810000" cy="55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Charcoal ink on white and light backgrounds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23000" y="3302000"/>
            <a:ext cx="5207000" cy="2413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1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254500"/>
            <a:ext cx="3810000" cy="55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3000" y="5842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White ink on charcoal and dark backgrounds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62000" y="6108700"/>
            <a:ext cx="114300" cy="1143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0"/>
          <p:cNvSpPr/>
          <p:nvPr/>
        </p:nvSpPr>
        <p:spPr>
          <a:xfrm>
            <a:off x="939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Left plane  #FF4A1C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413000" y="6108700"/>
            <a:ext cx="114300" cy="1143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2"/>
          <p:cNvSpPr/>
          <p:nvPr/>
        </p:nvSpPr>
        <p:spPr>
          <a:xfrm>
            <a:off x="2590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Right plane  #FF7A45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4064000" y="6108700"/>
            <a:ext cx="114300" cy="1143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18" name="Text 14"/>
          <p:cNvSpPr/>
          <p:nvPr/>
        </p:nvSpPr>
        <p:spPr>
          <a:xfrm>
            <a:off x="4241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Base bar  #D93A12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715000" y="6108700"/>
            <a:ext cx="114300" cy="1143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6"/>
          <p:cNvSpPr/>
          <p:nvPr/>
        </p:nvSpPr>
        <p:spPr>
          <a:xfrm>
            <a:off x="5892800" y="60833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Wordmark  #1D1E21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Space, size and misuse.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4826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0500" y="3479800"/>
            <a:ext cx="3429000" cy="736600"/>
          </a:xfrm>
          <a:prstGeom prst="rect">
            <a:avLst/>
          </a:prstGeom>
          <a:ln w="9525">
            <a:solidFill>
              <a:srgbClr val="C2340E"/>
            </a:solidFill>
            <a:prstDash val="solid"/>
          </a:ln>
        </p:spPr>
      </p:sp>
      <p:pic>
        <p:nvPicPr>
          <p:cNvPr id="9" name="Image 0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3632200"/>
            <a:ext cx="2794000" cy="409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600" y="33020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X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2000" y="49276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Clear space on every side = X, the height of the letter 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2000" y="5334000"/>
            <a:ext cx="482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Minimum 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2000" y="55753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Full logo 120 px on screen, 30 mm in print. Mark alone 20 px, 6 mm.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50000" y="285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DON’T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500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6" name="Image 1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3581400"/>
            <a:ext cx="2032000" cy="1536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00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Stretch or distort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953500" y="31115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19" name="Image 2" descr="C:/Claude-Projects/Projects/TekRevol/01-brand-system/deck-v6/art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0" y="3543300"/>
            <a:ext cx="1905000" cy="279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3500" y="43307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Recolor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350000" y="4699000"/>
            <a:ext cx="2413000" cy="1143000"/>
          </a:xfrm>
          <a:prstGeom prst="rect">
            <a:avLst/>
          </a:prstGeom>
          <a:solidFill>
            <a:srgbClr val="FF4A1C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2" name="Image 3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5130800"/>
            <a:ext cx="1905000" cy="2794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00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full color on orange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953500" y="4699000"/>
            <a:ext cx="241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pic>
        <p:nvPicPr>
          <p:cNvPr id="25" name="Image 4" descr="C:/Claude-Projects/Projects/TekRevol/01-brand-system/deck-v6/art/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5130800"/>
            <a:ext cx="1905000" cy="279400"/>
          </a:xfrm>
          <a:prstGeom prst="rect">
            <a:avLst/>
          </a:prstGeom>
          <a:effectLst>
            <a:outerShdw blurRad="101600" dist="76200" dir="27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6" name="Text 19"/>
          <p:cNvSpPr/>
          <p:nvPr/>
        </p:nvSpPr>
        <p:spPr>
          <a:xfrm>
            <a:off x="8953500" y="5918200"/>
            <a:ext cx="241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Add shadows or effects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CORE PALETTE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Clean neutrals, one bright accent.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607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93980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TekRevol Orange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980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  RGB 255 74 28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200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only accent: CTAs, the highlight, what ships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9750" y="2794000"/>
            <a:ext cx="346075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755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Charcoal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755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  RGB 29 30 33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4975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Headlines, body text, dark sections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37500" y="2794000"/>
            <a:ext cx="3460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5300" y="2984500"/>
            <a:ext cx="31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White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15300" y="4381500"/>
            <a:ext cx="31051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  RGB 255 255 255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937500" y="4800600"/>
            <a:ext cx="346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Primary background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000" y="5270500"/>
            <a:ext cx="1428750" cy="76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Mist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#EEEFEF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0" y="5270500"/>
            <a:ext cx="1428750" cy="7620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23" name="Text 21"/>
          <p:cNvSpPr/>
          <p:nvPr/>
        </p:nvSpPr>
        <p:spPr>
          <a:xfrm>
            <a:off x="240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Silver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0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#C9CCCF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10000" y="5270500"/>
            <a:ext cx="1428750" cy="762000"/>
          </a:xfrm>
          <a:prstGeom prst="rect">
            <a:avLst/>
          </a:prstGeom>
          <a:solidFill>
            <a:srgbClr val="8A9097"/>
          </a:solidFill>
          <a:ln/>
        </p:spPr>
      </p:sp>
      <p:sp>
        <p:nvSpPr>
          <p:cNvPr id="26" name="Text 24"/>
          <p:cNvSpPr/>
          <p:nvPr/>
        </p:nvSpPr>
        <p:spPr>
          <a:xfrm>
            <a:off x="3924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Steel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24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#8A9097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34000" y="5270500"/>
            <a:ext cx="1428750" cy="762000"/>
          </a:xfrm>
          <a:prstGeom prst="rect">
            <a:avLst/>
          </a:prstGeom>
          <a:solidFill>
            <a:srgbClr val="5E6166"/>
          </a:solidFill>
          <a:ln/>
        </p:spPr>
      </p:sp>
      <p:sp>
        <p:nvSpPr>
          <p:cNvPr id="29" name="Text 27"/>
          <p:cNvSpPr/>
          <p:nvPr/>
        </p:nvSpPr>
        <p:spPr>
          <a:xfrm>
            <a:off x="5448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8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58000" y="5270500"/>
            <a:ext cx="1428750" cy="7620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72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382000" y="5270500"/>
            <a:ext cx="1428750" cy="762000"/>
          </a:xfrm>
          <a:prstGeom prst="rect">
            <a:avLst/>
          </a:prstGeom>
          <a:solidFill>
            <a:srgbClr val="D93A12"/>
          </a:solidFill>
          <a:ln/>
        </p:spPr>
      </p:sp>
      <p:sp>
        <p:nvSpPr>
          <p:cNvPr id="35" name="Text 33"/>
          <p:cNvSpPr/>
          <p:nvPr/>
        </p:nvSpPr>
        <p:spPr>
          <a:xfrm>
            <a:off x="8496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Ember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96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#D93A12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906000" y="5270500"/>
            <a:ext cx="1428750" cy="762000"/>
          </a:xfrm>
          <a:prstGeom prst="rect">
            <a:avLst/>
          </a:prstGeom>
          <a:solidFill>
            <a:srgbClr val="C2340E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0300" y="5397500"/>
            <a:ext cx="1206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20300" y="5803900"/>
            <a:ext cx="120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category is a blue wall.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Orange is the signal.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556000"/>
            <a:ext cx="1333500" cy="1397000"/>
          </a:xfrm>
          <a:prstGeom prst="rect">
            <a:avLst/>
          </a:prstGeom>
          <a:solidFill>
            <a:srgbClr val="1B54F8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LeewayHertz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22500" y="3556000"/>
            <a:ext cx="1333500" cy="1397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Azumo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83000" y="3556000"/>
            <a:ext cx="1333500" cy="1397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83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ScienceSoft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3500" y="3556000"/>
            <a:ext cx="1333500" cy="1397000"/>
          </a:xfrm>
          <a:prstGeom prst="rect">
            <a:avLst/>
          </a:prstGeom>
          <a:solidFill>
            <a:srgbClr val="0227E9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Cheesecake Labs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04000" y="3556000"/>
            <a:ext cx="1333500" cy="1397000"/>
          </a:xfrm>
          <a:prstGeom prst="rect">
            <a:avLst/>
          </a:prstGeom>
          <a:solidFill>
            <a:srgbClr val="3ABDBC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0" y="5054600"/>
            <a:ext cx="1333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HatchWorks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190500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3302000"/>
            <a:ext cx="1143000" cy="19050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9" name="Text 17"/>
          <p:cNvSpPr/>
          <p:nvPr/>
        </p:nvSpPr>
        <p:spPr>
          <a:xfrm>
            <a:off x="8509000" y="48260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TekRevol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4000" y="4826000"/>
            <a:ext cx="95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2000" y="5334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warm accent against a wall of cool blues: the most recognizable position in the category.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PROPORTION AND DARK MODE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much of each.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58674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900" y="2794000"/>
            <a:ext cx="574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and mist 55%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0" y="2794000"/>
            <a:ext cx="2453640" cy="6985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0" name="Text 8"/>
          <p:cNvSpPr/>
          <p:nvPr/>
        </p:nvSpPr>
        <p:spPr>
          <a:xfrm>
            <a:off x="6718300" y="2794000"/>
            <a:ext cx="232664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23%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83040" y="2794000"/>
            <a:ext cx="1066800" cy="698500"/>
          </a:xfrm>
          <a:prstGeom prst="rect">
            <a:avLst/>
          </a:prstGeom>
          <a:solidFill>
            <a:srgbClr val="C9CC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71940" y="2794000"/>
            <a:ext cx="939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Metal 10%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149840" y="2794000"/>
            <a:ext cx="128016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38740" y="2794000"/>
            <a:ext cx="11531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12%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6322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focal point per view; the primary button is functional and doesn’t 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191000"/>
            <a:ext cx="10668000" cy="1905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" y="4406900"/>
            <a:ext cx="1905000" cy="762000"/>
          </a:xfrm>
          <a:prstGeom prst="rect">
            <a:avLst/>
          </a:prstGeom>
          <a:solidFill>
            <a:srgbClr val="131417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5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Deep Charcoal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5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#131417  ·  Page background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060700" y="4406900"/>
            <a:ext cx="1905000" cy="762000"/>
          </a:xfrm>
          <a:prstGeom prst="rect">
            <a:avLst/>
          </a:prstGeom>
          <a:solidFill>
            <a:srgbClr val="1A1B1E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0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Surface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0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#1A1B1E  ·  Cards, panels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156200" y="4406900"/>
            <a:ext cx="1905000" cy="762000"/>
          </a:xfrm>
          <a:prstGeom prst="rect">
            <a:avLst/>
          </a:prstGeom>
          <a:solidFill>
            <a:srgbClr val="2A2C30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6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Border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56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#2A2C30  ·  Dividers only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251700" y="4406900"/>
            <a:ext cx="1905000" cy="762000"/>
          </a:xfrm>
          <a:prstGeom prst="rect">
            <a:avLst/>
          </a:prstGeom>
          <a:solidFill>
            <a:srgbClr val="6E727A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7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Control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517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#6E727A  ·  Input outlines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347200" y="4406900"/>
            <a:ext cx="1905000" cy="762000"/>
          </a:xfrm>
          <a:prstGeom prst="rect">
            <a:avLst/>
          </a:prstGeom>
          <a:solidFill>
            <a:srgbClr val="8B8E94"/>
          </a:solidFill>
          <a:ln w="9525">
            <a:solidFill>
              <a:srgbClr val="3A3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7200" y="5270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47200" y="5486400"/>
            <a:ext cx="1905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 ·  Secondary text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COLOR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ACCESSIBILITY,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text pair checked</a:t>
            </a:r>
            <a:endParaRPr lang="en-US" sz="3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against WCAG 2.2.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8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White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78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#FFFFFF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18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16.7:1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81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5181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223000" y="34290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00" y="34290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E616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39000" y="35179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Muted on White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39000" y="37338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#5E6166 on #FFFFFF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79000" y="34290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6.2:1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42600" y="36068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42600" y="36068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62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78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Charcoal on Orange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78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#1D1E21 on #FF4A1C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18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5.0:1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81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5181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223000" y="40894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3000" y="40894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2340E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9000" y="41783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Ink on White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39000" y="4394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#C2340E on #FFFFFF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779000" y="40894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5.9:1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42600" y="42672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42600" y="42672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62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78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White on Deep Charcoal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78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#FFFFFF on #131417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318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18.4:1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81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46" name="Text 44"/>
          <p:cNvSpPr/>
          <p:nvPr/>
        </p:nvSpPr>
        <p:spPr>
          <a:xfrm>
            <a:off x="5181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223000" y="47498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000" y="47498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7A4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39000" y="4838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Flare on Deep Charcoal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39000" y="50546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#FF7A45 on #131417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779000" y="47498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7.0:1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642600" y="49276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54" name="Text 52"/>
          <p:cNvSpPr/>
          <p:nvPr/>
        </p:nvSpPr>
        <p:spPr>
          <a:xfrm>
            <a:off x="10642600" y="49276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AAA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762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8B8E94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778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Muted on Deep Charcoal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78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#8B8E94 on #131417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318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5.6:1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81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1D1E21"/>
          </a:solidFill>
          <a:ln/>
        </p:spPr>
      </p:sp>
      <p:sp>
        <p:nvSpPr>
          <p:cNvPr id="62" name="Text 60"/>
          <p:cNvSpPr/>
          <p:nvPr/>
        </p:nvSpPr>
        <p:spPr>
          <a:xfrm>
            <a:off x="5181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AA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6223000" y="5410200"/>
            <a:ext cx="5080000" cy="55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23000" y="5410200"/>
            <a:ext cx="825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239000" y="54991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Orange on White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39000" y="57150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#FF4A1C on #FFFFFF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779000" y="5410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3.4:1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642600" y="5588000"/>
            <a:ext cx="571500" cy="203200"/>
          </a:xfrm>
          <a:custGeom>
            <a:avLst/>
            <a:gdLst/>
            <a:ahLst/>
            <a:cxnLst/>
            <a:rect l="l" t="t" r="r" b="b"/>
            <a:pathLst>
              <a:path w="571500" h="203200">
                <a:moveTo>
                  <a:pt x="0" y="0"/>
                </a:moveTo>
                <a:lnTo>
                  <a:pt x="533400" y="0"/>
                </a:lnTo>
                <a:lnTo>
                  <a:pt x="571500" y="38100"/>
                </a:lnTo>
                <a:lnTo>
                  <a:pt x="57150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EEEFEF"/>
          </a:solidFill>
          <a:ln/>
        </p:spPr>
      </p:sp>
      <p:sp>
        <p:nvSpPr>
          <p:cNvPr id="70" name="Text 68"/>
          <p:cNvSpPr/>
          <p:nvPr/>
        </p:nvSpPr>
        <p:spPr>
          <a:xfrm>
            <a:off x="10642600" y="5588000"/>
            <a:ext cx="57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00" dirty="0">
                <a:solidFill>
                  <a:srgbClr val="5E61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LARGE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762000" y="6134100"/>
            <a:ext cx="1066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 as text on white is for headlines 24 px and up; use Orange Ink for smaller text.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E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6600" y="29845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Typography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87400" y="4064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 with personality. Everything else calm.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2000" y="889000"/>
            <a:ext cx="444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0" b="1" kern="0" spc="-1000" dirty="0">
                <a:solidFill>
                  <a:srgbClr val="FF4A1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Aa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kern="0" spc="-10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Funnel Display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2514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Headlines. SemiBold and Bold.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abcdefghijklmnopqrstuvwxyz</a:t>
            </a:r>
            <a:endParaRPr lang="en-US" sz="1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0123456789 &amp; ? ! @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1905000"/>
            <a:ext cx="12700" cy="393700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1905000"/>
            <a:ext cx="431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Madefor 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39000" y="24130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Body copy, subheads and UI. Regular, Medium, SemiBold.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9000" y="2730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Same team from kickoff to launch. Compliance built in from the first sprint.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39000" y="39370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JetBrains Mono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39000" y="43815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Labels, node labels, code and proof numbers. Uppercase, +8% tracking.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39000" y="4953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9000" y="5207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800+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62000" y="6032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All three are free under the SIL Open Font License. Install them from the fonts folder before editing this file.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SCALE AND HIERARCHY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One clear order on every page.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STYLE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0955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TYPEFACE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064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DESKTOP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26000" y="27940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MOBILE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62000" y="2984500"/>
            <a:ext cx="4826000" cy="12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0861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Display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95500" y="308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4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88 px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6000" y="3086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44 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2000" y="33528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3782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95500" y="3378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Bold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4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56 px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6000" y="33782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34 px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000" y="36449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6703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95500" y="36703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4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40 px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6000" y="3670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2000" y="3937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9624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Pull quote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95500" y="3962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64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6000" y="39624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2000" y="42291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42545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H3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95500" y="4254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Funnel SemiBold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4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28 px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6000" y="4254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 px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2000" y="45212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45466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95500" y="4546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4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 px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6000" y="45466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 px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2000" y="48133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48387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Body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095500" y="48387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Regular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4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6000" y="4838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2000" y="51054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47" name="Text 45"/>
          <p:cNvSpPr/>
          <p:nvPr/>
        </p:nvSpPr>
        <p:spPr>
          <a:xfrm>
            <a:off x="762000" y="513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Button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95500" y="5130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Wix SemiBold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4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6000" y="51308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15 px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2000" y="5397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5422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Label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95500" y="5422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Mono, caps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64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60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2000" y="56896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57" name="Text 55"/>
          <p:cNvSpPr/>
          <p:nvPr/>
        </p:nvSpPr>
        <p:spPr>
          <a:xfrm>
            <a:off x="762000" y="5715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Data large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95500" y="5715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JetBrains Mono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064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26000" y="57150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2000" y="59817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62" name="Shape 60"/>
          <p:cNvSpPr/>
          <p:nvPr/>
        </p:nvSpPr>
        <p:spPr>
          <a:xfrm>
            <a:off x="6223000" y="2730500"/>
            <a:ext cx="5207000" cy="3302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63" name="Text 61"/>
          <p:cNvSpPr/>
          <p:nvPr/>
        </p:nvSpPr>
        <p:spPr>
          <a:xfrm>
            <a:off x="6604000" y="3111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kern="0" spc="135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AI-FIRST SOFTWARE DEVELOPMENT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78600" y="3365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Finish what the</a:t>
            </a:r>
            <a:endParaRPr lang="en-US" sz="3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000" b="1" kern="0" spc="-72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last team started.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6604000" y="4572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Stalled build or an AI prototype that hit a wall. One team takes it to launch.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604000" y="5334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651000" h="381000">
                <a:moveTo>
                  <a:pt x="0" y="0"/>
                </a:moveTo>
                <a:lnTo>
                  <a:pt x="1587500" y="0"/>
                </a:lnTo>
                <a:lnTo>
                  <a:pt x="1651000" y="63500"/>
                </a:lnTo>
                <a:lnTo>
                  <a:pt x="165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67" name="Text 65"/>
          <p:cNvSpPr/>
          <p:nvPr/>
        </p:nvSpPr>
        <p:spPr>
          <a:xfrm>
            <a:off x="6604000" y="53340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Talk to an engineer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ln w="13970">
            <a:solidFill>
              <a:srgbClr val="1D1E2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2000" y="5340350"/>
            <a:ext cx="146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See our work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mono-ex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3141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62000" y="2667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kern="0" spc="162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6600" y="2984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Graphic</a:t>
            </a:r>
            <a:endParaRPr lang="en-US" sz="6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000" b="1" kern="0" spc="-14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language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87400" y="4826000"/>
            <a:ext cx="444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Structured chaos, drawn: many attempts, one path that ships.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THREE PATTERNS, ONE IDEA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Never the same background twice.</a:t>
            </a:r>
            <a:endParaRPr lang="en-US" sz="3800" dirty="0"/>
          </a:p>
        </p:txBody>
      </p:sp>
      <p:pic>
        <p:nvPicPr>
          <p:cNvPr id="7" name="Image 0" descr="C:/Claude-Projects/Projects/TekRevol/01-brand-system/deck-v6/art/mono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3429000" cy="2571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Experiment field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Many tries, one path through. For covers of strategy, process and case-study pages.</a:t>
            </a:r>
            <a:endParaRPr lang="en-US" sz="850" dirty="0"/>
          </a:p>
        </p:txBody>
      </p:sp>
      <p:pic>
        <p:nvPicPr>
          <p:cNvPr id="10" name="Image 1" descr="C:/Claude-Projects/Projects/TekRevol/01-brand-system/deck-v6/art/mono-tile-i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794000"/>
            <a:ext cx="3429000" cy="2571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15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Iteration lines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815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Rough attempts that settle into one clean line. For covers and campaign visuals.</a:t>
            </a:r>
            <a:endParaRPr lang="en-US" sz="850" dirty="0"/>
          </a:p>
        </p:txBody>
      </p:sp>
      <p:pic>
        <p:nvPicPr>
          <p:cNvPr id="13" name="Image 2" descr="C:/Claude-Projects/Projects/TekRevol/01-brand-system/deck-v6/art/mono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794000"/>
            <a:ext cx="3429000" cy="2571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55118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Layer planes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57785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Stacked layers, the newest lit orange. For architecture and section openers.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DIAGRAMS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Grey explores. Orange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6731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04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9" name="Image 0" descr="C:/Claude-Projects/Projects/TekRevol/01-brand-system/deck-v6/art/ic-sparkles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3130550"/>
            <a:ext cx="139700" cy="139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4300" y="304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PROTOTYPE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857500" y="3556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2" name="Image 1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3638550"/>
            <a:ext cx="139700" cy="139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2300" y="3556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A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857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5" name="Image 2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4400550"/>
            <a:ext cx="139700" cy="139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62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B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2857500" y="5080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8A9097"/>
            </a:solidFill>
            <a:prstDash val="solid"/>
          </a:ln>
        </p:spPr>
      </p:sp>
      <p:pic>
        <p:nvPicPr>
          <p:cNvPr id="18" name="Image 3" descr="C:/Claude-Projects/Projects/TekRevol/01-brand-system/deck-v6/art/ic-flask-conical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5162550"/>
            <a:ext cx="139700" cy="139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62300" y="5080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SPIKE C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4635500" y="4318000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0" y="0"/>
                </a:moveTo>
                <a:lnTo>
                  <a:pt x="1270000" y="0"/>
                </a:lnTo>
                <a:lnTo>
                  <a:pt x="1333500" y="63500"/>
                </a:lnTo>
                <a:lnTo>
                  <a:pt x="13335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pic>
        <p:nvPicPr>
          <p:cNvPr id="21" name="Image 4" descr="C:/Claude-Projects/Projects/TekRevol/01-brand-system/deck-v6/art/ic-shield-check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400550"/>
            <a:ext cx="139700" cy="1397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40300" y="4318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HARDEN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5969000" y="5461000"/>
            <a:ext cx="1270000" cy="304800"/>
          </a:xfrm>
          <a:custGeom>
            <a:avLst/>
            <a:gdLst/>
            <a:ahLst/>
            <a:cxnLst/>
            <a:rect l="l" t="t" r="r" b="b"/>
            <a:pathLst>
              <a:path w="1270000" h="304800">
                <a:moveTo>
                  <a:pt x="0" y="0"/>
                </a:moveTo>
                <a:lnTo>
                  <a:pt x="1206500" y="0"/>
                </a:lnTo>
                <a:lnTo>
                  <a:pt x="1270000" y="63500"/>
                </a:lnTo>
                <a:lnTo>
                  <a:pt x="1270000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pic>
        <p:nvPicPr>
          <p:cNvPr id="24" name="Image 5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5543550"/>
            <a:ext cx="139700" cy="1397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73800" y="546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3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SHIP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1746250" y="3352800"/>
            <a:ext cx="64" cy="355600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746250" y="3708400"/>
            <a:ext cx="111125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1746250" y="3708400"/>
            <a:ext cx="64" cy="1524000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1746250" y="5232400"/>
            <a:ext cx="111125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4191000" y="3708400"/>
            <a:ext cx="25400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4191000" y="5232400"/>
            <a:ext cx="254000" cy="64"/>
          </a:xfrm>
          <a:prstGeom prst="line">
            <a:avLst/>
          </a:prstGeom>
          <a:noFill/>
          <a:ln w="10160">
            <a:solidFill>
              <a:srgbClr val="8A9097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1746250" y="3352800"/>
            <a:ext cx="64" cy="1117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746250" y="4470400"/>
            <a:ext cx="11112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191000" y="4470400"/>
            <a:ext cx="44450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02250" y="4622800"/>
            <a:ext cx="64" cy="990600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302250" y="5613400"/>
            <a:ext cx="666750" cy="64"/>
          </a:xfrm>
          <a:prstGeom prst="line">
            <a:avLst/>
          </a:prstGeom>
          <a:noFill/>
          <a:ln w="19050">
            <a:solidFill>
              <a:srgbClr val="FF4A1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701800" y="3314700"/>
            <a:ext cx="88900" cy="889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38" name="Text 30"/>
          <p:cNvSpPr/>
          <p:nvPr/>
        </p:nvSpPr>
        <p:spPr>
          <a:xfrm>
            <a:off x="7874000" y="2857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Explore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874000" y="3098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Steel dashed lines and outlined nodes for experiments, options and spikes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874000" y="3619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Ship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874000" y="3860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One orange solid path, 3 px, from start to the filled orange result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874000" y="4381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Shape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874000" y="4622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Right angles only; notched nodes with a line icon and a mono label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874000" y="51435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Keep it short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874000" y="5384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 to 7 nodes; label with verbs or real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mono-is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762000"/>
            <a:ext cx="5461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SIGNATURE GRAPHIC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6600" y="1905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layer stack.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27305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real layers of AI-native software, stacked bottom to top. It is “better with every layer” made literal.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2000" y="36830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4A1C"/>
          </a:solidFill>
          <a:ln w="9525">
            <a:solidFill>
              <a:srgbClr val="FF4A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36830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97000" y="36830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75000" y="36830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Web, mobile,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2000" y="42672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42672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97000" y="42672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Agents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75000" y="42672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Planning, tools, memory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2000" y="48514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500" y="48514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97000" y="48514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Models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75000" y="48514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LLMs, embeddings, evals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2000" y="5435600"/>
            <a:ext cx="5207000" cy="482600"/>
          </a:xfrm>
          <a:custGeom>
            <a:avLst/>
            <a:gdLst/>
            <a:ahLst/>
            <a:cxnLst/>
            <a:rect l="l" t="t" r="r" b="b"/>
            <a:pathLst>
              <a:path w="5207000" h="482600">
                <a:moveTo>
                  <a:pt x="0" y="0"/>
                </a:moveTo>
                <a:lnTo>
                  <a:pt x="5118100" y="0"/>
                </a:lnTo>
                <a:lnTo>
                  <a:pt x="5207000" y="88900"/>
                </a:lnTo>
                <a:lnTo>
                  <a:pt x="520700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C9CC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2500" y="5435600"/>
            <a:ext cx="38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397000" y="5435600"/>
            <a:ext cx="165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75000" y="5435600"/>
            <a:ext cx="266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Warehouse, APIs, events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SHAPE AND SPACE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Square, with one signature corner.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429000" cy="27940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8" name="Shape 6"/>
          <p:cNvSpPr/>
          <p:nvPr/>
        </p:nvSpPr>
        <p:spPr>
          <a:xfrm>
            <a:off x="1206500" y="3238500"/>
            <a:ext cx="2540000" cy="1397000"/>
          </a:xfrm>
          <a:custGeom>
            <a:avLst/>
            <a:gdLst/>
            <a:ahLst/>
            <a:cxnLst/>
            <a:rect l="l" t="t" r="r" b="b"/>
            <a:pathLst>
              <a:path w="2540000" h="1397000">
                <a:moveTo>
                  <a:pt x="0" y="0"/>
                </a:moveTo>
                <a:lnTo>
                  <a:pt x="2286000" y="0"/>
                </a:lnTo>
                <a:lnTo>
                  <a:pt x="2540000" y="254000"/>
                </a:lnTo>
                <a:lnTo>
                  <a:pt x="2540000" y="1397000"/>
                </a:lnTo>
                <a:lnTo>
                  <a:pt x="0" y="1397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206500" y="48895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1460500" y="0"/>
                </a:lnTo>
                <a:lnTo>
                  <a:pt x="1524000" y="63500"/>
                </a:lnTo>
                <a:lnTo>
                  <a:pt x="152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4A1C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889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Primary button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7000" y="34798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NOTCH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97000" y="37465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45° cut taken from the logo. 8 px buttons, 16 px cards, 32 px hero panels. One per 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5000" y="2794000"/>
            <a:ext cx="3429000" cy="279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SPACING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99000" y="3365500"/>
            <a:ext cx="660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6" name="Text 14"/>
          <p:cNvSpPr/>
          <p:nvPr/>
        </p:nvSpPr>
        <p:spPr>
          <a:xfrm>
            <a:off x="6985000" y="3365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 px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99000" y="3594100"/>
            <a:ext cx="1320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594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8 px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99000" y="3822700"/>
            <a:ext cx="1981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5000" y="3822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px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99000" y="4051300"/>
            <a:ext cx="26416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0" y="4051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16 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99000" y="4279900"/>
            <a:ext cx="3962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85000" y="42799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px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99000" y="4508500"/>
            <a:ext cx="52832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85000" y="45085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32 px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99000" y="4737100"/>
            <a:ext cx="79248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47371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48 px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99000" y="4965700"/>
            <a:ext cx="1056640" cy="1397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30" name="Text 28"/>
          <p:cNvSpPr/>
          <p:nvPr/>
        </p:nvSpPr>
        <p:spPr>
          <a:xfrm>
            <a:off x="6985000" y="49657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64 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99000" y="5194300"/>
            <a:ext cx="1584960" cy="1397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5194300"/>
            <a:ext cx="762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96 px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28000" y="2794000"/>
            <a:ext cx="3302000" cy="2794000"/>
          </a:xfrm>
          <a:prstGeom prst="rect">
            <a:avLst/>
          </a:prstGeom>
          <a:solidFill>
            <a:srgbClr val="131417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3048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382000" y="3365500"/>
            <a:ext cx="184150" cy="19050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36" name="Shape 34"/>
          <p:cNvSpPr/>
          <p:nvPr/>
        </p:nvSpPr>
        <p:spPr>
          <a:xfrm>
            <a:off x="86169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519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0868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218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5567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917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266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616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965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73150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66450" y="3365500"/>
            <a:ext cx="184150" cy="1905000"/>
          </a:xfrm>
          <a:prstGeom prst="rect">
            <a:avLst/>
          </a:prstGeom>
          <a:solidFill>
            <a:srgbClr val="FF4A1C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82000" y="5372100"/>
            <a:ext cx="279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B8E9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columns, 24 px gutters, 1280 px max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62000" y="5842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Sections, images and large cards stay square. Pills only for status dots and avatars.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GRAPHIC LANGUAGE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ICONS AND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Thin lines, honest charts.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6/art/ic-database-1D1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3009900"/>
            <a:ext cx="355600" cy="355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68500" y="2794000"/>
            <a:ext cx="1016000" cy="7874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10" name="Image 1" descr="C:/Claude-Projects/Projects/TekRevol/01-brand-system/deck-v6/art/ic-brain-circuit-1D1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" y="3009900"/>
            <a:ext cx="355600" cy="355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50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C:/Claude-Projects/Projects/TekRevol/01-brand-system/deck-v6/art/ic-bot-1D1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009900"/>
            <a:ext cx="355600" cy="355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1500" y="2794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C:/Claude-Projects/Projects/TekRevol/01-brand-system/deck-v6/art/ic-workflow-1D1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009900"/>
            <a:ext cx="355600" cy="355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2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4" descr="C:/Claude-Projects/Projects/TekRevol/01-brand-system/deck-v6/art/ic-shield-check-1D1E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3962400"/>
            <a:ext cx="355600" cy="355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968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5" descr="C:/Claude-Projects/Projects/TekRevol/01-brand-system/deck-v6/art/ic-cloud-1D1E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8700" y="3962400"/>
            <a:ext cx="355600" cy="355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1750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C:/Claude-Projects/Projects/TekRevol/01-brand-system/deck-v6/art/ic-code-xml-1D1E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962400"/>
            <a:ext cx="355600" cy="3556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381500" y="37465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7" descr="C:/Claude-Projects/Projects/TekRevol/01-brand-system/deck-v6/art/ic-smartphone-1D1E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3962400"/>
            <a:ext cx="355600" cy="355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2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8" descr="C:/Claude-Projects/Projects/TekRevol/01-brand-system/deck-v6/art/ic-layers-1D1E2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200" y="4914900"/>
            <a:ext cx="355600" cy="35560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968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9" descr="C:/Claude-Projects/Projects/TekRevol/01-brand-system/deck-v6/art/ic-git-branch-1D1E2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8700" y="4914900"/>
            <a:ext cx="355600" cy="3556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31750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10" descr="C:/Claude-Projects/Projects/TekRevol/01-brand-system/deck-v6/art/ic-activity-1D1E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914900"/>
            <a:ext cx="355600" cy="3556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4381500" y="4699000"/>
            <a:ext cx="1016000" cy="787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11" descr="C:/Claude-Projects/Projects/TekRevol/01-brand-system/deck-v6/art/ic-rocket-1D1E2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700" y="4914900"/>
            <a:ext cx="355600" cy="3556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2000" y="57912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Lucide, 1.5 px stroke, charcoal. One active icon may sit on orange.</a:t>
            </a:r>
            <a:endParaRPr lang="en-US" sz="850" dirty="0"/>
          </a:p>
        </p:txBody>
      </p:sp>
      <p:sp>
        <p:nvSpPr>
          <p:cNvPr id="32" name="Shape 18"/>
          <p:cNvSpPr/>
          <p:nvPr/>
        </p:nvSpPr>
        <p:spPr>
          <a:xfrm>
            <a:off x="5969000" y="2794000"/>
            <a:ext cx="5461000" cy="298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19"/>
          <p:cNvSpPr/>
          <p:nvPr/>
        </p:nvSpPr>
        <p:spPr>
          <a:xfrm>
            <a:off x="6223000" y="29845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kern="0" spc="117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ILLUSTRATIVE CHART</a:t>
            </a:r>
            <a:endParaRPr lang="en-US" sz="650" dirty="0"/>
          </a:p>
        </p:txBody>
      </p:sp>
      <p:sp>
        <p:nvSpPr>
          <p:cNvPr id="34" name="Shape 20"/>
          <p:cNvSpPr/>
          <p:nvPr/>
        </p:nvSpPr>
        <p:spPr>
          <a:xfrm>
            <a:off x="6286500" y="33655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5" name="Shape 21"/>
          <p:cNvSpPr/>
          <p:nvPr/>
        </p:nvSpPr>
        <p:spPr>
          <a:xfrm>
            <a:off x="6286500" y="388937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6" name="Shape 22"/>
          <p:cNvSpPr/>
          <p:nvPr/>
        </p:nvSpPr>
        <p:spPr>
          <a:xfrm>
            <a:off x="6286500" y="441325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3"/>
          <p:cNvSpPr/>
          <p:nvPr/>
        </p:nvSpPr>
        <p:spPr>
          <a:xfrm>
            <a:off x="6286500" y="4937125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8" name="Shape 24"/>
          <p:cNvSpPr/>
          <p:nvPr/>
        </p:nvSpPr>
        <p:spPr>
          <a:xfrm>
            <a:off x="6286500" y="5461000"/>
            <a:ext cx="4826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9" name="Shape 25"/>
          <p:cNvSpPr/>
          <p:nvPr/>
        </p:nvSpPr>
        <p:spPr>
          <a:xfrm flipV="1">
            <a:off x="6286500" y="5143500"/>
            <a:ext cx="603250" cy="635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0" name="Shape 26"/>
          <p:cNvSpPr/>
          <p:nvPr/>
        </p:nvSpPr>
        <p:spPr>
          <a:xfrm flipV="1">
            <a:off x="6286500" y="4864100"/>
            <a:ext cx="603250" cy="152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6889750" y="5143500"/>
            <a:ext cx="603250" cy="127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2" name="Shape 28"/>
          <p:cNvSpPr/>
          <p:nvPr/>
        </p:nvSpPr>
        <p:spPr>
          <a:xfrm>
            <a:off x="6889750" y="4864100"/>
            <a:ext cx="603250" cy="50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 flipV="1">
            <a:off x="7493000" y="5029200"/>
            <a:ext cx="603250" cy="1270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4" name="Shape 30"/>
          <p:cNvSpPr/>
          <p:nvPr/>
        </p:nvSpPr>
        <p:spPr>
          <a:xfrm flipV="1">
            <a:off x="7493000" y="4610100"/>
            <a:ext cx="603250" cy="3048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 flipV="1">
            <a:off x="8096250" y="4953000"/>
            <a:ext cx="603250" cy="762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6" name="Shape 32"/>
          <p:cNvSpPr/>
          <p:nvPr/>
        </p:nvSpPr>
        <p:spPr>
          <a:xfrm flipV="1">
            <a:off x="8096250" y="4508500"/>
            <a:ext cx="603250" cy="1016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 flipV="1">
            <a:off x="8699500" y="4864100"/>
            <a:ext cx="603250" cy="889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48" name="Shape 34"/>
          <p:cNvSpPr/>
          <p:nvPr/>
        </p:nvSpPr>
        <p:spPr>
          <a:xfrm flipV="1">
            <a:off x="8699500" y="4241800"/>
            <a:ext cx="603250" cy="266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 flipV="1">
            <a:off x="9302750" y="4762500"/>
            <a:ext cx="603250" cy="1016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0" name="Shape 36"/>
          <p:cNvSpPr/>
          <p:nvPr/>
        </p:nvSpPr>
        <p:spPr>
          <a:xfrm flipV="1">
            <a:off x="9302750" y="4114800"/>
            <a:ext cx="603250" cy="1270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 flipV="1">
            <a:off x="9906000" y="4673600"/>
            <a:ext cx="603250" cy="889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2" name="Shape 38"/>
          <p:cNvSpPr/>
          <p:nvPr/>
        </p:nvSpPr>
        <p:spPr>
          <a:xfrm flipV="1">
            <a:off x="9906000" y="3835400"/>
            <a:ext cx="603250" cy="2794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 flipV="1">
            <a:off x="10509250" y="4572000"/>
            <a:ext cx="603250" cy="101600"/>
          </a:xfrm>
          <a:prstGeom prst="line">
            <a:avLst/>
          </a:prstGeom>
          <a:noFill/>
          <a:ln w="15875">
            <a:solidFill>
              <a:srgbClr val="8A9097"/>
            </a:solidFill>
            <a:prstDash val="dash"/>
          </a:ln>
        </p:spPr>
      </p:sp>
      <p:sp>
        <p:nvSpPr>
          <p:cNvPr id="54" name="Shape 40"/>
          <p:cNvSpPr/>
          <p:nvPr/>
        </p:nvSpPr>
        <p:spPr>
          <a:xfrm flipV="1">
            <a:off x="10509250" y="3695700"/>
            <a:ext cx="603250" cy="139700"/>
          </a:xfrm>
          <a:prstGeom prst="line">
            <a:avLst/>
          </a:prstGeom>
          <a:noFill/>
          <a:ln w="25400">
            <a:solidFill>
              <a:srgbClr val="FF4A1C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1061700" y="3644900"/>
            <a:ext cx="101600" cy="101600"/>
          </a:xfrm>
          <a:prstGeom prst="ellipse">
            <a:avLst/>
          </a:prstGeom>
          <a:solidFill>
            <a:srgbClr val="FF4A1C"/>
          </a:solidFill>
          <a:ln/>
        </p:spPr>
      </p:sp>
      <p:sp>
        <p:nvSpPr>
          <p:cNvPr id="56" name="Text 42"/>
          <p:cNvSpPr/>
          <p:nvPr/>
        </p:nvSpPr>
        <p:spPr>
          <a:xfrm>
            <a:off x="6223000" y="55245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in orange, comparison in dashed steel. No 3D, no gradients on bars.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 DIRECTION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Show the build, then the builders.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330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Patterns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Experiment fields, iteration lines and layer planes lead covers, slides and social posts.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1500" y="2794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1" name="Text 9"/>
          <p:cNvSpPr/>
          <p:nvPr/>
        </p:nvSpPr>
        <p:spPr>
          <a:xfrm>
            <a:off x="43815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Real people, real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15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Documentary photos of the team: whiteboards, code reviews, launches. One orange detail per frame.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01000" y="2794000"/>
            <a:ext cx="3302000" cy="25400"/>
          </a:xfrm>
          <a:prstGeom prst="rect">
            <a:avLst/>
          </a:prstGeom>
          <a:solidFill>
            <a:srgbClr val="1D1E21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984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Product on screen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3302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TekRevol interfaces on devices on light surfaces. Screens are always real UI, never generated.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2000" y="4381500"/>
            <a:ext cx="10668000" cy="1587500"/>
          </a:xfrm>
          <a:prstGeom prst="rect">
            <a:avLst/>
          </a:prstGeom>
          <a:solidFill>
            <a:srgbClr val="EE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572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 IMAGE PROMPT, PASTE AFTER YOUR SUBJECT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52500" y="4826000"/>
            <a:ext cx="1028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50" dirty="0">
                <a:solidFill>
                  <a:srgbClr val="1D1E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Style: TekRevol brand. Clean, bright, modern workspace in white and light grey, charcoal details, one bright red-orange accent (#FF4A1C). Documentary photography, real people and devices, soft daylight, shallow depth of field, generous negative space, editorial quality. Avoid: robots, glowing brains, holograms, purple light, neon, text, logos, clutter.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VOICE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Young in approach.</a:t>
            </a:r>
            <a:endParaRPr lang="en-US" sz="3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600" b="1" kern="0" spc="-86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Enterprise in output.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355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Clear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8100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Short, active sentences. One idea each.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2000" y="41656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44196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Real numbers, named standards, real work.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4775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D1E21"/>
                </a:solidFill>
                <a:latin typeface="Funnel Display SemiBold" pitchFamily="34" charset="0"/>
                <a:ea typeface="Funnel Display SemiBold" pitchFamily="34" charset="-122"/>
                <a:cs typeface="Funnel Display SemiBold" pitchFamily="34" charset="-120"/>
              </a:rPr>
              <a:t>Candid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5029200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Name the situation, never the vendor.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No em dashes. No invented statistics. US spelling. Sentence case.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SAY THIS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636000" y="31750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NOT THIS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15000" y="3429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17" name="Text 15"/>
          <p:cNvSpPr/>
          <p:nvPr/>
        </p:nvSpPr>
        <p:spPr>
          <a:xfrm>
            <a:off x="5880100" y="3429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Finish what the last team started.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36000" y="3429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1100" y="3429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Revolutionary AI-powered solutions.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42545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1" name="Text 19"/>
          <p:cNvSpPr/>
          <p:nvPr/>
        </p:nvSpPr>
        <p:spPr>
          <a:xfrm>
            <a:off x="5880100" y="4254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Built for HIPAA from the first sprint.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36000" y="42545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1100" y="42545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Cutting-edge, robust, seamless security.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5080000"/>
            <a:ext cx="2730500" cy="698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5" name="Text 23"/>
          <p:cNvSpPr/>
          <p:nvPr/>
        </p:nvSpPr>
        <p:spPr>
          <a:xfrm>
            <a:off x="5880100" y="5080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Your AI prototype got you 80% of the way.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36000" y="5080000"/>
            <a:ext cx="2794000" cy="69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A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1100" y="5080000"/>
            <a:ext cx="247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Unleash the power of AI today.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 USE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system at work.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2540000" cy="3175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C:/Claude-Projects/Projects/TekRevol/01-brand-system/deck-v6/art/mono-tile-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2540000" cy="1905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AI-NATIVE SOFTWARE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39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Your AI prototype got you 80% of the way.</a:t>
            </a:r>
            <a:endParaRPr lang="en-US" sz="1500" dirty="0"/>
          </a:p>
        </p:txBody>
      </p:sp>
      <p:pic>
        <p:nvPicPr>
          <p:cNvPr id="11" name="Image 1" descr="C:/Claude-Projects/Projects/TekRevol/01-brand-system/deck-v6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727700"/>
            <a:ext cx="825500" cy="1210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LinkedIn post, 4:5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3556000" y="2794000"/>
            <a:ext cx="2540000" cy="3175000"/>
          </a:xfrm>
          <a:prstGeom prst="rect">
            <a:avLst/>
          </a:prstGeom>
          <a:solidFill>
            <a:srgbClr val="131417"/>
          </a:solidFill>
          <a:ln/>
        </p:spPr>
      </p:sp>
      <p:pic>
        <p:nvPicPr>
          <p:cNvPr id="14" name="Image 2" descr="C:/Claude-Projects/Projects/TekRevol/01-brand-system/deck-v6/art/mono-til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794000"/>
            <a:ext cx="2540000" cy="1905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3800" y="4826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kern="0" spc="108" dirty="0">
                <a:solidFill>
                  <a:srgbClr val="FF7A4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WE WORK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3733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Every stage builds on the last.</a:t>
            </a:r>
            <a:endParaRPr lang="en-US" sz="1500" dirty="0"/>
          </a:p>
        </p:txBody>
      </p:sp>
      <p:pic>
        <p:nvPicPr>
          <p:cNvPr id="17" name="Image 3" descr="C:/Claude-Projects/Projects/TekRevol/01-brand-system/deck-v6/art/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5727700"/>
            <a:ext cx="825500" cy="1210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56000" y="6045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Carousel cover, dark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6350000" y="2794000"/>
            <a:ext cx="5080000" cy="1460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4" descr="C:/Claude-Projects/Projects/TekRevol/01-brand-system/deck-v6/art/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048000"/>
            <a:ext cx="2095500" cy="3073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04000" y="3937000"/>
            <a:ext cx="762000" cy="254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2" name="Text 15"/>
          <p:cNvSpPr/>
          <p:nvPr/>
        </p:nvSpPr>
        <p:spPr>
          <a:xfrm>
            <a:off x="7493000" y="3835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tekrevol.com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6350000" y="4381500"/>
            <a:ext cx="5080000" cy="1587500"/>
          </a:xfrm>
          <a:prstGeom prst="rect">
            <a:avLst/>
          </a:prstGeom>
          <a:solidFill>
            <a:srgbClr val="FF4A1C"/>
          </a:solidFill>
          <a:ln/>
        </p:spPr>
      </p:sp>
      <p:sp>
        <p:nvSpPr>
          <p:cNvPr id="24" name="Text 17"/>
          <p:cNvSpPr/>
          <p:nvPr/>
        </p:nvSpPr>
        <p:spPr>
          <a:xfrm>
            <a:off x="6604000" y="46355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Name Surname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04000" y="49911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Job title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604000" y="53721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name@tekrevol.com</a:t>
            </a:r>
            <a:endParaRPr lang="en-US" sz="7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+1 000 000 0000</a:t>
            </a:r>
            <a:endParaRPr lang="en-US" sz="750" dirty="0"/>
          </a:p>
        </p:txBody>
      </p:sp>
      <p:pic>
        <p:nvPicPr>
          <p:cNvPr id="27" name="Image 5" descr="C:/Claude-Projects/Projects/TekRevol/01-brand-system/deck-v6/art/mark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0" y="5207000"/>
            <a:ext cx="635000" cy="5270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50000" y="60452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Business card, front and back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762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126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TESTED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62000" y="63500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160000" y="6350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750" dirty="0">
                <a:solidFill>
                  <a:srgbClr val="8A909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762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kern="0" spc="144" dirty="0">
                <a:solidFill>
                  <a:srgbClr val="C2340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HOW THIS SYSTEM WAS TESTED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6600" y="1905000"/>
            <a:ext cx="952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b="1" kern="0" spc="-91" dirty="0">
                <a:solidFill>
                  <a:srgbClr val="1D1E2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Checked before it ships.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8" name="Image 0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927350"/>
            <a:ext cx="1524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8575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2000" y="28575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pair measured against WCAG 2.2; body text passes AA, most pairs AAA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2000" y="32385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33655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3" name="Image 1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397250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3274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Legibility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02000" y="33274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Type scale checked from 12 px labels to 88 px display, desktop and mobile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2000" y="37084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17" name="Shape 13"/>
          <p:cNvSpPr/>
          <p:nvPr/>
        </p:nvSpPr>
        <p:spPr>
          <a:xfrm>
            <a:off x="762000" y="3835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18" name="Image 2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3867150"/>
            <a:ext cx="1524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7973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02000" y="37973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color has a dark equivalent; control outlines meet 3:1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62000" y="41783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2" name="Shape 17"/>
          <p:cNvSpPr/>
          <p:nvPr/>
        </p:nvSpPr>
        <p:spPr>
          <a:xfrm>
            <a:off x="762000" y="4305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3" name="Image 3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337050"/>
            <a:ext cx="1524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2672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Color blindness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02000" y="42672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Orange, and charcoal differ in lightness, so meaning never relies on hue alone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62000" y="46482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27" name="Shape 21"/>
          <p:cNvSpPr/>
          <p:nvPr/>
        </p:nvSpPr>
        <p:spPr>
          <a:xfrm>
            <a:off x="762000" y="47752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28" name="Image 4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4806950"/>
            <a:ext cx="152400" cy="152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7371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Fonts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02000" y="47371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Free under the SIL Open Font License; files included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762000" y="51181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2" name="Shape 25"/>
          <p:cNvSpPr/>
          <p:nvPr/>
        </p:nvSpPr>
        <p:spPr>
          <a:xfrm>
            <a:off x="762000" y="5245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3" name="Image 5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276850"/>
            <a:ext cx="152400" cy="152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43000" y="52070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Editable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302000" y="52070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Every text box and diagram in this file is native and editable in PowerPoint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62000" y="55880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  <p:sp>
        <p:nvSpPr>
          <p:cNvPr id="37" name="Shape 29"/>
          <p:cNvSpPr/>
          <p:nvPr/>
        </p:nvSpPr>
        <p:spPr>
          <a:xfrm>
            <a:off x="762000" y="57150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0" y="0"/>
                </a:moveTo>
                <a:lnTo>
                  <a:pt x="171450" y="0"/>
                </a:lnTo>
                <a:lnTo>
                  <a:pt x="215900" y="44450"/>
                </a:lnTo>
                <a:lnTo>
                  <a:pt x="2159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1D1E21"/>
          </a:solidFill>
          <a:ln/>
        </p:spPr>
      </p:sp>
      <p:pic>
        <p:nvPicPr>
          <p:cNvPr id="38" name="Image 6" descr="C:/Claude-Projects/Projects/TekRevol/01-brand-system/deck-v6/art/ic-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5746750"/>
            <a:ext cx="152400" cy="1524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143000" y="5676900"/>
            <a:ext cx="1905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D1E21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Applied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3302000" y="5676900"/>
            <a:ext cx="8128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5E61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Tested on social, presentation, business card and web layouts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762000" y="6057900"/>
            <a:ext cx="10668000" cy="6350"/>
          </a:xfrm>
          <a:prstGeom prst="rect">
            <a:avLst/>
          </a:prstGeom>
          <a:solidFill>
            <a:srgbClr val="D9DAD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Claude-Projects/Projects/TekRevol/01-brand-system/deck-v6/art/mono-ite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45000"/>
            <a:ext cx="12192000" cy="2413000"/>
          </a:xfrm>
          <a:prstGeom prst="rect">
            <a:avLst/>
          </a:prstGeom>
          <a:solidFill>
            <a:srgbClr val="FF4A1C"/>
          </a:solidFill>
          <a:ln/>
        </p:spPr>
      </p:sp>
      <p:pic>
        <p:nvPicPr>
          <p:cNvPr id="4" name="Image 1" descr="C:/Claude-Projects/Projects/TekRevol/01-brand-system/deck-v6/art/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905000" cy="279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6600" y="1143000"/>
            <a:ext cx="952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Learn. Build. Ship.</a:t>
            </a:r>
            <a:endParaRPr lang="en-US" sz="48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800" b="1" kern="0" spc="-115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Then do it better.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787400" y="4889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1D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Files: logos, fonts, tokens and patterns in Projects / TekRevol / 01-brand-system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87400" y="52070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E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TekRevol Brand Guidelines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2094</Words>
  <Application>Microsoft Office PowerPoint</Application>
  <PresentationFormat>Widescreen</PresentationFormat>
  <Paragraphs>505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JetBrains Mono Medium</vt:lpstr>
      <vt:lpstr>Wix Madefor Text SemiBold</vt:lpstr>
      <vt:lpstr>Wix Madefor Text</vt:lpstr>
      <vt:lpstr>Arial</vt:lpstr>
      <vt:lpstr>Funnel Display SemiBold</vt:lpstr>
      <vt:lpstr>Funnel Display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TekRevol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TekRevol Brand Guidelines</dc:title>
  <dc:subject>PptxGenJS Presentation</dc:subject>
  <dc:creator>TekRevol Marketing</dc:creator>
  <cp:lastModifiedBy>Sana Qazi</cp:lastModifiedBy>
  <cp:revision>2</cp:revision>
  <dcterms:created xsi:type="dcterms:W3CDTF">2026-10-05T07:49:26Z</dcterms:created>
  <dcterms:modified xsi:type="dcterms:W3CDTF">2026-10-05T07:49:51Z</dcterms:modified>
</cp:coreProperties>
</file>