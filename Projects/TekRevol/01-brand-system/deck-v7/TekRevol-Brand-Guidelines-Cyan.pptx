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1" r:id="rId26"/>
    <p:sldId id="283" r:id="rId27"/>
    <p:sldId id="284" r:id="rId28"/>
  </p:sldIdLst>
  <p:sldSz cx="12192000" cy="6858000"/>
  <p:notesSz cx="6858000" cy="12192000"/>
  <p:embeddedFontLst>
    <p:embeddedFont>
      <p:font typeface="Calibri" panose="020F0502020204030204" pitchFamily="34" charset="0"/>
      <p:regular r:id="rId30"/>
      <p:bold r:id="rId31"/>
      <p:italic r:id="rId32"/>
      <p:boldItalic r:id="rId33"/>
    </p:embeddedFont>
    <p:embeddedFont>
      <p:font typeface="Funnel Display" pitchFamily="2" charset="0"/>
      <p:regular r:id="rId34"/>
      <p:bold r:id="rId35"/>
    </p:embeddedFont>
    <p:embeddedFont>
      <p:font typeface="Funnel Display SemiBold" pitchFamily="2" charset="0"/>
      <p:bold r:id="rId36"/>
    </p:embeddedFont>
    <p:embeddedFont>
      <p:font typeface="JetBrains Mono Medium" panose="02000009000000000000" pitchFamily="49" charset="0"/>
      <p:regular r:id="rId37"/>
    </p:embeddedFont>
    <p:embeddedFont>
      <p:font typeface="Wix Madefor Text" panose="020B0503020203020203" pitchFamily="34" charset="0"/>
      <p:regular r:id="rId38"/>
      <p:bold r:id="rId39"/>
    </p:embeddedFont>
    <p:embeddedFont>
      <p:font typeface="Wix Madefor Text SemiBold" panose="020B0503020203020203" pitchFamily="34" charset="0"/>
      <p:bold r:id="rId4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4376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18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7.png"/><Relationship Id="rId5" Type="http://schemas.openxmlformats.org/officeDocument/2006/relationships/image" Target="../media/image22.png"/><Relationship Id="rId10" Type="http://schemas.openxmlformats.org/officeDocument/2006/relationships/image" Target="../media/image26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Relationship Id="rId1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ai-images/1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:/Claude-Projects/Projects/TekRevol/01-brand-system/deck-v7/art/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09600"/>
            <a:ext cx="1905000" cy="2794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83400" y="4127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3EC5D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BRAND GUIDELINES  ·  2026</a:t>
            </a:r>
            <a:endParaRPr lang="en-US" sz="900" dirty="0"/>
          </a:p>
        </p:txBody>
      </p:sp>
      <p:sp>
        <p:nvSpPr>
          <p:cNvPr id="5" name="Text 1"/>
          <p:cNvSpPr/>
          <p:nvPr/>
        </p:nvSpPr>
        <p:spPr>
          <a:xfrm>
            <a:off x="6858000" y="4356100"/>
            <a:ext cx="482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Better with</a:t>
            </a:r>
            <a:endParaRPr lang="en-US" sz="46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every layer.</a:t>
            </a:r>
            <a:endParaRPr lang="en-US" sz="4600" dirty="0"/>
          </a:p>
        </p:txBody>
      </p:sp>
      <p:sp>
        <p:nvSpPr>
          <p:cNvPr id="6" name="Text 2"/>
          <p:cNvSpPr/>
          <p:nvPr/>
        </p:nvSpPr>
        <p:spPr>
          <a:xfrm>
            <a:off x="6883400" y="5905500"/>
            <a:ext cx="457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identity of TekRevol, an AI-first software development company.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270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CONTENTS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36600" y="1587500"/>
            <a:ext cx="762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400" b="1" kern="0" spc="-10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Inside this guide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62000" y="2984500"/>
            <a:ext cx="3302000" cy="1905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31750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FF4A1C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62000" y="368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The TekRevolution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62000" y="3962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Story, positioning, idea, personality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81500" y="29845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9" name="Text 7"/>
          <p:cNvSpPr/>
          <p:nvPr/>
        </p:nvSpPr>
        <p:spPr>
          <a:xfrm>
            <a:off x="4381500" y="31750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381500" y="368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Logo and color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1500" y="3962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Logo, palette, accessibility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01000" y="29845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3" name="Text 11"/>
          <p:cNvSpPr/>
          <p:nvPr/>
        </p:nvSpPr>
        <p:spPr>
          <a:xfrm>
            <a:off x="8001000" y="31750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001000" y="368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Typography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01000" y="3962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Typefaces, scale, hierarchy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2000" y="45720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7" name="Text 15"/>
          <p:cNvSpPr/>
          <p:nvPr/>
        </p:nvSpPr>
        <p:spPr>
          <a:xfrm>
            <a:off x="762000" y="47625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2000" y="5270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Graphic language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62000" y="55499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Patterns, diagrams, layers, icons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381500" y="45720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1" name="Text 19"/>
          <p:cNvSpPr/>
          <p:nvPr/>
        </p:nvSpPr>
        <p:spPr>
          <a:xfrm>
            <a:off x="4381500" y="47625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381500" y="5270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Imagery and voice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381500" y="55499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Image direction, prompts, tone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01000" y="45720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5" name="Text 23"/>
          <p:cNvSpPr/>
          <p:nvPr/>
        </p:nvSpPr>
        <p:spPr>
          <a:xfrm>
            <a:off x="8001000" y="47625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001000" y="5270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In use and tested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001000" y="55499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Applications, checks, files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1270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6600" y="1587500"/>
            <a:ext cx="3556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It all started with a vision.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62000" y="4064000"/>
            <a:ext cx="3429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“TekRevol was created to give our people a platform where they are free to think critically and innovate, to create a better world.”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88000" y="1333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588000" y="1587500"/>
            <a:ext cx="546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 mobile app studio built on structured chaos: learn, ideate, iterate, incubate and scale, in a constant state of flux.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88000" y="2730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NOW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588000" y="2984500"/>
            <a:ext cx="5461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same spirit, applied to AI. TekRevol adopts new technology early, experiments fast and keeps rebuilding until it works, then ships software enterprises can rely 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88000" y="4381500"/>
            <a:ext cx="5461000" cy="12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1" name="Text 9"/>
          <p:cNvSpPr/>
          <p:nvPr/>
        </p:nvSpPr>
        <p:spPr>
          <a:xfrm>
            <a:off x="5562600" y="4635500"/>
            <a:ext cx="571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Young in approach.</a:t>
            </a:r>
            <a:endParaRPr lang="en-US" sz="3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Enterprise in output.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WHAT TEKREVOL 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TekRevol builds the AI-native software other vendors, and other AI tools, couldn’t finish.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4318000"/>
            <a:ext cx="3302000" cy="1460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4318000"/>
            <a:ext cx="3302000" cy="254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9" name="Text 7"/>
          <p:cNvSpPr/>
          <p:nvPr/>
        </p:nvSpPr>
        <p:spPr>
          <a:xfrm>
            <a:off x="965200" y="45085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Category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5200" y="4826000"/>
            <a:ext cx="292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AI-first software development company. Software development stays the parent category; AI leads.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1500" y="4318000"/>
            <a:ext cx="3302000" cy="1460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1500" y="4318000"/>
            <a:ext cx="3302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3" name="Text 11"/>
          <p:cNvSpPr/>
          <p:nvPr/>
        </p:nvSpPr>
        <p:spPr>
          <a:xfrm>
            <a:off x="4584700" y="45085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What we 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84700" y="4826000"/>
            <a:ext cx="292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AI-native products from scratch, and AI-built prototypes taken the rest of the way to production.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4318000"/>
            <a:ext cx="3302000" cy="1460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4318000"/>
            <a:ext cx="3302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7" name="Text 15"/>
          <p:cNvSpPr/>
          <p:nvPr/>
        </p:nvSpPr>
        <p:spPr>
          <a:xfrm>
            <a:off x="8204200" y="45085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What backs 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04200" y="4826000"/>
            <a:ext cx="292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Ten years of mobile, web, cloud and custom software engineering, and 800+ products delivered.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ai-images/3-Cha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50000" y="698500"/>
            <a:ext cx="508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3EC5D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BRAND IDEA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324600" y="952500"/>
            <a:ext cx="546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Structured chaos.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350000" y="1778000"/>
            <a:ext cx="5080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1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tries more paths than most teams would dare, faster than most teams can. Most attempts teach something; one ships. That is how a young, curious team produces enterprise-grade work.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3EC5D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HOW WE WORK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Learn. Ideate. Iterate.</a:t>
            </a:r>
            <a:endParaRPr lang="en-US" sz="42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Incubate. Scale.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62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8" name="Image 0" descr="C:/Claude-Projects/Projects/TekRevol/01-brand-system/deck-v7/art/ic-search-3EC5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241800"/>
            <a:ext cx="215900" cy="215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22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939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Learn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39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Learn, unlearn and relearn. There is no end to it.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30500" y="4889500"/>
            <a:ext cx="190500" cy="64"/>
          </a:xfrm>
          <a:prstGeom prst="line">
            <a:avLst/>
          </a:prstGeom>
          <a:noFill/>
          <a:ln w="12700">
            <a:solidFill>
              <a:srgbClr val="3EC5D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21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14" name="Image 1" descr="C:/Claude-Projects/Projects/TekRevol/01-brand-system/deck-v7/art/ic-sparkles-3EC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8800" y="4241800"/>
            <a:ext cx="215900" cy="215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381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098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Ideate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3098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Seek better ideas and practices in everything we do.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89500" y="4889500"/>
            <a:ext cx="190500" cy="64"/>
          </a:xfrm>
          <a:prstGeom prst="line">
            <a:avLst/>
          </a:prstGeom>
          <a:noFill/>
          <a:ln w="12700">
            <a:solidFill>
              <a:srgbClr val="3EC5D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80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20" name="Image 2" descr="C:/Claude-Projects/Projects/TekRevol/01-brand-system/deck-v7/art/ic-refresh-cw-3EC5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4241800"/>
            <a:ext cx="215900" cy="2159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540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5257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Iterate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5257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Test and evolve everything: people, products, services.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048500" y="4889500"/>
            <a:ext cx="190500" cy="64"/>
          </a:xfrm>
          <a:prstGeom prst="line">
            <a:avLst/>
          </a:prstGeom>
          <a:noFill/>
          <a:ln w="12700">
            <a:solidFill>
              <a:srgbClr val="3EC5D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239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26" name="Image 3" descr="C:/Claude-Projects/Projects/TekRevol/01-brand-system/deck-v7/art/ic-flask-conical-3EC5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6800" y="4241800"/>
            <a:ext cx="215900" cy="2159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699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7416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Incubate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416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Work hard and be patient on the way to success.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9207500" y="4889500"/>
            <a:ext cx="190500" cy="64"/>
          </a:xfrm>
          <a:prstGeom prst="line">
            <a:avLst/>
          </a:prstGeom>
          <a:noFill/>
          <a:ln w="12700">
            <a:solidFill>
              <a:srgbClr val="3EC5D1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9398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FF4A1C"/>
          </a:solidFill>
          <a:ln w="9525">
            <a:solidFill>
              <a:srgbClr val="FF4A1C"/>
            </a:solidFill>
            <a:prstDash val="solid"/>
          </a:ln>
        </p:spPr>
      </p:sp>
      <p:pic>
        <p:nvPicPr>
          <p:cNvPr id="32" name="Image 4" descr="C:/Claude-Projects/Projects/TekRevol/01-brand-system/deck-v7/art/ic-rocket-1D1E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5800" y="4241800"/>
            <a:ext cx="215900" cy="21590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858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05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9575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Scale</a:t>
            </a:r>
            <a:endParaRPr lang="en-US" sz="1700" dirty="0"/>
          </a:p>
        </p:txBody>
      </p:sp>
      <p:sp>
        <p:nvSpPr>
          <p:cNvPr id="35" name="Text 28"/>
          <p:cNvSpPr/>
          <p:nvPr/>
        </p:nvSpPr>
        <p:spPr>
          <a:xfrm>
            <a:off x="9575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Grow efficiency through trusted systems and procedures.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62000" y="59055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TekRevol cycle, from the original handbook. Still how the team works, now with AI in every step.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09600"/>
            <a:ext cx="1524000" cy="223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2667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PERSONALITY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736600" y="2984500"/>
            <a:ext cx="457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Traits that</a:t>
            </a:r>
            <a:endParaRPr lang="en-US" sz="46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shape the work.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762000" y="4699000"/>
            <a:ext cx="406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Six traits, drawn from the original TekRevol values and still true today.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715000" y="0"/>
            <a:ext cx="2159000" cy="3429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0" y="381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943600" y="1714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Built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5943600" y="2159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Engineered, precise, specific.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874000" y="0"/>
            <a:ext cx="2159000" cy="3429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1" name="Text 8"/>
          <p:cNvSpPr/>
          <p:nvPr/>
        </p:nvSpPr>
        <p:spPr>
          <a:xfrm>
            <a:off x="8102600" y="381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102600" y="1714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Quick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8102600" y="2159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D6D8D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Moves early, ships on schedule.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10033000" y="0"/>
            <a:ext cx="2159000" cy="3429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5" name="Text 12"/>
          <p:cNvSpPr/>
          <p:nvPr/>
        </p:nvSpPr>
        <p:spPr>
          <a:xfrm>
            <a:off x="10261600" y="381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261600" y="1714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Evolving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10261600" y="2159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version better than the last.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715000" y="3429000"/>
            <a:ext cx="2159000" cy="3429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0" y="3810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0" y="5143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Candid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5943600" y="5588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D6D8D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Says what is true, plainly.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874000" y="3429000"/>
            <a:ext cx="2159000" cy="3429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3" name="Text 20"/>
          <p:cNvSpPr/>
          <p:nvPr/>
        </p:nvSpPr>
        <p:spPr>
          <a:xfrm>
            <a:off x="8102600" y="3810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102600" y="5143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Warm</a:t>
            </a:r>
            <a:endParaRPr lang="en-US" sz="2300" dirty="0"/>
          </a:p>
        </p:txBody>
      </p:sp>
      <p:sp>
        <p:nvSpPr>
          <p:cNvPr id="25" name="Text 22"/>
          <p:cNvSpPr/>
          <p:nvPr/>
        </p:nvSpPr>
        <p:spPr>
          <a:xfrm>
            <a:off x="8102600" y="5588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Human-centered and real.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10033000" y="3429000"/>
            <a:ext cx="2159000" cy="3429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7" name="Text 24"/>
          <p:cNvSpPr/>
          <p:nvPr/>
        </p:nvSpPr>
        <p:spPr>
          <a:xfrm>
            <a:off x="10261600" y="3810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261600" y="5143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Curious</a:t>
            </a:r>
            <a:endParaRPr lang="en-US" sz="2300" dirty="0"/>
          </a:p>
        </p:txBody>
      </p:sp>
      <p:sp>
        <p:nvSpPr>
          <p:cNvPr id="29" name="Text 26"/>
          <p:cNvSpPr/>
          <p:nvPr/>
        </p:nvSpPr>
        <p:spPr>
          <a:xfrm>
            <a:off x="10261600" y="5588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D6D8D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Questions everything, learns fast.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81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ai-images/2-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2667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36600" y="2984500"/>
            <a:ext cx="5461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Logo</a:t>
            </a:r>
            <a:endParaRPr lang="en-US" sz="6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and color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787400" y="48260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fixed parts of every TekRevol layout.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LOGO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09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PRIMARY LOGO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One mark. Same geometry,</a:t>
            </a:r>
            <a:endParaRPr lang="en-US" sz="3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brighter color.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3302000"/>
            <a:ext cx="5207000" cy="241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8" name="Image 0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4254500"/>
            <a:ext cx="3810000" cy="558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62000" y="5842000"/>
            <a:ext cx="520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Charcoal ink on white and light backgrounds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223000" y="3302000"/>
            <a:ext cx="5207000" cy="2413000"/>
          </a:xfrm>
          <a:prstGeom prst="rect">
            <a:avLst/>
          </a:prstGeom>
          <a:solidFill>
            <a:srgbClr val="131417"/>
          </a:solidFill>
          <a:ln/>
        </p:spPr>
      </p:sp>
      <p:pic>
        <p:nvPicPr>
          <p:cNvPr id="11" name="Image 1" descr="C:/Claude-Projects/Projects/TekRevol/01-brand-system/deck-v7/art/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1500" y="4254500"/>
            <a:ext cx="3810000" cy="558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23000" y="5842000"/>
            <a:ext cx="520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White ink on charcoal and dark backgrounds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62000" y="6108700"/>
            <a:ext cx="114300" cy="1143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4" name="Text 10"/>
          <p:cNvSpPr/>
          <p:nvPr/>
        </p:nvSpPr>
        <p:spPr>
          <a:xfrm>
            <a:off x="939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Left plane  #FF4A1C</a:t>
            </a:r>
            <a:endParaRPr lang="en-US" sz="650" dirty="0"/>
          </a:p>
        </p:txBody>
      </p:sp>
      <p:sp>
        <p:nvSpPr>
          <p:cNvPr id="15" name="Shape 11"/>
          <p:cNvSpPr/>
          <p:nvPr/>
        </p:nvSpPr>
        <p:spPr>
          <a:xfrm>
            <a:off x="2413000" y="6108700"/>
            <a:ext cx="114300" cy="1143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2"/>
          <p:cNvSpPr/>
          <p:nvPr/>
        </p:nvSpPr>
        <p:spPr>
          <a:xfrm>
            <a:off x="2590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Right plane  #FF7A45</a:t>
            </a:r>
            <a:endParaRPr lang="en-US" sz="650" dirty="0"/>
          </a:p>
        </p:txBody>
      </p:sp>
      <p:sp>
        <p:nvSpPr>
          <p:cNvPr id="17" name="Shape 13"/>
          <p:cNvSpPr/>
          <p:nvPr/>
        </p:nvSpPr>
        <p:spPr>
          <a:xfrm>
            <a:off x="4064000" y="6108700"/>
            <a:ext cx="114300" cy="114300"/>
          </a:xfrm>
          <a:prstGeom prst="rect">
            <a:avLst/>
          </a:prstGeom>
          <a:solidFill>
            <a:srgbClr val="D93A12"/>
          </a:solidFill>
          <a:ln/>
        </p:spPr>
      </p:sp>
      <p:sp>
        <p:nvSpPr>
          <p:cNvPr id="18" name="Text 14"/>
          <p:cNvSpPr/>
          <p:nvPr/>
        </p:nvSpPr>
        <p:spPr>
          <a:xfrm>
            <a:off x="4241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Base bar  #D93A12</a:t>
            </a:r>
            <a:endParaRPr lang="en-US" sz="650" dirty="0"/>
          </a:p>
        </p:txBody>
      </p:sp>
      <p:sp>
        <p:nvSpPr>
          <p:cNvPr id="19" name="Shape 15"/>
          <p:cNvSpPr/>
          <p:nvPr/>
        </p:nvSpPr>
        <p:spPr>
          <a:xfrm>
            <a:off x="5715000" y="6108700"/>
            <a:ext cx="114300" cy="1143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0" name="Text 16"/>
          <p:cNvSpPr/>
          <p:nvPr/>
        </p:nvSpPr>
        <p:spPr>
          <a:xfrm>
            <a:off x="5892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Wordmark  #1D1E21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LOGO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RULES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Space, size and misuse.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857500"/>
            <a:ext cx="4826000" cy="1905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460500" y="3479800"/>
            <a:ext cx="3429000" cy="736600"/>
          </a:xfrm>
          <a:prstGeom prst="rect">
            <a:avLst/>
          </a:prstGeom>
          <a:ln w="9525">
            <a:solidFill>
              <a:srgbClr val="C2340E"/>
            </a:solidFill>
            <a:prstDash val="solid"/>
          </a:ln>
        </p:spPr>
      </p:sp>
      <p:pic>
        <p:nvPicPr>
          <p:cNvPr id="9" name="Image 0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0" y="3632200"/>
            <a:ext cx="2794000" cy="4097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98600" y="33020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X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762000" y="49276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Clear space on every side = X, the height of the letter T.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2000" y="5334000"/>
            <a:ext cx="482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Minimum size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62000" y="55753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Full logo 120 px on screen, 30 mm in print. Mark alone 20 px, 6 mm.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350000" y="285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DON’T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350000" y="3111500"/>
            <a:ext cx="2413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16" name="Image 1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500" y="3581400"/>
            <a:ext cx="2032000" cy="15367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50000" y="43307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Stretch or distort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8953500" y="3111500"/>
            <a:ext cx="2413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19" name="Image 2" descr="C:/Claude-Projects/Projects/TekRevol/01-brand-system/deck-v7/art/logo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7500" y="3543300"/>
            <a:ext cx="1905000" cy="2794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53500" y="43307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Recolor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6350000" y="4699000"/>
            <a:ext cx="2413000" cy="1143000"/>
          </a:xfrm>
          <a:prstGeom prst="rect">
            <a:avLst/>
          </a:prstGeom>
          <a:solidFill>
            <a:srgbClr val="FF4A1C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22" name="Image 3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5130800"/>
            <a:ext cx="1905000" cy="2794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50000" y="5918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Use full color on orange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8953500" y="4699000"/>
            <a:ext cx="2413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25" name="Image 4" descr="C:/Claude-Projects/Projects/TekRevol/01-brand-system/deck-v7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500" y="5130800"/>
            <a:ext cx="1905000" cy="279400"/>
          </a:xfrm>
          <a:prstGeom prst="rect">
            <a:avLst/>
          </a:prstGeom>
          <a:effectLst>
            <a:outerShdw blurRad="101600" dist="76200" dir="27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26" name="Text 19"/>
          <p:cNvSpPr/>
          <p:nvPr/>
        </p:nvSpPr>
        <p:spPr>
          <a:xfrm>
            <a:off x="8953500" y="5918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Add shadows or effects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CORE PALETTE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Orange leads. Cyan answers.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2571750" cy="1905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8" name="Text 6"/>
          <p:cNvSpPr/>
          <p:nvPr/>
        </p:nvSpPr>
        <p:spPr>
          <a:xfrm>
            <a:off x="939800" y="2984500"/>
            <a:ext cx="2216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TekRevol Orange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9800" y="4381500"/>
            <a:ext cx="2216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#FF4A1C   RGB 255 74 28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62000" y="4800600"/>
            <a:ext cx="2571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Primary accent: CTAs, the highlight, what ships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60750" y="2794000"/>
            <a:ext cx="2571750" cy="1905000"/>
          </a:xfrm>
          <a:prstGeom prst="rect">
            <a:avLst/>
          </a:prstGeom>
          <a:solidFill>
            <a:srgbClr val="3EC5D1"/>
          </a:solidFill>
          <a:ln/>
        </p:spPr>
      </p:sp>
      <p:sp>
        <p:nvSpPr>
          <p:cNvPr id="12" name="Text 10"/>
          <p:cNvSpPr/>
          <p:nvPr/>
        </p:nvSpPr>
        <p:spPr>
          <a:xfrm>
            <a:off x="3638550" y="2984500"/>
            <a:ext cx="2216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Ice Cyan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38550" y="4381500"/>
            <a:ext cx="2216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#3EC5D1   RGB 62 197 209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460750" y="4800600"/>
            <a:ext cx="2571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Complement: experiments, AI signals, data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59500" y="2794000"/>
            <a:ext cx="2571750" cy="1905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7300" y="2984500"/>
            <a:ext cx="2216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Charcoal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7300" y="4381500"/>
            <a:ext cx="2216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#1D1E21   RGB 29 30 33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159500" y="4800600"/>
            <a:ext cx="2571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Headlines, body text, dark sections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858250" y="2794000"/>
            <a:ext cx="257175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36050" y="2984500"/>
            <a:ext cx="2216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White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36050" y="4381500"/>
            <a:ext cx="2216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#FFFFFF   RGB 255 255 255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858250" y="4800600"/>
            <a:ext cx="2571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Primary background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62000" y="5270500"/>
            <a:ext cx="1428750" cy="762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24" name="Text 22"/>
          <p:cNvSpPr/>
          <p:nvPr/>
        </p:nvSpPr>
        <p:spPr>
          <a:xfrm>
            <a:off x="876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Mist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6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#EEEFEF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286000" y="5270500"/>
            <a:ext cx="1428750" cy="762000"/>
          </a:xfrm>
          <a:prstGeom prst="rect">
            <a:avLst/>
          </a:prstGeom>
          <a:solidFill>
            <a:srgbClr val="C9CCCF"/>
          </a:solidFill>
          <a:ln/>
        </p:spPr>
      </p:sp>
      <p:sp>
        <p:nvSpPr>
          <p:cNvPr id="27" name="Text 25"/>
          <p:cNvSpPr/>
          <p:nvPr/>
        </p:nvSpPr>
        <p:spPr>
          <a:xfrm>
            <a:off x="2400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Silver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400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#C9CCCF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810000" y="5270500"/>
            <a:ext cx="1428750" cy="762000"/>
          </a:xfrm>
          <a:prstGeom prst="rect">
            <a:avLst/>
          </a:prstGeom>
          <a:solidFill>
            <a:srgbClr val="8A9097"/>
          </a:solidFill>
          <a:ln/>
        </p:spPr>
      </p:sp>
      <p:sp>
        <p:nvSpPr>
          <p:cNvPr id="30" name="Text 28"/>
          <p:cNvSpPr/>
          <p:nvPr/>
        </p:nvSpPr>
        <p:spPr>
          <a:xfrm>
            <a:off x="3924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Steel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924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#8A9097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334000" y="5270500"/>
            <a:ext cx="1428750" cy="762000"/>
          </a:xfrm>
          <a:prstGeom prst="rect">
            <a:avLst/>
          </a:prstGeom>
          <a:solidFill>
            <a:srgbClr val="5E6166"/>
          </a:solidFill>
          <a:ln/>
        </p:spPr>
      </p:sp>
      <p:sp>
        <p:nvSpPr>
          <p:cNvPr id="33" name="Text 31"/>
          <p:cNvSpPr/>
          <p:nvPr/>
        </p:nvSpPr>
        <p:spPr>
          <a:xfrm>
            <a:off x="5448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Muted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448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#5E6166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858000" y="5270500"/>
            <a:ext cx="1428750" cy="7620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6" name="Text 34"/>
          <p:cNvSpPr/>
          <p:nvPr/>
        </p:nvSpPr>
        <p:spPr>
          <a:xfrm>
            <a:off x="6972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Flare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72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#FF7A45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8382000" y="5270500"/>
            <a:ext cx="1428750" cy="762000"/>
          </a:xfrm>
          <a:prstGeom prst="rect">
            <a:avLst/>
          </a:prstGeom>
          <a:solidFill>
            <a:srgbClr val="D93A12"/>
          </a:solidFill>
          <a:ln/>
        </p:spPr>
      </p:sp>
      <p:sp>
        <p:nvSpPr>
          <p:cNvPr id="39" name="Text 37"/>
          <p:cNvSpPr/>
          <p:nvPr/>
        </p:nvSpPr>
        <p:spPr>
          <a:xfrm>
            <a:off x="8496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Ember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96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#D93A12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906000" y="5270500"/>
            <a:ext cx="1428750" cy="762000"/>
          </a:xfrm>
          <a:prstGeom prst="rect">
            <a:avLst/>
          </a:prstGeom>
          <a:solidFill>
            <a:srgbClr val="C2340E"/>
          </a:solidFill>
          <a:ln/>
        </p:spPr>
      </p:sp>
      <p:sp>
        <p:nvSpPr>
          <p:cNvPr id="42" name="Text 40"/>
          <p:cNvSpPr/>
          <p:nvPr/>
        </p:nvSpPr>
        <p:spPr>
          <a:xfrm>
            <a:off x="10020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Ink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020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#C2340E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WHY ORANGE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Out of the blue wall,</a:t>
            </a:r>
            <a:endParaRPr lang="en-US" sz="3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with a partner color.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3556000"/>
            <a:ext cx="1333500" cy="1397000"/>
          </a:xfrm>
          <a:prstGeom prst="rect">
            <a:avLst/>
          </a:prstGeom>
          <a:solidFill>
            <a:srgbClr val="1B54F8"/>
          </a:solidFill>
          <a:ln/>
        </p:spPr>
      </p:sp>
      <p:sp>
        <p:nvSpPr>
          <p:cNvPr id="8" name="Text 6"/>
          <p:cNvSpPr/>
          <p:nvPr/>
        </p:nvSpPr>
        <p:spPr>
          <a:xfrm>
            <a:off x="7620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LeewayHertz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22500" y="3556000"/>
            <a:ext cx="1333500" cy="1397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" name="Text 8"/>
          <p:cNvSpPr/>
          <p:nvPr/>
        </p:nvSpPr>
        <p:spPr>
          <a:xfrm>
            <a:off x="22225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Azumo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83000" y="3556000"/>
            <a:ext cx="1333500" cy="1397000"/>
          </a:xfrm>
          <a:prstGeom prst="rect">
            <a:avLst/>
          </a:prstGeom>
          <a:solidFill>
            <a:srgbClr val="005EB8"/>
          </a:solidFill>
          <a:ln/>
        </p:spPr>
      </p:sp>
      <p:sp>
        <p:nvSpPr>
          <p:cNvPr id="12" name="Text 10"/>
          <p:cNvSpPr/>
          <p:nvPr/>
        </p:nvSpPr>
        <p:spPr>
          <a:xfrm>
            <a:off x="36830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ScienceSoft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143500" y="3556000"/>
            <a:ext cx="1333500" cy="1397000"/>
          </a:xfrm>
          <a:prstGeom prst="rect">
            <a:avLst/>
          </a:prstGeom>
          <a:solidFill>
            <a:srgbClr val="0227E9"/>
          </a:solidFill>
          <a:ln/>
        </p:spPr>
      </p:sp>
      <p:sp>
        <p:nvSpPr>
          <p:cNvPr id="14" name="Text 12"/>
          <p:cNvSpPr/>
          <p:nvPr/>
        </p:nvSpPr>
        <p:spPr>
          <a:xfrm>
            <a:off x="51435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Cheesecake Labs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604000" y="3556000"/>
            <a:ext cx="1333500" cy="1397000"/>
          </a:xfrm>
          <a:prstGeom prst="rect">
            <a:avLst/>
          </a:prstGeom>
          <a:solidFill>
            <a:srgbClr val="3ABDBC"/>
          </a:solidFill>
          <a:ln/>
        </p:spPr>
      </p:sp>
      <p:sp>
        <p:nvSpPr>
          <p:cNvPr id="16" name="Text 14"/>
          <p:cNvSpPr/>
          <p:nvPr/>
        </p:nvSpPr>
        <p:spPr>
          <a:xfrm>
            <a:off x="66040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HatchWorks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382000" y="3302000"/>
            <a:ext cx="1905000" cy="1905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3302000"/>
            <a:ext cx="1143000" cy="1905000"/>
          </a:xfrm>
          <a:prstGeom prst="rect">
            <a:avLst/>
          </a:prstGeom>
          <a:solidFill>
            <a:srgbClr val="3EC5D1"/>
          </a:solidFill>
          <a:ln/>
        </p:spPr>
      </p:sp>
      <p:sp>
        <p:nvSpPr>
          <p:cNvPr id="19" name="Text 17"/>
          <p:cNvSpPr/>
          <p:nvPr/>
        </p:nvSpPr>
        <p:spPr>
          <a:xfrm>
            <a:off x="8509000" y="4826000"/>
            <a:ext cx="165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TekRevol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14000" y="4826000"/>
            <a:ext cx="952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Ice Cyan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82000" y="5334000"/>
            <a:ext cx="304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Cyan only appears beside orange, never alone, so it reads as TekRevol, not as one more category blue.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PROPORTION AND DARK MODE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How much of each.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58674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900" y="2794000"/>
            <a:ext cx="5740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White and mist 55%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629400" y="2794000"/>
            <a:ext cx="2453640" cy="6985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0" name="Text 8"/>
          <p:cNvSpPr/>
          <p:nvPr/>
        </p:nvSpPr>
        <p:spPr>
          <a:xfrm>
            <a:off x="6718300" y="2794000"/>
            <a:ext cx="232664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 23%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083040" y="2794000"/>
            <a:ext cx="128016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2" name="Text 10"/>
          <p:cNvSpPr/>
          <p:nvPr/>
        </p:nvSpPr>
        <p:spPr>
          <a:xfrm>
            <a:off x="9171940" y="2794000"/>
            <a:ext cx="115316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12%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363200" y="2794000"/>
            <a:ext cx="533400" cy="698500"/>
          </a:xfrm>
          <a:prstGeom prst="rect">
            <a:avLst/>
          </a:prstGeom>
          <a:solidFill>
            <a:srgbClr val="3EC5D1"/>
          </a:solidFill>
          <a:ln/>
        </p:spPr>
      </p:sp>
      <p:sp>
        <p:nvSpPr>
          <p:cNvPr id="14" name="Text 12"/>
          <p:cNvSpPr/>
          <p:nvPr/>
        </p:nvSpPr>
        <p:spPr>
          <a:xfrm>
            <a:off x="10452100" y="2794000"/>
            <a:ext cx="40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Cyan 5%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10896600" y="2794000"/>
            <a:ext cx="533400" cy="698500"/>
          </a:xfrm>
          <a:prstGeom prst="rect">
            <a:avLst/>
          </a:prstGeom>
          <a:solidFill>
            <a:srgbClr val="C9CCC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85500" y="2794000"/>
            <a:ext cx="40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Metal 5%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762000" y="363220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One orange focal point per view; the primary button is functional and doesn’t count. Cyan stays secondary: diagrams, data and highlights, never buttons.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2000" y="4191000"/>
            <a:ext cx="10668000" cy="19050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5200" y="4406900"/>
            <a:ext cx="1905000" cy="762000"/>
          </a:xfrm>
          <a:prstGeom prst="rect">
            <a:avLst/>
          </a:prstGeom>
          <a:solidFill>
            <a:srgbClr val="131417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52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Deep Charcoal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652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#131417  ·  Page background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3060700" y="4406900"/>
            <a:ext cx="1905000" cy="762000"/>
          </a:xfrm>
          <a:prstGeom prst="rect">
            <a:avLst/>
          </a:prstGeom>
          <a:solidFill>
            <a:srgbClr val="1A1B1E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607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Surface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0607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#1A1B1E  ·  Cards, panels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5156200" y="4406900"/>
            <a:ext cx="1905000" cy="762000"/>
          </a:xfrm>
          <a:prstGeom prst="rect">
            <a:avLst/>
          </a:prstGeom>
          <a:solidFill>
            <a:srgbClr val="2A2C30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562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Border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1562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#2A2C30  ·  Dividers only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7251700" y="4406900"/>
            <a:ext cx="1905000" cy="762000"/>
          </a:xfrm>
          <a:prstGeom prst="rect">
            <a:avLst/>
          </a:prstGeom>
          <a:solidFill>
            <a:srgbClr val="6E727A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517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Control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2517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#6E727A  ·  Input outlines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9347200" y="4406900"/>
            <a:ext cx="1905000" cy="762000"/>
          </a:xfrm>
          <a:prstGeom prst="rect">
            <a:avLst/>
          </a:prstGeom>
          <a:solidFill>
            <a:srgbClr val="8B8E94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472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Muted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3472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#8B8E94  ·  Secondary text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ACCESSIBILITY, TESTED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Every text pair checked</a:t>
            </a:r>
            <a:endParaRPr lang="en-US" sz="3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against WCAG 2.2.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34290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34290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34290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78000" y="35179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 on White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78000" y="37338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#1D1E21 on #FFFFFF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318000" y="34290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16.7:1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81600" y="36068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14" name="Text 12"/>
          <p:cNvSpPr/>
          <p:nvPr/>
        </p:nvSpPr>
        <p:spPr>
          <a:xfrm>
            <a:off x="5181600" y="36068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AAA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6223000" y="34290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223000" y="34290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23000" y="34290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5E6166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39000" y="35179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Muted on White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239000" y="37338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#5E6166 on #FFFFFF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9779000" y="34290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6.2:1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642600" y="36068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22" name="Text 20"/>
          <p:cNvSpPr/>
          <p:nvPr/>
        </p:nvSpPr>
        <p:spPr>
          <a:xfrm>
            <a:off x="10642600" y="36068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762000" y="40894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762000" y="4089400"/>
            <a:ext cx="825500" cy="5588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5" name="Text 23"/>
          <p:cNvSpPr/>
          <p:nvPr/>
        </p:nvSpPr>
        <p:spPr>
          <a:xfrm>
            <a:off x="762000" y="40894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778000" y="41783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 on Orange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78000" y="43942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#1D1E21 on #FF4A1C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4318000" y="40894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5.0:1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81600" y="42672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30" name="Text 28"/>
          <p:cNvSpPr/>
          <p:nvPr/>
        </p:nvSpPr>
        <p:spPr>
          <a:xfrm>
            <a:off x="5181600" y="42672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6223000" y="40894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6223000" y="40894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23000" y="40894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340E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239000" y="41783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Ink on White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239000" y="43942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#C2340E on #FFFFFF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9779000" y="40894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5.9:1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642600" y="42672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38" name="Text 36"/>
          <p:cNvSpPr/>
          <p:nvPr/>
        </p:nvSpPr>
        <p:spPr>
          <a:xfrm>
            <a:off x="10642600" y="42672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39" name="Shape 37"/>
          <p:cNvSpPr/>
          <p:nvPr/>
        </p:nvSpPr>
        <p:spPr>
          <a:xfrm>
            <a:off x="762000" y="47498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762000" y="4749800"/>
            <a:ext cx="825500" cy="5588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41" name="Text 39"/>
          <p:cNvSpPr/>
          <p:nvPr/>
        </p:nvSpPr>
        <p:spPr>
          <a:xfrm>
            <a:off x="762000" y="47498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778000" y="48387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White on Deep Charcoal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778000" y="50546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#FFFFFF on #131417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4318000" y="47498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18.4:1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181600" y="49276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46" name="Text 44"/>
          <p:cNvSpPr/>
          <p:nvPr/>
        </p:nvSpPr>
        <p:spPr>
          <a:xfrm>
            <a:off x="5181600" y="49276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AAA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223000" y="47498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6223000" y="4749800"/>
            <a:ext cx="825500" cy="5588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49" name="Text 47"/>
          <p:cNvSpPr/>
          <p:nvPr/>
        </p:nvSpPr>
        <p:spPr>
          <a:xfrm>
            <a:off x="6223000" y="47498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EC5D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7239000" y="48387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Cyan on Charcoal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239000" y="50546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#3EC5D1 on #1D1E21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9779000" y="47498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8.0:1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0642600" y="49276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54" name="Text 52"/>
          <p:cNvSpPr/>
          <p:nvPr/>
        </p:nvSpPr>
        <p:spPr>
          <a:xfrm>
            <a:off x="10642600" y="49276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AAA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762000" y="54102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762000" y="5410200"/>
            <a:ext cx="825500" cy="5588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57" name="Text 55"/>
          <p:cNvSpPr/>
          <p:nvPr/>
        </p:nvSpPr>
        <p:spPr>
          <a:xfrm>
            <a:off x="762000" y="54102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8B8E94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1778000" y="54991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Muted on Deep Charcoal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1778000" y="57150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#8B8E94 on #131417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4318000" y="5410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5.6:1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81600" y="55880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62" name="Text 60"/>
          <p:cNvSpPr/>
          <p:nvPr/>
        </p:nvSpPr>
        <p:spPr>
          <a:xfrm>
            <a:off x="5181600" y="55880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6223000" y="54102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Shape 62"/>
          <p:cNvSpPr/>
          <p:nvPr/>
        </p:nvSpPr>
        <p:spPr>
          <a:xfrm>
            <a:off x="6223000" y="54102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223000" y="54102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EC5D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7239000" y="54991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Cyan on White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239000" y="57150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#3EC5D1 on #FFFFFF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9779000" y="5410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2.1:1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0642600" y="55880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EEEFEF"/>
          </a:solidFill>
          <a:ln/>
        </p:spPr>
      </p:sp>
      <p:sp>
        <p:nvSpPr>
          <p:cNvPr id="70" name="Text 68"/>
          <p:cNvSpPr/>
          <p:nvPr/>
        </p:nvSpPr>
        <p:spPr>
          <a:xfrm>
            <a:off x="10642600" y="55880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5E6166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GRAPHICS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762000" y="6134100"/>
            <a:ext cx="1066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Cyan is a graphic color on light backgrounds: shapes, lines and fills, never text. As text it is for dark backgrounds only.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667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3EC5D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6600" y="2984500"/>
            <a:ext cx="762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Typography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87400" y="40640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Headlines with personality. Everything else calm.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112000" y="889000"/>
            <a:ext cx="44450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0" b="1" kern="0" spc="-1000" dirty="0">
                <a:solidFill>
                  <a:srgbClr val="FF4A1C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28000" dirty="0"/>
          </a:p>
        </p:txBody>
      </p:sp>
      <p:sp>
        <p:nvSpPr>
          <p:cNvPr id="6" name="Text 4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TYPOGRAPHY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TYPEFACES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62000" y="1905000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6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Funnel Display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62000" y="2514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Headlines. SemiBold and Bold.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2921000"/>
            <a:ext cx="571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ABCDEFGHIJKLMNOPQRSTUVWXYZ</a:t>
            </a:r>
            <a:endParaRPr lang="en-US" sz="18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abcdefghijklmnopqrstuvwxyz</a:t>
            </a:r>
            <a:endParaRPr lang="en-US" sz="18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0123456789 &amp; ? ! @ %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0" y="1905000"/>
            <a:ext cx="12700" cy="393700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0" name="Text 8"/>
          <p:cNvSpPr/>
          <p:nvPr/>
        </p:nvSpPr>
        <p:spPr>
          <a:xfrm>
            <a:off x="7239000" y="1905000"/>
            <a:ext cx="431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6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Madefor Text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39000" y="2413000"/>
            <a:ext cx="431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Body copy, subheads and UI. Regular, Medium, SemiBold.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239000" y="2730500"/>
            <a:ext cx="406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Same team from kickoff to launch. Compliance built in from the first sprint.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39000" y="3937000"/>
            <a:ext cx="431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JetBrains Mono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39000" y="4381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Labels, node labels, code and proof numbers. Uppercase, +8% tracking.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239000" y="4953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AI-FIRST SOFTWARE DEVELOPMENT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239000" y="52070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4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800+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762000" y="603250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All three are free under the SIL Open Font License. Install them from the fonts folder before editing this file.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TYPOGRAPHY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17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SCALE AND HIERARCHY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One clear order on every page.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620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STYLE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20955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TYPEFACE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0640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DESKTOP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260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MOBILE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762000" y="2984500"/>
            <a:ext cx="4826000" cy="12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2" name="Text 10"/>
          <p:cNvSpPr/>
          <p:nvPr/>
        </p:nvSpPr>
        <p:spPr>
          <a:xfrm>
            <a:off x="762000" y="30861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Display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95500" y="3086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Bold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64000" y="30861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88 px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26000" y="30861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44 px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2000" y="33528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7" name="Text 15"/>
          <p:cNvSpPr/>
          <p:nvPr/>
        </p:nvSpPr>
        <p:spPr>
          <a:xfrm>
            <a:off x="762000" y="33782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H1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95500" y="3378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Bold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064000" y="33782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56 px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826000" y="33782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34 px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62000" y="36449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2" name="Text 20"/>
          <p:cNvSpPr/>
          <p:nvPr/>
        </p:nvSpPr>
        <p:spPr>
          <a:xfrm>
            <a:off x="762000" y="36703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H2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095500" y="36703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SemiBold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064000" y="36703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40 px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26000" y="36703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28 px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62000" y="39370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7" name="Text 25"/>
          <p:cNvSpPr/>
          <p:nvPr/>
        </p:nvSpPr>
        <p:spPr>
          <a:xfrm>
            <a:off x="762000" y="39624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Pull quote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095500" y="3962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SemiBold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064000" y="39624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32 px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26000" y="39624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24 px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62000" y="42291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2" name="Text 30"/>
          <p:cNvSpPr/>
          <p:nvPr/>
        </p:nvSpPr>
        <p:spPr>
          <a:xfrm>
            <a:off x="762000" y="42545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H3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95500" y="425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SemiBold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064000" y="42545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28 px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26000" y="42545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22 px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2000" y="45212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7" name="Text 35"/>
          <p:cNvSpPr/>
          <p:nvPr/>
        </p:nvSpPr>
        <p:spPr>
          <a:xfrm>
            <a:off x="762000" y="45466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Lead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095500" y="4546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Regular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064000" y="45466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20 px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26000" y="45466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18 px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62000" y="48133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42" name="Text 40"/>
          <p:cNvSpPr/>
          <p:nvPr/>
        </p:nvSpPr>
        <p:spPr>
          <a:xfrm>
            <a:off x="762000" y="48387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Body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095500" y="48387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Regular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064000" y="48387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 px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826000" y="48387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 px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62000" y="51054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47" name="Text 45"/>
          <p:cNvSpPr/>
          <p:nvPr/>
        </p:nvSpPr>
        <p:spPr>
          <a:xfrm>
            <a:off x="762000" y="51308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Button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095500" y="5130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SemiBold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064000" y="51308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15 px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826000" y="51308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15 px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762000" y="53975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52" name="Text 50"/>
          <p:cNvSpPr/>
          <p:nvPr/>
        </p:nvSpPr>
        <p:spPr>
          <a:xfrm>
            <a:off x="762000" y="54229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Label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2095500" y="5422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JetBrains Mono, caps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064000" y="54229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px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826000" y="54229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px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2000" y="56896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57" name="Text 55"/>
          <p:cNvSpPr/>
          <p:nvPr/>
        </p:nvSpPr>
        <p:spPr>
          <a:xfrm>
            <a:off x="762000" y="5715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Data large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095500" y="5715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JetBrains Mono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064000" y="57150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48 px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826000" y="57150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32 px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62000" y="59817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62" name="Shape 60"/>
          <p:cNvSpPr/>
          <p:nvPr/>
        </p:nvSpPr>
        <p:spPr>
          <a:xfrm>
            <a:off x="6223000" y="2730500"/>
            <a:ext cx="5207000" cy="3302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63" name="Text 61"/>
          <p:cNvSpPr/>
          <p:nvPr/>
        </p:nvSpPr>
        <p:spPr>
          <a:xfrm>
            <a:off x="6604000" y="31115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kern="0" spc="135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AI-FIRST SOFTWARE DEVELOPMENT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578600" y="3365500"/>
            <a:ext cx="4699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Finish what the</a:t>
            </a:r>
            <a:endParaRPr lang="en-US" sz="3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last team started.</a:t>
            </a:r>
            <a:endParaRPr lang="en-US" sz="3000" dirty="0"/>
          </a:p>
        </p:txBody>
      </p:sp>
      <p:sp>
        <p:nvSpPr>
          <p:cNvPr id="65" name="Text 63"/>
          <p:cNvSpPr/>
          <p:nvPr/>
        </p:nvSpPr>
        <p:spPr>
          <a:xfrm>
            <a:off x="6604000" y="45720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Stalled build or an AI prototype that hit a wall. One team takes it to launch.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604000" y="5334000"/>
            <a:ext cx="1651000" cy="381000"/>
          </a:xfrm>
          <a:custGeom>
            <a:avLst/>
            <a:gdLst/>
            <a:ahLst/>
            <a:cxnLst/>
            <a:rect l="l" t="t" r="r" b="b"/>
            <a:pathLst>
              <a:path w="1651000" h="381000">
                <a:moveTo>
                  <a:pt x="0" y="0"/>
                </a:moveTo>
                <a:lnTo>
                  <a:pt x="1587500" y="0"/>
                </a:lnTo>
                <a:lnTo>
                  <a:pt x="1651000" y="63500"/>
                </a:lnTo>
                <a:lnTo>
                  <a:pt x="1651000" y="381000"/>
                </a:lnTo>
                <a:lnTo>
                  <a:pt x="0" y="381000"/>
                </a:lnTo>
                <a:close/>
              </a:path>
            </a:pathLst>
          </a:custGeom>
          <a:solidFill>
            <a:srgbClr val="FF4A1C"/>
          </a:solidFill>
          <a:ln/>
        </p:spPr>
      </p:sp>
      <p:sp>
        <p:nvSpPr>
          <p:cNvPr id="67" name="Text 65"/>
          <p:cNvSpPr/>
          <p:nvPr/>
        </p:nvSpPr>
        <p:spPr>
          <a:xfrm>
            <a:off x="6604000" y="5334000"/>
            <a:ext cx="165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Talk to an engineer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8382000" y="5340350"/>
            <a:ext cx="1460500" cy="368300"/>
          </a:xfrm>
          <a:prstGeom prst="rect">
            <a:avLst/>
          </a:prstGeom>
          <a:ln w="13970">
            <a:solidFill>
              <a:srgbClr val="1D1E2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2000" y="5340350"/>
            <a:ext cx="1460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See our work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7/art/cyan-exp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131417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62000" y="2667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3EC5D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36600" y="2984500"/>
            <a:ext cx="508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Graphic</a:t>
            </a:r>
            <a:endParaRPr lang="en-US" sz="6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language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87400" y="48260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Structured chaos, drawn: many attempts, one path that ships.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18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19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THREE PATTERNS, ONE IDEA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Never the same background twice.</a:t>
            </a:r>
            <a:endParaRPr lang="en-US" sz="3800" dirty="0"/>
          </a:p>
        </p:txBody>
      </p:sp>
      <p:pic>
        <p:nvPicPr>
          <p:cNvPr id="7" name="Image 0" descr="C:/Claude-Projects/Projects/TekRevol/01-brand-system/deck-v7/art/cyan-tile-ex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794000"/>
            <a:ext cx="3429000" cy="25717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2000" y="5511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Experiment field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62000" y="5778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Many tries, one path through. For covers of strategy, process and case-study pages.</a:t>
            </a:r>
            <a:endParaRPr lang="en-US" sz="850" dirty="0"/>
          </a:p>
        </p:txBody>
      </p:sp>
      <p:pic>
        <p:nvPicPr>
          <p:cNvPr id="10" name="Image 1" descr="C:/Claude-Projects/Projects/TekRevol/01-brand-system/deck-v7/art/cyan-tile-i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2794000"/>
            <a:ext cx="3429000" cy="25717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81500" y="5511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Iteration lines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381500" y="5778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Rough attempts that settle into one clean line. For covers and campaign visuals.</a:t>
            </a:r>
            <a:endParaRPr lang="en-US" sz="850" dirty="0"/>
          </a:p>
        </p:txBody>
      </p:sp>
      <p:pic>
        <p:nvPicPr>
          <p:cNvPr id="13" name="Image 2" descr="C:/Claude-Projects/Projects/TekRevol/01-brand-system/deck-v7/art/cyan-tile-is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2794000"/>
            <a:ext cx="3429000" cy="25717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01000" y="5511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Layer planes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001000" y="5778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Stacked layers, the newest lit orange. For architecture and section openers.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DIAGRAMS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Cyan explores. Orange ships.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6731000" cy="3302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79500" y="304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pic>
        <p:nvPicPr>
          <p:cNvPr id="9" name="Image 0" descr="C:/Claude-Projects/Projects/TekRevol/01-brand-system/deck-v7/art/ic-sparkles-1D1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400" y="3130550"/>
            <a:ext cx="139700" cy="1397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84300" y="3048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PROTOTYPE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2857500" y="3556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3EC5D1"/>
            </a:solidFill>
            <a:prstDash val="solid"/>
          </a:ln>
        </p:spPr>
      </p:sp>
      <p:pic>
        <p:nvPicPr>
          <p:cNvPr id="12" name="Image 1" descr="C:/Claude-Projects/Projects/TekRevol/01-brand-system/deck-v7/art/ic-flask-conical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3638550"/>
            <a:ext cx="139700" cy="1397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62300" y="3556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SPIKE A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2857500" y="431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3EC5D1"/>
            </a:solidFill>
            <a:prstDash val="solid"/>
          </a:ln>
        </p:spPr>
      </p:sp>
      <p:pic>
        <p:nvPicPr>
          <p:cNvPr id="15" name="Image 2" descr="C:/Claude-Projects/Projects/TekRevol/01-brand-system/deck-v7/art/ic-flask-conical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4400550"/>
            <a:ext cx="139700" cy="1397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162300" y="4318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SPIKE B</a:t>
            </a:r>
            <a:endParaRPr lang="en-US" sz="700" dirty="0"/>
          </a:p>
        </p:txBody>
      </p:sp>
      <p:sp>
        <p:nvSpPr>
          <p:cNvPr id="17" name="Shape 12"/>
          <p:cNvSpPr/>
          <p:nvPr/>
        </p:nvSpPr>
        <p:spPr>
          <a:xfrm>
            <a:off x="2857500" y="5080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3EC5D1"/>
            </a:solidFill>
            <a:prstDash val="solid"/>
          </a:ln>
        </p:spPr>
      </p:sp>
      <p:pic>
        <p:nvPicPr>
          <p:cNvPr id="18" name="Image 3" descr="C:/Claude-Projects/Projects/TekRevol/01-brand-system/deck-v7/art/ic-flask-conical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5162550"/>
            <a:ext cx="139700" cy="1397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162300" y="5080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SPIKE C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4635500" y="431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pic>
        <p:nvPicPr>
          <p:cNvPr id="21" name="Image 4" descr="C:/Claude-Projects/Projects/TekRevol/01-brand-system/deck-v7/art/ic-shield-check-1D1E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400" y="4400550"/>
            <a:ext cx="139700" cy="1397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940300" y="4318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HARDEN</a:t>
            </a:r>
            <a:endParaRPr lang="en-US" sz="700" dirty="0"/>
          </a:p>
        </p:txBody>
      </p:sp>
      <p:sp>
        <p:nvSpPr>
          <p:cNvPr id="23" name="Shape 16"/>
          <p:cNvSpPr/>
          <p:nvPr/>
        </p:nvSpPr>
        <p:spPr>
          <a:xfrm>
            <a:off x="5969000" y="5461000"/>
            <a:ext cx="1270000" cy="304800"/>
          </a:xfrm>
          <a:custGeom>
            <a:avLst/>
            <a:gdLst/>
            <a:ahLst/>
            <a:cxnLst/>
            <a:rect l="l" t="t" r="r" b="b"/>
            <a:pathLst>
              <a:path w="1270000" h="304800">
                <a:moveTo>
                  <a:pt x="0" y="0"/>
                </a:moveTo>
                <a:lnTo>
                  <a:pt x="1206500" y="0"/>
                </a:lnTo>
                <a:lnTo>
                  <a:pt x="1270000" y="63500"/>
                </a:lnTo>
                <a:lnTo>
                  <a:pt x="12700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4A1C"/>
          </a:solidFill>
          <a:ln w="9525">
            <a:solidFill>
              <a:srgbClr val="FF4A1C"/>
            </a:solidFill>
            <a:prstDash val="solid"/>
          </a:ln>
        </p:spPr>
      </p:sp>
      <p:pic>
        <p:nvPicPr>
          <p:cNvPr id="24" name="Image 5" descr="C:/Claude-Projects/Projects/TekRevol/01-brand-system/deck-v7/art/ic-rocket-1D1E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7900" y="5543550"/>
            <a:ext cx="139700" cy="13970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273800" y="546100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SHIP</a:t>
            </a:r>
            <a:endParaRPr lang="en-US" sz="700" dirty="0"/>
          </a:p>
        </p:txBody>
      </p:sp>
      <p:sp>
        <p:nvSpPr>
          <p:cNvPr id="26" name="Shape 18"/>
          <p:cNvSpPr/>
          <p:nvPr/>
        </p:nvSpPr>
        <p:spPr>
          <a:xfrm>
            <a:off x="1746250" y="3352800"/>
            <a:ext cx="64" cy="355600"/>
          </a:xfrm>
          <a:prstGeom prst="line">
            <a:avLst/>
          </a:prstGeom>
          <a:noFill/>
          <a:ln w="10160">
            <a:solidFill>
              <a:srgbClr val="3EC5D1"/>
            </a:solidFill>
            <a:prstDash val="dash"/>
          </a:ln>
        </p:spPr>
      </p:sp>
      <p:sp>
        <p:nvSpPr>
          <p:cNvPr id="27" name="Shape 19"/>
          <p:cNvSpPr/>
          <p:nvPr/>
        </p:nvSpPr>
        <p:spPr>
          <a:xfrm>
            <a:off x="1746250" y="3708400"/>
            <a:ext cx="1111250" cy="64"/>
          </a:xfrm>
          <a:prstGeom prst="line">
            <a:avLst/>
          </a:prstGeom>
          <a:noFill/>
          <a:ln w="10160">
            <a:solidFill>
              <a:srgbClr val="3EC5D1"/>
            </a:solidFill>
            <a:prstDash val="dash"/>
          </a:ln>
        </p:spPr>
      </p:sp>
      <p:sp>
        <p:nvSpPr>
          <p:cNvPr id="28" name="Shape 20"/>
          <p:cNvSpPr/>
          <p:nvPr/>
        </p:nvSpPr>
        <p:spPr>
          <a:xfrm>
            <a:off x="1746250" y="3708400"/>
            <a:ext cx="64" cy="1524000"/>
          </a:xfrm>
          <a:prstGeom prst="line">
            <a:avLst/>
          </a:prstGeom>
          <a:noFill/>
          <a:ln w="10160">
            <a:solidFill>
              <a:srgbClr val="3EC5D1"/>
            </a:solidFill>
            <a:prstDash val="dash"/>
          </a:ln>
        </p:spPr>
      </p:sp>
      <p:sp>
        <p:nvSpPr>
          <p:cNvPr id="29" name="Shape 21"/>
          <p:cNvSpPr/>
          <p:nvPr/>
        </p:nvSpPr>
        <p:spPr>
          <a:xfrm>
            <a:off x="1746250" y="5232400"/>
            <a:ext cx="1111250" cy="64"/>
          </a:xfrm>
          <a:prstGeom prst="line">
            <a:avLst/>
          </a:prstGeom>
          <a:noFill/>
          <a:ln w="10160">
            <a:solidFill>
              <a:srgbClr val="3EC5D1"/>
            </a:solidFill>
            <a:prstDash val="dash"/>
          </a:ln>
        </p:spPr>
      </p:sp>
      <p:sp>
        <p:nvSpPr>
          <p:cNvPr id="30" name="Shape 22"/>
          <p:cNvSpPr/>
          <p:nvPr/>
        </p:nvSpPr>
        <p:spPr>
          <a:xfrm>
            <a:off x="4191000" y="3708400"/>
            <a:ext cx="254000" cy="64"/>
          </a:xfrm>
          <a:prstGeom prst="line">
            <a:avLst/>
          </a:prstGeom>
          <a:noFill/>
          <a:ln w="10160">
            <a:solidFill>
              <a:srgbClr val="3EC5D1"/>
            </a:solidFill>
            <a:prstDash val="dash"/>
          </a:ln>
        </p:spPr>
      </p:sp>
      <p:sp>
        <p:nvSpPr>
          <p:cNvPr id="31" name="Shape 23"/>
          <p:cNvSpPr/>
          <p:nvPr/>
        </p:nvSpPr>
        <p:spPr>
          <a:xfrm>
            <a:off x="4191000" y="5232400"/>
            <a:ext cx="254000" cy="64"/>
          </a:xfrm>
          <a:prstGeom prst="line">
            <a:avLst/>
          </a:prstGeom>
          <a:noFill/>
          <a:ln w="10160">
            <a:solidFill>
              <a:srgbClr val="3EC5D1"/>
            </a:solidFill>
            <a:prstDash val="dash"/>
          </a:ln>
        </p:spPr>
      </p:sp>
      <p:sp>
        <p:nvSpPr>
          <p:cNvPr id="32" name="Shape 24"/>
          <p:cNvSpPr/>
          <p:nvPr/>
        </p:nvSpPr>
        <p:spPr>
          <a:xfrm>
            <a:off x="1746250" y="3352800"/>
            <a:ext cx="64" cy="1117600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1746250" y="4470400"/>
            <a:ext cx="1111250" cy="64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191000" y="4470400"/>
            <a:ext cx="444500" cy="64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302250" y="4622800"/>
            <a:ext cx="64" cy="990600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302250" y="5613400"/>
            <a:ext cx="666750" cy="64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1701800" y="3314700"/>
            <a:ext cx="88900" cy="88900"/>
          </a:xfrm>
          <a:prstGeom prst="ellipse">
            <a:avLst/>
          </a:prstGeom>
          <a:solidFill>
            <a:srgbClr val="FF4A1C"/>
          </a:solidFill>
          <a:ln/>
        </p:spPr>
      </p:sp>
      <p:sp>
        <p:nvSpPr>
          <p:cNvPr id="38" name="Text 30"/>
          <p:cNvSpPr/>
          <p:nvPr/>
        </p:nvSpPr>
        <p:spPr>
          <a:xfrm>
            <a:off x="7874000" y="2857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Explore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7874000" y="3098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Cyan dashed lines and outlined nodes for experiments, options and spikes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7874000" y="3619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Ship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7874000" y="3860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One orange solid path, 3 px, from start to the filled orange result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7874000" y="4381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Shape</a:t>
            </a:r>
            <a:endParaRPr lang="en-US" sz="1100" dirty="0"/>
          </a:p>
        </p:txBody>
      </p:sp>
      <p:sp>
        <p:nvSpPr>
          <p:cNvPr id="43" name="Text 35"/>
          <p:cNvSpPr/>
          <p:nvPr/>
        </p:nvSpPr>
        <p:spPr>
          <a:xfrm>
            <a:off x="7874000" y="4622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Right angles only; notched nodes with a line icon and a mono label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7874000" y="5143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Keep it short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7874000" y="5384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4 to 7 nodes; label with verbs or real components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7/art/cyan-is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762000"/>
            <a:ext cx="5461000" cy="5715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21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SIGNATURE GRAPHIC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6600" y="1905000"/>
            <a:ext cx="546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 layer stack.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62000" y="2730500"/>
            <a:ext cx="520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real layers of AI-native software, stacked bottom to top. It is “better with every layer” made literal.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2000" y="36830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4A1C"/>
          </a:solidFill>
          <a:ln w="9525">
            <a:solidFill>
              <a:srgbClr val="FF4A1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2500" y="36830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397000" y="36830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Product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175000" y="36830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Web, mobile, API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2000" y="42672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52500" y="42672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397000" y="42672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Agents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5000" y="42672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Planning, tools, memory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62000" y="48514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52500" y="48514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397000" y="48514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Models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175000" y="48514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LLMs, embeddings, evals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62000" y="54356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52500" y="54356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01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397000" y="54356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Data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175000" y="54356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Warehouse, APIs, events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SHAPE AND SPACE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Square, with one signature corner.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3429000" cy="2794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8" name="Shape 6"/>
          <p:cNvSpPr/>
          <p:nvPr/>
        </p:nvSpPr>
        <p:spPr>
          <a:xfrm>
            <a:off x="1206500" y="3238500"/>
            <a:ext cx="2540000" cy="1397000"/>
          </a:xfrm>
          <a:custGeom>
            <a:avLst/>
            <a:gdLst/>
            <a:ahLst/>
            <a:cxnLst/>
            <a:rect l="l" t="t" r="r" b="b"/>
            <a:pathLst>
              <a:path w="2540000" h="1397000">
                <a:moveTo>
                  <a:pt x="0" y="0"/>
                </a:moveTo>
                <a:lnTo>
                  <a:pt x="2286000" y="0"/>
                </a:lnTo>
                <a:lnTo>
                  <a:pt x="2540000" y="254000"/>
                </a:lnTo>
                <a:lnTo>
                  <a:pt x="2540000" y="1397000"/>
                </a:lnTo>
                <a:lnTo>
                  <a:pt x="0" y="13970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206500" y="4889500"/>
            <a:ext cx="1524000" cy="381000"/>
          </a:xfrm>
          <a:custGeom>
            <a:avLst/>
            <a:gdLst/>
            <a:ahLst/>
            <a:cxnLst/>
            <a:rect l="l" t="t" r="r" b="b"/>
            <a:pathLst>
              <a:path w="1524000" h="381000">
                <a:moveTo>
                  <a:pt x="0" y="0"/>
                </a:moveTo>
                <a:lnTo>
                  <a:pt x="1460500" y="0"/>
                </a:lnTo>
                <a:lnTo>
                  <a:pt x="1524000" y="63500"/>
                </a:lnTo>
                <a:lnTo>
                  <a:pt x="1524000" y="381000"/>
                </a:lnTo>
                <a:lnTo>
                  <a:pt x="0" y="381000"/>
                </a:lnTo>
                <a:close/>
              </a:path>
            </a:pathLst>
          </a:custGeom>
          <a:solidFill>
            <a:srgbClr val="FF4A1C"/>
          </a:solidFill>
          <a:ln/>
        </p:spPr>
      </p:sp>
      <p:sp>
        <p:nvSpPr>
          <p:cNvPr id="10" name="Text 8"/>
          <p:cNvSpPr/>
          <p:nvPr/>
        </p:nvSpPr>
        <p:spPr>
          <a:xfrm>
            <a:off x="1206500" y="48895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Primary button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97000" y="34798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NOTCH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397000" y="3746500"/>
            <a:ext cx="2159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45° cut taken from the logo. 8 px buttons, 16 px cards, 32 px hero panels. One per view.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445000" y="2794000"/>
            <a:ext cx="3429000" cy="27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9000" y="3048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SPACING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699000" y="3365500"/>
            <a:ext cx="6604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6" name="Text 14"/>
          <p:cNvSpPr/>
          <p:nvPr/>
        </p:nvSpPr>
        <p:spPr>
          <a:xfrm>
            <a:off x="6985000" y="33655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 px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699000" y="3594100"/>
            <a:ext cx="13208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8" name="Text 16"/>
          <p:cNvSpPr/>
          <p:nvPr/>
        </p:nvSpPr>
        <p:spPr>
          <a:xfrm>
            <a:off x="6985000" y="35941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 px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699000" y="3822700"/>
            <a:ext cx="19812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0" name="Text 18"/>
          <p:cNvSpPr/>
          <p:nvPr/>
        </p:nvSpPr>
        <p:spPr>
          <a:xfrm>
            <a:off x="6985000" y="38227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px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99000" y="4051300"/>
            <a:ext cx="26416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2" name="Text 20"/>
          <p:cNvSpPr/>
          <p:nvPr/>
        </p:nvSpPr>
        <p:spPr>
          <a:xfrm>
            <a:off x="6985000" y="40513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 px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99000" y="4279900"/>
            <a:ext cx="39624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4" name="Text 22"/>
          <p:cNvSpPr/>
          <p:nvPr/>
        </p:nvSpPr>
        <p:spPr>
          <a:xfrm>
            <a:off x="6985000" y="42799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24 px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99000" y="4508500"/>
            <a:ext cx="52832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6" name="Text 24"/>
          <p:cNvSpPr/>
          <p:nvPr/>
        </p:nvSpPr>
        <p:spPr>
          <a:xfrm>
            <a:off x="6985000" y="45085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32 px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99000" y="4737100"/>
            <a:ext cx="79248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8" name="Text 26"/>
          <p:cNvSpPr/>
          <p:nvPr/>
        </p:nvSpPr>
        <p:spPr>
          <a:xfrm>
            <a:off x="6985000" y="47371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48 px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99000" y="4965700"/>
            <a:ext cx="105664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30" name="Text 28"/>
          <p:cNvSpPr/>
          <p:nvPr/>
        </p:nvSpPr>
        <p:spPr>
          <a:xfrm>
            <a:off x="6985000" y="49657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64 px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699000" y="5194300"/>
            <a:ext cx="1584960" cy="1397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32" name="Text 30"/>
          <p:cNvSpPr/>
          <p:nvPr/>
        </p:nvSpPr>
        <p:spPr>
          <a:xfrm>
            <a:off x="6985000" y="51943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96 px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8128000" y="2794000"/>
            <a:ext cx="3302000" cy="27940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34" name="Text 32"/>
          <p:cNvSpPr/>
          <p:nvPr/>
        </p:nvSpPr>
        <p:spPr>
          <a:xfrm>
            <a:off x="8382000" y="3048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GRID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382000" y="3365500"/>
            <a:ext cx="184150" cy="1905000"/>
          </a:xfrm>
          <a:prstGeom prst="rect">
            <a:avLst/>
          </a:prstGeom>
          <a:solidFill>
            <a:srgbClr val="3EC5D1"/>
          </a:solidFill>
          <a:ln/>
        </p:spPr>
      </p:sp>
      <p:sp>
        <p:nvSpPr>
          <p:cNvPr id="36" name="Shape 34"/>
          <p:cNvSpPr/>
          <p:nvPr/>
        </p:nvSpPr>
        <p:spPr>
          <a:xfrm>
            <a:off x="861695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85190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908685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32180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5675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79170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002665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26160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9655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3150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66450" y="3365500"/>
            <a:ext cx="184150" cy="1905000"/>
          </a:xfrm>
          <a:prstGeom prst="rect">
            <a:avLst/>
          </a:prstGeom>
          <a:solidFill>
            <a:srgbClr val="3EC5D1">
              <a:alpha val="18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8382000" y="5372100"/>
            <a:ext cx="279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columns, 24 px gutters, 1280 px max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762000" y="584200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Sections, images and large cards stay square. Pills only for status dots and avatars.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ICONS AND DATA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Thin lines, honest charts.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8" name="Image 0" descr="C:/Claude-Projects/Projects/TekRevol/01-brand-system/deck-v7/art/ic-database-1D1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" y="3009900"/>
            <a:ext cx="355600" cy="355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68500" y="2794000"/>
            <a:ext cx="1016000" cy="787400"/>
          </a:xfrm>
          <a:prstGeom prst="rect">
            <a:avLst/>
          </a:prstGeom>
          <a:solidFill>
            <a:srgbClr val="FF4A1C"/>
          </a:solidFill>
          <a:ln/>
        </p:spPr>
      </p:sp>
      <p:pic>
        <p:nvPicPr>
          <p:cNvPr id="10" name="Image 1" descr="C:/Claude-Projects/Projects/TekRevol/01-brand-system/deck-v7/art/ic-brain-circuit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8700" y="3009900"/>
            <a:ext cx="355600" cy="355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75000" y="2794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2" name="Image 2" descr="C:/Claude-Projects/Projects/TekRevol/01-brand-system/deck-v7/art/ic-bot-1D1E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200" y="3009900"/>
            <a:ext cx="355600" cy="3556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381500" y="2794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4" name="Image 3" descr="C:/Claude-Projects/Projects/TekRevol/01-brand-system/deck-v7/art/ic-workflow-1D1E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009900"/>
            <a:ext cx="355600" cy="355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620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" name="Image 4" descr="C:/Claude-Projects/Projects/TekRevol/01-brand-system/deck-v7/art/ic-shield-check-1D1E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2200" y="3962400"/>
            <a:ext cx="355600" cy="35560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9685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8" name="Image 5" descr="C:/Claude-Projects/Projects/TekRevol/01-brand-system/deck-v7/art/ic-cloud-1D1E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8700" y="3962400"/>
            <a:ext cx="355600" cy="3556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31750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0" name="Image 6" descr="C:/Claude-Projects/Projects/TekRevol/01-brand-system/deck-v7/art/ic-code-xml-1D1E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5200" y="3962400"/>
            <a:ext cx="355600" cy="3556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43815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2" name="Image 7" descr="C:/Claude-Projects/Projects/TekRevol/01-brand-system/deck-v7/art/ic-smartphone-1D1E2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1700" y="3962400"/>
            <a:ext cx="355600" cy="355600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7620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4" name="Image 8" descr="C:/Claude-Projects/Projects/TekRevol/01-brand-system/deck-v7/art/ic-layers-1D1E2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2200" y="4914900"/>
            <a:ext cx="355600" cy="355600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19685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6" name="Image 9" descr="C:/Claude-Projects/Projects/TekRevol/01-brand-system/deck-v7/art/ic-git-branch-1D1E2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98700" y="4914900"/>
            <a:ext cx="355600" cy="355600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31750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8" name="Image 10" descr="C:/Claude-Projects/Projects/TekRevol/01-brand-system/deck-v7/art/ic-activity-1D1E2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05200" y="4914900"/>
            <a:ext cx="355600" cy="355600"/>
          </a:xfrm>
          <a:prstGeom prst="rect">
            <a:avLst/>
          </a:prstGeom>
        </p:spPr>
      </p:pic>
      <p:sp>
        <p:nvSpPr>
          <p:cNvPr id="29" name="Shape 16"/>
          <p:cNvSpPr/>
          <p:nvPr/>
        </p:nvSpPr>
        <p:spPr>
          <a:xfrm>
            <a:off x="43815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0" name="Image 11" descr="C:/Claude-Projects/Projects/TekRevol/01-brand-system/deck-v7/art/ic-rocket-1D1E2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11700" y="4914900"/>
            <a:ext cx="355600" cy="355600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762000" y="57912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Lucide, 1.5 px stroke, charcoal. One active icon may sit on orange.</a:t>
            </a:r>
            <a:endParaRPr lang="en-US" sz="850" dirty="0"/>
          </a:p>
        </p:txBody>
      </p:sp>
      <p:sp>
        <p:nvSpPr>
          <p:cNvPr id="32" name="Shape 18"/>
          <p:cNvSpPr/>
          <p:nvPr/>
        </p:nvSpPr>
        <p:spPr>
          <a:xfrm>
            <a:off x="5969000" y="2794000"/>
            <a:ext cx="5461000" cy="2984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19"/>
          <p:cNvSpPr/>
          <p:nvPr/>
        </p:nvSpPr>
        <p:spPr>
          <a:xfrm>
            <a:off x="6223000" y="2984500"/>
            <a:ext cx="762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17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ILLUSTRATIVE CHART</a:t>
            </a:r>
            <a:endParaRPr lang="en-US" sz="650" dirty="0"/>
          </a:p>
        </p:txBody>
      </p:sp>
      <p:sp>
        <p:nvSpPr>
          <p:cNvPr id="34" name="Shape 20"/>
          <p:cNvSpPr/>
          <p:nvPr/>
        </p:nvSpPr>
        <p:spPr>
          <a:xfrm>
            <a:off x="6286500" y="33655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5" name="Shape 21"/>
          <p:cNvSpPr/>
          <p:nvPr/>
        </p:nvSpPr>
        <p:spPr>
          <a:xfrm>
            <a:off x="6286500" y="3889375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6" name="Shape 22"/>
          <p:cNvSpPr/>
          <p:nvPr/>
        </p:nvSpPr>
        <p:spPr>
          <a:xfrm>
            <a:off x="6286500" y="441325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7" name="Shape 23"/>
          <p:cNvSpPr/>
          <p:nvPr/>
        </p:nvSpPr>
        <p:spPr>
          <a:xfrm>
            <a:off x="6286500" y="4937125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8" name="Shape 24"/>
          <p:cNvSpPr/>
          <p:nvPr/>
        </p:nvSpPr>
        <p:spPr>
          <a:xfrm>
            <a:off x="6286500" y="54610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9" name="Shape 25"/>
          <p:cNvSpPr/>
          <p:nvPr/>
        </p:nvSpPr>
        <p:spPr>
          <a:xfrm flipV="1">
            <a:off x="6286500" y="5143500"/>
            <a:ext cx="603250" cy="63500"/>
          </a:xfrm>
          <a:prstGeom prst="line">
            <a:avLst/>
          </a:prstGeom>
          <a:noFill/>
          <a:ln w="15875">
            <a:solidFill>
              <a:srgbClr val="3EC5D1"/>
            </a:solidFill>
            <a:prstDash val="solid"/>
          </a:ln>
        </p:spPr>
      </p:sp>
      <p:sp>
        <p:nvSpPr>
          <p:cNvPr id="40" name="Shape 26"/>
          <p:cNvSpPr/>
          <p:nvPr/>
        </p:nvSpPr>
        <p:spPr>
          <a:xfrm flipV="1">
            <a:off x="6286500" y="4864100"/>
            <a:ext cx="603250" cy="1524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1" name="Shape 27"/>
          <p:cNvSpPr/>
          <p:nvPr/>
        </p:nvSpPr>
        <p:spPr>
          <a:xfrm>
            <a:off x="6889750" y="5143500"/>
            <a:ext cx="603250" cy="12700"/>
          </a:xfrm>
          <a:prstGeom prst="line">
            <a:avLst/>
          </a:prstGeom>
          <a:noFill/>
          <a:ln w="15875">
            <a:solidFill>
              <a:srgbClr val="3EC5D1"/>
            </a:solidFill>
            <a:prstDash val="solid"/>
          </a:ln>
        </p:spPr>
      </p:sp>
      <p:sp>
        <p:nvSpPr>
          <p:cNvPr id="42" name="Shape 28"/>
          <p:cNvSpPr/>
          <p:nvPr/>
        </p:nvSpPr>
        <p:spPr>
          <a:xfrm>
            <a:off x="6889750" y="4864100"/>
            <a:ext cx="603250" cy="508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3" name="Shape 29"/>
          <p:cNvSpPr/>
          <p:nvPr/>
        </p:nvSpPr>
        <p:spPr>
          <a:xfrm flipV="1">
            <a:off x="7493000" y="5029200"/>
            <a:ext cx="603250" cy="127000"/>
          </a:xfrm>
          <a:prstGeom prst="line">
            <a:avLst/>
          </a:prstGeom>
          <a:noFill/>
          <a:ln w="15875">
            <a:solidFill>
              <a:srgbClr val="3EC5D1"/>
            </a:solidFill>
            <a:prstDash val="solid"/>
          </a:ln>
        </p:spPr>
      </p:sp>
      <p:sp>
        <p:nvSpPr>
          <p:cNvPr id="44" name="Shape 30"/>
          <p:cNvSpPr/>
          <p:nvPr/>
        </p:nvSpPr>
        <p:spPr>
          <a:xfrm flipV="1">
            <a:off x="7493000" y="4610100"/>
            <a:ext cx="603250" cy="3048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5" name="Shape 31"/>
          <p:cNvSpPr/>
          <p:nvPr/>
        </p:nvSpPr>
        <p:spPr>
          <a:xfrm flipV="1">
            <a:off x="8096250" y="4953000"/>
            <a:ext cx="603250" cy="76200"/>
          </a:xfrm>
          <a:prstGeom prst="line">
            <a:avLst/>
          </a:prstGeom>
          <a:noFill/>
          <a:ln w="15875">
            <a:solidFill>
              <a:srgbClr val="3EC5D1"/>
            </a:solidFill>
            <a:prstDash val="solid"/>
          </a:ln>
        </p:spPr>
      </p:sp>
      <p:sp>
        <p:nvSpPr>
          <p:cNvPr id="46" name="Shape 32"/>
          <p:cNvSpPr/>
          <p:nvPr/>
        </p:nvSpPr>
        <p:spPr>
          <a:xfrm flipV="1">
            <a:off x="8096250" y="4508500"/>
            <a:ext cx="603250" cy="1016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7" name="Shape 33"/>
          <p:cNvSpPr/>
          <p:nvPr/>
        </p:nvSpPr>
        <p:spPr>
          <a:xfrm flipV="1">
            <a:off x="8699500" y="4864100"/>
            <a:ext cx="603250" cy="88900"/>
          </a:xfrm>
          <a:prstGeom prst="line">
            <a:avLst/>
          </a:prstGeom>
          <a:noFill/>
          <a:ln w="15875">
            <a:solidFill>
              <a:srgbClr val="3EC5D1"/>
            </a:solidFill>
            <a:prstDash val="solid"/>
          </a:ln>
        </p:spPr>
      </p:sp>
      <p:sp>
        <p:nvSpPr>
          <p:cNvPr id="48" name="Shape 34"/>
          <p:cNvSpPr/>
          <p:nvPr/>
        </p:nvSpPr>
        <p:spPr>
          <a:xfrm flipV="1">
            <a:off x="8699500" y="4241800"/>
            <a:ext cx="603250" cy="2667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9" name="Shape 35"/>
          <p:cNvSpPr/>
          <p:nvPr/>
        </p:nvSpPr>
        <p:spPr>
          <a:xfrm flipV="1">
            <a:off x="9302750" y="4762500"/>
            <a:ext cx="603250" cy="101600"/>
          </a:xfrm>
          <a:prstGeom prst="line">
            <a:avLst/>
          </a:prstGeom>
          <a:noFill/>
          <a:ln w="15875">
            <a:solidFill>
              <a:srgbClr val="3EC5D1"/>
            </a:solidFill>
            <a:prstDash val="solid"/>
          </a:ln>
        </p:spPr>
      </p:sp>
      <p:sp>
        <p:nvSpPr>
          <p:cNvPr id="50" name="Shape 36"/>
          <p:cNvSpPr/>
          <p:nvPr/>
        </p:nvSpPr>
        <p:spPr>
          <a:xfrm flipV="1">
            <a:off x="9302750" y="4114800"/>
            <a:ext cx="603250" cy="1270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51" name="Shape 37"/>
          <p:cNvSpPr/>
          <p:nvPr/>
        </p:nvSpPr>
        <p:spPr>
          <a:xfrm flipV="1">
            <a:off x="9906000" y="4673600"/>
            <a:ext cx="603250" cy="88900"/>
          </a:xfrm>
          <a:prstGeom prst="line">
            <a:avLst/>
          </a:prstGeom>
          <a:noFill/>
          <a:ln w="15875">
            <a:solidFill>
              <a:srgbClr val="3EC5D1"/>
            </a:solidFill>
            <a:prstDash val="solid"/>
          </a:ln>
        </p:spPr>
      </p:sp>
      <p:sp>
        <p:nvSpPr>
          <p:cNvPr id="52" name="Shape 38"/>
          <p:cNvSpPr/>
          <p:nvPr/>
        </p:nvSpPr>
        <p:spPr>
          <a:xfrm flipV="1">
            <a:off x="9906000" y="3835400"/>
            <a:ext cx="603250" cy="2794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 flipV="1">
            <a:off x="10509250" y="4572000"/>
            <a:ext cx="603250" cy="101600"/>
          </a:xfrm>
          <a:prstGeom prst="line">
            <a:avLst/>
          </a:prstGeom>
          <a:noFill/>
          <a:ln w="15875">
            <a:solidFill>
              <a:srgbClr val="3EC5D1"/>
            </a:solidFill>
            <a:prstDash val="solid"/>
          </a:ln>
        </p:spPr>
      </p:sp>
      <p:sp>
        <p:nvSpPr>
          <p:cNvPr id="54" name="Shape 40"/>
          <p:cNvSpPr/>
          <p:nvPr/>
        </p:nvSpPr>
        <p:spPr>
          <a:xfrm flipV="1">
            <a:off x="10509250" y="3695700"/>
            <a:ext cx="603250" cy="1397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11061700" y="3644900"/>
            <a:ext cx="101600" cy="101600"/>
          </a:xfrm>
          <a:prstGeom prst="ellipse">
            <a:avLst/>
          </a:prstGeom>
          <a:solidFill>
            <a:srgbClr val="FF4A1C"/>
          </a:solidFill>
          <a:ln/>
        </p:spPr>
      </p:sp>
      <p:sp>
        <p:nvSpPr>
          <p:cNvPr id="56" name="Text 42"/>
          <p:cNvSpPr/>
          <p:nvPr/>
        </p:nvSpPr>
        <p:spPr>
          <a:xfrm>
            <a:off x="6223000" y="55245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in orange, comparison in cyan. No 3D, no gradients on bars.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7/art/crop-5-team-980x1080-xMaxY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223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50000"/>
            <a:ext cx="6223000" cy="508000"/>
          </a:xfrm>
          <a:prstGeom prst="rect">
            <a:avLst/>
          </a:prstGeom>
          <a:solidFill>
            <a:srgbClr val="131417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254000" y="6350000"/>
            <a:ext cx="571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E9EAE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AI-generated mood image. Use real TekRevol team photos in public material.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731000" y="1016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IMAGE DIRECTION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705600" y="1270000"/>
            <a:ext cx="495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200" b="1" kern="0" spc="-77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Show the build,</a:t>
            </a:r>
            <a:endParaRPr lang="en-US" sz="32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200" b="1" kern="0" spc="-77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then the builders.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731000" y="2730500"/>
            <a:ext cx="254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8" name="Text 5"/>
          <p:cNvSpPr/>
          <p:nvPr/>
        </p:nvSpPr>
        <p:spPr>
          <a:xfrm>
            <a:off x="6731000" y="28575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Patterns first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731000" y="31115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Experiment fields, iteration lines and layer planes lead covers, slides and social posts.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731000" y="3556000"/>
            <a:ext cx="254000" cy="254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1" name="Text 8"/>
          <p:cNvSpPr/>
          <p:nvPr/>
        </p:nvSpPr>
        <p:spPr>
          <a:xfrm>
            <a:off x="6731000" y="36830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Real people, real work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731000" y="39370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Documentary photos of the team at work. Bright spaces, natural light, one orange detail per frame.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731000" y="4381500"/>
            <a:ext cx="254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4" name="Text 11"/>
          <p:cNvSpPr/>
          <p:nvPr/>
        </p:nvSpPr>
        <p:spPr>
          <a:xfrm>
            <a:off x="6731000" y="45085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Product on screen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731000" y="47625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Real TekRevol interfaces on devices. Screens are always real UI, never generated.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31000" y="5270500"/>
            <a:ext cx="4699000" cy="889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17" name="Text 14"/>
          <p:cNvSpPr/>
          <p:nvPr/>
        </p:nvSpPr>
        <p:spPr>
          <a:xfrm>
            <a:off x="6908800" y="5410200"/>
            <a:ext cx="762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17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PROMPTS FOR EVERY IMAGE TYPE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6908800" y="5613400"/>
            <a:ext cx="4381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See 2026-10-05-image-prompts-for-designer.md in the brand folder: cover lines, layers, structured chaos, orbs and team.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24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VOICE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TONE OF VOICE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635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600" b="1" kern="0" spc="-8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Young in approach.</a:t>
            </a:r>
            <a:endParaRPr lang="en-US" sz="36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600" b="1" kern="0" spc="-8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Enterprise in output.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62000" y="355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Clear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38100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Short, active sentences. One idea each.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62000" y="41656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Specific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62000" y="44196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Real numbers, named standards, real work.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62000" y="47752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Candid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62000" y="50292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Name the situation, never the vendor.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2000" y="57150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No em dashes. No invented statistics. US spelling. Sentence case.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715000" y="3175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SAY THIS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636000" y="3175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NOT THIS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15000" y="3429000"/>
            <a:ext cx="273050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7" name="Text 15"/>
          <p:cNvSpPr/>
          <p:nvPr/>
        </p:nvSpPr>
        <p:spPr>
          <a:xfrm>
            <a:off x="5880100" y="34290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Finish what the last team started.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636000" y="3429000"/>
            <a:ext cx="27940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01100" y="3429000"/>
            <a:ext cx="2476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Revolutionary AI-powered solutions.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715000" y="4254500"/>
            <a:ext cx="273050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1" name="Text 19"/>
          <p:cNvSpPr/>
          <p:nvPr/>
        </p:nvSpPr>
        <p:spPr>
          <a:xfrm>
            <a:off x="5880100" y="4254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Built for HIPAA from the first sprint.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36000" y="4254500"/>
            <a:ext cx="27940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01100" y="4254500"/>
            <a:ext cx="2476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Cutting-edge, robust, seamless security.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15000" y="5080000"/>
            <a:ext cx="273050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5" name="Text 23"/>
          <p:cNvSpPr/>
          <p:nvPr/>
        </p:nvSpPr>
        <p:spPr>
          <a:xfrm>
            <a:off x="5880100" y="50800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Your AI prototype got you 80% of the way.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636000" y="5080000"/>
            <a:ext cx="27940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01100" y="5080000"/>
            <a:ext cx="2476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Unleash the power of AI today.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TESTED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28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HOW THIS SYSTEM WAS TESTED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Checked before it ships.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8956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8" name="Image 0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2927350"/>
            <a:ext cx="152400" cy="152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28575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Contrast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02000" y="28575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text pair measured against WCAG 2.2; body text passes AA, most pairs AAA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62000" y="32385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2" name="Shape 9"/>
          <p:cNvSpPr/>
          <p:nvPr/>
        </p:nvSpPr>
        <p:spPr>
          <a:xfrm>
            <a:off x="762000" y="33655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13" name="Image 1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3397250"/>
            <a:ext cx="152400" cy="1524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43000" y="33274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Legibility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302000" y="33274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Type scale checked from 12 px labels to 88 px display, desktop and mobile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2000" y="37084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7" name="Shape 13"/>
          <p:cNvSpPr/>
          <p:nvPr/>
        </p:nvSpPr>
        <p:spPr>
          <a:xfrm>
            <a:off x="762000" y="38354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18" name="Image 2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3867150"/>
            <a:ext cx="152400" cy="152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43000" y="37973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mode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302000" y="37973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color has a dark equivalent; control outlines meet 3:1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762000" y="41783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2" name="Shape 17"/>
          <p:cNvSpPr/>
          <p:nvPr/>
        </p:nvSpPr>
        <p:spPr>
          <a:xfrm>
            <a:off x="762000" y="4305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23" name="Image 3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4337050"/>
            <a:ext cx="152400" cy="1524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43000" y="42672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Color blindness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3302000" y="42672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Orange, cyan and charcoal differ in lightness, so meaning never relies on hue alone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762000" y="46482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7" name="Shape 21"/>
          <p:cNvSpPr/>
          <p:nvPr/>
        </p:nvSpPr>
        <p:spPr>
          <a:xfrm>
            <a:off x="762000" y="47752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28" name="Image 4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4806950"/>
            <a:ext cx="152400" cy="1524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43000" y="47371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Fonts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3302000" y="47371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Free under the SIL Open Font License; files included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762000" y="51181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2" name="Shape 25"/>
          <p:cNvSpPr/>
          <p:nvPr/>
        </p:nvSpPr>
        <p:spPr>
          <a:xfrm>
            <a:off x="762000" y="52451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33" name="Image 5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5276850"/>
            <a:ext cx="152400" cy="1524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143000" y="52070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Editable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3302000" y="52070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text box and diagram in this file is native and editable in PowerPoint</a:t>
            </a:r>
            <a:endParaRPr lang="en-US" sz="950" dirty="0"/>
          </a:p>
        </p:txBody>
      </p:sp>
      <p:sp>
        <p:nvSpPr>
          <p:cNvPr id="36" name="Shape 28"/>
          <p:cNvSpPr/>
          <p:nvPr/>
        </p:nvSpPr>
        <p:spPr>
          <a:xfrm>
            <a:off x="762000" y="55880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7" name="Shape 29"/>
          <p:cNvSpPr/>
          <p:nvPr/>
        </p:nvSpPr>
        <p:spPr>
          <a:xfrm>
            <a:off x="762000" y="57150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38" name="Image 6" descr="C:/Claude-Projects/Projects/TekRevol/01-brand-system/deck-v7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5746750"/>
            <a:ext cx="152400" cy="1524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143000" y="56769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Applied</a:t>
            </a:r>
            <a:endParaRPr lang="en-US" sz="1100" dirty="0"/>
          </a:p>
        </p:txBody>
      </p:sp>
      <p:sp>
        <p:nvSpPr>
          <p:cNvPr id="40" name="Text 31"/>
          <p:cNvSpPr/>
          <p:nvPr/>
        </p:nvSpPr>
        <p:spPr>
          <a:xfrm>
            <a:off x="3302000" y="56769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Tested on social, presentation, business card and web layouts</a:t>
            </a:r>
            <a:endParaRPr 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762000" y="60579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ai-images/4-or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:/Claude-Projects/Projects/TekRevol/01-brand-system/deck-v7/art/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09600"/>
            <a:ext cx="1905000" cy="2794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6600" y="2540000"/>
            <a:ext cx="571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800" b="1" kern="0" spc="-115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Learn. Build. Ship.</a:t>
            </a:r>
            <a:endParaRPr lang="en-US" sz="4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800" b="1" kern="0" spc="-115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Then do it better.</a:t>
            </a:r>
            <a:endParaRPr lang="en-US" sz="4800" dirty="0"/>
          </a:p>
        </p:txBody>
      </p:sp>
      <p:sp>
        <p:nvSpPr>
          <p:cNvPr id="5" name="Shape 1"/>
          <p:cNvSpPr/>
          <p:nvPr/>
        </p:nvSpPr>
        <p:spPr>
          <a:xfrm>
            <a:off x="762000" y="4191000"/>
            <a:ext cx="762000" cy="38100"/>
          </a:xfrm>
          <a:prstGeom prst="rect">
            <a:avLst/>
          </a:prstGeom>
          <a:solidFill>
            <a:srgbClr val="3EC5D1"/>
          </a:solidFill>
          <a:ln/>
        </p:spPr>
      </p:sp>
      <p:sp>
        <p:nvSpPr>
          <p:cNvPr id="6" name="Text 2"/>
          <p:cNvSpPr/>
          <p:nvPr/>
        </p:nvSpPr>
        <p:spPr>
          <a:xfrm>
            <a:off x="787400" y="444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  ·  2026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787400" y="5715000"/>
            <a:ext cx="520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Files: logos, fonts, tokens, patterns and images in Projects / TekRevol / 01-brand-system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1998</Words>
  <Application>Microsoft Office PowerPoint</Application>
  <PresentationFormat>Widescreen</PresentationFormat>
  <Paragraphs>487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Funnel Display</vt:lpstr>
      <vt:lpstr>Funnel Display SemiBold</vt:lpstr>
      <vt:lpstr>Wix Madefor Text</vt:lpstr>
      <vt:lpstr>Arial</vt:lpstr>
      <vt:lpstr>JetBrains Mono Medium</vt:lpstr>
      <vt:lpstr>Calibri</vt:lpstr>
      <vt:lpstr>Wix Madefor Text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TekRevol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TekRevol Brand Guidelines</dc:title>
  <dc:subject>PptxGenJS Presentation</dc:subject>
  <dc:creator>TekRevol Marketing</dc:creator>
  <cp:lastModifiedBy>Sana Qazi</cp:lastModifiedBy>
  <cp:revision>3</cp:revision>
  <dcterms:created xsi:type="dcterms:W3CDTF">2026-10-06T08:11:04Z</dcterms:created>
  <dcterms:modified xsi:type="dcterms:W3CDTF">2026-10-06T08:36:41Z</dcterms:modified>
</cp:coreProperties>
</file>