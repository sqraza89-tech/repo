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  <p:sldId id="283" r:id="rId27"/>
    <p:sldId id="284" r:id="rId28"/>
  </p:sldIdLst>
  <p:sldSz cx="12192000" cy="6858000"/>
  <p:notesSz cx="6858000" cy="12192000"/>
  <p:embeddedFontLs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Funnel Display" pitchFamily="2" charset="0"/>
      <p:regular r:id="rId34"/>
      <p:bold r:id="rId35"/>
    </p:embeddedFont>
    <p:embeddedFont>
      <p:font typeface="Funnel Display SemiBold" pitchFamily="2" charset="0"/>
      <p:bold r:id="rId36"/>
    </p:embeddedFont>
    <p:embeddedFont>
      <p:font typeface="JetBrains Mono Medium" panose="02000009000000000000" pitchFamily="49" charset="0"/>
      <p:regular r:id="rId37"/>
    </p:embeddedFont>
    <p:embeddedFont>
      <p:font typeface="Wix Madefor Text" panose="020B0503020203020203" pitchFamily="34" charset="0"/>
      <p:regular r:id="rId38"/>
      <p:bold r:id="rId39"/>
    </p:embeddedFont>
    <p:embeddedFont>
      <p:font typeface="Wix Madefor Text SemiBold" panose="020B0503020203020203" pitchFamily="34" charset="0"/>
      <p:bold r:id="rId4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3474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1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83400" y="4127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BRAND GUIDELINES  ·  2026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6858000" y="4356100"/>
            <a:ext cx="482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Better with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layer.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6883400" y="59055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identity of TekRevol, an AI-first software development company.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CONTENTS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36600" y="1587500"/>
            <a:ext cx="762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400" b="1" kern="0" spc="-10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Inside this guide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62000" y="2984500"/>
            <a:ext cx="3302000" cy="1905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62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The TekRevolution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2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Story, positioning, idea, personality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815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9" name="Text 7"/>
          <p:cNvSpPr/>
          <p:nvPr/>
        </p:nvSpPr>
        <p:spPr>
          <a:xfrm>
            <a:off x="43815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15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Logo and color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15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Logo, palette, accessibility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010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8001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Typography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01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Typefaces, scale, hierarchy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2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Graphic language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62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Patterns, diagrams, layers, icons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815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1" name="Text 19"/>
          <p:cNvSpPr/>
          <p:nvPr/>
        </p:nvSpPr>
        <p:spPr>
          <a:xfrm>
            <a:off x="43815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3815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Imagery and voice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815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Image direction, prompts, tone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01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001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 use and tested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01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Applications, checks, files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6600" y="1587500"/>
            <a:ext cx="3556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It all started with a vision.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62000" y="4064000"/>
            <a:ext cx="3429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“TekRevol was created to give our people a platform where they are free to think critically and innovate, to create a better world.”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88000" y="1333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588000" y="15875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 mobile app studio built on structured chaos: learn, ideate, iterate, incubate and scale, in a constant state of flux.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88000" y="2730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NOW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588000" y="2984500"/>
            <a:ext cx="546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same spirit, applied to AI. TekRevol adopts new technology early, experiments fast and keeps rebuilding until it works, then ships software enterprises can rely 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88000" y="4381500"/>
            <a:ext cx="5461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9"/>
          <p:cNvSpPr/>
          <p:nvPr/>
        </p:nvSpPr>
        <p:spPr>
          <a:xfrm>
            <a:off x="5562600" y="46355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WHAT TEKREVOL 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TekRevol builds the AI-native software other vendors, and other AI tools, couldn’t finish.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4318000"/>
            <a:ext cx="3302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9" name="Text 7"/>
          <p:cNvSpPr/>
          <p:nvPr/>
        </p:nvSpPr>
        <p:spPr>
          <a:xfrm>
            <a:off x="965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Category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5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AI-first software development company. Software development stays the parent category; AI leads.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15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15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45847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we 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847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AI-native products from scratch, and AI-built prototypes taken the rest of the way to production.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8204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backs 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04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Ten years of mobile, web, cloud and custom software engineering, and 800+ products delivered.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3-Cha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000" y="698500"/>
            <a:ext cx="508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BRAND IDEA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324600" y="9525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Structured chaos.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350000" y="1778000"/>
            <a:ext cx="508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tries more paths than most teams would dare, faster than most teams can. Most attempts teach something; one ships. That is how a young, curious team produces enterprise-grade work.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WE WORK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Ideate. Iterate.</a:t>
            </a:r>
            <a:endParaRPr lang="en-US" sz="4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Incubate. Scale.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62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8" name="Image 0" descr="C:/Claude-Projects/Projects/TekRevol/01-brand-system/deck-v7/art/ic-search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241800"/>
            <a:ext cx="215900" cy="215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22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39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Learn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39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Learn, unlearn and relearn. There is no end to it.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30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21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14" name="Image 1" descr="C:/Claude-Projects/Projects/TekRevol/01-brand-system/deck-v7/art/ic-sparkles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800" y="4241800"/>
            <a:ext cx="215900" cy="215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81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098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Ideate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3098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Seek better ideas and practices in everything we do.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89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80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0" name="Image 2" descr="C:/Claude-Projects/Projects/TekRevol/01-brand-system/deck-v7/art/ic-refresh-c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4241800"/>
            <a:ext cx="215900" cy="215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40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257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7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 and evolve everything: people, products, services.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048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239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6" name="Image 3" descr="C:/Claude-Projects/Projects/TekRevol/01-brand-system/deck-v7/art/ic-flask-conical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6800" y="4241800"/>
            <a:ext cx="215900" cy="2159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699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7416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Incubate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416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Work hard and be patient on the way to success.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9207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398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32" name="Image 4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800" y="4241800"/>
            <a:ext cx="215900" cy="2159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858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9575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Scale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9575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Grow efficiency through trusted systems and procedures.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62000" y="59055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TekRevol cycle, from the original handbook. Still how the team works, now with AI in every step.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524000" cy="223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667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PERSONALITY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736600" y="29845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Traits that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shape the work.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62000" y="4699000"/>
            <a:ext cx="406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Six traits, drawn from the original TekRevol values and still true today.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715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943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Built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5943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Engineered, precise, specific.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74000" y="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8"/>
          <p:cNvSpPr/>
          <p:nvPr/>
        </p:nvSpPr>
        <p:spPr>
          <a:xfrm>
            <a:off x="8102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02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Quick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8102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Moves early, ships on schedule.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0033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5" name="Text 12"/>
          <p:cNvSpPr/>
          <p:nvPr/>
        </p:nvSpPr>
        <p:spPr>
          <a:xfrm>
            <a:off x="10261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261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Evolving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10261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version better than the last.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715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Candid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943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Says what is true, plainly.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874000" y="342900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3" name="Text 20"/>
          <p:cNvSpPr/>
          <p:nvPr/>
        </p:nvSpPr>
        <p:spPr>
          <a:xfrm>
            <a:off x="8102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102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Warm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8102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Human-centered and real.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10033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7" name="Text 24"/>
          <p:cNvSpPr/>
          <p:nvPr/>
        </p:nvSpPr>
        <p:spPr>
          <a:xfrm>
            <a:off x="10261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261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Curious</a:t>
            </a:r>
            <a:endParaRPr lang="en-US" sz="2300" dirty="0"/>
          </a:p>
        </p:txBody>
      </p:sp>
      <p:sp>
        <p:nvSpPr>
          <p:cNvPr id="29" name="Text 26"/>
          <p:cNvSpPr/>
          <p:nvPr/>
        </p:nvSpPr>
        <p:spPr>
          <a:xfrm>
            <a:off x="10261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Questions everything, learns fast.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81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2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36600" y="2984500"/>
            <a:ext cx="5461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Logo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and color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787400" y="482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fixed parts of every TekRevol layout.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PRIMARY LOGO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mark. Same geometry,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brighter color.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302000"/>
            <a:ext cx="520700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8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4254500"/>
            <a:ext cx="3810000" cy="55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62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Charcoal ink on white and light backgrounds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23000" y="3302000"/>
            <a:ext cx="5207000" cy="2413000"/>
          </a:xfrm>
          <a:prstGeom prst="rect">
            <a:avLst/>
          </a:prstGeom>
          <a:solidFill>
            <a:srgbClr val="131417"/>
          </a:solidFill>
          <a:ln/>
        </p:spPr>
      </p:sp>
      <p:pic>
        <p:nvPicPr>
          <p:cNvPr id="11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0" y="4254500"/>
            <a:ext cx="3810000" cy="558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23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White ink on charcoal and dark backgrounds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62000" y="6108700"/>
            <a:ext cx="114300" cy="1143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4" name="Text 10"/>
          <p:cNvSpPr/>
          <p:nvPr/>
        </p:nvSpPr>
        <p:spPr>
          <a:xfrm>
            <a:off x="939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Left plane  #FF4A1C</a:t>
            </a:r>
            <a:endParaRPr lang="en-US" sz="650" dirty="0"/>
          </a:p>
        </p:txBody>
      </p:sp>
      <p:sp>
        <p:nvSpPr>
          <p:cNvPr id="15" name="Shape 11"/>
          <p:cNvSpPr/>
          <p:nvPr/>
        </p:nvSpPr>
        <p:spPr>
          <a:xfrm>
            <a:off x="2413000" y="6108700"/>
            <a:ext cx="114300" cy="1143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2"/>
          <p:cNvSpPr/>
          <p:nvPr/>
        </p:nvSpPr>
        <p:spPr>
          <a:xfrm>
            <a:off x="2590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Right plane  #FF7A45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4064000" y="6108700"/>
            <a:ext cx="114300" cy="1143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18" name="Text 14"/>
          <p:cNvSpPr/>
          <p:nvPr/>
        </p:nvSpPr>
        <p:spPr>
          <a:xfrm>
            <a:off x="4241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Base bar  #D93A12</a:t>
            </a:r>
            <a:endParaRPr lang="en-US" sz="650" dirty="0"/>
          </a:p>
        </p:txBody>
      </p:sp>
      <p:sp>
        <p:nvSpPr>
          <p:cNvPr id="19" name="Shape 15"/>
          <p:cNvSpPr/>
          <p:nvPr/>
        </p:nvSpPr>
        <p:spPr>
          <a:xfrm>
            <a:off x="5715000" y="6108700"/>
            <a:ext cx="114300" cy="1143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6"/>
          <p:cNvSpPr/>
          <p:nvPr/>
        </p:nvSpPr>
        <p:spPr>
          <a:xfrm>
            <a:off x="5892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Wordmark  #1D1E21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RULES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Space, size and misuse.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57500"/>
            <a:ext cx="4826000" cy="1905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0500" y="3479800"/>
            <a:ext cx="3429000" cy="736600"/>
          </a:xfrm>
          <a:prstGeom prst="rect">
            <a:avLst/>
          </a:prstGeom>
          <a:ln w="9525">
            <a:solidFill>
              <a:srgbClr val="C2340E"/>
            </a:solidFill>
            <a:prstDash val="solid"/>
          </a:ln>
        </p:spPr>
      </p:sp>
      <p:pic>
        <p:nvPicPr>
          <p:cNvPr id="9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632200"/>
            <a:ext cx="2794000" cy="409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8600" y="33020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X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2000" y="49276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Clear space on every side = X, the height of the letter T.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2000" y="5334000"/>
            <a:ext cx="482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2000" y="55753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Full logo 120 px on screen, 30 mm in print. Mark alone 20 px, 6 mm.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350000" y="285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DON’T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3500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6" name="Image 1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500" y="3581400"/>
            <a:ext cx="2032000" cy="15367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500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Stretch or distort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9535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9" name="Image 2" descr="C:/Claude-Projects/Projects/TekRevol/01-brand-system/deck-v7/art/logo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500" y="3543300"/>
            <a:ext cx="1905000" cy="2794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35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Recolor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350000" y="4699000"/>
            <a:ext cx="2413000" cy="1143000"/>
          </a:xfrm>
          <a:prstGeom prst="rect">
            <a:avLst/>
          </a:prstGeom>
          <a:solidFill>
            <a:srgbClr val="FF4A1C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2" name="Image 3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5130800"/>
            <a:ext cx="1905000" cy="2794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500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Use full color on orange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8953500" y="46990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5" name="Image 4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0" y="5130800"/>
            <a:ext cx="1905000" cy="279400"/>
          </a:xfrm>
          <a:prstGeom prst="rect">
            <a:avLst/>
          </a:prstGeom>
          <a:effectLst>
            <a:outerShdw blurRad="101600" dist="76200" dir="27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26" name="Text 19"/>
          <p:cNvSpPr/>
          <p:nvPr/>
        </p:nvSpPr>
        <p:spPr>
          <a:xfrm>
            <a:off x="89535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Add shadows or effects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CORE PALETTE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Clean neutrals, one bright accent.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46075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TekRevol Orange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980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#FF4A1C   RGB 255 74 28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6200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only accent: CTAs, the highlight, what ships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49750" y="2794000"/>
            <a:ext cx="3460750" cy="1905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755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Charcoal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755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  RGB 29 30 33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34975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Headlines, body text, dark sections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37500" y="2794000"/>
            <a:ext cx="346075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530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White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1530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  RGB 255 255 255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93750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Primary background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62000" y="5270500"/>
            <a:ext cx="1428750" cy="76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20" name="Text 18"/>
          <p:cNvSpPr/>
          <p:nvPr/>
        </p:nvSpPr>
        <p:spPr>
          <a:xfrm>
            <a:off x="87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#EEEFEF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286000" y="5270500"/>
            <a:ext cx="1428750" cy="7620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23" name="Text 21"/>
          <p:cNvSpPr/>
          <p:nvPr/>
        </p:nvSpPr>
        <p:spPr>
          <a:xfrm>
            <a:off x="240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Silver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40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#C9CCCF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10000" y="5270500"/>
            <a:ext cx="1428750" cy="762000"/>
          </a:xfrm>
          <a:prstGeom prst="rect">
            <a:avLst/>
          </a:prstGeom>
          <a:solidFill>
            <a:srgbClr val="8A9097"/>
          </a:solidFill>
          <a:ln/>
        </p:spPr>
      </p:sp>
      <p:sp>
        <p:nvSpPr>
          <p:cNvPr id="26" name="Text 24"/>
          <p:cNvSpPr/>
          <p:nvPr/>
        </p:nvSpPr>
        <p:spPr>
          <a:xfrm>
            <a:off x="3924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Steel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924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#8A9097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334000" y="5270500"/>
            <a:ext cx="1428750" cy="762000"/>
          </a:xfrm>
          <a:prstGeom prst="rect">
            <a:avLst/>
          </a:prstGeom>
          <a:solidFill>
            <a:srgbClr val="5E6166"/>
          </a:solidFill>
          <a:ln/>
        </p:spPr>
      </p:sp>
      <p:sp>
        <p:nvSpPr>
          <p:cNvPr id="29" name="Text 27"/>
          <p:cNvSpPr/>
          <p:nvPr/>
        </p:nvSpPr>
        <p:spPr>
          <a:xfrm>
            <a:off x="5448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48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858000" y="5270500"/>
            <a:ext cx="1428750" cy="7620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2" name="Text 30"/>
          <p:cNvSpPr/>
          <p:nvPr/>
        </p:nvSpPr>
        <p:spPr>
          <a:xfrm>
            <a:off x="6972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Flare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72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#FF7A45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382000" y="5270500"/>
            <a:ext cx="1428750" cy="7620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35" name="Text 33"/>
          <p:cNvSpPr/>
          <p:nvPr/>
        </p:nvSpPr>
        <p:spPr>
          <a:xfrm>
            <a:off x="849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Ember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9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#D93A12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906000" y="5270500"/>
            <a:ext cx="1428750" cy="762000"/>
          </a:xfrm>
          <a:prstGeom prst="rect">
            <a:avLst/>
          </a:prstGeom>
          <a:solidFill>
            <a:srgbClr val="C2340E"/>
          </a:solidFill>
          <a:ln/>
        </p:spPr>
      </p:sp>
      <p:sp>
        <p:nvSpPr>
          <p:cNvPr id="38" name="Text 36"/>
          <p:cNvSpPr/>
          <p:nvPr/>
        </p:nvSpPr>
        <p:spPr>
          <a:xfrm>
            <a:off x="1002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02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WHY ORANGE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category is a blue wall.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Orange is the signal.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556000"/>
            <a:ext cx="1333500" cy="1397000"/>
          </a:xfrm>
          <a:prstGeom prst="rect">
            <a:avLst/>
          </a:prstGeom>
          <a:solidFill>
            <a:srgbClr val="1B54F8"/>
          </a:solidFill>
          <a:ln/>
        </p:spPr>
      </p:sp>
      <p:sp>
        <p:nvSpPr>
          <p:cNvPr id="8" name="Text 6"/>
          <p:cNvSpPr/>
          <p:nvPr/>
        </p:nvSpPr>
        <p:spPr>
          <a:xfrm>
            <a:off x="762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LeewayHertz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22500" y="3556000"/>
            <a:ext cx="1333500" cy="1397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2222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Azumo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83000" y="3556000"/>
            <a:ext cx="1333500" cy="1397000"/>
          </a:xfrm>
          <a:prstGeom prst="rect">
            <a:avLst/>
          </a:prstGeom>
          <a:solidFill>
            <a:srgbClr val="005EB8"/>
          </a:solidFill>
          <a:ln/>
        </p:spPr>
      </p:sp>
      <p:sp>
        <p:nvSpPr>
          <p:cNvPr id="12" name="Text 10"/>
          <p:cNvSpPr/>
          <p:nvPr/>
        </p:nvSpPr>
        <p:spPr>
          <a:xfrm>
            <a:off x="3683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ScienceSoft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43500" y="3556000"/>
            <a:ext cx="1333500" cy="1397000"/>
          </a:xfrm>
          <a:prstGeom prst="rect">
            <a:avLst/>
          </a:prstGeom>
          <a:solidFill>
            <a:srgbClr val="0227E9"/>
          </a:solidFill>
          <a:ln/>
        </p:spPr>
      </p:sp>
      <p:sp>
        <p:nvSpPr>
          <p:cNvPr id="14" name="Text 12"/>
          <p:cNvSpPr/>
          <p:nvPr/>
        </p:nvSpPr>
        <p:spPr>
          <a:xfrm>
            <a:off x="5143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Cheesecake Labs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604000" y="3556000"/>
            <a:ext cx="1333500" cy="1397000"/>
          </a:xfrm>
          <a:prstGeom prst="rect">
            <a:avLst/>
          </a:prstGeom>
          <a:solidFill>
            <a:srgbClr val="3ABDBC"/>
          </a:solidFill>
          <a:ln/>
        </p:spPr>
      </p:sp>
      <p:sp>
        <p:nvSpPr>
          <p:cNvPr id="16" name="Text 14"/>
          <p:cNvSpPr/>
          <p:nvPr/>
        </p:nvSpPr>
        <p:spPr>
          <a:xfrm>
            <a:off x="6604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HatchWorks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382000" y="3302000"/>
            <a:ext cx="190500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302000"/>
            <a:ext cx="1143000" cy="1905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9" name="Text 17"/>
          <p:cNvSpPr/>
          <p:nvPr/>
        </p:nvSpPr>
        <p:spPr>
          <a:xfrm>
            <a:off x="8509000" y="4826000"/>
            <a:ext cx="165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TekRevol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14000" y="4826000"/>
            <a:ext cx="952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82000" y="5334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warm accent against a wall of cool blues: the most recognizable position in the category.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PROPORTION AND DARK MODE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How much of each.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58674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900" y="2794000"/>
            <a:ext cx="574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and mist 55%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29400" y="2794000"/>
            <a:ext cx="2453640" cy="6985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0" name="Text 8"/>
          <p:cNvSpPr/>
          <p:nvPr/>
        </p:nvSpPr>
        <p:spPr>
          <a:xfrm>
            <a:off x="6718300" y="2794000"/>
            <a:ext cx="232664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23%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083040" y="2794000"/>
            <a:ext cx="1066800" cy="6985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12" name="Text 10"/>
          <p:cNvSpPr/>
          <p:nvPr/>
        </p:nvSpPr>
        <p:spPr>
          <a:xfrm>
            <a:off x="9171940" y="2794000"/>
            <a:ext cx="939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Metal 10%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149840" y="2794000"/>
            <a:ext cx="128016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238740" y="2794000"/>
            <a:ext cx="11531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12%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2000" y="36322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focal point per view; the primary button is functional and doesn’t count.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191000"/>
            <a:ext cx="10668000" cy="1905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17" name="Shape 15"/>
          <p:cNvSpPr/>
          <p:nvPr/>
        </p:nvSpPr>
        <p:spPr>
          <a:xfrm>
            <a:off x="965200" y="4406900"/>
            <a:ext cx="1905000" cy="762000"/>
          </a:xfrm>
          <a:prstGeom prst="rect">
            <a:avLst/>
          </a:prstGeom>
          <a:solidFill>
            <a:srgbClr val="131417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5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Deep Charcoal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5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#131417  ·  Page background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3060700" y="4406900"/>
            <a:ext cx="1905000" cy="762000"/>
          </a:xfrm>
          <a:prstGeom prst="rect">
            <a:avLst/>
          </a:prstGeom>
          <a:solidFill>
            <a:srgbClr val="1A1B1E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0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Surface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60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#1A1B1E  ·  Cards, panels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156200" y="4406900"/>
            <a:ext cx="1905000" cy="762000"/>
          </a:xfrm>
          <a:prstGeom prst="rect">
            <a:avLst/>
          </a:prstGeom>
          <a:solidFill>
            <a:srgbClr val="2A2C30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6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Border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56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#2A2C30  ·  Dividers only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251700" y="4406900"/>
            <a:ext cx="1905000" cy="762000"/>
          </a:xfrm>
          <a:prstGeom prst="rect">
            <a:avLst/>
          </a:prstGeom>
          <a:solidFill>
            <a:srgbClr val="6E727A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Control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251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#6E727A  ·  Input outlines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9347200" y="4406900"/>
            <a:ext cx="1905000" cy="762000"/>
          </a:xfrm>
          <a:prstGeom prst="rect">
            <a:avLst/>
          </a:prstGeom>
          <a:solidFill>
            <a:srgbClr val="8B8E94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47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347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 ·  Secondary text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ACCESSIBILITY,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text pair checked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against WCAG 2.2.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78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White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78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#FFFFFF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318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16.7:1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81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14" name="Text 12"/>
          <p:cNvSpPr/>
          <p:nvPr/>
        </p:nvSpPr>
        <p:spPr>
          <a:xfrm>
            <a:off x="5181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6223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E6166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 on White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239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 on #FFFFFF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779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6.2:1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642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2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762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778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Orange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78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#FF4A1C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4318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5.0:1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81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5181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6223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340E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39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 on White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239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 on #FFFFFF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779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5.9:1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642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8" name="Text 36"/>
          <p:cNvSpPr/>
          <p:nvPr/>
        </p:nvSpPr>
        <p:spPr>
          <a:xfrm>
            <a:off x="10642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762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41" name="Text 39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778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on Deep Charcoal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778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on #131417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4318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18.4:1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181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46" name="Text 44"/>
          <p:cNvSpPr/>
          <p:nvPr/>
        </p:nvSpPr>
        <p:spPr>
          <a:xfrm>
            <a:off x="5181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223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49" name="Text 47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7A45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239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Flare on Deep Charcoal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239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#FF7A45 on #131417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9779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7.0:1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642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54" name="Text 52"/>
          <p:cNvSpPr/>
          <p:nvPr/>
        </p:nvSpPr>
        <p:spPr>
          <a:xfrm>
            <a:off x="10642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762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8B8E94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778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 on Deep Charcoal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778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on #131417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4318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5.6:1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81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62" name="Text 60"/>
          <p:cNvSpPr/>
          <p:nvPr/>
        </p:nvSpPr>
        <p:spPr>
          <a:xfrm>
            <a:off x="5181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6223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62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7239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on White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239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#FF4A1C on #FFFFFF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9779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3.4:1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642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EEEFEF"/>
          </a:solidFill>
          <a:ln/>
        </p:spPr>
      </p:sp>
      <p:sp>
        <p:nvSpPr>
          <p:cNvPr id="70" name="Text 68"/>
          <p:cNvSpPr/>
          <p:nvPr/>
        </p:nvSpPr>
        <p:spPr>
          <a:xfrm>
            <a:off x="10642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5E6166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LARGE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762000" y="6134100"/>
            <a:ext cx="1066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Orange as text on white is for headlines 24 px and up; use Orange Ink for smaller text.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6600" y="29845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Typography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87400" y="40640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 with personality. Everything else calm.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12000" y="889000"/>
            <a:ext cx="4445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0" b="1" kern="0" spc="-10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28000" dirty="0"/>
          </a:p>
        </p:txBody>
      </p:sp>
      <p:sp>
        <p:nvSpPr>
          <p:cNvPr id="6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62000" y="19050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6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Funnel Display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2514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Headlines. SemiBold and Bold.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29210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0123456789 &amp; ? ! @ 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0" y="1905000"/>
            <a:ext cx="12700" cy="393700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1905000"/>
            <a:ext cx="431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6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Madefor Text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39000" y="2413000"/>
            <a:ext cx="431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Body copy, subheads and UI. Regular, Medium, SemiBold.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39000" y="2730500"/>
            <a:ext cx="406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Same team from kickoff to launch. Compliance built in from the first sprint.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39000" y="3937000"/>
            <a:ext cx="431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JetBrains Mono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39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Labels, node labels, code and proof numbers. Uppercase, +8% tracking.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39000" y="4953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239000" y="52070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62000" y="60325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All three are free under the SIL Open Font License. Install them from the fonts folder before editing this file.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SCALE AND HIERARCHY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clear order on every page.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62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STYLE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0955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064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DESKTOP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26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MOBILE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762000" y="2984500"/>
            <a:ext cx="4826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2" name="Text 10"/>
          <p:cNvSpPr/>
          <p:nvPr/>
        </p:nvSpPr>
        <p:spPr>
          <a:xfrm>
            <a:off x="762000" y="3086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Display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95500" y="3086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64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88 px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26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44 px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2000" y="33528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33782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95500" y="3378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64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56 px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26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34 px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62000" y="36449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Text 20"/>
          <p:cNvSpPr/>
          <p:nvPr/>
        </p:nvSpPr>
        <p:spPr>
          <a:xfrm>
            <a:off x="762000" y="36703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95500" y="3670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64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40 px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26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62000" y="3937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962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Pull quote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095500" y="3962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064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26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62000" y="42291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Text 30"/>
          <p:cNvSpPr/>
          <p:nvPr/>
        </p:nvSpPr>
        <p:spPr>
          <a:xfrm>
            <a:off x="762000" y="42545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95500" y="425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64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26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 px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2000" y="45212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Text 35"/>
          <p:cNvSpPr/>
          <p:nvPr/>
        </p:nvSpPr>
        <p:spPr>
          <a:xfrm>
            <a:off x="762000" y="45466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Lead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95500" y="4546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064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 px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26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 px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2000" y="48133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2" name="Text 40"/>
          <p:cNvSpPr/>
          <p:nvPr/>
        </p:nvSpPr>
        <p:spPr>
          <a:xfrm>
            <a:off x="762000" y="48387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Body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95500" y="48387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064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26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62000" y="51054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7" name="Text 45"/>
          <p:cNvSpPr/>
          <p:nvPr/>
        </p:nvSpPr>
        <p:spPr>
          <a:xfrm>
            <a:off x="762000" y="5130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Button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095500" y="5130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SemiBold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064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26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62000" y="5397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2" name="Text 50"/>
          <p:cNvSpPr/>
          <p:nvPr/>
        </p:nvSpPr>
        <p:spPr>
          <a:xfrm>
            <a:off x="762000" y="54229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Label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2095500" y="5422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Mono, caps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064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826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2000" y="56896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715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Data large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095500" y="5715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064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826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62000" y="59817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62" name="Shape 60"/>
          <p:cNvSpPr/>
          <p:nvPr/>
        </p:nvSpPr>
        <p:spPr>
          <a:xfrm>
            <a:off x="6223000" y="2730500"/>
            <a:ext cx="5207000" cy="330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63" name="Text 61"/>
          <p:cNvSpPr/>
          <p:nvPr/>
        </p:nvSpPr>
        <p:spPr>
          <a:xfrm>
            <a:off x="6604000" y="31115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kern="0" spc="135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578600" y="3365500"/>
            <a:ext cx="4699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Finish what the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last team started.</a:t>
            </a:r>
            <a:endParaRPr lang="en-US" sz="3000" dirty="0"/>
          </a:p>
        </p:txBody>
      </p:sp>
      <p:sp>
        <p:nvSpPr>
          <p:cNvPr id="65" name="Text 63"/>
          <p:cNvSpPr/>
          <p:nvPr/>
        </p:nvSpPr>
        <p:spPr>
          <a:xfrm>
            <a:off x="6604000" y="4572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Stalled build or an AI prototype that hit a wall. One team takes it to launch.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604000" y="5334000"/>
            <a:ext cx="1651000" cy="381000"/>
          </a:xfrm>
          <a:custGeom>
            <a:avLst/>
            <a:gdLst/>
            <a:ahLst/>
            <a:cxnLst/>
            <a:rect l="l" t="t" r="r" b="b"/>
            <a:pathLst>
              <a:path w="1651000" h="381000">
                <a:moveTo>
                  <a:pt x="0" y="0"/>
                </a:moveTo>
                <a:lnTo>
                  <a:pt x="1587500" y="0"/>
                </a:lnTo>
                <a:lnTo>
                  <a:pt x="1651000" y="63500"/>
                </a:lnTo>
                <a:lnTo>
                  <a:pt x="1651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67" name="Text 65"/>
          <p:cNvSpPr/>
          <p:nvPr/>
        </p:nvSpPr>
        <p:spPr>
          <a:xfrm>
            <a:off x="6604000" y="5334000"/>
            <a:ext cx="165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Talk to an engineer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ln w="13970">
            <a:solidFill>
              <a:srgbClr val="1D1E2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See our work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mono-ex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131417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6600" y="2984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Graphic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language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87400" y="4826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Structured chaos, drawn: many attempts, one path that ships.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THREE PATTERNS, ONE IDEA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Never the same background twice.</a:t>
            </a:r>
            <a:endParaRPr lang="en-US" sz="3800" dirty="0"/>
          </a:p>
        </p:txBody>
      </p:sp>
      <p:pic>
        <p:nvPicPr>
          <p:cNvPr id="7" name="Image 0" descr="C:/Claude-Projects/Projects/TekRevol/01-brand-system/deck-v7/art/mono-tile-ex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94000"/>
            <a:ext cx="3429000" cy="25717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2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Experiment field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2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Many tries, one path through. For covers of strategy, process and case-study pages.</a:t>
            </a:r>
            <a:endParaRPr lang="en-US" sz="850" dirty="0"/>
          </a:p>
        </p:txBody>
      </p:sp>
      <p:pic>
        <p:nvPicPr>
          <p:cNvPr id="10" name="Image 1" descr="C:/Claude-Projects/Projects/TekRevol/01-brand-system/deck-v7/art/mono-tile-i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794000"/>
            <a:ext cx="3429000" cy="2571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15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Iteration lines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3815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Rough attempts that settle into one clean line. For covers and campaign visuals.</a:t>
            </a:r>
            <a:endParaRPr lang="en-US" sz="850" dirty="0"/>
          </a:p>
        </p:txBody>
      </p:sp>
      <p:pic>
        <p:nvPicPr>
          <p:cNvPr id="13" name="Image 2" descr="C:/Claude-Projects/Projects/TekRevol/01-brand-system/deck-v7/art/mono-tile-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2794000"/>
            <a:ext cx="3429000" cy="25717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01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Layer planes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001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Stacked layers, the newest lit orange. For architecture and section openers.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DIAGRAMS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Grey explores. Orange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6731000" cy="330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795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9" name="Image 0" descr="C:/Claude-Projects/Projects/TekRevol/01-brand-system/deck-v7/art/ic-sparkles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3130550"/>
            <a:ext cx="139700" cy="1397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4300" y="304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PROTOTYPE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857500" y="3556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2" name="Image 1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3638550"/>
            <a:ext cx="139700" cy="1397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62300" y="3556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A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857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5" name="Image 2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4400550"/>
            <a:ext cx="139700" cy="1397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162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B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2857500" y="5080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8" name="Image 3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5162550"/>
            <a:ext cx="139700" cy="1397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162300" y="5080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C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4635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21" name="Image 4" descr="C:/Claude-Projects/Projects/TekRevol/01-brand-system/deck-v7/art/ic-shield-check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4400550"/>
            <a:ext cx="139700" cy="1397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940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HARDEN</a:t>
            </a:r>
            <a:endParaRPr lang="en-US" sz="700" dirty="0"/>
          </a:p>
        </p:txBody>
      </p:sp>
      <p:sp>
        <p:nvSpPr>
          <p:cNvPr id="23" name="Shape 16"/>
          <p:cNvSpPr/>
          <p:nvPr/>
        </p:nvSpPr>
        <p:spPr>
          <a:xfrm>
            <a:off x="5969000" y="5461000"/>
            <a:ext cx="1270000" cy="304800"/>
          </a:xfrm>
          <a:custGeom>
            <a:avLst/>
            <a:gdLst/>
            <a:ahLst/>
            <a:cxnLst/>
            <a:rect l="l" t="t" r="r" b="b"/>
            <a:pathLst>
              <a:path w="1270000" h="304800">
                <a:moveTo>
                  <a:pt x="0" y="0"/>
                </a:moveTo>
                <a:lnTo>
                  <a:pt x="1206500" y="0"/>
                </a:lnTo>
                <a:lnTo>
                  <a:pt x="1270000" y="63500"/>
                </a:lnTo>
                <a:lnTo>
                  <a:pt x="12700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24" name="Image 5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5543550"/>
            <a:ext cx="139700" cy="1397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73800" y="54610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SHIP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746250" y="3352800"/>
            <a:ext cx="64" cy="355600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7" name="Shape 19"/>
          <p:cNvSpPr/>
          <p:nvPr/>
        </p:nvSpPr>
        <p:spPr>
          <a:xfrm>
            <a:off x="1746250" y="3708400"/>
            <a:ext cx="111125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8" name="Shape 20"/>
          <p:cNvSpPr/>
          <p:nvPr/>
        </p:nvSpPr>
        <p:spPr>
          <a:xfrm>
            <a:off x="1746250" y="3708400"/>
            <a:ext cx="64" cy="1524000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9" name="Shape 21"/>
          <p:cNvSpPr/>
          <p:nvPr/>
        </p:nvSpPr>
        <p:spPr>
          <a:xfrm>
            <a:off x="1746250" y="5232400"/>
            <a:ext cx="111125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0" name="Shape 22"/>
          <p:cNvSpPr/>
          <p:nvPr/>
        </p:nvSpPr>
        <p:spPr>
          <a:xfrm>
            <a:off x="4191000" y="3708400"/>
            <a:ext cx="25400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1" name="Shape 23"/>
          <p:cNvSpPr/>
          <p:nvPr/>
        </p:nvSpPr>
        <p:spPr>
          <a:xfrm>
            <a:off x="4191000" y="5232400"/>
            <a:ext cx="25400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2" name="Shape 24"/>
          <p:cNvSpPr/>
          <p:nvPr/>
        </p:nvSpPr>
        <p:spPr>
          <a:xfrm>
            <a:off x="1746250" y="3352800"/>
            <a:ext cx="64" cy="1117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1746250" y="4470400"/>
            <a:ext cx="11112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191000" y="4470400"/>
            <a:ext cx="44450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302250" y="4622800"/>
            <a:ext cx="64" cy="990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302250" y="5613400"/>
            <a:ext cx="6667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1701800" y="3314700"/>
            <a:ext cx="88900" cy="889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38" name="Text 30"/>
          <p:cNvSpPr/>
          <p:nvPr/>
        </p:nvSpPr>
        <p:spPr>
          <a:xfrm>
            <a:off x="7874000" y="2857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Explore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7874000" y="3098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Steel dashed lines and outlined nodes for experiments, options and spikes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7874000" y="3619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Ship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7874000" y="3860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solid path, 3 px, from start to the filled orange result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7874000" y="4381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Shape</a:t>
            </a:r>
            <a:endParaRPr lang="en-US" sz="1100" dirty="0"/>
          </a:p>
        </p:txBody>
      </p:sp>
      <p:sp>
        <p:nvSpPr>
          <p:cNvPr id="43" name="Text 35"/>
          <p:cNvSpPr/>
          <p:nvPr/>
        </p:nvSpPr>
        <p:spPr>
          <a:xfrm>
            <a:off x="7874000" y="4622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Right angles only; notched nodes with a line icon and a mono label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7874000" y="5143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Keep it short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7874000" y="5384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 to 7 nodes; label with verbs or real components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mono-is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762000"/>
            <a:ext cx="5461000" cy="5715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21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SIGNATURE GRAPHIC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6600" y="19050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layer stack.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62000" y="27305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real layers of AI-native software, stacked bottom to top. It is “better with every layer” made literal.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2000" y="36830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2500" y="36830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397000" y="36830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75000" y="36830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Web, mobile, API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2000" y="42672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52500" y="42672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397000" y="42672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Agents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5000" y="42672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Planning, tools, memory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62000" y="48514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2500" y="48514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397000" y="48514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Models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75000" y="48514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LLMs, embeddings, evals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2000" y="54356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500" y="54356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397000" y="54356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Data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75000" y="54356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Warehouse, APIs, events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SHAPE AND SPACE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Square, with one signature corner.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429000" cy="2794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8" name="Shape 6"/>
          <p:cNvSpPr/>
          <p:nvPr/>
        </p:nvSpPr>
        <p:spPr>
          <a:xfrm>
            <a:off x="1206500" y="3238500"/>
            <a:ext cx="2540000" cy="1397000"/>
          </a:xfrm>
          <a:custGeom>
            <a:avLst/>
            <a:gdLst/>
            <a:ahLst/>
            <a:cxnLst/>
            <a:rect l="l" t="t" r="r" b="b"/>
            <a:pathLst>
              <a:path w="2540000" h="1397000">
                <a:moveTo>
                  <a:pt x="0" y="0"/>
                </a:moveTo>
                <a:lnTo>
                  <a:pt x="2286000" y="0"/>
                </a:lnTo>
                <a:lnTo>
                  <a:pt x="2540000" y="254000"/>
                </a:lnTo>
                <a:lnTo>
                  <a:pt x="2540000" y="1397000"/>
                </a:lnTo>
                <a:lnTo>
                  <a:pt x="0" y="13970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206500" y="4889500"/>
            <a:ext cx="1524000" cy="381000"/>
          </a:xfrm>
          <a:custGeom>
            <a:avLst/>
            <a:gdLst/>
            <a:ahLst/>
            <a:cxnLst/>
            <a:rect l="l" t="t" r="r" b="b"/>
            <a:pathLst>
              <a:path w="1524000" h="381000">
                <a:moveTo>
                  <a:pt x="0" y="0"/>
                </a:moveTo>
                <a:lnTo>
                  <a:pt x="1460500" y="0"/>
                </a:lnTo>
                <a:lnTo>
                  <a:pt x="1524000" y="63500"/>
                </a:lnTo>
                <a:lnTo>
                  <a:pt x="1524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10" name="Text 8"/>
          <p:cNvSpPr/>
          <p:nvPr/>
        </p:nvSpPr>
        <p:spPr>
          <a:xfrm>
            <a:off x="1206500" y="48895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Primary button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97000" y="34798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NOTCH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97000" y="3746500"/>
            <a:ext cx="2159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45° cut taken from the logo. 8 px buttons, 16 px cards, 32 px hero panels. One per view.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45000" y="2794000"/>
            <a:ext cx="3429000" cy="27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9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SPACING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99000" y="3365500"/>
            <a:ext cx="660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6" name="Text 14"/>
          <p:cNvSpPr/>
          <p:nvPr/>
        </p:nvSpPr>
        <p:spPr>
          <a:xfrm>
            <a:off x="6985000" y="3365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 px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699000" y="3594100"/>
            <a:ext cx="1320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8" name="Text 16"/>
          <p:cNvSpPr/>
          <p:nvPr/>
        </p:nvSpPr>
        <p:spPr>
          <a:xfrm>
            <a:off x="6985000" y="3594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 px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99000" y="3822700"/>
            <a:ext cx="1981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8"/>
          <p:cNvSpPr/>
          <p:nvPr/>
        </p:nvSpPr>
        <p:spPr>
          <a:xfrm>
            <a:off x="6985000" y="3822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99000" y="4051300"/>
            <a:ext cx="26416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6985000" y="4051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99000" y="4279900"/>
            <a:ext cx="3962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4" name="Text 22"/>
          <p:cNvSpPr/>
          <p:nvPr/>
        </p:nvSpPr>
        <p:spPr>
          <a:xfrm>
            <a:off x="6985000" y="42799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99000" y="4508500"/>
            <a:ext cx="5283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6" name="Text 24"/>
          <p:cNvSpPr/>
          <p:nvPr/>
        </p:nvSpPr>
        <p:spPr>
          <a:xfrm>
            <a:off x="6985000" y="4508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99000" y="4737100"/>
            <a:ext cx="7924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8" name="Text 26"/>
          <p:cNvSpPr/>
          <p:nvPr/>
        </p:nvSpPr>
        <p:spPr>
          <a:xfrm>
            <a:off x="6985000" y="4737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99000" y="4965700"/>
            <a:ext cx="10566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6985000" y="4965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64 px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99000" y="5194300"/>
            <a:ext cx="1584960" cy="1397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5000" y="5194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96 px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128000" y="2794000"/>
            <a:ext cx="3302000" cy="2794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34" name="Text 32"/>
          <p:cNvSpPr/>
          <p:nvPr/>
        </p:nvSpPr>
        <p:spPr>
          <a:xfrm>
            <a:off x="8382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GRID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382000" y="3365500"/>
            <a:ext cx="18415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6" name="Shape 34"/>
          <p:cNvSpPr/>
          <p:nvPr/>
        </p:nvSpPr>
        <p:spPr>
          <a:xfrm>
            <a:off x="86169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519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90868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3218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567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917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266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2616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965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315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664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8382000" y="5372100"/>
            <a:ext cx="279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columns, 24 px gutters, 1280 px max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62000" y="58420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Sections, images and large cards stay square. Pills only for status dots and avatars.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ICONS AND DATA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Thin lines, honest charts.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0" descr="C:/Claude-Projects/Projects/TekRevol/01-brand-system/deck-v7/art/ic-database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3009900"/>
            <a:ext cx="355600" cy="355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68500" y="2794000"/>
            <a:ext cx="1016000" cy="787400"/>
          </a:xfrm>
          <a:prstGeom prst="rect">
            <a:avLst/>
          </a:prstGeom>
          <a:solidFill>
            <a:srgbClr val="FF4A1C"/>
          </a:solidFill>
          <a:ln/>
        </p:spPr>
      </p:sp>
      <p:pic>
        <p:nvPicPr>
          <p:cNvPr id="10" name="Image 1" descr="C:/Claude-Projects/Projects/TekRevol/01-brand-system/deck-v7/art/ic-brain-circuit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8700" y="3009900"/>
            <a:ext cx="355600" cy="355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75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2" descr="C:/Claude-Projects/Projects/TekRevol/01-brand-system/deck-v7/art/ic-bot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00" y="3009900"/>
            <a:ext cx="355600" cy="355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3815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" name="Image 3" descr="C:/Claude-Projects/Projects/TekRevol/01-brand-system/deck-v7/art/ic-workflow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009900"/>
            <a:ext cx="355600" cy="355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62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" name="Image 4" descr="C:/Claude-Projects/Projects/TekRevol/01-brand-system/deck-v7/art/ic-shield-check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200" y="3962400"/>
            <a:ext cx="355600" cy="3556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968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8" name="Image 5" descr="C:/Claude-Projects/Projects/TekRevol/01-brand-system/deck-v7/art/ic-cloud-1D1E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8700" y="3962400"/>
            <a:ext cx="355600" cy="3556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175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0" name="Image 6" descr="C:/Claude-Projects/Projects/TekRevol/01-brand-system/deck-v7/art/ic-code-xml-1D1E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5200" y="3962400"/>
            <a:ext cx="355600" cy="3556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381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2" name="Image 7" descr="C:/Claude-Projects/Projects/TekRevol/01-brand-system/deck-v7/art/ic-smartphone-1D1E2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1700" y="3962400"/>
            <a:ext cx="355600" cy="355600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762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4" name="Image 8" descr="C:/Claude-Projects/Projects/TekRevol/01-brand-system/deck-v7/art/ic-layers-1D1E2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200" y="4914900"/>
            <a:ext cx="355600" cy="3556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1968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9" descr="C:/Claude-Projects/Projects/TekRevol/01-brand-system/deck-v7/art/ic-git-branch-1D1E2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8700" y="4914900"/>
            <a:ext cx="355600" cy="355600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3175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8" name="Image 10" descr="C:/Claude-Projects/Projects/TekRevol/01-brand-system/deck-v7/art/ic-activity-1D1E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914900"/>
            <a:ext cx="355600" cy="355600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4381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0" name="Image 11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11700" y="4914900"/>
            <a:ext cx="355600" cy="35560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762000" y="57912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Lucide, 1.5 px stroke, charcoal. One active icon may sit on orange.</a:t>
            </a:r>
            <a:endParaRPr lang="en-US" sz="850" dirty="0"/>
          </a:p>
        </p:txBody>
      </p:sp>
      <p:sp>
        <p:nvSpPr>
          <p:cNvPr id="32" name="Shape 18"/>
          <p:cNvSpPr/>
          <p:nvPr/>
        </p:nvSpPr>
        <p:spPr>
          <a:xfrm>
            <a:off x="5969000" y="2794000"/>
            <a:ext cx="5461000" cy="298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19"/>
          <p:cNvSpPr/>
          <p:nvPr/>
        </p:nvSpPr>
        <p:spPr>
          <a:xfrm>
            <a:off x="6223000" y="2984500"/>
            <a:ext cx="762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17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ILLUSTRATIVE CHART</a:t>
            </a:r>
            <a:endParaRPr lang="en-US" sz="650" dirty="0"/>
          </a:p>
        </p:txBody>
      </p:sp>
      <p:sp>
        <p:nvSpPr>
          <p:cNvPr id="34" name="Shape 20"/>
          <p:cNvSpPr/>
          <p:nvPr/>
        </p:nvSpPr>
        <p:spPr>
          <a:xfrm>
            <a:off x="6286500" y="3365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5" name="Shape 21"/>
          <p:cNvSpPr/>
          <p:nvPr/>
        </p:nvSpPr>
        <p:spPr>
          <a:xfrm>
            <a:off x="6286500" y="388937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6" name="Shape 22"/>
          <p:cNvSpPr/>
          <p:nvPr/>
        </p:nvSpPr>
        <p:spPr>
          <a:xfrm>
            <a:off x="6286500" y="441325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3"/>
          <p:cNvSpPr/>
          <p:nvPr/>
        </p:nvSpPr>
        <p:spPr>
          <a:xfrm>
            <a:off x="6286500" y="493712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8" name="Shape 24"/>
          <p:cNvSpPr/>
          <p:nvPr/>
        </p:nvSpPr>
        <p:spPr>
          <a:xfrm>
            <a:off x="6286500" y="5461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9" name="Shape 25"/>
          <p:cNvSpPr/>
          <p:nvPr/>
        </p:nvSpPr>
        <p:spPr>
          <a:xfrm flipV="1">
            <a:off x="6286500" y="5143500"/>
            <a:ext cx="603250" cy="635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0" name="Shape 26"/>
          <p:cNvSpPr/>
          <p:nvPr/>
        </p:nvSpPr>
        <p:spPr>
          <a:xfrm flipV="1">
            <a:off x="6286500" y="4864100"/>
            <a:ext cx="603250" cy="152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6889750" y="5143500"/>
            <a:ext cx="603250" cy="127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2" name="Shape 28"/>
          <p:cNvSpPr/>
          <p:nvPr/>
        </p:nvSpPr>
        <p:spPr>
          <a:xfrm>
            <a:off x="6889750" y="4864100"/>
            <a:ext cx="603250" cy="50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3" name="Shape 29"/>
          <p:cNvSpPr/>
          <p:nvPr/>
        </p:nvSpPr>
        <p:spPr>
          <a:xfrm flipV="1">
            <a:off x="7493000" y="5029200"/>
            <a:ext cx="603250" cy="1270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4" name="Shape 30"/>
          <p:cNvSpPr/>
          <p:nvPr/>
        </p:nvSpPr>
        <p:spPr>
          <a:xfrm flipV="1">
            <a:off x="7493000" y="4610100"/>
            <a:ext cx="603250" cy="304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5" name="Shape 31"/>
          <p:cNvSpPr/>
          <p:nvPr/>
        </p:nvSpPr>
        <p:spPr>
          <a:xfrm flipV="1">
            <a:off x="8096250" y="4953000"/>
            <a:ext cx="603250" cy="762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6" name="Shape 32"/>
          <p:cNvSpPr/>
          <p:nvPr/>
        </p:nvSpPr>
        <p:spPr>
          <a:xfrm flipV="1">
            <a:off x="8096250" y="4508500"/>
            <a:ext cx="603250" cy="1016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7" name="Shape 33"/>
          <p:cNvSpPr/>
          <p:nvPr/>
        </p:nvSpPr>
        <p:spPr>
          <a:xfrm flipV="1">
            <a:off x="8699500" y="4864100"/>
            <a:ext cx="603250" cy="889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8" name="Shape 34"/>
          <p:cNvSpPr/>
          <p:nvPr/>
        </p:nvSpPr>
        <p:spPr>
          <a:xfrm flipV="1">
            <a:off x="8699500" y="4241800"/>
            <a:ext cx="603250" cy="266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 flipV="1">
            <a:off x="9302750" y="4762500"/>
            <a:ext cx="603250" cy="1016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0" name="Shape 36"/>
          <p:cNvSpPr/>
          <p:nvPr/>
        </p:nvSpPr>
        <p:spPr>
          <a:xfrm flipV="1">
            <a:off x="9302750" y="4114800"/>
            <a:ext cx="603250" cy="1270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 flipV="1">
            <a:off x="9906000" y="4673600"/>
            <a:ext cx="603250" cy="889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2" name="Shape 38"/>
          <p:cNvSpPr/>
          <p:nvPr/>
        </p:nvSpPr>
        <p:spPr>
          <a:xfrm flipV="1">
            <a:off x="9906000" y="3835400"/>
            <a:ext cx="603250" cy="279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 flipV="1">
            <a:off x="10509250" y="4572000"/>
            <a:ext cx="603250" cy="1016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4" name="Shape 40"/>
          <p:cNvSpPr/>
          <p:nvPr/>
        </p:nvSpPr>
        <p:spPr>
          <a:xfrm flipV="1">
            <a:off x="10509250" y="3695700"/>
            <a:ext cx="603250" cy="139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11061700" y="3644900"/>
            <a:ext cx="101600" cy="1016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56" name="Text 42"/>
          <p:cNvSpPr/>
          <p:nvPr/>
        </p:nvSpPr>
        <p:spPr>
          <a:xfrm>
            <a:off x="6223000" y="55245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in orange, comparison in dashed steel. No 3D, no gradients on bars.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crop-5-team-980x1080-xMaxY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223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50000"/>
            <a:ext cx="6223000" cy="508000"/>
          </a:xfrm>
          <a:prstGeom prst="rect">
            <a:avLst/>
          </a:prstGeom>
          <a:solidFill>
            <a:srgbClr val="131417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254000" y="6350000"/>
            <a:ext cx="571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E9EAE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AI-generated mood image. Use real TekRevol team photos in public material.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731000" y="1016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IMAGE DIRECTION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705600" y="1270000"/>
            <a:ext cx="495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200" b="1" kern="0" spc="-77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Show the build,</a:t>
            </a:r>
            <a:endParaRPr lang="en-US" sz="3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200" b="1" kern="0" spc="-77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then the builders.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731000" y="2730500"/>
            <a:ext cx="254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8" name="Text 5"/>
          <p:cNvSpPr/>
          <p:nvPr/>
        </p:nvSpPr>
        <p:spPr>
          <a:xfrm>
            <a:off x="6731000" y="28575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Patterns first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31000" y="31115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Experiment fields, iteration lines and layer planes lead covers, slides and social posts.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731000" y="3556000"/>
            <a:ext cx="254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1" name="Text 8"/>
          <p:cNvSpPr/>
          <p:nvPr/>
        </p:nvSpPr>
        <p:spPr>
          <a:xfrm>
            <a:off x="6731000" y="36830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Real people, real work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31000" y="39370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Documentary photos of the team at work. Bright spaces, natural light, one orange detail per frame.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731000" y="4381500"/>
            <a:ext cx="254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4" name="Text 11"/>
          <p:cNvSpPr/>
          <p:nvPr/>
        </p:nvSpPr>
        <p:spPr>
          <a:xfrm>
            <a:off x="6731000" y="45085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 on screen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31000" y="47625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TekRevol interfaces on devices. Screens are always real UI, never generated.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31000" y="5270500"/>
            <a:ext cx="4699000" cy="889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17" name="Text 14"/>
          <p:cNvSpPr/>
          <p:nvPr/>
        </p:nvSpPr>
        <p:spPr>
          <a:xfrm>
            <a:off x="6908800" y="5410200"/>
            <a:ext cx="762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17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PROMPTS FOR EVERY IMAGE TYPE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908800" y="5613400"/>
            <a:ext cx="4381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See 2026-10-05-image-prompts-for-designer.md in the brand folder: cover lines, layers, structured chaos, orbs and team.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VOICE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TONE OF VOICE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3810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Short, active sentences. One idea each.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62000" y="41656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Specific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2000" y="44196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numbers, named standards, real work.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62000" y="47752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Candid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2000" y="50292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Name the situation, never the vendor.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2000" y="57150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No em dashes. No invented statistics. US spelling. Sentence case.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15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SAY THIS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636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NOT THIS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15000" y="3429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7" name="Text 15"/>
          <p:cNvSpPr/>
          <p:nvPr/>
        </p:nvSpPr>
        <p:spPr>
          <a:xfrm>
            <a:off x="5880100" y="3429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Finish what the last team started.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36000" y="3429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1100" y="3429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Revolutionary AI-powered solutions.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15000" y="42545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1" name="Text 19"/>
          <p:cNvSpPr/>
          <p:nvPr/>
        </p:nvSpPr>
        <p:spPr>
          <a:xfrm>
            <a:off x="5880100" y="4254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Built for HIPAA from the first sprint.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36000" y="42545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01100" y="42545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Cutting-edge, robust, seamless security.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15000" y="5080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5880100" y="5080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Your AI prototype got you 80% of the way.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36000" y="5080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01100" y="5080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Unleash the power of AI today.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TESTED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THIS SYSTEM WAS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Checked before it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956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8" name="Image 0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2927350"/>
            <a:ext cx="152400" cy="152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857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Contrast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02000" y="28575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pair measured against WCAG 2.2; body text passes AA, most pairs AAA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2000" y="32385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2" name="Shape 9"/>
          <p:cNvSpPr/>
          <p:nvPr/>
        </p:nvSpPr>
        <p:spPr>
          <a:xfrm>
            <a:off x="762000" y="33655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3" name="Image 1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397250"/>
            <a:ext cx="152400" cy="152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3327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Legibility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02000" y="33274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 scale checked from 12 px labels to 88 px display, desktop and mobile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2000" y="37084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Shape 13"/>
          <p:cNvSpPr/>
          <p:nvPr/>
        </p:nvSpPr>
        <p:spPr>
          <a:xfrm>
            <a:off x="762000" y="38354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8" name="Image 2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867150"/>
            <a:ext cx="152400" cy="152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mode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302000" y="37973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color has a dark equivalent; control outlines meet 3:1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62000" y="41783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Shape 17"/>
          <p:cNvSpPr/>
          <p:nvPr/>
        </p:nvSpPr>
        <p:spPr>
          <a:xfrm>
            <a:off x="762000" y="4305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3" name="Image 3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337050"/>
            <a:ext cx="152400" cy="1524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43000" y="4267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Color blindness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3302000" y="42672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Orange, and charcoal differ in lightness, so meaning never relies on hue alone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762000" y="46482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Shape 21"/>
          <p:cNvSpPr/>
          <p:nvPr/>
        </p:nvSpPr>
        <p:spPr>
          <a:xfrm>
            <a:off x="762000" y="47752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8" name="Image 4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806950"/>
            <a:ext cx="152400" cy="1524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43000" y="4737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Fonts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3302000" y="47371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Free under the SIL Open Font License; files included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762000" y="51181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Shape 25"/>
          <p:cNvSpPr/>
          <p:nvPr/>
        </p:nvSpPr>
        <p:spPr>
          <a:xfrm>
            <a:off x="762000" y="52451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3" name="Image 5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276850"/>
            <a:ext cx="152400" cy="1524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143000" y="5207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Editable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3302000" y="52070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box and diagram in this file is native and editable in PowerPoint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762000" y="55880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9"/>
          <p:cNvSpPr/>
          <p:nvPr/>
        </p:nvSpPr>
        <p:spPr>
          <a:xfrm>
            <a:off x="762000" y="5715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8" name="Image 6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746750"/>
            <a:ext cx="152400" cy="1524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143000" y="5676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Applied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3302000" y="56769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Tested on social, presentation, business card and web layouts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762000" y="60579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4-or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6600" y="2540000"/>
            <a:ext cx="571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Build. Ship.</a:t>
            </a:r>
            <a:endParaRPr lang="en-US" sz="4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Then do it better.</a:t>
            </a:r>
            <a:endParaRPr lang="en-US" sz="4800" dirty="0"/>
          </a:p>
        </p:txBody>
      </p:sp>
      <p:sp>
        <p:nvSpPr>
          <p:cNvPr id="5" name="Shape 1"/>
          <p:cNvSpPr/>
          <p:nvPr/>
        </p:nvSpPr>
        <p:spPr>
          <a:xfrm>
            <a:off x="762000" y="4191000"/>
            <a:ext cx="762000" cy="381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6" name="Text 2"/>
          <p:cNvSpPr/>
          <p:nvPr/>
        </p:nvSpPr>
        <p:spPr>
          <a:xfrm>
            <a:off x="787400" y="444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  ·  2026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787400" y="5715000"/>
            <a:ext cx="520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Files: logos, fonts, tokens, patterns and images in Projects / TekRevol / 01-brand-system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1958</Words>
  <Application>Microsoft Office PowerPoint</Application>
  <PresentationFormat>Widescreen</PresentationFormat>
  <Paragraphs>483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Wix Madefor Text</vt:lpstr>
      <vt:lpstr>Wix Madefor Text SemiBold</vt:lpstr>
      <vt:lpstr>Arial</vt:lpstr>
      <vt:lpstr>JetBrains Mono Medium</vt:lpstr>
      <vt:lpstr>Calibri</vt:lpstr>
      <vt:lpstr>Funnel Display SemiBold</vt:lpstr>
      <vt:lpstr>Funnel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TekRevol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TekRevol Brand Guidelines</dc:title>
  <dc:subject>PptxGenJS Presentation</dc:subject>
  <dc:creator>TekRevol Marketing</dc:creator>
  <cp:lastModifiedBy>Sana Qazi</cp:lastModifiedBy>
  <cp:revision>3</cp:revision>
  <dcterms:created xsi:type="dcterms:W3CDTF">2026-10-06T08:11:05Z</dcterms:created>
  <dcterms:modified xsi:type="dcterms:W3CDTF">2026-10-06T08:37:56Z</dcterms:modified>
</cp:coreProperties>
</file>